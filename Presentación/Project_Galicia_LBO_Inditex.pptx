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Somos Herrera Lázaro Pérez Partners: Álvaro Pérez, Anxo Herrera y Javier Lázaro. Actuamos como banco de inversión del consorcio de private equity que quiere comprar Inditex. Hoy presentamos Project Galicia en cuatro partes: el business plan que justifica la operación, cómo se estructura la compra, cómo se estructura la deuda y quién la financia. Las tres cifras de la derecha resumen la operación: compramos el 100% del equity por unos 199.000 millones, con 77.000 millones de deuda, es decir 8,2 veces EBITDA, y 114.000 millones de equity en el que Amancio Ortega sigue siendo socio.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operación en una diapositiva. Ofrecemos 63,73 euros por acción, un 15% sobre la cotización sin perturbar, lo que valora el equity en 198.634 millones y supone pagar 19,9 veces el EBITDA pre-IFRS 16. Financiamos con 76.956 millones de deuda, 8,2 veces EBITDA, y 114.351 millones de equity en la TopCo, donde Amancio Ortega tiene el 43%. En el caso base el equity rinde un 10,8% anual hasta 2032 y nuestro cliente, el GP, llega al 18,2% gracias al carry. Abajo están las cuatro partes de la presentación y el mensaje principal de cada 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Empezamos por el punto de partida. Inditex ha crecido un 7% anual en ventas entre 2022 y 2025 y su margen EBITDA pre-IFRS 16 ha subido del 21,6% al 23,7%. Trabajamos siempre con EBITDA pre-IFRS 16, es decir, restando los 1.834 millones de alquileres que se pagan en caja, porque es lo que miran los bancos para dimensionar la deuda. Además, Inditex tiene un circulante negativo de 4.172 millones: cobra al contado y paga a sus proveedores a plazo, así que cuando crece genera caja. Y no tiene deuda: casi 11.000 millones de caja neta. Es el perfil ideal para un LBO.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se construye el business plan? Partimos del histórico real de Inditex de 2022 a 2025. Proyectamos con nueve drivers: ventas, margen bruto, gastos, alquileres, capex de mantenimiento y de expansión, y las tres partidas del circulante. Cada driver está calibrado con una simulación de Monte Carlo y con las palancas de creación de valor del plan, y de ahí salen cuatro escenarios por percentiles: Bull, Base, Bear y el Bank case, que es el escenario de estrés que piden los bancos. Trabajamos siempre con EBITDA pre-IFRS 16: los 11.267 millones reportados menos los 1.834 millones de alquileres en caja, 9.433 millones, que es la base para dimensionar la deuda. Y en el modelo un único selector cambia el escenario y recalcula todo a la vez.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son las hipótesis que alimentan el modelo, para los cuatro escenarios. En el caso base las ventas crecen un 5,25% al año, el margen bruto se mantiene en el 58,1% y los gastos crecen al 4,5%, algo menos que las ventas: ese apalancamiento operativo es lo que lleva el margen EBITDA del 23,7% al 25,5%. El capex es del 5% de las ventas, 3,5% de mantenimiento y 1,5% de expansión, y se financia con la caja del negocio. El Bull crece al 7%, el Bear al 3,75% y el Bank case, el escenario de estrés de los bancos, al 2,75%.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esas hipótesis, en el caso base las ventas pasan de 39.864 millones a 57.034 millones en 2032 y el EBITDA pre-IFRS 16 de 9.433 a 14.519 millones, un 6,4% anual, con el margen subiendo del 23,7% al 25,5%. Lo que importa para la deuda es la última cifra: la caja disponible para pagarla, el CFADS, que empieza en 7.322 millones en 2026 y llega a casi 11.000 millones en 2032.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están los cuatro escenarios. A la izquierda, el EBITDA: en 2032 va de 11.000 millones en el Bank case a 17.300 en el Bull. A la derecha, la TIR: el equity bruto gana un 14,6% en el Bull, un 10,8% en el Base, un 7,1% en el Bear y un 4,4% en el Bank case. En el Bear y el Bank case no se supera el hurdle, así que el GP no cobra carry y todos ganan lo mismo. Lo importante para los bancos está abajo: el DSCR mínimo se mantiene por encima del 1,25x exigido en tres escenarios. Solo en el Bank case cae a 1,17x en 2030: ese es el límite de la estructura y la razón por la que no apalancamos más.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Pasamos a la estructura de la compra. ¿Por qué una OPA por el 100%? Primero, porque es obligatoria: quien supera el 30% de una cotizada tiene que ofrecer comprar a todos. Segundo, porque solo con el 100% accedemos a la caja de Inditex: si superamos el 90% podemos obligar al resto a vender, Inditex sale de bolsa y puede subir dividendos a la sociedad compradora sin minoritarios. Tercero, por fiscalidad: con más del 75% formamos un grupo fiscal y los intereses de la deuda se compensan con los beneficios de Inditex. Y el precio: ofrecemos una prima del 15%, 63,73 euros por acción.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Diseñar esta operación tuvo cinco limitaciones, y cada una explica una decisión. Uno, el tamaño: casi 200.000 millones de equity, el mayor LBO de la historia; por eso hace falta un consorcio de fondos, co-inversores y una deuda sindicada entre muchos bancos. Dos, Amancio Ortega controla el 59%: sin él no hay operación, así que le proponemos reinvertir. Tres, el precio: a 19,9 veces EBITDA la rentabilidad sale del crecimiento, así que no tiene sentido cargar más deuda de la que la caja puede pagar. Cuatro, los límites fiscales: los intereses solo se deducen hasta el 30% del EBITDA y la deuda de adquisición no puede superar el 70% del precio; estamos en el 38,7%. Y cinco, la asistencia financiera: Inditex no puede garantizar la deuda que se usa para comprarla, por eso la deuda va a una sociedad compradora que se fusiona con Inditex después de la OPA.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se reparte el precio? Amancio Ortega tiene el 59,3%. No vende todo: aporta el 25% de Inditex, unos 49.700 millones, a la TopCo en forma de acciones, y vende el 34,3% restante por unos 68.100 millones. Sandra Ortega y el free float venden todo. Sandra sale del capital, pero no cobra todo en efectivo: financia parte del precio con una nota de 10.925 millones a la TopCo, así que pasa de accionista a acreedora. En total, hay que pagar 148.975 millones en efectivo: eso es lo que financiamos. Para Amancio el rollover tiene sentido: mantiene el 43% de la nueva Inditex, cobra una gran cantidad en efectivo y el canje de acciones no tributa. Para el consorcio reduce el cheque. Y alinea intereses: el fundador multiplica su inversión exactamente igual que el fondo.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estructura de sociedades. Arriba, la TopCo, donde están los accionistas: Amancio con el 43%, el consorcio de PE y los co-inversores. Debajo, la MidCo, que recibe la mezzanine: al estar por encima de la BidCo, solo cobra lo que sube después de pagar a los bancos. Y la BidCo, que recibe la deuda senior y lanza la OPA, pagando 148.975 millones a los accionistas que venden. Sandra Ortega ya no es accionista: tras vender su 5,05% le presta 10.925 millones a la TopCo al 5%. No tiene acciones ni votos y cobra después de toda la deuda, pero antes que los accionistas. La regla es sencilla: cuanto más segura y barata es la deuda, más cerca está de la caja de Inditex. Después de la OPA, la BidCo se fusiona con Inditex, de forma que la deuda queda junto a la caja que la paga y los intereses se deducen en el grupo fiscal.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Veamos la TopCo en detalle, porque es donde se decide quién manda y cómo se reparte el valor. Arriba está el consorcio: los fondos de private equity, nuestro cliente, ponen 9.704 millones, el 15% del cheque, y los co-inversores, soberanos y fondos de pensiones, ponen 54.989 millones, el 85%. Todos invierten a través de un vehículo del consorcio que gestiona el GP. Ese vehículo tiene el 56,6% de la TopCo. A su lado, Pontegadea aporta el 25% de Inditex en acciones y recibe el 43,4%. El reparto funciona a dos niveles. En la TopCo todos tienen acciones ordinarias y cobran a prorrata: en 2032, 101.609 millones para Amancio y 132.372 para el consorcio. Y dentro del consorcio se aplica el waterfall: los LPs recuperan su capital y un 8% anual, después el GP se pone al día y el resto se reparte 80/20. Así el GP acaba con 31.361 millones y los LPs con 101.011. La nota de Sandra Ortega es deuda de la TopCo, por delante del equity. Y proponemos un pacto de socios en el que el consorcio tiene la mayoría del consejo, Amancio tiene veto en materias reservadas y ambos tienen derechos de arrastre y acompañamiento en la salida.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cuadro de fuentes y usos. A la izquierda, los usos: 148.975 millones de efectivo para la OPA, las acciones que aporta Amancio y unos 2.600 millones de comisiones y asesores; en total, 201.265 millones. A la derecha, las fuentes: 77.000 millones de deuda, el 38%; 114.000 millones de equity, el 57%, sumando el rollover de Amancio y el cheque del consorcio; y casi 10.000 millones de caja de Inditex, de la que dejamos 1.000 millones como caja mínima. El cheque del consorcio es el plug: se calcula como lo que falta después de poner la deuda y la caja.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Entramos en la estructura de la deuda. Son 76.956 millones, 8,2 veces EBITDA, ordenados de más seguro a más arriesgado. Arriba, la deuda senior en la BidCo: un RCF de 1.000 millones que no se dispone y sirve de colchón de liquidez; el Term Loan A, al 5,6%, que se amortiza en siete años; y el Term Loan B, al 6,6%, que se devuelve de golpe al final pero con un cash sweep del 85%: el 85% de la caja sobrante se destina a amortizarlo antes. Por debajo, la mezzanine en la MidCo, al 10,5% PIK: los intereses no se pagan en caja sino que se acumulan. Y la nota de Sandra Ortega, al 5% en caja. El coste medio inicial es del 6,85%.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¿Puede Inditex pagar esta deuda? Sí. A la izquierda, la deuda por tramos año a año: el Term Loan A se paga entero en 2032 y el cash sweep reduce el Term Loan B de 33.000 a 15.000 millones. La mezzanine crece porque es PIK, pero se paga en la salida. La deuda neta pasa de 8,1 a 3,6 veces EBITDA. A la derecha, el DSCR, la caja disponible dividida entre lo que hay que pagar cada año: en el caso base nunca baja de 1,44x frente al 1,25x que exigen los bancos, y la cobertura de intereses pasa de 2,7 a 7,5 veces. Además, aunque los intereses solo se deducen hasta el 30% del EBITDA, la deuda ahorra 6.374 millones de impuestos.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Pasamos a los financiadores, que es donde más trabajo tiene un banco asesor. En España, la CNMV exige certain funds: la financiación de la OPA tiene que estar comprometida antes de anunciarla. Por eso diez bancos aseguran 62.840 millones desde el primer día: el TLA, el TLB, el RCF y un préstamo puente por la caja de Inditex, que la BidCo no puede usar hasta fusionarse. Arriba, los cuatro global coordinators, JPMorgan, Goldman Sachs, BNP Paribas y Santander, con un 15% cada uno; Santander además es el agente, porque es el banco de referencia de Inditex. Debajo, seis mandated lead arrangers con un 6,67%. Después del cierre, el TLA se sindica entre 24 bancos europeos y asiáticos en tres niveles de ticket: 600, 375 y 235 millones. Así ningún banco se queda con más de unos 1.000 millones de riesgo.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TLB, 33.000 millones, no se lo quedan los bancos: lo colocan en el mercado institucional en tres partes. Unos 12.000 millones como TLB en euros, 9.000 en el mercado de dólares, que es el más profundo para este tipo de préstamos, y 12.000 en bonos high yield. Lo compran CLOs y direct lenders, fondos especializados en préstamos apalancados como Barings, ICG o Ares, y gestoras, aseguradoras y fondos de pensiones como BlackRock o Amundi. La mezzanine no se sindica: es un club de nueve fondos de crédito privado, liderado por Apollo, Blackstone y HPS con 2.000 millones cada uno, porque es un tramo caro y subordinado que solo encaja en estos fondos. Y la nota de Sandra Ortega, que cobra un 5% anual.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¿Quién pone el equity? En la TopCo hay 114.351 millones y tres grupos. Amancio Ortega, con el 43%, es el mayor accionista. El consorcio de PE, nuestro cliente, pone el 15% del cheque, unos 9.700 millones, lidera la operación y gestiona Inditex. Y los co-inversores, soberanos como GIC, ADIA, QIA o PIF y fondos de pensiones canadienses y holandeses, ponen el 85%, casi 55.000 millones: son los únicos capaces de firmar cheques de este tamaño. Las ganancias del consorcio se reparten con un waterfall: los LPs recuperan su capital y cobran primero hasta un 8% anual; después el GP se pone al día, y a partir de ahí el reparto es 80/20.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¿Cuánto gana cada uno? El equity invertido son 114.351 millones. Restamos 2.632 millones de comisiones de entrada; el crecimiento del EBITDA, valorado al mismo múltiplo de 19,9 veces, aporta 101.000 millones; la reducción de deuda neta, 23.000 millones; y restamos las comisiones de salida. Resultado: 233.981 millones en 2032, 2,05 veces lo invertido y una TIR del 10,8% para Amancio y para el consorcio en bruto. Dentro del consorcio, los LPs se quedan con un 9,1%, por encima del hurdle del 8%, y el GP llega al 18,2% gracias a 11.505 millones de carry.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cerrar, cuatro ideas. Uno: Inditex es un negocio que genera caja, con márgenes altos, circulante negativo y sin deuda, y por eso soporta 8,2 veces EBITDA con un DSCR que nunca baja de 1,44x. Dos: la estructura en tres sociedades ordena el riesgo, con la deuda más segura junto a la caja. Tres: Amancio Ortega como socio hace viable la operación y alinea sus intereses con los del fondo. Y cuatro: la financiación está muy diversificada, con 34 bancos, 18 inversores institucionales, 9 fondos de crédito y 10 co-inversores. El riesgo principal es el precio: entrar a 19,9 veces exige cumplir el plan de crecimiento, y en el escenario de estrés de los bancos el DSCR caería por debajo del covenant. Muchas gracias; quedamos a vuestra disposición para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D21"/>
        </a:solidFill>
      </p:bgPr>
    </p:bg>
    <p:spTree>
      <p:nvGrpSpPr>
        <p:cNvPr id="1" name=""/>
        <p:cNvGrpSpPr/>
        <p:nvPr/>
      </p:nvGrpSpPr>
      <p:grpSpPr>
        <a:xfrm>
          <a:off x="0" y="0"/>
          <a:ext cx="0" cy="0"/>
          <a:chOff x="0" y="0"/>
          <a:chExt cx="0" cy="0"/>
        </a:xfrm>
      </p:grpSpPr>
      <p:pic>
        <p:nvPicPr>
          <p:cNvPr id="2" name="Image 0" descr="/tmp/claude-0/-home-claude/8d7de6a3-f167-5c95-8bc2-67944307bfd8/scratchpad/canva/img/HLP_logo_horizontal_oscuro.png">    </p:cNvPr>
          <p:cNvPicPr>
            <a:picLocks noChangeAspect="1"/>
          </p:cNvPicPr>
          <p:nvPr/>
        </p:nvPicPr>
        <p:blipFill>
          <a:blip r:embed="rId1"/>
          <a:stretch>
            <a:fillRect/>
          </a:stretch>
        </p:blipFill>
        <p:spPr>
          <a:xfrm>
            <a:off x="411480" y="411480"/>
            <a:ext cx="5596128" cy="1737360"/>
          </a:xfrm>
          <a:prstGeom prst="rect">
            <a:avLst/>
          </a:prstGeom>
        </p:spPr>
      </p:pic>
      <p:sp>
        <p:nvSpPr>
          <p:cNvPr id="3" name="Text 0"/>
          <p:cNvSpPr txBox="1"/>
          <p:nvPr/>
        </p:nvSpPr>
        <p:spPr>
          <a:xfrm>
            <a:off x="640080" y="2514600"/>
            <a:ext cx="8229600" cy="868680"/>
          </a:xfrm>
          <a:prstGeom prst="rect">
            <a:avLst/>
          </a:prstGeom>
          <a:noFill/>
          <a:ln/>
        </p:spPr>
        <p:txBody>
          <a:bodyPr wrap="square" lIns="0" tIns="0" rIns="0" bIns="0" rtlCol="0" anchor="t"/>
          <a:lstStyle/>
          <a:p>
            <a:pPr indent="0" marL="0">
              <a:buNone/>
            </a:pPr>
            <a:r>
              <a:rPr lang="en-US" sz="5000" dirty="0">
                <a:solidFill>
                  <a:srgbClr val="FFFFFF"/>
                </a:solidFill>
                <a:latin typeface="Lora" pitchFamily="34" charset="0"/>
                <a:ea typeface="Lora" pitchFamily="34" charset="-122"/>
                <a:cs typeface="Lora" pitchFamily="34" charset="-120"/>
              </a:rPr>
              <a:t>Project Galicia</a:t>
            </a:r>
            <a:endParaRPr lang="en-US" sz="5000" dirty="0"/>
          </a:p>
        </p:txBody>
      </p:sp>
      <p:sp>
        <p:nvSpPr>
          <p:cNvPr id="4" name="Text 1"/>
          <p:cNvSpPr txBox="1"/>
          <p:nvPr/>
        </p:nvSpPr>
        <p:spPr>
          <a:xfrm>
            <a:off x="640080" y="3429000"/>
            <a:ext cx="6949440" cy="822960"/>
          </a:xfrm>
          <a:prstGeom prst="rect">
            <a:avLst/>
          </a:prstGeom>
          <a:noFill/>
          <a:ln/>
        </p:spPr>
        <p:txBody>
          <a:bodyPr wrap="square" lIns="0" tIns="0" rIns="0" bIns="0" rtlCol="0" anchor="t"/>
          <a:lstStyle/>
          <a:p>
            <a:pPr indent="0" marL="0">
              <a:buNone/>
            </a:pPr>
            <a:r>
              <a:rPr lang="en-US" sz="2000" dirty="0">
                <a:solidFill>
                  <a:srgbClr val="D9D9D6"/>
                </a:solidFill>
                <a:latin typeface="Inter" pitchFamily="34" charset="0"/>
                <a:ea typeface="Inter" pitchFamily="34" charset="-122"/>
                <a:cs typeface="Inter" pitchFamily="34" charset="-120"/>
              </a:rPr>
              <a:t>Take-private de Inditex mediante un LBO: business plan, estructura de la compra y financiación</a:t>
            </a:r>
            <a:endParaRPr lang="en-US" sz="2000" dirty="0"/>
          </a:p>
        </p:txBody>
      </p:sp>
      <p:sp>
        <p:nvSpPr>
          <p:cNvPr id="5" name="Text 2"/>
          <p:cNvSpPr txBox="1"/>
          <p:nvPr/>
        </p:nvSpPr>
        <p:spPr>
          <a:xfrm>
            <a:off x="640080" y="4480560"/>
            <a:ext cx="5486400" cy="274320"/>
          </a:xfrm>
          <a:prstGeom prst="rect">
            <a:avLst/>
          </a:prstGeom>
          <a:noFill/>
          <a:ln/>
        </p:spPr>
        <p:txBody>
          <a:bodyPr wrap="square" lIns="0" tIns="0" rIns="0" bIns="0" rtlCol="0" anchor="t"/>
          <a:lstStyle/>
          <a:p>
            <a:pPr indent="0" marL="0">
              <a:buNone/>
            </a:pPr>
            <a:r>
              <a:rPr lang="en-US" sz="1100" b="1" spc="300" kern="0" dirty="0">
                <a:solidFill>
                  <a:srgbClr val="A8C9B8"/>
                </a:solidFill>
                <a:latin typeface="Inter" pitchFamily="34" charset="0"/>
                <a:ea typeface="Inter" pitchFamily="34" charset="-122"/>
                <a:cs typeface="Inter" pitchFamily="34" charset="-120"/>
              </a:rPr>
              <a:t>PRESENTADO POR</a:t>
            </a:r>
            <a:endParaRPr lang="en-US" sz="1100" dirty="0"/>
          </a:p>
        </p:txBody>
      </p:sp>
      <p:sp>
        <p:nvSpPr>
          <p:cNvPr id="6" name="Text 3"/>
          <p:cNvSpPr txBox="1"/>
          <p:nvPr/>
        </p:nvSpPr>
        <p:spPr>
          <a:xfrm>
            <a:off x="640080" y="4773168"/>
            <a:ext cx="5943600" cy="914400"/>
          </a:xfrm>
          <a:prstGeom prst="rect">
            <a:avLst/>
          </a:prstGeom>
          <a:noFill/>
          <a:ln/>
        </p:spPr>
        <p:txBody>
          <a:bodyPr wrap="square" lIns="0" tIns="0" rIns="0" bIns="0" rtlCol="0" anchor="t"/>
          <a:lstStyle/>
          <a:p>
            <a:pPr indent="0" marL="0">
              <a:lnSpc>
                <a:spcPct val="120000"/>
              </a:lnSpc>
              <a:buNone/>
            </a:pPr>
            <a:r>
              <a:rPr lang="en-US" sz="1500" dirty="0">
                <a:solidFill>
                  <a:srgbClr val="FFFFFF"/>
                </a:solidFill>
                <a:latin typeface="Inter" pitchFamily="34" charset="0"/>
                <a:ea typeface="Inter" pitchFamily="34" charset="-122"/>
                <a:cs typeface="Inter" pitchFamily="34" charset="-120"/>
              </a:rPr>
              <a:t>Álvaro Pérez Ramos</a:t>
            </a:r>
            <a:endParaRPr lang="en-US" sz="1500" dirty="0"/>
          </a:p>
          <a:p>
            <a:pPr indent="0" marL="0">
              <a:lnSpc>
                <a:spcPct val="120000"/>
              </a:lnSpc>
              <a:buNone/>
            </a:pPr>
            <a:r>
              <a:rPr lang="en-US" sz="1500" dirty="0">
                <a:solidFill>
                  <a:srgbClr val="FFFFFF"/>
                </a:solidFill>
                <a:latin typeface="Inter" pitchFamily="34" charset="0"/>
                <a:ea typeface="Inter" pitchFamily="34" charset="-122"/>
                <a:cs typeface="Inter" pitchFamily="34" charset="-120"/>
              </a:rPr>
              <a:t>Anxo Brandan Herrera Castro</a:t>
            </a:r>
            <a:endParaRPr lang="en-US" sz="1500" dirty="0"/>
          </a:p>
          <a:p>
            <a:pPr indent="0" marL="0">
              <a:lnSpc>
                <a:spcPct val="120000"/>
              </a:lnSpc>
              <a:buNone/>
            </a:pPr>
            <a:r>
              <a:rPr lang="en-US" sz="1500" dirty="0">
                <a:solidFill>
                  <a:srgbClr val="FFFFFF"/>
                </a:solidFill>
                <a:latin typeface="Inter" pitchFamily="34" charset="0"/>
                <a:ea typeface="Inter" pitchFamily="34" charset="-122"/>
                <a:cs typeface="Inter" pitchFamily="34" charset="-120"/>
              </a:rPr>
              <a:t>Javier Lázaro Rodríguez</a:t>
            </a:r>
            <a:endParaRPr lang="en-US" sz="1500" dirty="0"/>
          </a:p>
        </p:txBody>
      </p:sp>
      <p:sp>
        <p:nvSpPr>
          <p:cNvPr id="7" name="Text 4"/>
          <p:cNvSpPr txBox="1"/>
          <p:nvPr/>
        </p:nvSpPr>
        <p:spPr>
          <a:xfrm>
            <a:off x="640080" y="6217920"/>
            <a:ext cx="8229600" cy="274320"/>
          </a:xfrm>
          <a:prstGeom prst="rect">
            <a:avLst/>
          </a:prstGeom>
          <a:noFill/>
          <a:ln/>
        </p:spPr>
        <p:txBody>
          <a:bodyPr wrap="square" lIns="0" tIns="0" rIns="0" bIns="0" rtlCol="0" anchor="t"/>
          <a:lstStyle/>
          <a:p>
            <a:pPr indent="0" marL="0">
              <a:buNone/>
            </a:pPr>
            <a:r>
              <a:rPr lang="en-US" sz="1100" dirty="0">
                <a:solidFill>
                  <a:srgbClr val="A8ACB1"/>
                </a:solidFill>
                <a:latin typeface="Inter" pitchFamily="34" charset="0"/>
                <a:ea typeface="Inter" pitchFamily="34" charset="-122"/>
                <a:cs typeface="Inter" pitchFamily="34" charset="-120"/>
              </a:rPr>
              <a:t>Presentación al comité de inversión del consorcio de PE  ·  Octubre 2026  ·  Estrictamente confidencial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28600"/>
          </a:xfrm>
          <a:prstGeom prst="rect">
            <a:avLst/>
          </a:prstGeom>
          <a:noFill/>
          <a:ln/>
        </p:spPr>
        <p:txBody>
          <a:bodyPr wrap="square" lIns="0" tIns="0" rIns="0" bIns="0" rtlCol="0" anchor="t"/>
          <a:lstStyle/>
          <a:p>
            <a:pPr indent="0" marL="0">
              <a:buNone/>
            </a:pPr>
            <a:r>
              <a:rPr lang="en-US" sz="1100" b="1" spc="200" kern="0" dirty="0">
                <a:solidFill>
                  <a:srgbClr val="1F4B3F"/>
                </a:solidFill>
                <a:latin typeface="Inter" pitchFamily="34" charset="0"/>
                <a:ea typeface="Inter" pitchFamily="34" charset="-122"/>
                <a:cs typeface="Inter" pitchFamily="34" charset="-120"/>
              </a:rPr>
              <a:t>RESUMEN EJECUTIVO</a:t>
            </a:r>
            <a:endParaRPr lang="en-US" sz="1100" dirty="0"/>
          </a:p>
        </p:txBody>
      </p:sp>
      <p:pic>
        <p:nvPicPr>
          <p:cNvPr id="3" name="Image 0" descr="/tmp/claude-0/-home-claude/8d7de6a3-f167-5c95-8bc2-67944307bfd8/scratchpad/canva/img/HLP_monograma.png">    </p:cNvPr>
          <p:cNvPicPr>
            <a:picLocks noChangeAspect="1"/>
          </p:cNvPicPr>
          <p:nvPr/>
        </p:nvPicPr>
        <p:blipFill>
          <a:blip r:embed="rId1"/>
          <a:stretch>
            <a:fillRect/>
          </a:stretch>
        </p:blipFill>
        <p:spPr>
          <a:xfrm>
            <a:off x="11228832" y="310896"/>
            <a:ext cx="411480" cy="411480"/>
          </a:xfrm>
          <a:prstGeom prst="rect">
            <a:avLst/>
          </a:prstGeom>
        </p:spPr>
      </p:pic>
      <p:sp>
        <p:nvSpPr>
          <p:cNvPr id="4" name="Text 1"/>
          <p:cNvSpPr txBox="1"/>
          <p:nvPr/>
        </p:nvSpPr>
        <p:spPr>
          <a:xfrm>
            <a:off x="548640" y="603504"/>
            <a:ext cx="10515600" cy="822960"/>
          </a:xfrm>
          <a:prstGeom prst="rect">
            <a:avLst/>
          </a:prstGeom>
          <a:noFill/>
          <a:ln/>
        </p:spPr>
        <p:txBody>
          <a:bodyPr wrap="square" lIns="0" tIns="0" rIns="0" bIns="0" rtlCol="0" anchor="t"/>
          <a:lstStyle/>
          <a:p>
            <a:pPr indent="0" marL="0">
              <a:lnSpc>
                <a:spcPct val="95000"/>
              </a:lnSpc>
              <a:buNone/>
            </a:pPr>
            <a:r>
              <a:rPr lang="en-US" sz="2500" dirty="0">
                <a:solidFill>
                  <a:srgbClr val="1A1D21"/>
                </a:solidFill>
                <a:latin typeface="Lora" pitchFamily="34" charset="0"/>
                <a:ea typeface="Lora" pitchFamily="34" charset="-122"/>
                <a:cs typeface="Lora" pitchFamily="34" charset="-120"/>
              </a:rPr>
              <a:t>Proponemos comprar el 100% de Inditex a €63,73 por acción, con 8,2x de deuda y Amancio Ortega como socio</a:t>
            </a:r>
            <a:endParaRPr lang="en-US" sz="2500" dirty="0"/>
          </a:p>
        </p:txBody>
      </p:sp>
      <p:sp>
        <p:nvSpPr>
          <p:cNvPr id="5" name="Shape 2"/>
          <p:cNvSpPr/>
          <p:nvPr/>
        </p:nvSpPr>
        <p:spPr>
          <a:xfrm>
            <a:off x="548640" y="1600200"/>
            <a:ext cx="1737360" cy="1481328"/>
          </a:xfrm>
          <a:prstGeom prst="rect">
            <a:avLst>
              <a:gd name="adj" fmla="val 3704"/>
            </a:avLst>
          </a:prstGeom>
          <a:solidFill>
            <a:srgbClr val="F3F3F2"/>
          </a:solidFill>
          <a:ln/>
        </p:spPr>
      </p:sp>
      <p:sp>
        <p:nvSpPr>
          <p:cNvPr id="6" name="Text 3"/>
          <p:cNvSpPr txBox="1"/>
          <p:nvPr/>
        </p:nvSpPr>
        <p:spPr>
          <a:xfrm>
            <a:off x="713232" y="1746504"/>
            <a:ext cx="1463040" cy="457200"/>
          </a:xfrm>
          <a:prstGeom prst="rect">
            <a:avLst/>
          </a:prstGeom>
          <a:noFill/>
          <a:ln/>
        </p:spPr>
        <p:txBody>
          <a:bodyPr wrap="square" lIns="0" tIns="0" rIns="0" bIns="0" rtlCol="0" anchor="t"/>
          <a:lstStyle/>
          <a:p>
            <a:pPr indent="0" marL="0">
              <a:buNone/>
            </a:pPr>
            <a:r>
              <a:rPr lang="en-US" sz="2000" b="1" dirty="0">
                <a:solidFill>
                  <a:srgbClr val="1A1D21"/>
                </a:solidFill>
                <a:latin typeface="Lora" pitchFamily="34" charset="0"/>
                <a:ea typeface="Lora" pitchFamily="34" charset="-122"/>
                <a:cs typeface="Lora" pitchFamily="34" charset="-120"/>
              </a:rPr>
              <a:t>€63,73</a:t>
            </a:r>
            <a:endParaRPr lang="en-US" sz="2000" dirty="0"/>
          </a:p>
        </p:txBody>
      </p:sp>
      <p:sp>
        <p:nvSpPr>
          <p:cNvPr id="7" name="Text 4"/>
          <p:cNvSpPr txBox="1"/>
          <p:nvPr/>
        </p:nvSpPr>
        <p:spPr>
          <a:xfrm>
            <a:off x="713232" y="2221992"/>
            <a:ext cx="1463040" cy="411480"/>
          </a:xfrm>
          <a:prstGeom prst="rect">
            <a:avLst/>
          </a:prstGeom>
          <a:noFill/>
          <a:ln/>
        </p:spPr>
        <p:txBody>
          <a:bodyPr wrap="square" lIns="0" tIns="0" rIns="0" bIns="0" rtlCol="0" anchor="t"/>
          <a:lstStyle/>
          <a:p>
            <a:pPr indent="0" marL="0">
              <a:buNone/>
            </a:pPr>
            <a:r>
              <a:rPr lang="en-US" sz="1200" b="1" dirty="0">
                <a:solidFill>
                  <a:srgbClr val="1F2124"/>
                </a:solidFill>
                <a:latin typeface="Inter" pitchFamily="34" charset="0"/>
                <a:ea typeface="Inter" pitchFamily="34" charset="-122"/>
                <a:cs typeface="Inter" pitchFamily="34" charset="-120"/>
              </a:rPr>
              <a:t>Precio de la OPA</a:t>
            </a:r>
            <a:endParaRPr lang="en-US" sz="1200" dirty="0"/>
          </a:p>
        </p:txBody>
      </p:sp>
      <p:sp>
        <p:nvSpPr>
          <p:cNvPr id="8" name="Text 5"/>
          <p:cNvSpPr txBox="1"/>
          <p:nvPr/>
        </p:nvSpPr>
        <p:spPr>
          <a:xfrm>
            <a:off x="713232" y="2633472"/>
            <a:ext cx="1463040" cy="365760"/>
          </a:xfrm>
          <a:prstGeom prst="rect">
            <a:avLst/>
          </a:prstGeom>
          <a:noFill/>
          <a:ln/>
        </p:spPr>
        <p:txBody>
          <a:bodyPr wrap="square" lIns="0" tIns="0" rIns="0" bIns="0" rtlCol="0" anchor="t"/>
          <a:lstStyle/>
          <a:p>
            <a:pPr indent="0" marL="0">
              <a:buNone/>
            </a:pPr>
            <a:r>
              <a:rPr lang="en-US" sz="1050" dirty="0">
                <a:solidFill>
                  <a:srgbClr val="6E7378"/>
                </a:solidFill>
                <a:latin typeface="Inter" pitchFamily="34" charset="0"/>
                <a:ea typeface="Inter" pitchFamily="34" charset="-122"/>
                <a:cs typeface="Inter" pitchFamily="34" charset="-120"/>
              </a:rPr>
              <a:t>+15% sobre €55,42</a:t>
            </a:r>
            <a:endParaRPr lang="en-US" sz="1050" dirty="0"/>
          </a:p>
        </p:txBody>
      </p:sp>
      <p:sp>
        <p:nvSpPr>
          <p:cNvPr id="9" name="Shape 6"/>
          <p:cNvSpPr/>
          <p:nvPr/>
        </p:nvSpPr>
        <p:spPr>
          <a:xfrm>
            <a:off x="2414016" y="1600200"/>
            <a:ext cx="1737360" cy="1481328"/>
          </a:xfrm>
          <a:prstGeom prst="rect">
            <a:avLst>
              <a:gd name="adj" fmla="val 3704"/>
            </a:avLst>
          </a:prstGeom>
          <a:solidFill>
            <a:srgbClr val="F3F3F2"/>
          </a:solidFill>
          <a:ln/>
        </p:spPr>
      </p:sp>
      <p:sp>
        <p:nvSpPr>
          <p:cNvPr id="10" name="Text 7"/>
          <p:cNvSpPr txBox="1"/>
          <p:nvPr/>
        </p:nvSpPr>
        <p:spPr>
          <a:xfrm>
            <a:off x="2578608" y="1746504"/>
            <a:ext cx="1463040" cy="457200"/>
          </a:xfrm>
          <a:prstGeom prst="rect">
            <a:avLst/>
          </a:prstGeom>
          <a:noFill/>
          <a:ln/>
        </p:spPr>
        <p:txBody>
          <a:bodyPr wrap="square" lIns="0" tIns="0" rIns="0" bIns="0" rtlCol="0" anchor="t"/>
          <a:lstStyle/>
          <a:p>
            <a:pPr indent="0" marL="0">
              <a:buNone/>
            </a:pPr>
            <a:r>
              <a:rPr lang="en-US" sz="2000" b="1" dirty="0">
                <a:solidFill>
                  <a:srgbClr val="1A1D21"/>
                </a:solidFill>
                <a:latin typeface="Lora" pitchFamily="34" charset="0"/>
                <a:ea typeface="Lora" pitchFamily="34" charset="-122"/>
                <a:cs typeface="Lora" pitchFamily="34" charset="-120"/>
              </a:rPr>
              <a:t>€198.634m</a:t>
            </a:r>
            <a:endParaRPr lang="en-US" sz="2000" dirty="0"/>
          </a:p>
        </p:txBody>
      </p:sp>
      <p:sp>
        <p:nvSpPr>
          <p:cNvPr id="11" name="Text 8"/>
          <p:cNvSpPr txBox="1"/>
          <p:nvPr/>
        </p:nvSpPr>
        <p:spPr>
          <a:xfrm>
            <a:off x="2578608" y="2221992"/>
            <a:ext cx="1463040" cy="411480"/>
          </a:xfrm>
          <a:prstGeom prst="rect">
            <a:avLst/>
          </a:prstGeom>
          <a:noFill/>
          <a:ln/>
        </p:spPr>
        <p:txBody>
          <a:bodyPr wrap="square" lIns="0" tIns="0" rIns="0" bIns="0" rtlCol="0" anchor="t"/>
          <a:lstStyle/>
          <a:p>
            <a:pPr indent="0" marL="0">
              <a:buNone/>
            </a:pPr>
            <a:r>
              <a:rPr lang="en-US" sz="1200" b="1" dirty="0">
                <a:solidFill>
                  <a:srgbClr val="1F2124"/>
                </a:solidFill>
                <a:latin typeface="Inter" pitchFamily="34" charset="0"/>
                <a:ea typeface="Inter" pitchFamily="34" charset="-122"/>
                <a:cs typeface="Inter" pitchFamily="34" charset="-120"/>
              </a:rPr>
              <a:t>Valor del equity</a:t>
            </a:r>
            <a:endParaRPr lang="en-US" sz="1200" dirty="0"/>
          </a:p>
        </p:txBody>
      </p:sp>
      <p:sp>
        <p:nvSpPr>
          <p:cNvPr id="12" name="Text 9"/>
          <p:cNvSpPr txBox="1"/>
          <p:nvPr/>
        </p:nvSpPr>
        <p:spPr>
          <a:xfrm>
            <a:off x="2578608" y="2633472"/>
            <a:ext cx="1463040" cy="365760"/>
          </a:xfrm>
          <a:prstGeom prst="rect">
            <a:avLst/>
          </a:prstGeom>
          <a:noFill/>
          <a:ln/>
        </p:spPr>
        <p:txBody>
          <a:bodyPr wrap="square" lIns="0" tIns="0" rIns="0" bIns="0" rtlCol="0" anchor="t"/>
          <a:lstStyle/>
          <a:p>
            <a:pPr indent="0" marL="0">
              <a:buNone/>
            </a:pPr>
            <a:r>
              <a:rPr lang="en-US" sz="1050" dirty="0">
                <a:solidFill>
                  <a:srgbClr val="6E7378"/>
                </a:solidFill>
                <a:latin typeface="Inter" pitchFamily="34" charset="0"/>
                <a:ea typeface="Inter" pitchFamily="34" charset="-122"/>
                <a:cs typeface="Inter" pitchFamily="34" charset="-120"/>
              </a:rPr>
              <a:t>3.116,7m acciones</a:t>
            </a:r>
            <a:endParaRPr lang="en-US" sz="1050" dirty="0"/>
          </a:p>
        </p:txBody>
      </p:sp>
      <p:sp>
        <p:nvSpPr>
          <p:cNvPr id="13" name="Shape 10"/>
          <p:cNvSpPr/>
          <p:nvPr/>
        </p:nvSpPr>
        <p:spPr>
          <a:xfrm>
            <a:off x="4279392" y="1600200"/>
            <a:ext cx="1737360" cy="1481328"/>
          </a:xfrm>
          <a:prstGeom prst="rect">
            <a:avLst>
              <a:gd name="adj" fmla="val 3704"/>
            </a:avLst>
          </a:prstGeom>
          <a:solidFill>
            <a:srgbClr val="F3F3F2"/>
          </a:solidFill>
          <a:ln/>
        </p:spPr>
      </p:sp>
      <p:sp>
        <p:nvSpPr>
          <p:cNvPr id="14" name="Text 11"/>
          <p:cNvSpPr txBox="1"/>
          <p:nvPr/>
        </p:nvSpPr>
        <p:spPr>
          <a:xfrm>
            <a:off x="4443984" y="1746504"/>
            <a:ext cx="1463040" cy="457200"/>
          </a:xfrm>
          <a:prstGeom prst="rect">
            <a:avLst/>
          </a:prstGeom>
          <a:noFill/>
          <a:ln/>
        </p:spPr>
        <p:txBody>
          <a:bodyPr wrap="square" lIns="0" tIns="0" rIns="0" bIns="0" rtlCol="0" anchor="t"/>
          <a:lstStyle/>
          <a:p>
            <a:pPr indent="0" marL="0">
              <a:buNone/>
            </a:pPr>
            <a:r>
              <a:rPr lang="en-US" sz="2000" b="1" dirty="0">
                <a:solidFill>
                  <a:srgbClr val="1A1D21"/>
                </a:solidFill>
                <a:latin typeface="Lora" pitchFamily="34" charset="0"/>
                <a:ea typeface="Lora" pitchFamily="34" charset="-122"/>
                <a:cs typeface="Lora" pitchFamily="34" charset="-120"/>
              </a:rPr>
              <a:t>19,9x</a:t>
            </a:r>
            <a:endParaRPr lang="en-US" sz="2000" dirty="0"/>
          </a:p>
        </p:txBody>
      </p:sp>
      <p:sp>
        <p:nvSpPr>
          <p:cNvPr id="15" name="Text 12"/>
          <p:cNvSpPr txBox="1"/>
          <p:nvPr/>
        </p:nvSpPr>
        <p:spPr>
          <a:xfrm>
            <a:off x="4443984" y="2221992"/>
            <a:ext cx="1463040" cy="411480"/>
          </a:xfrm>
          <a:prstGeom prst="rect">
            <a:avLst/>
          </a:prstGeom>
          <a:noFill/>
          <a:ln/>
        </p:spPr>
        <p:txBody>
          <a:bodyPr wrap="square" lIns="0" tIns="0" rIns="0" bIns="0" rtlCol="0" anchor="t"/>
          <a:lstStyle/>
          <a:p>
            <a:pPr indent="0" marL="0">
              <a:buNone/>
            </a:pPr>
            <a:r>
              <a:rPr lang="en-US" sz="1200" b="1" dirty="0">
                <a:solidFill>
                  <a:srgbClr val="1F2124"/>
                </a:solidFill>
                <a:latin typeface="Inter" pitchFamily="34" charset="0"/>
                <a:ea typeface="Inter" pitchFamily="34" charset="-122"/>
                <a:cs typeface="Inter" pitchFamily="34" charset="-120"/>
              </a:rPr>
              <a:t>EV / EBITDA de entrada</a:t>
            </a:r>
            <a:endParaRPr lang="en-US" sz="1200" dirty="0"/>
          </a:p>
        </p:txBody>
      </p:sp>
      <p:sp>
        <p:nvSpPr>
          <p:cNvPr id="16" name="Text 13"/>
          <p:cNvSpPr txBox="1"/>
          <p:nvPr/>
        </p:nvSpPr>
        <p:spPr>
          <a:xfrm>
            <a:off x="4443984" y="2633472"/>
            <a:ext cx="1463040" cy="365760"/>
          </a:xfrm>
          <a:prstGeom prst="rect">
            <a:avLst/>
          </a:prstGeom>
          <a:noFill/>
          <a:ln/>
        </p:spPr>
        <p:txBody>
          <a:bodyPr wrap="square" lIns="0" tIns="0" rIns="0" bIns="0" rtlCol="0" anchor="t"/>
          <a:lstStyle/>
          <a:p>
            <a:pPr indent="0" marL="0">
              <a:buNone/>
            </a:pPr>
            <a:r>
              <a:rPr lang="en-US" sz="1050" dirty="0">
                <a:solidFill>
                  <a:srgbClr val="6E7378"/>
                </a:solidFill>
                <a:latin typeface="Inter" pitchFamily="34" charset="0"/>
                <a:ea typeface="Inter" pitchFamily="34" charset="-122"/>
                <a:cs typeface="Inter" pitchFamily="34" charset="-120"/>
              </a:rPr>
              <a:t>EV €187.676m</a:t>
            </a:r>
            <a:endParaRPr lang="en-US" sz="1050" dirty="0"/>
          </a:p>
        </p:txBody>
      </p:sp>
      <p:sp>
        <p:nvSpPr>
          <p:cNvPr id="17" name="Shape 14"/>
          <p:cNvSpPr/>
          <p:nvPr/>
        </p:nvSpPr>
        <p:spPr>
          <a:xfrm>
            <a:off x="6144768" y="1600200"/>
            <a:ext cx="1737360" cy="1481328"/>
          </a:xfrm>
          <a:prstGeom prst="rect">
            <a:avLst>
              <a:gd name="adj" fmla="val 3704"/>
            </a:avLst>
          </a:prstGeom>
          <a:solidFill>
            <a:srgbClr val="F3F3F2"/>
          </a:solidFill>
          <a:ln/>
        </p:spPr>
      </p:sp>
      <p:sp>
        <p:nvSpPr>
          <p:cNvPr id="18" name="Text 15"/>
          <p:cNvSpPr txBox="1"/>
          <p:nvPr/>
        </p:nvSpPr>
        <p:spPr>
          <a:xfrm>
            <a:off x="6309360" y="1746504"/>
            <a:ext cx="1463040" cy="457200"/>
          </a:xfrm>
          <a:prstGeom prst="rect">
            <a:avLst/>
          </a:prstGeom>
          <a:noFill/>
          <a:ln/>
        </p:spPr>
        <p:txBody>
          <a:bodyPr wrap="square" lIns="0" tIns="0" rIns="0" bIns="0" rtlCol="0" anchor="t"/>
          <a:lstStyle/>
          <a:p>
            <a:pPr indent="0" marL="0">
              <a:buNone/>
            </a:pPr>
            <a:r>
              <a:rPr lang="en-US" sz="2000" b="1" dirty="0">
                <a:solidFill>
                  <a:srgbClr val="1A1D21"/>
                </a:solidFill>
                <a:latin typeface="Lora" pitchFamily="34" charset="0"/>
                <a:ea typeface="Lora" pitchFamily="34" charset="-122"/>
                <a:cs typeface="Lora" pitchFamily="34" charset="-120"/>
              </a:rPr>
              <a:t>€76.956m</a:t>
            </a:r>
            <a:endParaRPr lang="en-US" sz="2000" dirty="0"/>
          </a:p>
        </p:txBody>
      </p:sp>
      <p:sp>
        <p:nvSpPr>
          <p:cNvPr id="19" name="Text 16"/>
          <p:cNvSpPr txBox="1"/>
          <p:nvPr/>
        </p:nvSpPr>
        <p:spPr>
          <a:xfrm>
            <a:off x="6309360" y="2221992"/>
            <a:ext cx="1463040" cy="411480"/>
          </a:xfrm>
          <a:prstGeom prst="rect">
            <a:avLst/>
          </a:prstGeom>
          <a:noFill/>
          <a:ln/>
        </p:spPr>
        <p:txBody>
          <a:bodyPr wrap="square" lIns="0" tIns="0" rIns="0" bIns="0" rtlCol="0" anchor="t"/>
          <a:lstStyle/>
          <a:p>
            <a:pPr indent="0" marL="0">
              <a:buNone/>
            </a:pPr>
            <a:r>
              <a:rPr lang="en-US" sz="1200" b="1" dirty="0">
                <a:solidFill>
                  <a:srgbClr val="1F2124"/>
                </a:solidFill>
                <a:latin typeface="Inter" pitchFamily="34" charset="0"/>
                <a:ea typeface="Inter" pitchFamily="34" charset="-122"/>
                <a:cs typeface="Inter" pitchFamily="34" charset="-120"/>
              </a:rPr>
              <a:t>Deuda total</a:t>
            </a:r>
            <a:endParaRPr lang="en-US" sz="1200" dirty="0"/>
          </a:p>
        </p:txBody>
      </p:sp>
      <p:sp>
        <p:nvSpPr>
          <p:cNvPr id="20" name="Text 17"/>
          <p:cNvSpPr txBox="1"/>
          <p:nvPr/>
        </p:nvSpPr>
        <p:spPr>
          <a:xfrm>
            <a:off x="6309360" y="2633472"/>
            <a:ext cx="1463040" cy="365760"/>
          </a:xfrm>
          <a:prstGeom prst="rect">
            <a:avLst/>
          </a:prstGeom>
          <a:noFill/>
          <a:ln/>
        </p:spPr>
        <p:txBody>
          <a:bodyPr wrap="square" lIns="0" tIns="0" rIns="0" bIns="0" rtlCol="0" anchor="t"/>
          <a:lstStyle/>
          <a:p>
            <a:pPr indent="0" marL="0">
              <a:buNone/>
            </a:pPr>
            <a:r>
              <a:rPr lang="en-US" sz="1050" dirty="0">
                <a:solidFill>
                  <a:srgbClr val="6E7378"/>
                </a:solidFill>
                <a:latin typeface="Inter" pitchFamily="34" charset="0"/>
                <a:ea typeface="Inter" pitchFamily="34" charset="-122"/>
                <a:cs typeface="Inter" pitchFamily="34" charset="-120"/>
              </a:rPr>
              <a:t>8,2x EBITDA pre-IFRS 16</a:t>
            </a:r>
            <a:endParaRPr lang="en-US" sz="1050" dirty="0"/>
          </a:p>
        </p:txBody>
      </p:sp>
      <p:sp>
        <p:nvSpPr>
          <p:cNvPr id="21" name="Shape 18"/>
          <p:cNvSpPr/>
          <p:nvPr/>
        </p:nvSpPr>
        <p:spPr>
          <a:xfrm>
            <a:off x="8010144" y="1600200"/>
            <a:ext cx="1737360" cy="1481328"/>
          </a:xfrm>
          <a:prstGeom prst="rect">
            <a:avLst>
              <a:gd name="adj" fmla="val 3704"/>
            </a:avLst>
          </a:prstGeom>
          <a:solidFill>
            <a:srgbClr val="F3F3F2"/>
          </a:solidFill>
          <a:ln/>
        </p:spPr>
      </p:sp>
      <p:sp>
        <p:nvSpPr>
          <p:cNvPr id="22" name="Text 19"/>
          <p:cNvSpPr txBox="1"/>
          <p:nvPr/>
        </p:nvSpPr>
        <p:spPr>
          <a:xfrm>
            <a:off x="8174736" y="1746504"/>
            <a:ext cx="1463040" cy="457200"/>
          </a:xfrm>
          <a:prstGeom prst="rect">
            <a:avLst/>
          </a:prstGeom>
          <a:noFill/>
          <a:ln/>
        </p:spPr>
        <p:txBody>
          <a:bodyPr wrap="square" lIns="0" tIns="0" rIns="0" bIns="0" rtlCol="0" anchor="t"/>
          <a:lstStyle/>
          <a:p>
            <a:pPr indent="0" marL="0">
              <a:buNone/>
            </a:pPr>
            <a:r>
              <a:rPr lang="en-US" sz="2000" b="1" dirty="0">
                <a:solidFill>
                  <a:srgbClr val="1A1D21"/>
                </a:solidFill>
                <a:latin typeface="Lora" pitchFamily="34" charset="0"/>
                <a:ea typeface="Lora" pitchFamily="34" charset="-122"/>
                <a:cs typeface="Lora" pitchFamily="34" charset="-120"/>
              </a:rPr>
              <a:t>€114.351m</a:t>
            </a:r>
            <a:endParaRPr lang="en-US" sz="2000" dirty="0"/>
          </a:p>
        </p:txBody>
      </p:sp>
      <p:sp>
        <p:nvSpPr>
          <p:cNvPr id="23" name="Text 20"/>
          <p:cNvSpPr txBox="1"/>
          <p:nvPr/>
        </p:nvSpPr>
        <p:spPr>
          <a:xfrm>
            <a:off x="8174736" y="2221992"/>
            <a:ext cx="1463040" cy="411480"/>
          </a:xfrm>
          <a:prstGeom prst="rect">
            <a:avLst/>
          </a:prstGeom>
          <a:noFill/>
          <a:ln/>
        </p:spPr>
        <p:txBody>
          <a:bodyPr wrap="square" lIns="0" tIns="0" rIns="0" bIns="0" rtlCol="0" anchor="t"/>
          <a:lstStyle/>
          <a:p>
            <a:pPr indent="0" marL="0">
              <a:buNone/>
            </a:pPr>
            <a:r>
              <a:rPr lang="en-US" sz="1200" b="1" dirty="0">
                <a:solidFill>
                  <a:srgbClr val="1F2124"/>
                </a:solidFill>
                <a:latin typeface="Inter" pitchFamily="34" charset="0"/>
                <a:ea typeface="Inter" pitchFamily="34" charset="-122"/>
                <a:cs typeface="Inter" pitchFamily="34" charset="-120"/>
              </a:rPr>
              <a:t>Equity en la TopCo</a:t>
            </a:r>
            <a:endParaRPr lang="en-US" sz="1200" dirty="0"/>
          </a:p>
        </p:txBody>
      </p:sp>
      <p:sp>
        <p:nvSpPr>
          <p:cNvPr id="24" name="Text 21"/>
          <p:cNvSpPr txBox="1"/>
          <p:nvPr/>
        </p:nvSpPr>
        <p:spPr>
          <a:xfrm>
            <a:off x="8174736" y="2633472"/>
            <a:ext cx="1463040" cy="365760"/>
          </a:xfrm>
          <a:prstGeom prst="rect">
            <a:avLst/>
          </a:prstGeom>
          <a:noFill/>
          <a:ln/>
        </p:spPr>
        <p:txBody>
          <a:bodyPr wrap="square" lIns="0" tIns="0" rIns="0" bIns="0" rtlCol="0" anchor="t"/>
          <a:lstStyle/>
          <a:p>
            <a:pPr indent="0" marL="0">
              <a:buNone/>
            </a:pPr>
            <a:r>
              <a:rPr lang="en-US" sz="1050" dirty="0">
                <a:solidFill>
                  <a:srgbClr val="6E7378"/>
                </a:solidFill>
                <a:latin typeface="Inter" pitchFamily="34" charset="0"/>
                <a:ea typeface="Inter" pitchFamily="34" charset="-122"/>
                <a:cs typeface="Inter" pitchFamily="34" charset="-120"/>
              </a:rPr>
              <a:t>43,4% Amancio Ortega</a:t>
            </a:r>
            <a:endParaRPr lang="en-US" sz="1050" dirty="0"/>
          </a:p>
        </p:txBody>
      </p:sp>
      <p:sp>
        <p:nvSpPr>
          <p:cNvPr id="25" name="Shape 22"/>
          <p:cNvSpPr/>
          <p:nvPr/>
        </p:nvSpPr>
        <p:spPr>
          <a:xfrm>
            <a:off x="9875520" y="1600200"/>
            <a:ext cx="1737360" cy="1481328"/>
          </a:xfrm>
          <a:prstGeom prst="rect">
            <a:avLst>
              <a:gd name="adj" fmla="val 3704"/>
            </a:avLst>
          </a:prstGeom>
          <a:solidFill>
            <a:srgbClr val="1A1D21"/>
          </a:solidFill>
          <a:ln/>
        </p:spPr>
      </p:sp>
      <p:sp>
        <p:nvSpPr>
          <p:cNvPr id="26" name="Text 23"/>
          <p:cNvSpPr txBox="1"/>
          <p:nvPr/>
        </p:nvSpPr>
        <p:spPr>
          <a:xfrm>
            <a:off x="10040112" y="1746504"/>
            <a:ext cx="1463040" cy="457200"/>
          </a:xfrm>
          <a:prstGeom prst="rect">
            <a:avLst/>
          </a:prstGeom>
          <a:noFill/>
          <a:ln/>
        </p:spPr>
        <p:txBody>
          <a:bodyPr wrap="square" lIns="0" tIns="0" rIns="0" bIns="0" rtlCol="0" anchor="t"/>
          <a:lstStyle/>
          <a:p>
            <a:pPr indent="0" marL="0">
              <a:buNone/>
            </a:pPr>
            <a:r>
              <a:rPr lang="en-US" sz="2000" b="1" dirty="0">
                <a:solidFill>
                  <a:srgbClr val="FFFFFF"/>
                </a:solidFill>
                <a:latin typeface="Lora" pitchFamily="34" charset="0"/>
                <a:ea typeface="Lora" pitchFamily="34" charset="-122"/>
                <a:cs typeface="Lora" pitchFamily="34" charset="-120"/>
              </a:rPr>
              <a:t>18,2%</a:t>
            </a:r>
            <a:endParaRPr lang="en-US" sz="2000" dirty="0"/>
          </a:p>
        </p:txBody>
      </p:sp>
      <p:sp>
        <p:nvSpPr>
          <p:cNvPr id="27" name="Text 24"/>
          <p:cNvSpPr txBox="1"/>
          <p:nvPr/>
        </p:nvSpPr>
        <p:spPr>
          <a:xfrm>
            <a:off x="10040112" y="2221992"/>
            <a:ext cx="1463040" cy="411480"/>
          </a:xfrm>
          <a:prstGeom prst="rect">
            <a:avLst/>
          </a:prstGeom>
          <a:noFill/>
          <a:ln/>
        </p:spPr>
        <p:txBody>
          <a:bodyPr wrap="square" lIns="0" tIns="0" rIns="0" bIns="0" rtlCol="0" anchor="t"/>
          <a:lstStyle/>
          <a:p>
            <a:pPr indent="0" marL="0">
              <a:buNone/>
            </a:pPr>
            <a:r>
              <a:rPr lang="en-US" sz="1200" b="1" dirty="0">
                <a:solidFill>
                  <a:srgbClr val="EDEDED"/>
                </a:solidFill>
                <a:latin typeface="Inter" pitchFamily="34" charset="0"/>
                <a:ea typeface="Inter" pitchFamily="34" charset="-122"/>
                <a:cs typeface="Inter" pitchFamily="34" charset="-120"/>
              </a:rPr>
              <a:t>TIR de nuestro cliente (GP)</a:t>
            </a:r>
            <a:endParaRPr lang="en-US" sz="1200" dirty="0"/>
          </a:p>
        </p:txBody>
      </p:sp>
      <p:sp>
        <p:nvSpPr>
          <p:cNvPr id="28" name="Text 25"/>
          <p:cNvSpPr txBox="1"/>
          <p:nvPr/>
        </p:nvSpPr>
        <p:spPr>
          <a:xfrm>
            <a:off x="10040112" y="2633472"/>
            <a:ext cx="1463040" cy="365760"/>
          </a:xfrm>
          <a:prstGeom prst="rect">
            <a:avLst/>
          </a:prstGeom>
          <a:noFill/>
          <a:ln/>
        </p:spPr>
        <p:txBody>
          <a:bodyPr wrap="square" lIns="0" tIns="0" rIns="0" bIns="0" rtlCol="0" anchor="t"/>
          <a:lstStyle/>
          <a:p>
            <a:pPr indent="0" marL="0">
              <a:buNone/>
            </a:pPr>
            <a:r>
              <a:rPr lang="en-US" sz="1050" dirty="0">
                <a:solidFill>
                  <a:srgbClr val="BFC4CA"/>
                </a:solidFill>
                <a:latin typeface="Inter" pitchFamily="34" charset="0"/>
                <a:ea typeface="Inter" pitchFamily="34" charset="-122"/>
                <a:cs typeface="Inter" pitchFamily="34" charset="-120"/>
              </a:rPr>
              <a:t>3,23x con carry · equity 10,8%</a:t>
            </a:r>
            <a:endParaRPr lang="en-US" sz="1050" dirty="0"/>
          </a:p>
        </p:txBody>
      </p:sp>
      <p:sp>
        <p:nvSpPr>
          <p:cNvPr id="29" name="Shape 26"/>
          <p:cNvSpPr/>
          <p:nvPr/>
        </p:nvSpPr>
        <p:spPr>
          <a:xfrm>
            <a:off x="548640" y="3429000"/>
            <a:ext cx="2651760" cy="2606040"/>
          </a:xfrm>
          <a:prstGeom prst="rect">
            <a:avLst>
              <a:gd name="adj" fmla="val 2105"/>
            </a:avLst>
          </a:prstGeom>
          <a:solidFill>
            <a:srgbClr val="FFFFFF"/>
          </a:solidFill>
          <a:ln w="12700">
            <a:solidFill>
              <a:srgbClr val="D9D9D6"/>
            </a:solidFill>
            <a:prstDash val="solid"/>
          </a:ln>
        </p:spPr>
      </p:sp>
      <p:sp>
        <p:nvSpPr>
          <p:cNvPr id="30" name="Text 27"/>
          <p:cNvSpPr txBox="1"/>
          <p:nvPr/>
        </p:nvSpPr>
        <p:spPr>
          <a:xfrm>
            <a:off x="777240" y="3611880"/>
            <a:ext cx="914400" cy="411480"/>
          </a:xfrm>
          <a:prstGeom prst="rect">
            <a:avLst/>
          </a:prstGeom>
          <a:noFill/>
          <a:ln/>
        </p:spPr>
        <p:txBody>
          <a:bodyPr wrap="square" lIns="0" tIns="0" rIns="0" bIns="0" rtlCol="0" anchor="t"/>
          <a:lstStyle/>
          <a:p>
            <a:pPr indent="0" marL="0">
              <a:buNone/>
            </a:pPr>
            <a:r>
              <a:rPr lang="en-US" sz="2400" dirty="0">
                <a:solidFill>
                  <a:srgbClr val="1F4B3F"/>
                </a:solidFill>
                <a:latin typeface="Lora" pitchFamily="34" charset="0"/>
                <a:ea typeface="Lora" pitchFamily="34" charset="-122"/>
                <a:cs typeface="Lora" pitchFamily="34" charset="-120"/>
              </a:rPr>
              <a:t>01</a:t>
            </a:r>
            <a:endParaRPr lang="en-US" sz="2400" dirty="0"/>
          </a:p>
        </p:txBody>
      </p:sp>
      <p:sp>
        <p:nvSpPr>
          <p:cNvPr id="31" name="Text 28"/>
          <p:cNvSpPr txBox="1"/>
          <p:nvPr/>
        </p:nvSpPr>
        <p:spPr>
          <a:xfrm>
            <a:off x="777240" y="4069080"/>
            <a:ext cx="2240280" cy="320040"/>
          </a:xfrm>
          <a:prstGeom prst="rect">
            <a:avLst/>
          </a:prstGeom>
          <a:noFill/>
          <a:ln/>
        </p:spPr>
        <p:txBody>
          <a:bodyPr wrap="square" lIns="0" tIns="0" rIns="0" bIns="0" rtlCol="0" anchor="t"/>
          <a:lstStyle/>
          <a:p>
            <a:pPr indent="0" marL="0">
              <a:buNone/>
            </a:pPr>
            <a:r>
              <a:rPr lang="en-US" sz="1500" b="1" dirty="0">
                <a:solidFill>
                  <a:srgbClr val="1A1D21"/>
                </a:solidFill>
                <a:latin typeface="Inter" pitchFamily="34" charset="0"/>
                <a:ea typeface="Inter" pitchFamily="34" charset="-122"/>
                <a:cs typeface="Inter" pitchFamily="34" charset="-120"/>
              </a:rPr>
              <a:t>Business plan</a:t>
            </a:r>
            <a:endParaRPr lang="en-US" sz="1500" dirty="0"/>
          </a:p>
        </p:txBody>
      </p:sp>
      <p:sp>
        <p:nvSpPr>
          <p:cNvPr id="32" name="Text 29"/>
          <p:cNvSpPr txBox="1"/>
          <p:nvPr/>
        </p:nvSpPr>
        <p:spPr>
          <a:xfrm>
            <a:off x="777240" y="4480560"/>
            <a:ext cx="2240280" cy="1463040"/>
          </a:xfrm>
          <a:prstGeom prst="rect">
            <a:avLst/>
          </a:prstGeom>
          <a:noFill/>
          <a:ln/>
        </p:spPr>
        <p:txBody>
          <a:bodyPr wrap="square" lIns="0" tIns="0" rIns="0" bIns="0" rtlCol="0" anchor="t"/>
          <a:lstStyle/>
          <a:p>
            <a:pPr indent="0" marL="0">
              <a:lnSpc>
                <a:spcPct val="105000"/>
              </a:lnSpc>
              <a:buNone/>
            </a:pPr>
            <a:r>
              <a:rPr lang="en-US" sz="1300" dirty="0">
                <a:solidFill>
                  <a:srgbClr val="1F2124"/>
                </a:solidFill>
                <a:latin typeface="Inter" pitchFamily="34" charset="0"/>
                <a:ea typeface="Inter" pitchFamily="34" charset="-122"/>
                <a:cs typeface="Inter" pitchFamily="34" charset="-120"/>
              </a:rPr>
              <a:t>El EBITDA pasa de €9.433m a €14.519m en 2032 (+6,4% anual) en el caso base, con cuatro escenarios de Bull a Bank case.</a:t>
            </a:r>
            <a:endParaRPr lang="en-US" sz="1300" dirty="0"/>
          </a:p>
        </p:txBody>
      </p:sp>
      <p:sp>
        <p:nvSpPr>
          <p:cNvPr id="33" name="Shape 30"/>
          <p:cNvSpPr/>
          <p:nvPr/>
        </p:nvSpPr>
        <p:spPr>
          <a:xfrm>
            <a:off x="3346704" y="3429000"/>
            <a:ext cx="2651760" cy="2606040"/>
          </a:xfrm>
          <a:prstGeom prst="rect">
            <a:avLst>
              <a:gd name="adj" fmla="val 2105"/>
            </a:avLst>
          </a:prstGeom>
          <a:solidFill>
            <a:srgbClr val="FFFFFF"/>
          </a:solidFill>
          <a:ln w="12700">
            <a:solidFill>
              <a:srgbClr val="D9D9D6"/>
            </a:solidFill>
            <a:prstDash val="solid"/>
          </a:ln>
        </p:spPr>
      </p:sp>
      <p:sp>
        <p:nvSpPr>
          <p:cNvPr id="34" name="Text 31"/>
          <p:cNvSpPr txBox="1"/>
          <p:nvPr/>
        </p:nvSpPr>
        <p:spPr>
          <a:xfrm>
            <a:off x="3575304" y="3611880"/>
            <a:ext cx="914400" cy="411480"/>
          </a:xfrm>
          <a:prstGeom prst="rect">
            <a:avLst/>
          </a:prstGeom>
          <a:noFill/>
          <a:ln/>
        </p:spPr>
        <p:txBody>
          <a:bodyPr wrap="square" lIns="0" tIns="0" rIns="0" bIns="0" rtlCol="0" anchor="t"/>
          <a:lstStyle/>
          <a:p>
            <a:pPr indent="0" marL="0">
              <a:buNone/>
            </a:pPr>
            <a:r>
              <a:rPr lang="en-US" sz="2400" dirty="0">
                <a:solidFill>
                  <a:srgbClr val="1F4B3F"/>
                </a:solidFill>
                <a:latin typeface="Lora" pitchFamily="34" charset="0"/>
                <a:ea typeface="Lora" pitchFamily="34" charset="-122"/>
                <a:cs typeface="Lora" pitchFamily="34" charset="-120"/>
              </a:rPr>
              <a:t>02</a:t>
            </a:r>
            <a:endParaRPr lang="en-US" sz="2400" dirty="0"/>
          </a:p>
        </p:txBody>
      </p:sp>
      <p:sp>
        <p:nvSpPr>
          <p:cNvPr id="35" name="Text 32"/>
          <p:cNvSpPr txBox="1"/>
          <p:nvPr/>
        </p:nvSpPr>
        <p:spPr>
          <a:xfrm>
            <a:off x="3575304" y="4069080"/>
            <a:ext cx="2240280" cy="320040"/>
          </a:xfrm>
          <a:prstGeom prst="rect">
            <a:avLst/>
          </a:prstGeom>
          <a:noFill/>
          <a:ln/>
        </p:spPr>
        <p:txBody>
          <a:bodyPr wrap="square" lIns="0" tIns="0" rIns="0" bIns="0" rtlCol="0" anchor="t"/>
          <a:lstStyle/>
          <a:p>
            <a:pPr indent="0" marL="0">
              <a:buNone/>
            </a:pPr>
            <a:r>
              <a:rPr lang="en-US" sz="1500" b="1" dirty="0">
                <a:solidFill>
                  <a:srgbClr val="1A1D21"/>
                </a:solidFill>
                <a:latin typeface="Inter" pitchFamily="34" charset="0"/>
                <a:ea typeface="Inter" pitchFamily="34" charset="-122"/>
                <a:cs typeface="Inter" pitchFamily="34" charset="-120"/>
              </a:rPr>
              <a:t>Estructura de la compra</a:t>
            </a:r>
            <a:endParaRPr lang="en-US" sz="1500" dirty="0"/>
          </a:p>
        </p:txBody>
      </p:sp>
      <p:sp>
        <p:nvSpPr>
          <p:cNvPr id="36" name="Text 33"/>
          <p:cNvSpPr txBox="1"/>
          <p:nvPr/>
        </p:nvSpPr>
        <p:spPr>
          <a:xfrm>
            <a:off x="3575304" y="4480560"/>
            <a:ext cx="2240280" cy="1463040"/>
          </a:xfrm>
          <a:prstGeom prst="rect">
            <a:avLst/>
          </a:prstGeom>
          <a:noFill/>
          <a:ln/>
        </p:spPr>
        <p:txBody>
          <a:bodyPr wrap="square" lIns="0" tIns="0" rIns="0" bIns="0" rtlCol="0" anchor="t"/>
          <a:lstStyle/>
          <a:p>
            <a:pPr indent="0" marL="0">
              <a:lnSpc>
                <a:spcPct val="105000"/>
              </a:lnSpc>
              <a:buNone/>
            </a:pPr>
            <a:r>
              <a:rPr lang="en-US" sz="1300" dirty="0">
                <a:solidFill>
                  <a:srgbClr val="1F2124"/>
                </a:solidFill>
                <a:latin typeface="Inter" pitchFamily="34" charset="0"/>
                <a:ea typeface="Inter" pitchFamily="34" charset="-122"/>
                <a:cs typeface="Inter" pitchFamily="34" charset="-120"/>
              </a:rPr>
              <a:t>OPA de exclusión por el 100% a través de TopCo, MidCo y BidCo, con rollover del 25% de Amancio Ortega.</a:t>
            </a:r>
            <a:endParaRPr lang="en-US" sz="1300" dirty="0"/>
          </a:p>
        </p:txBody>
      </p:sp>
      <p:sp>
        <p:nvSpPr>
          <p:cNvPr id="37" name="Shape 34"/>
          <p:cNvSpPr/>
          <p:nvPr/>
        </p:nvSpPr>
        <p:spPr>
          <a:xfrm>
            <a:off x="6144768" y="3429000"/>
            <a:ext cx="2651760" cy="2606040"/>
          </a:xfrm>
          <a:prstGeom prst="rect">
            <a:avLst>
              <a:gd name="adj" fmla="val 2105"/>
            </a:avLst>
          </a:prstGeom>
          <a:solidFill>
            <a:srgbClr val="FFFFFF"/>
          </a:solidFill>
          <a:ln w="12700">
            <a:solidFill>
              <a:srgbClr val="D9D9D6"/>
            </a:solidFill>
            <a:prstDash val="solid"/>
          </a:ln>
        </p:spPr>
      </p:sp>
      <p:sp>
        <p:nvSpPr>
          <p:cNvPr id="38" name="Text 35"/>
          <p:cNvSpPr txBox="1"/>
          <p:nvPr/>
        </p:nvSpPr>
        <p:spPr>
          <a:xfrm>
            <a:off x="6373368" y="3611880"/>
            <a:ext cx="914400" cy="411480"/>
          </a:xfrm>
          <a:prstGeom prst="rect">
            <a:avLst/>
          </a:prstGeom>
          <a:noFill/>
          <a:ln/>
        </p:spPr>
        <p:txBody>
          <a:bodyPr wrap="square" lIns="0" tIns="0" rIns="0" bIns="0" rtlCol="0" anchor="t"/>
          <a:lstStyle/>
          <a:p>
            <a:pPr indent="0" marL="0">
              <a:buNone/>
            </a:pPr>
            <a:r>
              <a:rPr lang="en-US" sz="2400" dirty="0">
                <a:solidFill>
                  <a:srgbClr val="1F4B3F"/>
                </a:solidFill>
                <a:latin typeface="Lora" pitchFamily="34" charset="0"/>
                <a:ea typeface="Lora" pitchFamily="34" charset="-122"/>
                <a:cs typeface="Lora" pitchFamily="34" charset="-120"/>
              </a:rPr>
              <a:t>03</a:t>
            </a:r>
            <a:endParaRPr lang="en-US" sz="2400" dirty="0"/>
          </a:p>
        </p:txBody>
      </p:sp>
      <p:sp>
        <p:nvSpPr>
          <p:cNvPr id="39" name="Text 36"/>
          <p:cNvSpPr txBox="1"/>
          <p:nvPr/>
        </p:nvSpPr>
        <p:spPr>
          <a:xfrm>
            <a:off x="6373368" y="4069080"/>
            <a:ext cx="2240280" cy="320040"/>
          </a:xfrm>
          <a:prstGeom prst="rect">
            <a:avLst/>
          </a:prstGeom>
          <a:noFill/>
          <a:ln/>
        </p:spPr>
        <p:txBody>
          <a:bodyPr wrap="square" lIns="0" tIns="0" rIns="0" bIns="0" rtlCol="0" anchor="t"/>
          <a:lstStyle/>
          <a:p>
            <a:pPr indent="0" marL="0">
              <a:buNone/>
            </a:pPr>
            <a:r>
              <a:rPr lang="en-US" sz="1500" b="1" dirty="0">
                <a:solidFill>
                  <a:srgbClr val="1A1D21"/>
                </a:solidFill>
                <a:latin typeface="Inter" pitchFamily="34" charset="0"/>
                <a:ea typeface="Inter" pitchFamily="34" charset="-122"/>
                <a:cs typeface="Inter" pitchFamily="34" charset="-120"/>
              </a:rPr>
              <a:t>Estructura de la deuda</a:t>
            </a:r>
            <a:endParaRPr lang="en-US" sz="1500" dirty="0"/>
          </a:p>
        </p:txBody>
      </p:sp>
      <p:sp>
        <p:nvSpPr>
          <p:cNvPr id="40" name="Text 37"/>
          <p:cNvSpPr txBox="1"/>
          <p:nvPr/>
        </p:nvSpPr>
        <p:spPr>
          <a:xfrm>
            <a:off x="6373368" y="4480560"/>
            <a:ext cx="2240280" cy="1463040"/>
          </a:xfrm>
          <a:prstGeom prst="rect">
            <a:avLst/>
          </a:prstGeom>
          <a:noFill/>
          <a:ln/>
        </p:spPr>
        <p:txBody>
          <a:bodyPr wrap="square" lIns="0" tIns="0" rIns="0" bIns="0" rtlCol="0" anchor="t"/>
          <a:lstStyle/>
          <a:p>
            <a:pPr indent="0" marL="0">
              <a:lnSpc>
                <a:spcPct val="105000"/>
              </a:lnSpc>
              <a:buNone/>
            </a:pPr>
            <a:r>
              <a:rPr lang="en-US" sz="1300" dirty="0">
                <a:solidFill>
                  <a:srgbClr val="1F2124"/>
                </a:solidFill>
                <a:latin typeface="Inter" pitchFamily="34" charset="0"/>
                <a:ea typeface="Inter" pitchFamily="34" charset="-122"/>
                <a:cs typeface="Inter" pitchFamily="34" charset="-120"/>
              </a:rPr>
              <a:t>Senior 5,5x, mezzanine 1,5x y nota de Sandra Ortega 1,2x. DSCR mínimo de 1,44x frente a 1,25x exigido.</a:t>
            </a:r>
            <a:endParaRPr lang="en-US" sz="1300" dirty="0"/>
          </a:p>
        </p:txBody>
      </p:sp>
      <p:sp>
        <p:nvSpPr>
          <p:cNvPr id="41" name="Shape 38"/>
          <p:cNvSpPr/>
          <p:nvPr/>
        </p:nvSpPr>
        <p:spPr>
          <a:xfrm>
            <a:off x="8942832" y="3429000"/>
            <a:ext cx="2651760" cy="2606040"/>
          </a:xfrm>
          <a:prstGeom prst="rect">
            <a:avLst>
              <a:gd name="adj" fmla="val 2105"/>
            </a:avLst>
          </a:prstGeom>
          <a:solidFill>
            <a:srgbClr val="FFFFFF"/>
          </a:solidFill>
          <a:ln w="12700">
            <a:solidFill>
              <a:srgbClr val="D9D9D6"/>
            </a:solidFill>
            <a:prstDash val="solid"/>
          </a:ln>
        </p:spPr>
      </p:sp>
      <p:sp>
        <p:nvSpPr>
          <p:cNvPr id="42" name="Text 39"/>
          <p:cNvSpPr txBox="1"/>
          <p:nvPr/>
        </p:nvSpPr>
        <p:spPr>
          <a:xfrm>
            <a:off x="9171432" y="3611880"/>
            <a:ext cx="914400" cy="411480"/>
          </a:xfrm>
          <a:prstGeom prst="rect">
            <a:avLst/>
          </a:prstGeom>
          <a:noFill/>
          <a:ln/>
        </p:spPr>
        <p:txBody>
          <a:bodyPr wrap="square" lIns="0" tIns="0" rIns="0" bIns="0" rtlCol="0" anchor="t"/>
          <a:lstStyle/>
          <a:p>
            <a:pPr indent="0" marL="0">
              <a:buNone/>
            </a:pPr>
            <a:r>
              <a:rPr lang="en-US" sz="2400" dirty="0">
                <a:solidFill>
                  <a:srgbClr val="1F4B3F"/>
                </a:solidFill>
                <a:latin typeface="Lora" pitchFamily="34" charset="0"/>
                <a:ea typeface="Lora" pitchFamily="34" charset="-122"/>
                <a:cs typeface="Lora" pitchFamily="34" charset="-120"/>
              </a:rPr>
              <a:t>04</a:t>
            </a:r>
            <a:endParaRPr lang="en-US" sz="2400" dirty="0"/>
          </a:p>
        </p:txBody>
      </p:sp>
      <p:sp>
        <p:nvSpPr>
          <p:cNvPr id="43" name="Text 40"/>
          <p:cNvSpPr txBox="1"/>
          <p:nvPr/>
        </p:nvSpPr>
        <p:spPr>
          <a:xfrm>
            <a:off x="9171432" y="4069080"/>
            <a:ext cx="2240280" cy="320040"/>
          </a:xfrm>
          <a:prstGeom prst="rect">
            <a:avLst/>
          </a:prstGeom>
          <a:noFill/>
          <a:ln/>
        </p:spPr>
        <p:txBody>
          <a:bodyPr wrap="square" lIns="0" tIns="0" rIns="0" bIns="0" rtlCol="0" anchor="t"/>
          <a:lstStyle/>
          <a:p>
            <a:pPr indent="0" marL="0">
              <a:buNone/>
            </a:pPr>
            <a:r>
              <a:rPr lang="en-US" sz="1500" b="1" dirty="0">
                <a:solidFill>
                  <a:srgbClr val="1A1D21"/>
                </a:solidFill>
                <a:latin typeface="Inter" pitchFamily="34" charset="0"/>
                <a:ea typeface="Inter" pitchFamily="34" charset="-122"/>
                <a:cs typeface="Inter" pitchFamily="34" charset="-120"/>
              </a:rPr>
              <a:t>Financiadores</a:t>
            </a:r>
            <a:endParaRPr lang="en-US" sz="1500" dirty="0"/>
          </a:p>
        </p:txBody>
      </p:sp>
      <p:sp>
        <p:nvSpPr>
          <p:cNvPr id="44" name="Text 41"/>
          <p:cNvSpPr txBox="1"/>
          <p:nvPr/>
        </p:nvSpPr>
        <p:spPr>
          <a:xfrm>
            <a:off x="9171432" y="4480560"/>
            <a:ext cx="2240280" cy="1463040"/>
          </a:xfrm>
          <a:prstGeom prst="rect">
            <a:avLst/>
          </a:prstGeom>
          <a:noFill/>
          <a:ln/>
        </p:spPr>
        <p:txBody>
          <a:bodyPr wrap="square" lIns="0" tIns="0" rIns="0" bIns="0" rtlCol="0" anchor="t"/>
          <a:lstStyle/>
          <a:p>
            <a:pPr indent="0" marL="0">
              <a:lnSpc>
                <a:spcPct val="105000"/>
              </a:lnSpc>
              <a:buNone/>
            </a:pPr>
            <a:r>
              <a:rPr lang="en-US" sz="1300" dirty="0">
                <a:solidFill>
                  <a:srgbClr val="1F2124"/>
                </a:solidFill>
                <a:latin typeface="Inter" pitchFamily="34" charset="0"/>
                <a:ea typeface="Inter" pitchFamily="34" charset="-122"/>
                <a:cs typeface="Inter" pitchFamily="34" charset="-120"/>
              </a:rPr>
              <a:t>10 bancos aseguran €62.840m; 24 bancos, 18 inversores institucionales y 9 fondos de crédito completan la deuda.</a:t>
            </a:r>
            <a:endParaRPr lang="en-US" sz="1300" dirty="0"/>
          </a:p>
        </p:txBody>
      </p:sp>
      <p:sp>
        <p:nvSpPr>
          <p:cNvPr id="45" name="Text 42"/>
          <p:cNvSpPr txBox="1"/>
          <p:nvPr/>
        </p:nvSpPr>
        <p:spPr>
          <a:xfrm>
            <a:off x="548640" y="6327648"/>
            <a:ext cx="7863840" cy="228600"/>
          </a:xfrm>
          <a:prstGeom prst="rect">
            <a:avLst/>
          </a:prstGeom>
          <a:noFill/>
          <a:ln/>
        </p:spPr>
        <p:txBody>
          <a:bodyPr wrap="square" lIns="0" tIns="0" rIns="0" bIns="0" rtlCol="0" anchor="t"/>
          <a:lstStyle/>
          <a:p>
            <a:pPr indent="0" marL="0">
              <a:buNone/>
            </a:pPr>
            <a:r>
              <a:rPr lang="en-US" sz="900" dirty="0">
                <a:solidFill>
                  <a:srgbClr val="6E7378"/>
                </a:solidFill>
                <a:latin typeface="Inter" pitchFamily="34" charset="0"/>
                <a:ea typeface="Inter" pitchFamily="34" charset="-122"/>
                <a:cs typeface="Inter" pitchFamily="34" charset="-120"/>
              </a:rPr>
              <a:t>Fuente: modelo LBO definitivo del grupo (Inditex_LBO_Version_Definitiva.xlsx), caso base salvo indicación. € millones.</a:t>
            </a:r>
            <a:endParaRPr lang="en-US" sz="900" dirty="0"/>
          </a:p>
        </p:txBody>
      </p:sp>
      <p:sp>
        <p:nvSpPr>
          <p:cNvPr id="46" name="Text 43"/>
          <p:cNvSpPr txBox="1"/>
          <p:nvPr/>
        </p:nvSpPr>
        <p:spPr>
          <a:xfrm>
            <a:off x="8595360" y="6327648"/>
            <a:ext cx="3044952" cy="228600"/>
          </a:xfrm>
          <a:prstGeom prst="rect">
            <a:avLst/>
          </a:prstGeom>
          <a:noFill/>
          <a:ln/>
        </p:spPr>
        <p:txBody>
          <a:bodyPr wrap="square" lIns="0" tIns="0" rIns="0" bIns="0" rtlCol="0" anchor="t"/>
          <a:lstStyle/>
          <a:p>
            <a:pPr algn="r" indent="0" marL="0">
              <a:buNone/>
            </a:pPr>
            <a:r>
              <a:rPr lang="en-US" sz="900" dirty="0">
                <a:solidFill>
                  <a:srgbClr val="6E7378"/>
                </a:solidFill>
                <a:latin typeface="Inter" pitchFamily="34" charset="0"/>
                <a:ea typeface="Inter" pitchFamily="34" charset="-122"/>
                <a:cs typeface="Inter" pitchFamily="34" charset="-120"/>
              </a:rPr>
              <a:t>Project Galicia  ·  Estrictamente confidencial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47472"/>
            <a:ext cx="8229600" cy="228600"/>
          </a:xfrm>
          <a:prstGeom prst="rect">
            <a:avLst/>
          </a:prstGeom>
          <a:noFill/>
          <a:ln/>
        </p:spPr>
        <p:txBody>
          <a:bodyPr wrap="square" lIns="0" tIns="0" rIns="0" bIns="0" rtlCol="0" anchor="t"/>
          <a:lstStyle/>
          <a:p>
            <a:pPr indent="0" marL="0">
              <a:buNone/>
            </a:pPr>
            <a:r>
              <a:rPr lang="en-US" sz="1100" b="1" spc="200" kern="0" dirty="0">
                <a:solidFill>
                  <a:srgbClr val="1F4B3F"/>
                </a:solidFill>
                <a:latin typeface="Inter" pitchFamily="34" charset="0"/>
                <a:ea typeface="Inter" pitchFamily="34" charset="-122"/>
                <a:cs typeface="Inter" pitchFamily="34" charset="-120"/>
              </a:rPr>
              <a:t>01  BUSINESS PLAN</a:t>
            </a:r>
            <a:endParaRPr lang="en-US" sz="1100" dirty="0"/>
          </a:p>
        </p:txBody>
      </p:sp>
      <p:pic>
        <p:nvPicPr>
          <p:cNvPr id="3" name="Image 0" descr="/tmp/claude-0/-home-claude/8d7de6a3-f167-5c95-8bc2-67944307bfd8/scratchpad/canva/img/HLP_monograma.png">    </p:cNvPr>
          <p:cNvPicPr>
            <a:picLocks noChangeAspect="1"/>
          </p:cNvPicPr>
          <p:nvPr/>
        </p:nvPicPr>
        <p:blipFill>
          <a:blip r:embed="rId1"/>
          <a:stretch>
            <a:fillRect/>
          </a:stretch>
        </p:blipFill>
        <p:spPr>
          <a:xfrm>
            <a:off x="11228832" y="310896"/>
            <a:ext cx="411480" cy="411480"/>
          </a:xfrm>
          <a:prstGeom prst="rect">
            <a:avLst/>
          </a:prstGeom>
        </p:spPr>
      </p:pic>
      <p:sp>
        <p:nvSpPr>
          <p:cNvPr id="4" name="Text 1"/>
          <p:cNvSpPr txBox="1"/>
          <p:nvPr/>
        </p:nvSpPr>
        <p:spPr>
          <a:xfrm>
            <a:off x="548640" y="603504"/>
            <a:ext cx="10515600" cy="822960"/>
          </a:xfrm>
          <a:prstGeom prst="rect">
            <a:avLst/>
          </a:prstGeom>
          <a:noFill/>
          <a:ln/>
        </p:spPr>
        <p:txBody>
          <a:bodyPr wrap="square" lIns="0" tIns="0" rIns="0" bIns="0" rtlCol="0" anchor="t"/>
          <a:lstStyle/>
          <a:p>
            <a:pPr indent="0" marL="0">
              <a:lnSpc>
                <a:spcPct val="95000"/>
              </a:lnSpc>
              <a:buNone/>
            </a:pPr>
            <a:r>
              <a:rPr lang="en-US" sz="2500" dirty="0">
                <a:solidFill>
                  <a:srgbClr val="1A1D21"/>
                </a:solidFill>
                <a:latin typeface="Lora" pitchFamily="34" charset="0"/>
                <a:ea typeface="Lora" pitchFamily="34" charset="-122"/>
                <a:cs typeface="Lora" pitchFamily="34" charset="-120"/>
              </a:rPr>
              <a:t>Inditex parte de una posición muy sólida: márgenes crecientes y un circulante que la financia</a:t>
            </a:r>
            <a:endParaRPr lang="en-US" sz="2500" dirty="0"/>
          </a:p>
        </p:txBody>
      </p:sp>
      <p:pic>
        <p:nvPicPr>
          <p:cNvPr id="5" name="Image 1" descr="/tmp/claude-0/-home-claude/8d7de6a3-f167-5c95-8bc2-67944307bfd8/scratchpad/canva/img/c1_hist.png">    </p:cNvPr>
          <p:cNvPicPr>
            <a:picLocks noChangeAspect="1"/>
          </p:cNvPicPr>
          <p:nvPr/>
        </p:nvPicPr>
        <p:blipFill>
          <a:blip r:embed="rId2"/>
          <a:stretch>
            <a:fillRect/>
          </a:stretch>
        </p:blipFill>
        <p:spPr>
          <a:xfrm>
            <a:off x="548640" y="1600200"/>
            <a:ext cx="6583680" cy="3639312"/>
          </a:xfrm>
          <a:prstGeom prst="rect">
            <a:avLst/>
          </a:prstGeom>
        </p:spPr>
      </p:pic>
      <p:sp>
        <p:nvSpPr>
          <p:cNvPr id="6" name="Text 2"/>
          <p:cNvSpPr txBox="1"/>
          <p:nvPr/>
        </p:nvSpPr>
        <p:spPr>
          <a:xfrm>
            <a:off x="548640" y="5349240"/>
            <a:ext cx="6583680" cy="274320"/>
          </a:xfrm>
          <a:prstGeom prst="rect">
            <a:avLst/>
          </a:prstGeom>
          <a:noFill/>
          <a:ln/>
        </p:spPr>
        <p:txBody>
          <a:bodyPr wrap="square" lIns="0" tIns="0" rIns="0" bIns="0" rtlCol="0" anchor="t"/>
          <a:lstStyle/>
          <a:p>
            <a:pPr indent="0" marL="0">
              <a:buNone/>
            </a:pPr>
            <a:r>
              <a:rPr lang="en-US" sz="1100" dirty="0">
                <a:solidFill>
                  <a:srgbClr val="6E7378"/>
                </a:solidFill>
                <a:latin typeface="Inter" pitchFamily="34" charset="0"/>
                <a:ea typeface="Inter" pitchFamily="34" charset="-122"/>
                <a:cs typeface="Inter" pitchFamily="34" charset="-120"/>
              </a:rPr>
              <a:t>Ventas y EBITDA pre-IFRS 16, FY2022–FY2025 (€m)</a:t>
            </a:r>
            <a:endParaRPr lang="en-US" sz="1100" dirty="0"/>
          </a:p>
        </p:txBody>
      </p:sp>
      <p:sp>
        <p:nvSpPr>
          <p:cNvPr id="7" name="Shape 3"/>
          <p:cNvSpPr/>
          <p:nvPr/>
        </p:nvSpPr>
        <p:spPr>
          <a:xfrm>
            <a:off x="7498080" y="1600200"/>
            <a:ext cx="4142232" cy="1005840"/>
          </a:xfrm>
          <a:prstGeom prst="rect">
            <a:avLst>
              <a:gd name="adj" fmla="val 5455"/>
            </a:avLst>
          </a:prstGeom>
          <a:solidFill>
            <a:srgbClr val="F3F3F2"/>
          </a:solidFill>
          <a:ln/>
        </p:spPr>
      </p:sp>
      <p:sp>
        <p:nvSpPr>
          <p:cNvPr id="8" name="Text 4"/>
          <p:cNvSpPr txBox="1"/>
          <p:nvPr/>
        </p:nvSpPr>
        <p:spPr>
          <a:xfrm>
            <a:off x="7635240" y="1728216"/>
            <a:ext cx="1417320" cy="411480"/>
          </a:xfrm>
          <a:prstGeom prst="rect">
            <a:avLst/>
          </a:prstGeom>
          <a:noFill/>
          <a:ln/>
        </p:spPr>
        <p:txBody>
          <a:bodyPr wrap="square" lIns="0" tIns="0" rIns="0" bIns="0" rtlCol="0" anchor="t"/>
          <a:lstStyle/>
          <a:p>
            <a:pPr indent="0" marL="0">
              <a:buNone/>
            </a:pPr>
            <a:r>
              <a:rPr lang="en-US" sz="1900" b="1" dirty="0">
                <a:solidFill>
                  <a:srgbClr val="1A1D21"/>
                </a:solidFill>
                <a:latin typeface="Inter" pitchFamily="34" charset="0"/>
                <a:ea typeface="Inter" pitchFamily="34" charset="-122"/>
                <a:cs typeface="Inter" pitchFamily="34" charset="-120"/>
              </a:rPr>
              <a:t>+7,0%</a:t>
            </a:r>
            <a:endParaRPr lang="en-US" sz="1900" dirty="0"/>
          </a:p>
        </p:txBody>
      </p:sp>
      <p:sp>
        <p:nvSpPr>
          <p:cNvPr id="9" name="Text 5"/>
          <p:cNvSpPr txBox="1"/>
          <p:nvPr/>
        </p:nvSpPr>
        <p:spPr>
          <a:xfrm>
            <a:off x="9098280" y="1728216"/>
            <a:ext cx="2468880" cy="274320"/>
          </a:xfrm>
          <a:prstGeom prst="rect">
            <a:avLst/>
          </a:prstGeom>
          <a:noFill/>
          <a:ln/>
        </p:spPr>
        <p:txBody>
          <a:bodyPr wrap="square" lIns="0" tIns="0" rIns="0" bIns="0" rtlCol="0" anchor="t"/>
          <a:lstStyle/>
          <a:p>
            <a:pPr indent="0" marL="0">
              <a:buNone/>
            </a:pPr>
            <a:r>
              <a:rPr lang="en-US" sz="1200" b="1" dirty="0">
                <a:solidFill>
                  <a:srgbClr val="1F2124"/>
                </a:solidFill>
                <a:latin typeface="Inter" pitchFamily="34" charset="0"/>
                <a:ea typeface="Inter" pitchFamily="34" charset="-122"/>
                <a:cs typeface="Inter" pitchFamily="34" charset="-120"/>
              </a:rPr>
              <a:t>Crecimiento anual de ventas</a:t>
            </a:r>
            <a:endParaRPr lang="en-US" sz="1200" dirty="0"/>
          </a:p>
        </p:txBody>
      </p:sp>
      <p:sp>
        <p:nvSpPr>
          <p:cNvPr id="10" name="Text 6"/>
          <p:cNvSpPr txBox="1"/>
          <p:nvPr/>
        </p:nvSpPr>
        <p:spPr>
          <a:xfrm>
            <a:off x="9098280" y="2020824"/>
            <a:ext cx="2468880" cy="548640"/>
          </a:xfrm>
          <a:prstGeom prst="rect">
            <a:avLst/>
          </a:prstGeom>
          <a:noFill/>
          <a:ln/>
        </p:spPr>
        <p:txBody>
          <a:bodyPr wrap="square" lIns="0" tIns="0" rIns="0" bIns="0" rtlCol="0" anchor="t"/>
          <a:lstStyle/>
          <a:p>
            <a:pPr indent="0" marL="0">
              <a:buNone/>
            </a:pPr>
            <a:r>
              <a:rPr lang="en-US" sz="1050" dirty="0">
                <a:solidFill>
                  <a:srgbClr val="6E7378"/>
                </a:solidFill>
                <a:latin typeface="Inter" pitchFamily="34" charset="0"/>
                <a:ea typeface="Inter" pitchFamily="34" charset="-122"/>
                <a:cs typeface="Inter" pitchFamily="34" charset="-120"/>
              </a:rPr>
              <a:t>De €32.569m (FY22) a €39.864m (FY25)</a:t>
            </a:r>
            <a:endParaRPr lang="en-US" sz="1050" dirty="0"/>
          </a:p>
        </p:txBody>
      </p:sp>
      <p:sp>
        <p:nvSpPr>
          <p:cNvPr id="11" name="Shape 7"/>
          <p:cNvSpPr/>
          <p:nvPr/>
        </p:nvSpPr>
        <p:spPr>
          <a:xfrm>
            <a:off x="7498080" y="2715768"/>
            <a:ext cx="4142232" cy="1005840"/>
          </a:xfrm>
          <a:prstGeom prst="rect">
            <a:avLst>
              <a:gd name="adj" fmla="val 5455"/>
            </a:avLst>
          </a:prstGeom>
          <a:solidFill>
            <a:srgbClr val="F3F3F2"/>
          </a:solidFill>
          <a:ln/>
        </p:spPr>
      </p:sp>
      <p:sp>
        <p:nvSpPr>
          <p:cNvPr id="12" name="Text 8"/>
          <p:cNvSpPr txBox="1"/>
          <p:nvPr/>
        </p:nvSpPr>
        <p:spPr>
          <a:xfrm>
            <a:off x="7635240" y="2843784"/>
            <a:ext cx="1417320" cy="411480"/>
          </a:xfrm>
          <a:prstGeom prst="rect">
            <a:avLst/>
          </a:prstGeom>
          <a:noFill/>
          <a:ln/>
        </p:spPr>
        <p:txBody>
          <a:bodyPr wrap="square" lIns="0" tIns="0" rIns="0" bIns="0" rtlCol="0" anchor="t"/>
          <a:lstStyle/>
          <a:p>
            <a:pPr indent="0" marL="0">
              <a:buNone/>
            </a:pPr>
            <a:r>
              <a:rPr lang="en-US" sz="1900" b="1" dirty="0">
                <a:solidFill>
                  <a:srgbClr val="1A1D21"/>
                </a:solidFill>
                <a:latin typeface="Inter" pitchFamily="34" charset="0"/>
                <a:ea typeface="Inter" pitchFamily="34" charset="-122"/>
                <a:cs typeface="Inter" pitchFamily="34" charset="-120"/>
              </a:rPr>
              <a:t>€9.433m</a:t>
            </a:r>
            <a:endParaRPr lang="en-US" sz="1900" dirty="0"/>
          </a:p>
        </p:txBody>
      </p:sp>
      <p:sp>
        <p:nvSpPr>
          <p:cNvPr id="13" name="Text 9"/>
          <p:cNvSpPr txBox="1"/>
          <p:nvPr/>
        </p:nvSpPr>
        <p:spPr>
          <a:xfrm>
            <a:off x="9098280" y="2843784"/>
            <a:ext cx="2468880" cy="274320"/>
          </a:xfrm>
          <a:prstGeom prst="rect">
            <a:avLst/>
          </a:prstGeom>
          <a:noFill/>
          <a:ln/>
        </p:spPr>
        <p:txBody>
          <a:bodyPr wrap="square" lIns="0" tIns="0" rIns="0" bIns="0" rtlCol="0" anchor="t"/>
          <a:lstStyle/>
          <a:p>
            <a:pPr indent="0" marL="0">
              <a:buNone/>
            </a:pPr>
            <a:r>
              <a:rPr lang="en-US" sz="1200" b="1" dirty="0">
                <a:solidFill>
                  <a:srgbClr val="1F2124"/>
                </a:solidFill>
                <a:latin typeface="Inter" pitchFamily="34" charset="0"/>
                <a:ea typeface="Inter" pitchFamily="34" charset="-122"/>
                <a:cs typeface="Inter" pitchFamily="34" charset="-120"/>
              </a:rPr>
              <a:t>EBITDA pre-IFRS 16 (FY25)</a:t>
            </a:r>
            <a:endParaRPr lang="en-US" sz="1200" dirty="0"/>
          </a:p>
        </p:txBody>
      </p:sp>
      <p:sp>
        <p:nvSpPr>
          <p:cNvPr id="14" name="Text 10"/>
          <p:cNvSpPr txBox="1"/>
          <p:nvPr/>
        </p:nvSpPr>
        <p:spPr>
          <a:xfrm>
            <a:off x="9098280" y="3136392"/>
            <a:ext cx="2468880" cy="548640"/>
          </a:xfrm>
          <a:prstGeom prst="rect">
            <a:avLst/>
          </a:prstGeom>
          <a:noFill/>
          <a:ln/>
        </p:spPr>
        <p:txBody>
          <a:bodyPr wrap="square" lIns="0" tIns="0" rIns="0" bIns="0" rtlCol="0" anchor="t"/>
          <a:lstStyle/>
          <a:p>
            <a:pPr indent="0" marL="0">
              <a:buNone/>
            </a:pPr>
            <a:r>
              <a:rPr lang="en-US" sz="1050" dirty="0">
                <a:solidFill>
                  <a:srgbClr val="6E7378"/>
                </a:solidFill>
                <a:latin typeface="Inter" pitchFamily="34" charset="0"/>
                <a:ea typeface="Inter" pitchFamily="34" charset="-122"/>
                <a:cs typeface="Inter" pitchFamily="34" charset="-120"/>
              </a:rPr>
              <a:t>Reportado €11.267m menos €1.834m de alquileres en caja</a:t>
            </a:r>
            <a:endParaRPr lang="en-US" sz="1050" dirty="0"/>
          </a:p>
        </p:txBody>
      </p:sp>
      <p:sp>
        <p:nvSpPr>
          <p:cNvPr id="15" name="Shape 11"/>
          <p:cNvSpPr/>
          <p:nvPr/>
        </p:nvSpPr>
        <p:spPr>
          <a:xfrm>
            <a:off x="7498080" y="3831336"/>
            <a:ext cx="4142232" cy="1005840"/>
          </a:xfrm>
          <a:prstGeom prst="rect">
            <a:avLst>
              <a:gd name="adj" fmla="val 5455"/>
            </a:avLst>
          </a:prstGeom>
          <a:solidFill>
            <a:srgbClr val="F3F3F2"/>
          </a:solidFill>
          <a:ln/>
        </p:spPr>
      </p:sp>
      <p:sp>
        <p:nvSpPr>
          <p:cNvPr id="16" name="Text 12"/>
          <p:cNvSpPr txBox="1"/>
          <p:nvPr/>
        </p:nvSpPr>
        <p:spPr>
          <a:xfrm>
            <a:off x="7635240" y="3959352"/>
            <a:ext cx="1417320" cy="411480"/>
          </a:xfrm>
          <a:prstGeom prst="rect">
            <a:avLst/>
          </a:prstGeom>
          <a:noFill/>
          <a:ln/>
        </p:spPr>
        <p:txBody>
          <a:bodyPr wrap="square" lIns="0" tIns="0" rIns="0" bIns="0" rtlCol="0" anchor="t"/>
          <a:lstStyle/>
          <a:p>
            <a:pPr indent="0" marL="0">
              <a:buNone/>
            </a:pPr>
            <a:r>
              <a:rPr lang="en-US" sz="1900" b="1" dirty="0">
                <a:solidFill>
                  <a:srgbClr val="1A1D21"/>
                </a:solidFill>
                <a:latin typeface="Inter" pitchFamily="34" charset="0"/>
                <a:ea typeface="Inter" pitchFamily="34" charset="-122"/>
                <a:cs typeface="Inter" pitchFamily="34" charset="-120"/>
              </a:rPr>
              <a:t>−€4.172m</a:t>
            </a:r>
            <a:endParaRPr lang="en-US" sz="1900" dirty="0"/>
          </a:p>
        </p:txBody>
      </p:sp>
      <p:sp>
        <p:nvSpPr>
          <p:cNvPr id="17" name="Text 13"/>
          <p:cNvSpPr txBox="1"/>
          <p:nvPr/>
        </p:nvSpPr>
        <p:spPr>
          <a:xfrm>
            <a:off x="9098280" y="3959352"/>
            <a:ext cx="2468880" cy="274320"/>
          </a:xfrm>
          <a:prstGeom prst="rect">
            <a:avLst/>
          </a:prstGeom>
          <a:noFill/>
          <a:ln/>
        </p:spPr>
        <p:txBody>
          <a:bodyPr wrap="square" lIns="0" tIns="0" rIns="0" bIns="0" rtlCol="0" anchor="t"/>
          <a:lstStyle/>
          <a:p>
            <a:pPr indent="0" marL="0">
              <a:buNone/>
            </a:pPr>
            <a:r>
              <a:rPr lang="en-US" sz="1200" b="1" dirty="0">
                <a:solidFill>
                  <a:srgbClr val="1F2124"/>
                </a:solidFill>
                <a:latin typeface="Inter" pitchFamily="34" charset="0"/>
                <a:ea typeface="Inter" pitchFamily="34" charset="-122"/>
                <a:cs typeface="Inter" pitchFamily="34" charset="-120"/>
              </a:rPr>
              <a:t>Circulante negativo</a:t>
            </a:r>
            <a:endParaRPr lang="en-US" sz="1200" dirty="0"/>
          </a:p>
        </p:txBody>
      </p:sp>
      <p:sp>
        <p:nvSpPr>
          <p:cNvPr id="18" name="Text 14"/>
          <p:cNvSpPr txBox="1"/>
          <p:nvPr/>
        </p:nvSpPr>
        <p:spPr>
          <a:xfrm>
            <a:off x="9098280" y="4251960"/>
            <a:ext cx="2468880" cy="548640"/>
          </a:xfrm>
          <a:prstGeom prst="rect">
            <a:avLst/>
          </a:prstGeom>
          <a:noFill/>
          <a:ln/>
        </p:spPr>
        <p:txBody>
          <a:bodyPr wrap="square" lIns="0" tIns="0" rIns="0" bIns="0" rtlCol="0" anchor="t"/>
          <a:lstStyle/>
          <a:p>
            <a:pPr indent="0" marL="0">
              <a:buNone/>
            </a:pPr>
            <a:r>
              <a:rPr lang="en-US" sz="1050" dirty="0">
                <a:solidFill>
                  <a:srgbClr val="6E7378"/>
                </a:solidFill>
                <a:latin typeface="Inter" pitchFamily="34" charset="0"/>
                <a:ea typeface="Inter" pitchFamily="34" charset="-122"/>
                <a:cs typeface="Inter" pitchFamily="34" charset="-120"/>
              </a:rPr>
              <a:t>−10,5% de las ventas: los proveedores financian el negocio</a:t>
            </a:r>
            <a:endParaRPr lang="en-US" sz="1050" dirty="0"/>
          </a:p>
        </p:txBody>
      </p:sp>
      <p:sp>
        <p:nvSpPr>
          <p:cNvPr id="19" name="Shape 15"/>
          <p:cNvSpPr/>
          <p:nvPr/>
        </p:nvSpPr>
        <p:spPr>
          <a:xfrm>
            <a:off x="7498080" y="4946904"/>
            <a:ext cx="4142232" cy="1005840"/>
          </a:xfrm>
          <a:prstGeom prst="rect">
            <a:avLst>
              <a:gd name="adj" fmla="val 5455"/>
            </a:avLst>
          </a:prstGeom>
          <a:solidFill>
            <a:srgbClr val="F3F3F2"/>
          </a:solidFill>
          <a:ln/>
        </p:spPr>
      </p:sp>
      <p:sp>
        <p:nvSpPr>
          <p:cNvPr id="20" name="Text 16"/>
          <p:cNvSpPr txBox="1"/>
          <p:nvPr/>
        </p:nvSpPr>
        <p:spPr>
          <a:xfrm>
            <a:off x="7635240" y="5074920"/>
            <a:ext cx="1417320" cy="411480"/>
          </a:xfrm>
          <a:prstGeom prst="rect">
            <a:avLst/>
          </a:prstGeom>
          <a:noFill/>
          <a:ln/>
        </p:spPr>
        <p:txBody>
          <a:bodyPr wrap="square" lIns="0" tIns="0" rIns="0" bIns="0" rtlCol="0" anchor="t"/>
          <a:lstStyle/>
          <a:p>
            <a:pPr indent="0" marL="0">
              <a:buNone/>
            </a:pPr>
            <a:r>
              <a:rPr lang="en-US" sz="1900" b="1" dirty="0">
                <a:solidFill>
                  <a:srgbClr val="1A1D21"/>
                </a:solidFill>
                <a:latin typeface="Inter" pitchFamily="34" charset="0"/>
                <a:ea typeface="Inter" pitchFamily="34" charset="-122"/>
                <a:cs typeface="Inter" pitchFamily="34" charset="-120"/>
              </a:rPr>
              <a:t>€10.958m</a:t>
            </a:r>
            <a:endParaRPr lang="en-US" sz="1900" dirty="0"/>
          </a:p>
        </p:txBody>
      </p:sp>
      <p:sp>
        <p:nvSpPr>
          <p:cNvPr id="21" name="Text 17"/>
          <p:cNvSpPr txBox="1"/>
          <p:nvPr/>
        </p:nvSpPr>
        <p:spPr>
          <a:xfrm>
            <a:off x="9098280" y="5074920"/>
            <a:ext cx="2468880" cy="274320"/>
          </a:xfrm>
          <a:prstGeom prst="rect">
            <a:avLst/>
          </a:prstGeom>
          <a:noFill/>
          <a:ln/>
        </p:spPr>
        <p:txBody>
          <a:bodyPr wrap="square" lIns="0" tIns="0" rIns="0" bIns="0" rtlCol="0" anchor="t"/>
          <a:lstStyle/>
          <a:p>
            <a:pPr indent="0" marL="0">
              <a:buNone/>
            </a:pPr>
            <a:r>
              <a:rPr lang="en-US" sz="1200" b="1" dirty="0">
                <a:solidFill>
                  <a:srgbClr val="1F2124"/>
                </a:solidFill>
                <a:latin typeface="Inter" pitchFamily="34" charset="0"/>
                <a:ea typeface="Inter" pitchFamily="34" charset="-122"/>
                <a:cs typeface="Inter" pitchFamily="34" charset="-120"/>
              </a:rPr>
              <a:t>Caja neta (FY25)</a:t>
            </a:r>
            <a:endParaRPr lang="en-US" sz="1200" dirty="0"/>
          </a:p>
        </p:txBody>
      </p:sp>
      <p:sp>
        <p:nvSpPr>
          <p:cNvPr id="22" name="Text 18"/>
          <p:cNvSpPr txBox="1"/>
          <p:nvPr/>
        </p:nvSpPr>
        <p:spPr>
          <a:xfrm>
            <a:off x="9098280" y="5367528"/>
            <a:ext cx="2468880" cy="548640"/>
          </a:xfrm>
          <a:prstGeom prst="rect">
            <a:avLst/>
          </a:prstGeom>
          <a:noFill/>
          <a:ln/>
        </p:spPr>
        <p:txBody>
          <a:bodyPr wrap="square" lIns="0" tIns="0" rIns="0" bIns="0" rtlCol="0" anchor="t"/>
          <a:lstStyle/>
          <a:p>
            <a:pPr indent="0" marL="0">
              <a:buNone/>
            </a:pPr>
            <a:r>
              <a:rPr lang="en-US" sz="1050" dirty="0">
                <a:solidFill>
                  <a:srgbClr val="6E7378"/>
                </a:solidFill>
                <a:latin typeface="Inter" pitchFamily="34" charset="0"/>
                <a:ea typeface="Inter" pitchFamily="34" charset="-122"/>
                <a:cs typeface="Inter" pitchFamily="34" charset="-120"/>
              </a:rPr>
              <a:t>Sin deuda financiera: toda la capacidad de deuda está libre</a:t>
            </a:r>
            <a:endParaRPr lang="en-US" sz="1050" dirty="0"/>
          </a:p>
        </p:txBody>
      </p:sp>
      <p:sp>
        <p:nvSpPr>
          <p:cNvPr id="23" name="Text 19"/>
          <p:cNvSpPr txBox="1"/>
          <p:nvPr/>
        </p:nvSpPr>
        <p:spPr>
          <a:xfrm>
            <a:off x="548640" y="6327648"/>
            <a:ext cx="7863840" cy="228600"/>
          </a:xfrm>
          <a:prstGeom prst="rect">
            <a:avLst/>
          </a:prstGeom>
          <a:noFill/>
          <a:ln/>
        </p:spPr>
        <p:txBody>
          <a:bodyPr wrap="square" lIns="0" tIns="0" rIns="0" bIns="0" rtlCol="0" anchor="t"/>
          <a:lstStyle/>
          <a:p>
            <a:pPr indent="0" marL="0">
              <a:buNone/>
            </a:pPr>
            <a:r>
              <a:rPr lang="en-US" sz="900" dirty="0">
                <a:solidFill>
                  <a:srgbClr val="6E7378"/>
                </a:solidFill>
                <a:latin typeface="Inter" pitchFamily="34" charset="0"/>
                <a:ea typeface="Inter" pitchFamily="34" charset="-122"/>
                <a:cs typeface="Inter" pitchFamily="34" charset="-120"/>
              </a:rPr>
              <a:t>Fuente: modelo LBO definitivo (hoja Active Case y LBO Summary), cuentas anuales de Inditex FY2022–FY2025. € millones.</a:t>
            </a:r>
            <a:endParaRPr lang="en-US" sz="900" dirty="0"/>
          </a:p>
        </p:txBody>
      </p:sp>
      <p:sp>
        <p:nvSpPr>
          <p:cNvPr id="24" name="Text 20"/>
          <p:cNvSpPr txBox="1"/>
          <p:nvPr/>
        </p:nvSpPr>
        <p:spPr>
          <a:xfrm>
            <a:off x="8595360" y="6327648"/>
            <a:ext cx="3044952" cy="228600"/>
          </a:xfrm>
          <a:prstGeom prst="rect">
            <a:avLst/>
          </a:prstGeom>
          <a:noFill/>
          <a:ln/>
        </p:spPr>
        <p:txBody>
          <a:bodyPr wrap="square" lIns="0" tIns="0" rIns="0" bIns="0" rtlCol="0" anchor="t"/>
          <a:lstStyle/>
          <a:p>
            <a:pPr algn="r" indent="0" marL="0">
              <a:buNone/>
            </a:pPr>
            <a:r>
              <a:rPr lang="en-US" sz="900" dirty="0">
                <a:solidFill>
                  <a:srgbClr val="6E7378"/>
                </a:solidFill>
                <a:latin typeface="Inter" pitchFamily="34" charset="0"/>
                <a:ea typeface="Inter" pitchFamily="34" charset="-122"/>
                <a:cs typeface="Inter" pitchFamily="34" charset="-120"/>
              </a:rPr>
              <a:t>Project Galicia  ·  Estrictamente confidencial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47472"/>
            <a:ext cx="8229600" cy="228600"/>
          </a:xfrm>
          <a:prstGeom prst="rect">
            <a:avLst/>
          </a:prstGeom>
          <a:noFill/>
          <a:ln/>
        </p:spPr>
        <p:txBody>
          <a:bodyPr wrap="square" lIns="0" tIns="0" rIns="0" bIns="0" rtlCol="0" anchor="t"/>
          <a:lstStyle/>
          <a:p>
            <a:pPr indent="0" marL="0">
              <a:buNone/>
            </a:pPr>
            <a:r>
              <a:rPr lang="en-US" sz="1100" b="1" spc="200" kern="0" dirty="0">
                <a:solidFill>
                  <a:srgbClr val="1F4B3F"/>
                </a:solidFill>
                <a:latin typeface="Inter" pitchFamily="34" charset="0"/>
                <a:ea typeface="Inter" pitchFamily="34" charset="-122"/>
                <a:cs typeface="Inter" pitchFamily="34" charset="-120"/>
              </a:rPr>
              <a:t>01  BUSINESS PLAN</a:t>
            </a:r>
            <a:endParaRPr lang="en-US" sz="1100" dirty="0"/>
          </a:p>
        </p:txBody>
      </p:sp>
      <p:pic>
        <p:nvPicPr>
          <p:cNvPr id="3" name="Image 0" descr="/tmp/claude-0/-home-claude/8d7de6a3-f167-5c95-8bc2-67944307bfd8/scratchpad/canva/img/HLP_monograma.png">    </p:cNvPr>
          <p:cNvPicPr>
            <a:picLocks noChangeAspect="1"/>
          </p:cNvPicPr>
          <p:nvPr/>
        </p:nvPicPr>
        <p:blipFill>
          <a:blip r:embed="rId1"/>
          <a:stretch>
            <a:fillRect/>
          </a:stretch>
        </p:blipFill>
        <p:spPr>
          <a:xfrm>
            <a:off x="11228832" y="310896"/>
            <a:ext cx="411480" cy="411480"/>
          </a:xfrm>
          <a:prstGeom prst="rect">
            <a:avLst/>
          </a:prstGeom>
        </p:spPr>
      </p:pic>
      <p:sp>
        <p:nvSpPr>
          <p:cNvPr id="4" name="Text 1"/>
          <p:cNvSpPr txBox="1"/>
          <p:nvPr/>
        </p:nvSpPr>
        <p:spPr>
          <a:xfrm>
            <a:off x="548640" y="603504"/>
            <a:ext cx="10515600" cy="822960"/>
          </a:xfrm>
          <a:prstGeom prst="rect">
            <a:avLst/>
          </a:prstGeom>
          <a:noFill/>
          <a:ln/>
        </p:spPr>
        <p:txBody>
          <a:bodyPr wrap="square" lIns="0" tIns="0" rIns="0" bIns="0" rtlCol="0" anchor="t"/>
          <a:lstStyle/>
          <a:p>
            <a:pPr indent="0" marL="0">
              <a:lnSpc>
                <a:spcPct val="95000"/>
              </a:lnSpc>
              <a:buNone/>
            </a:pPr>
            <a:r>
              <a:rPr lang="en-US" sz="2500" dirty="0">
                <a:solidFill>
                  <a:srgbClr val="1A1D21"/>
                </a:solidFill>
                <a:latin typeface="Lora" pitchFamily="34" charset="0"/>
                <a:ea typeface="Lora" pitchFamily="34" charset="-122"/>
                <a:cs typeface="Lora" pitchFamily="34" charset="-120"/>
              </a:rPr>
              <a:t>El business plan se construye driver a driver y se calibra en cuatro escenarios probabilísticos</a:t>
            </a:r>
            <a:endParaRPr lang="en-US" sz="2500" dirty="0"/>
          </a:p>
        </p:txBody>
      </p:sp>
      <p:sp>
        <p:nvSpPr>
          <p:cNvPr id="5" name="Shape 2"/>
          <p:cNvSpPr/>
          <p:nvPr/>
        </p:nvSpPr>
        <p:spPr>
          <a:xfrm>
            <a:off x="548640" y="1645920"/>
            <a:ext cx="2651760" cy="2514600"/>
          </a:xfrm>
          <a:prstGeom prst="rect">
            <a:avLst>
              <a:gd name="adj" fmla="val 2182"/>
            </a:avLst>
          </a:prstGeom>
          <a:solidFill>
            <a:srgbClr val="F3F3F2"/>
          </a:solidFill>
          <a:ln/>
        </p:spPr>
      </p:sp>
      <p:sp>
        <p:nvSpPr>
          <p:cNvPr id="6" name="Shape 3"/>
          <p:cNvSpPr/>
          <p:nvPr/>
        </p:nvSpPr>
        <p:spPr>
          <a:xfrm>
            <a:off x="777240" y="1828800"/>
            <a:ext cx="384048" cy="384048"/>
          </a:xfrm>
          <a:prstGeom prst="rect">
            <a:avLst/>
          </a:prstGeom>
          <a:solidFill>
            <a:srgbClr val="1A1D21"/>
          </a:solidFill>
          <a:ln/>
        </p:spPr>
      </p:sp>
      <p:sp>
        <p:nvSpPr>
          <p:cNvPr id="7" name="Text 4"/>
          <p:cNvSpPr txBox="1"/>
          <p:nvPr/>
        </p:nvSpPr>
        <p:spPr>
          <a:xfrm>
            <a:off x="777240" y="1837944"/>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1</a:t>
            </a:r>
            <a:endParaRPr lang="en-US" sz="1400" dirty="0"/>
          </a:p>
        </p:txBody>
      </p:sp>
      <p:sp>
        <p:nvSpPr>
          <p:cNvPr id="8" name="Text 5"/>
          <p:cNvSpPr txBox="1"/>
          <p:nvPr/>
        </p:nvSpPr>
        <p:spPr>
          <a:xfrm>
            <a:off x="1280160" y="1865376"/>
            <a:ext cx="1828800" cy="320040"/>
          </a:xfrm>
          <a:prstGeom prst="rect">
            <a:avLst/>
          </a:prstGeom>
          <a:noFill/>
          <a:ln/>
        </p:spPr>
        <p:txBody>
          <a:bodyPr wrap="square" lIns="0" tIns="0" rIns="0" bIns="0" rtlCol="0" anchor="t"/>
          <a:lstStyle/>
          <a:p>
            <a:pPr indent="0" marL="0">
              <a:buNone/>
            </a:pPr>
            <a:r>
              <a:rPr lang="en-US" sz="1500" b="1" dirty="0">
                <a:solidFill>
                  <a:srgbClr val="1A1D21"/>
                </a:solidFill>
                <a:latin typeface="Inter" pitchFamily="34" charset="0"/>
                <a:ea typeface="Inter" pitchFamily="34" charset="-122"/>
                <a:cs typeface="Inter" pitchFamily="34" charset="-120"/>
              </a:rPr>
              <a:t>Histórico real</a:t>
            </a:r>
            <a:endParaRPr lang="en-US" sz="1500" dirty="0"/>
          </a:p>
        </p:txBody>
      </p:sp>
      <p:sp>
        <p:nvSpPr>
          <p:cNvPr id="9" name="Text 6"/>
          <p:cNvSpPr txBox="1"/>
          <p:nvPr/>
        </p:nvSpPr>
        <p:spPr>
          <a:xfrm>
            <a:off x="777240" y="2377440"/>
            <a:ext cx="2240280" cy="1737360"/>
          </a:xfrm>
          <a:prstGeom prst="rect">
            <a:avLst/>
          </a:prstGeom>
          <a:noFill/>
          <a:ln/>
        </p:spPr>
        <p:txBody>
          <a:bodyPr wrap="square" lIns="0" tIns="0" rIns="0" bIns="0" rtlCol="0" anchor="t"/>
          <a:lstStyle/>
          <a:p>
            <a:pPr indent="0" marL="0">
              <a:lnSpc>
                <a:spcPct val="105000"/>
              </a:lnSpc>
              <a:buNone/>
            </a:pPr>
            <a:r>
              <a:rPr lang="en-US" sz="1250" dirty="0">
                <a:solidFill>
                  <a:srgbClr val="1F2124"/>
                </a:solidFill>
                <a:latin typeface="Inter" pitchFamily="34" charset="0"/>
                <a:ea typeface="Inter" pitchFamily="34" charset="-122"/>
                <a:cs typeface="Inter" pitchFamily="34" charset="-120"/>
              </a:rPr>
              <a:t>Cuentas de Inditex FY2022–FY2025: ventas, márgenes, alquileres, circulante y capex como punto de partida.</a:t>
            </a:r>
            <a:endParaRPr lang="en-US" sz="1250" dirty="0"/>
          </a:p>
        </p:txBody>
      </p:sp>
      <p:sp>
        <p:nvSpPr>
          <p:cNvPr id="10" name="Text 7"/>
          <p:cNvSpPr txBox="1"/>
          <p:nvPr/>
        </p:nvSpPr>
        <p:spPr>
          <a:xfrm>
            <a:off x="3182112" y="2606040"/>
            <a:ext cx="182880" cy="457200"/>
          </a:xfrm>
          <a:prstGeom prst="rect">
            <a:avLst/>
          </a:prstGeom>
          <a:noFill/>
          <a:ln/>
        </p:spPr>
        <p:txBody>
          <a:bodyPr wrap="square" lIns="0" tIns="0" rIns="0" bIns="0" rtlCol="0" anchor="t"/>
          <a:lstStyle/>
          <a:p>
            <a:pPr algn="ctr" indent="0" marL="0">
              <a:buNone/>
            </a:pPr>
            <a:r>
              <a:rPr lang="en-US" sz="2600" b="1" dirty="0">
                <a:solidFill>
                  <a:srgbClr val="1F4B3F"/>
                </a:solidFill>
                <a:latin typeface="Inter" pitchFamily="34" charset="0"/>
                <a:ea typeface="Inter" pitchFamily="34" charset="-122"/>
                <a:cs typeface="Inter" pitchFamily="34" charset="-120"/>
              </a:rPr>
              <a:t>›</a:t>
            </a:r>
            <a:endParaRPr lang="en-US" sz="2600" dirty="0"/>
          </a:p>
        </p:txBody>
      </p:sp>
      <p:sp>
        <p:nvSpPr>
          <p:cNvPr id="11" name="Shape 8"/>
          <p:cNvSpPr/>
          <p:nvPr/>
        </p:nvSpPr>
        <p:spPr>
          <a:xfrm>
            <a:off x="3346704" y="1645920"/>
            <a:ext cx="2651760" cy="2514600"/>
          </a:xfrm>
          <a:prstGeom prst="rect">
            <a:avLst>
              <a:gd name="adj" fmla="val 2182"/>
            </a:avLst>
          </a:prstGeom>
          <a:solidFill>
            <a:srgbClr val="F3F3F2"/>
          </a:solidFill>
          <a:ln/>
        </p:spPr>
      </p:sp>
      <p:sp>
        <p:nvSpPr>
          <p:cNvPr id="12" name="Shape 9"/>
          <p:cNvSpPr/>
          <p:nvPr/>
        </p:nvSpPr>
        <p:spPr>
          <a:xfrm>
            <a:off x="3575304" y="1828800"/>
            <a:ext cx="384048" cy="384048"/>
          </a:xfrm>
          <a:prstGeom prst="rect">
            <a:avLst/>
          </a:prstGeom>
          <a:solidFill>
            <a:srgbClr val="1A1D21"/>
          </a:solidFill>
          <a:ln/>
        </p:spPr>
      </p:sp>
      <p:sp>
        <p:nvSpPr>
          <p:cNvPr id="13" name="Text 10"/>
          <p:cNvSpPr txBox="1"/>
          <p:nvPr/>
        </p:nvSpPr>
        <p:spPr>
          <a:xfrm>
            <a:off x="3575304" y="1837944"/>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a:t>
            </a:r>
            <a:endParaRPr lang="en-US" sz="1400" dirty="0"/>
          </a:p>
        </p:txBody>
      </p:sp>
      <p:sp>
        <p:nvSpPr>
          <p:cNvPr id="14" name="Text 11"/>
          <p:cNvSpPr txBox="1"/>
          <p:nvPr/>
        </p:nvSpPr>
        <p:spPr>
          <a:xfrm>
            <a:off x="4078224" y="1865376"/>
            <a:ext cx="1828800" cy="320040"/>
          </a:xfrm>
          <a:prstGeom prst="rect">
            <a:avLst/>
          </a:prstGeom>
          <a:noFill/>
          <a:ln/>
        </p:spPr>
        <p:txBody>
          <a:bodyPr wrap="square" lIns="0" tIns="0" rIns="0" bIns="0" rtlCol="0" anchor="t"/>
          <a:lstStyle/>
          <a:p>
            <a:pPr indent="0" marL="0">
              <a:buNone/>
            </a:pPr>
            <a:r>
              <a:rPr lang="en-US" sz="1500" b="1" dirty="0">
                <a:solidFill>
                  <a:srgbClr val="1A1D21"/>
                </a:solidFill>
                <a:latin typeface="Inter" pitchFamily="34" charset="0"/>
                <a:ea typeface="Inter" pitchFamily="34" charset="-122"/>
                <a:cs typeface="Inter" pitchFamily="34" charset="-120"/>
              </a:rPr>
              <a:t>Nueve drivers</a:t>
            </a:r>
            <a:endParaRPr lang="en-US" sz="1500" dirty="0"/>
          </a:p>
        </p:txBody>
      </p:sp>
      <p:sp>
        <p:nvSpPr>
          <p:cNvPr id="15" name="Text 12"/>
          <p:cNvSpPr txBox="1"/>
          <p:nvPr/>
        </p:nvSpPr>
        <p:spPr>
          <a:xfrm>
            <a:off x="3575304" y="2377440"/>
            <a:ext cx="2240280" cy="1737360"/>
          </a:xfrm>
          <a:prstGeom prst="rect">
            <a:avLst/>
          </a:prstGeom>
          <a:noFill/>
          <a:ln/>
        </p:spPr>
        <p:txBody>
          <a:bodyPr wrap="square" lIns="0" tIns="0" rIns="0" bIns="0" rtlCol="0" anchor="t"/>
          <a:lstStyle/>
          <a:p>
            <a:pPr indent="0" marL="0">
              <a:lnSpc>
                <a:spcPct val="105000"/>
              </a:lnSpc>
              <a:buNone/>
            </a:pPr>
            <a:r>
              <a:rPr lang="en-US" sz="1250" dirty="0">
                <a:solidFill>
                  <a:srgbClr val="1F2124"/>
                </a:solidFill>
                <a:latin typeface="Inter" pitchFamily="34" charset="0"/>
                <a:ea typeface="Inter" pitchFamily="34" charset="-122"/>
                <a:cs typeface="Inter" pitchFamily="34" charset="-120"/>
              </a:rPr>
              <a:t>Ventas, margen bruto, gastos operativos, alquileres en caja, capex de mantenimiento y de expansión, existencias, clientes y proveedores.</a:t>
            </a:r>
            <a:endParaRPr lang="en-US" sz="1250" dirty="0"/>
          </a:p>
        </p:txBody>
      </p:sp>
      <p:sp>
        <p:nvSpPr>
          <p:cNvPr id="16" name="Text 13"/>
          <p:cNvSpPr txBox="1"/>
          <p:nvPr/>
        </p:nvSpPr>
        <p:spPr>
          <a:xfrm>
            <a:off x="5980176" y="2606040"/>
            <a:ext cx="182880" cy="457200"/>
          </a:xfrm>
          <a:prstGeom prst="rect">
            <a:avLst/>
          </a:prstGeom>
          <a:noFill/>
          <a:ln/>
        </p:spPr>
        <p:txBody>
          <a:bodyPr wrap="square" lIns="0" tIns="0" rIns="0" bIns="0" rtlCol="0" anchor="t"/>
          <a:lstStyle/>
          <a:p>
            <a:pPr algn="ctr" indent="0" marL="0">
              <a:buNone/>
            </a:pPr>
            <a:r>
              <a:rPr lang="en-US" sz="2600" b="1" dirty="0">
                <a:solidFill>
                  <a:srgbClr val="1F4B3F"/>
                </a:solidFill>
                <a:latin typeface="Inter" pitchFamily="34" charset="0"/>
                <a:ea typeface="Inter" pitchFamily="34" charset="-122"/>
                <a:cs typeface="Inter" pitchFamily="34" charset="-120"/>
              </a:rPr>
              <a:t>›</a:t>
            </a:r>
            <a:endParaRPr lang="en-US" sz="2600" dirty="0"/>
          </a:p>
        </p:txBody>
      </p:sp>
      <p:sp>
        <p:nvSpPr>
          <p:cNvPr id="17" name="Shape 14"/>
          <p:cNvSpPr/>
          <p:nvPr/>
        </p:nvSpPr>
        <p:spPr>
          <a:xfrm>
            <a:off x="6144768" y="1645920"/>
            <a:ext cx="2651760" cy="2514600"/>
          </a:xfrm>
          <a:prstGeom prst="rect">
            <a:avLst>
              <a:gd name="adj" fmla="val 2182"/>
            </a:avLst>
          </a:prstGeom>
          <a:solidFill>
            <a:srgbClr val="F3F3F2"/>
          </a:solidFill>
          <a:ln/>
        </p:spPr>
      </p:sp>
      <p:sp>
        <p:nvSpPr>
          <p:cNvPr id="18" name="Shape 15"/>
          <p:cNvSpPr/>
          <p:nvPr/>
        </p:nvSpPr>
        <p:spPr>
          <a:xfrm>
            <a:off x="6373368" y="1828800"/>
            <a:ext cx="384048" cy="384048"/>
          </a:xfrm>
          <a:prstGeom prst="rect">
            <a:avLst/>
          </a:prstGeom>
          <a:solidFill>
            <a:srgbClr val="1A1D21"/>
          </a:solidFill>
          <a:ln/>
        </p:spPr>
      </p:sp>
      <p:sp>
        <p:nvSpPr>
          <p:cNvPr id="19" name="Text 16"/>
          <p:cNvSpPr txBox="1"/>
          <p:nvPr/>
        </p:nvSpPr>
        <p:spPr>
          <a:xfrm>
            <a:off x="6373368" y="1837944"/>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a:t>
            </a:r>
            <a:endParaRPr lang="en-US" sz="1400" dirty="0"/>
          </a:p>
        </p:txBody>
      </p:sp>
      <p:sp>
        <p:nvSpPr>
          <p:cNvPr id="20" name="Text 17"/>
          <p:cNvSpPr txBox="1"/>
          <p:nvPr/>
        </p:nvSpPr>
        <p:spPr>
          <a:xfrm>
            <a:off x="6876288" y="1865376"/>
            <a:ext cx="1828800" cy="320040"/>
          </a:xfrm>
          <a:prstGeom prst="rect">
            <a:avLst/>
          </a:prstGeom>
          <a:noFill/>
          <a:ln/>
        </p:spPr>
        <p:txBody>
          <a:bodyPr wrap="square" lIns="0" tIns="0" rIns="0" bIns="0" rtlCol="0" anchor="t"/>
          <a:lstStyle/>
          <a:p>
            <a:pPr indent="0" marL="0">
              <a:buNone/>
            </a:pPr>
            <a:r>
              <a:rPr lang="en-US" sz="1500" b="1" dirty="0">
                <a:solidFill>
                  <a:srgbClr val="1A1D21"/>
                </a:solidFill>
                <a:latin typeface="Inter" pitchFamily="34" charset="0"/>
                <a:ea typeface="Inter" pitchFamily="34" charset="-122"/>
                <a:cs typeface="Inter" pitchFamily="34" charset="-120"/>
              </a:rPr>
              <a:t>Calibración</a:t>
            </a:r>
            <a:endParaRPr lang="en-US" sz="1500" dirty="0"/>
          </a:p>
        </p:txBody>
      </p:sp>
      <p:sp>
        <p:nvSpPr>
          <p:cNvPr id="21" name="Text 18"/>
          <p:cNvSpPr txBox="1"/>
          <p:nvPr/>
        </p:nvSpPr>
        <p:spPr>
          <a:xfrm>
            <a:off x="6373368" y="2377440"/>
            <a:ext cx="2240280" cy="1737360"/>
          </a:xfrm>
          <a:prstGeom prst="rect">
            <a:avLst/>
          </a:prstGeom>
          <a:noFill/>
          <a:ln/>
        </p:spPr>
        <p:txBody>
          <a:bodyPr wrap="square" lIns="0" tIns="0" rIns="0" bIns="0" rtlCol="0" anchor="t"/>
          <a:lstStyle/>
          <a:p>
            <a:pPr indent="0" marL="0">
              <a:lnSpc>
                <a:spcPct val="105000"/>
              </a:lnSpc>
              <a:buNone/>
            </a:pPr>
            <a:r>
              <a:rPr lang="en-US" sz="1250" dirty="0">
                <a:solidFill>
                  <a:srgbClr val="1F2124"/>
                </a:solidFill>
                <a:latin typeface="Inter" pitchFamily="34" charset="0"/>
                <a:ea typeface="Inter" pitchFamily="34" charset="-122"/>
                <a:cs typeface="Inter" pitchFamily="34" charset="-120"/>
              </a:rPr>
              <a:t>Cada driver se calibra con una simulación de Monte Carlo y con las palancas de creación de valor del plan.</a:t>
            </a:r>
            <a:endParaRPr lang="en-US" sz="1250" dirty="0"/>
          </a:p>
        </p:txBody>
      </p:sp>
      <p:sp>
        <p:nvSpPr>
          <p:cNvPr id="22" name="Text 19"/>
          <p:cNvSpPr txBox="1"/>
          <p:nvPr/>
        </p:nvSpPr>
        <p:spPr>
          <a:xfrm>
            <a:off x="8778240" y="2606040"/>
            <a:ext cx="182880" cy="457200"/>
          </a:xfrm>
          <a:prstGeom prst="rect">
            <a:avLst/>
          </a:prstGeom>
          <a:noFill/>
          <a:ln/>
        </p:spPr>
        <p:txBody>
          <a:bodyPr wrap="square" lIns="0" tIns="0" rIns="0" bIns="0" rtlCol="0" anchor="t"/>
          <a:lstStyle/>
          <a:p>
            <a:pPr algn="ctr" indent="0" marL="0">
              <a:buNone/>
            </a:pPr>
            <a:r>
              <a:rPr lang="en-US" sz="2600" b="1" dirty="0">
                <a:solidFill>
                  <a:srgbClr val="1F4B3F"/>
                </a:solidFill>
                <a:latin typeface="Inter" pitchFamily="34" charset="0"/>
                <a:ea typeface="Inter" pitchFamily="34" charset="-122"/>
                <a:cs typeface="Inter" pitchFamily="34" charset="-120"/>
              </a:rPr>
              <a:t>›</a:t>
            </a:r>
            <a:endParaRPr lang="en-US" sz="2600" dirty="0"/>
          </a:p>
        </p:txBody>
      </p:sp>
      <p:sp>
        <p:nvSpPr>
          <p:cNvPr id="23" name="Shape 20"/>
          <p:cNvSpPr/>
          <p:nvPr/>
        </p:nvSpPr>
        <p:spPr>
          <a:xfrm>
            <a:off x="8942832" y="1645920"/>
            <a:ext cx="2651760" cy="2514600"/>
          </a:xfrm>
          <a:prstGeom prst="rect">
            <a:avLst>
              <a:gd name="adj" fmla="val 2182"/>
            </a:avLst>
          </a:prstGeom>
          <a:solidFill>
            <a:srgbClr val="F3F3F2"/>
          </a:solidFill>
          <a:ln/>
        </p:spPr>
      </p:sp>
      <p:sp>
        <p:nvSpPr>
          <p:cNvPr id="24" name="Shape 21"/>
          <p:cNvSpPr/>
          <p:nvPr/>
        </p:nvSpPr>
        <p:spPr>
          <a:xfrm>
            <a:off x="9171432" y="1828800"/>
            <a:ext cx="384048" cy="384048"/>
          </a:xfrm>
          <a:prstGeom prst="rect">
            <a:avLst/>
          </a:prstGeom>
          <a:solidFill>
            <a:srgbClr val="1F4B3F"/>
          </a:solidFill>
          <a:ln/>
        </p:spPr>
      </p:sp>
      <p:sp>
        <p:nvSpPr>
          <p:cNvPr id="25" name="Text 22"/>
          <p:cNvSpPr txBox="1"/>
          <p:nvPr/>
        </p:nvSpPr>
        <p:spPr>
          <a:xfrm>
            <a:off x="9171432" y="1837944"/>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a:t>
            </a:r>
            <a:endParaRPr lang="en-US" sz="1400" dirty="0"/>
          </a:p>
        </p:txBody>
      </p:sp>
      <p:sp>
        <p:nvSpPr>
          <p:cNvPr id="26" name="Text 23"/>
          <p:cNvSpPr txBox="1"/>
          <p:nvPr/>
        </p:nvSpPr>
        <p:spPr>
          <a:xfrm>
            <a:off x="9674352" y="1865376"/>
            <a:ext cx="1828800" cy="320040"/>
          </a:xfrm>
          <a:prstGeom prst="rect">
            <a:avLst/>
          </a:prstGeom>
          <a:noFill/>
          <a:ln/>
        </p:spPr>
        <p:txBody>
          <a:bodyPr wrap="square" lIns="0" tIns="0" rIns="0" bIns="0" rtlCol="0" anchor="t"/>
          <a:lstStyle/>
          <a:p>
            <a:pPr indent="0" marL="0">
              <a:buNone/>
            </a:pPr>
            <a:r>
              <a:rPr lang="en-US" sz="1500" b="1" dirty="0">
                <a:solidFill>
                  <a:srgbClr val="1A1D21"/>
                </a:solidFill>
                <a:latin typeface="Inter" pitchFamily="34" charset="0"/>
                <a:ea typeface="Inter" pitchFamily="34" charset="-122"/>
                <a:cs typeface="Inter" pitchFamily="34" charset="-120"/>
              </a:rPr>
              <a:t>Cuatro escenarios</a:t>
            </a:r>
            <a:endParaRPr lang="en-US" sz="1500" dirty="0"/>
          </a:p>
        </p:txBody>
      </p:sp>
      <p:sp>
        <p:nvSpPr>
          <p:cNvPr id="27" name="Text 24"/>
          <p:cNvSpPr txBox="1"/>
          <p:nvPr/>
        </p:nvSpPr>
        <p:spPr>
          <a:xfrm>
            <a:off x="9171432" y="2377440"/>
            <a:ext cx="2240280" cy="1737360"/>
          </a:xfrm>
          <a:prstGeom prst="rect">
            <a:avLst/>
          </a:prstGeom>
          <a:noFill/>
          <a:ln/>
        </p:spPr>
        <p:txBody>
          <a:bodyPr wrap="square" lIns="0" tIns="0" rIns="0" bIns="0" rtlCol="0" anchor="t"/>
          <a:lstStyle/>
          <a:p>
            <a:pPr indent="0" marL="0">
              <a:lnSpc>
                <a:spcPct val="105000"/>
              </a:lnSpc>
              <a:buNone/>
            </a:pPr>
            <a:r>
              <a:rPr lang="en-US" sz="1250" dirty="0">
                <a:solidFill>
                  <a:srgbClr val="1F2124"/>
                </a:solidFill>
                <a:latin typeface="Inter" pitchFamily="34" charset="0"/>
                <a:ea typeface="Inter" pitchFamily="34" charset="-122"/>
                <a:cs typeface="Inter" pitchFamily="34" charset="-120"/>
              </a:rPr>
              <a:t>Cada caso es un percentil: Bull (P80), Base (P50), Bear (P20) y Bank case (P10), el que piden los bancos.</a:t>
            </a:r>
            <a:endParaRPr lang="en-US" sz="1250" dirty="0"/>
          </a:p>
        </p:txBody>
      </p:sp>
      <p:sp>
        <p:nvSpPr>
          <p:cNvPr id="28" name="Shape 25"/>
          <p:cNvSpPr/>
          <p:nvPr/>
        </p:nvSpPr>
        <p:spPr>
          <a:xfrm>
            <a:off x="548640" y="4389120"/>
            <a:ext cx="5486400" cy="1691640"/>
          </a:xfrm>
          <a:prstGeom prst="rect">
            <a:avLst>
              <a:gd name="adj" fmla="val 3243"/>
            </a:avLst>
          </a:prstGeom>
          <a:solidFill>
            <a:srgbClr val="1A1D21"/>
          </a:solidFill>
          <a:ln/>
        </p:spPr>
      </p:sp>
      <p:sp>
        <p:nvSpPr>
          <p:cNvPr id="29" name="Text 26"/>
          <p:cNvSpPr txBox="1"/>
          <p:nvPr/>
        </p:nvSpPr>
        <p:spPr>
          <a:xfrm>
            <a:off x="777240" y="4553712"/>
            <a:ext cx="5029200" cy="274320"/>
          </a:xfrm>
          <a:prstGeom prst="rect">
            <a:avLst/>
          </a:prstGeom>
          <a:noFill/>
          <a:ln/>
        </p:spPr>
        <p:txBody>
          <a:bodyPr wrap="square" lIns="0" tIns="0" rIns="0" bIns="0" rtlCol="0" anchor="t"/>
          <a:lstStyle/>
          <a:p>
            <a:pPr indent="0" marL="0">
              <a:buNone/>
            </a:pPr>
            <a:r>
              <a:rPr lang="en-US" sz="1300" b="1" dirty="0">
                <a:solidFill>
                  <a:srgbClr val="A8C9B8"/>
                </a:solidFill>
                <a:latin typeface="Inter" pitchFamily="34" charset="0"/>
                <a:ea typeface="Inter" pitchFamily="34" charset="-122"/>
                <a:cs typeface="Inter" pitchFamily="34" charset="-120"/>
              </a:rPr>
              <a:t>Por qué EBITDA pre-IFRS 16</a:t>
            </a:r>
            <a:endParaRPr lang="en-US" sz="1300" dirty="0"/>
          </a:p>
        </p:txBody>
      </p:sp>
      <p:sp>
        <p:nvSpPr>
          <p:cNvPr id="30" name="Text 27"/>
          <p:cNvSpPr txBox="1"/>
          <p:nvPr/>
        </p:nvSpPr>
        <p:spPr>
          <a:xfrm>
            <a:off x="777240" y="4873752"/>
            <a:ext cx="5074920" cy="1143000"/>
          </a:xfrm>
          <a:prstGeom prst="rect">
            <a:avLst/>
          </a:prstGeom>
          <a:noFill/>
          <a:ln/>
        </p:spPr>
        <p:txBody>
          <a:bodyPr wrap="square" lIns="0" tIns="0" rIns="0" bIns="0" rtlCol="0" anchor="t"/>
          <a:lstStyle/>
          <a:p>
            <a:pPr indent="0" marL="0">
              <a:lnSpc>
                <a:spcPct val="105000"/>
              </a:lnSpc>
              <a:buNone/>
            </a:pPr>
            <a:r>
              <a:rPr lang="en-US" sz="1250" dirty="0">
                <a:solidFill>
                  <a:srgbClr val="FFFFFF"/>
                </a:solidFill>
                <a:latin typeface="Inter" pitchFamily="34" charset="0"/>
                <a:ea typeface="Inter" pitchFamily="34" charset="-122"/>
                <a:cs typeface="Inter" pitchFamily="34" charset="-120"/>
              </a:rPr>
              <a:t>EBITDA reportado FY2025 de €11.267m menos €1.834m de alquileres pagados en caja = €9.433m. Es la base con la que se dimensiona la deuda, se calculan los covenants y se valora la entrada y la salida.</a:t>
            </a:r>
            <a:endParaRPr lang="en-US" sz="1250" dirty="0"/>
          </a:p>
        </p:txBody>
      </p:sp>
      <p:sp>
        <p:nvSpPr>
          <p:cNvPr id="31" name="Shape 28"/>
          <p:cNvSpPr/>
          <p:nvPr/>
        </p:nvSpPr>
        <p:spPr>
          <a:xfrm>
            <a:off x="6217920" y="4389120"/>
            <a:ext cx="5422392" cy="1691640"/>
          </a:xfrm>
          <a:prstGeom prst="rect">
            <a:avLst>
              <a:gd name="adj" fmla="val 3243"/>
            </a:avLst>
          </a:prstGeom>
          <a:solidFill>
            <a:srgbClr val="FFFFFF"/>
          </a:solidFill>
          <a:ln w="12700">
            <a:solidFill>
              <a:srgbClr val="D9D9D6"/>
            </a:solidFill>
            <a:prstDash val="solid"/>
          </a:ln>
        </p:spPr>
      </p:sp>
      <p:sp>
        <p:nvSpPr>
          <p:cNvPr id="32" name="Text 29"/>
          <p:cNvSpPr txBox="1"/>
          <p:nvPr/>
        </p:nvSpPr>
        <p:spPr>
          <a:xfrm>
            <a:off x="6446520" y="4553712"/>
            <a:ext cx="5029200" cy="274320"/>
          </a:xfrm>
          <a:prstGeom prst="rect">
            <a:avLst/>
          </a:prstGeom>
          <a:noFill/>
          <a:ln/>
        </p:spPr>
        <p:txBody>
          <a:bodyPr wrap="square" lIns="0" tIns="0" rIns="0" bIns="0" rtlCol="0" anchor="t"/>
          <a:lstStyle/>
          <a:p>
            <a:pPr indent="0" marL="0">
              <a:buNone/>
            </a:pPr>
            <a:r>
              <a:rPr lang="en-US" sz="1300" b="1" dirty="0">
                <a:solidFill>
                  <a:srgbClr val="1A1D21"/>
                </a:solidFill>
                <a:latin typeface="Inter" pitchFamily="34" charset="0"/>
                <a:ea typeface="Inter" pitchFamily="34" charset="-122"/>
                <a:cs typeface="Inter" pitchFamily="34" charset="-120"/>
              </a:rPr>
              <a:t>Un único selector mueve todo el modelo</a:t>
            </a:r>
            <a:endParaRPr lang="en-US" sz="1300" dirty="0"/>
          </a:p>
        </p:txBody>
      </p:sp>
      <p:sp>
        <p:nvSpPr>
          <p:cNvPr id="33" name="Text 30"/>
          <p:cNvSpPr txBox="1"/>
          <p:nvPr/>
        </p:nvSpPr>
        <p:spPr>
          <a:xfrm>
            <a:off x="6446520" y="4873752"/>
            <a:ext cx="5029200" cy="1143000"/>
          </a:xfrm>
          <a:prstGeom prst="rect">
            <a:avLst/>
          </a:prstGeom>
          <a:noFill/>
          <a:ln/>
        </p:spPr>
        <p:txBody>
          <a:bodyPr wrap="square" lIns="0" tIns="0" rIns="0" bIns="0" rtlCol="0" anchor="t"/>
          <a:lstStyle/>
          <a:p>
            <a:pPr indent="0" marL="0">
              <a:lnSpc>
                <a:spcPct val="105000"/>
              </a:lnSpc>
              <a:buNone/>
            </a:pPr>
            <a:r>
              <a:rPr lang="en-US" sz="1250" dirty="0">
                <a:solidFill>
                  <a:srgbClr val="1F2124"/>
                </a:solidFill>
                <a:latin typeface="Inter" pitchFamily="34" charset="0"/>
                <a:ea typeface="Inter" pitchFamily="34" charset="-122"/>
                <a:cs typeface="Inter" pitchFamily="34" charset="-120"/>
              </a:rPr>
              <a:t>Al elegir el escenario (1 Base, 2 Bull, 3 Bear, 4 Bank) cambian a la vez la cuenta de resultados, la deuda, los covenants, los impuestos y la TIR: cada caso es una historia coherente, no una mezcla de hipótesis.</a:t>
            </a:r>
            <a:endParaRPr lang="en-US" sz="1250" dirty="0"/>
          </a:p>
        </p:txBody>
      </p:sp>
      <p:sp>
        <p:nvSpPr>
          <p:cNvPr id="34" name="Text 31"/>
          <p:cNvSpPr txBox="1"/>
          <p:nvPr/>
        </p:nvSpPr>
        <p:spPr>
          <a:xfrm>
            <a:off x="548640" y="6327648"/>
            <a:ext cx="7863840" cy="228600"/>
          </a:xfrm>
          <a:prstGeom prst="rect">
            <a:avLst/>
          </a:prstGeom>
          <a:noFill/>
          <a:ln/>
        </p:spPr>
        <p:txBody>
          <a:bodyPr wrap="square" lIns="0" tIns="0" rIns="0" bIns="0" rtlCol="0" anchor="t"/>
          <a:lstStyle/>
          <a:p>
            <a:pPr indent="0" marL="0">
              <a:buNone/>
            </a:pPr>
            <a:r>
              <a:rPr lang="en-US" sz="900" dirty="0">
                <a:solidFill>
                  <a:srgbClr val="6E7378"/>
                </a:solidFill>
                <a:latin typeface="Inter" pitchFamily="34" charset="0"/>
                <a:ea typeface="Inter" pitchFamily="34" charset="-122"/>
                <a:cs typeface="Inter" pitchFamily="34" charset="-120"/>
              </a:rPr>
              <a:t>Fuente: modelo LBO definitivo (hoja Active Case: histórico FY2022–FY2025, drivers filas 9–17, selector F8).</a:t>
            </a:r>
            <a:endParaRPr lang="en-US" sz="900" dirty="0"/>
          </a:p>
        </p:txBody>
      </p:sp>
      <p:sp>
        <p:nvSpPr>
          <p:cNvPr id="35" name="Text 32"/>
          <p:cNvSpPr txBox="1"/>
          <p:nvPr/>
        </p:nvSpPr>
        <p:spPr>
          <a:xfrm>
            <a:off x="8595360" y="6327648"/>
            <a:ext cx="3044952" cy="228600"/>
          </a:xfrm>
          <a:prstGeom prst="rect">
            <a:avLst/>
          </a:prstGeom>
          <a:noFill/>
          <a:ln/>
        </p:spPr>
        <p:txBody>
          <a:bodyPr wrap="square" lIns="0" tIns="0" rIns="0" bIns="0" rtlCol="0" anchor="t"/>
          <a:lstStyle/>
          <a:p>
            <a:pPr algn="r" indent="0" marL="0">
              <a:buNone/>
            </a:pPr>
            <a:r>
              <a:rPr lang="en-US" sz="900" dirty="0">
                <a:solidFill>
                  <a:srgbClr val="6E7378"/>
                </a:solidFill>
                <a:latin typeface="Inter" pitchFamily="34" charset="0"/>
                <a:ea typeface="Inter" pitchFamily="34" charset="-122"/>
                <a:cs typeface="Inter" pitchFamily="34" charset="-120"/>
              </a:rPr>
              <a:t>Project Galicia  ·  Estrictamente confidencial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47472"/>
            <a:ext cx="8229600" cy="228600"/>
          </a:xfrm>
          <a:prstGeom prst="rect">
            <a:avLst/>
          </a:prstGeom>
          <a:noFill/>
          <a:ln/>
        </p:spPr>
        <p:txBody>
          <a:bodyPr wrap="square" lIns="0" tIns="0" rIns="0" bIns="0" rtlCol="0" anchor="t"/>
          <a:lstStyle/>
          <a:p>
            <a:pPr indent="0" marL="0">
              <a:buNone/>
            </a:pPr>
            <a:r>
              <a:rPr lang="en-US" sz="1100" b="1" spc="200" kern="0" dirty="0">
                <a:solidFill>
                  <a:srgbClr val="1F4B3F"/>
                </a:solidFill>
                <a:latin typeface="Inter" pitchFamily="34" charset="0"/>
                <a:ea typeface="Inter" pitchFamily="34" charset="-122"/>
                <a:cs typeface="Inter" pitchFamily="34" charset="-120"/>
              </a:rPr>
              <a:t>01  BUSINESS PLAN</a:t>
            </a:r>
            <a:endParaRPr lang="en-US" sz="1100" dirty="0"/>
          </a:p>
        </p:txBody>
      </p:sp>
      <p:pic>
        <p:nvPicPr>
          <p:cNvPr id="3" name="Image 0" descr="/tmp/claude-0/-home-claude/8d7de6a3-f167-5c95-8bc2-67944307bfd8/scratchpad/canva/img/HLP_monograma.png">    </p:cNvPr>
          <p:cNvPicPr>
            <a:picLocks noChangeAspect="1"/>
          </p:cNvPicPr>
          <p:nvPr/>
        </p:nvPicPr>
        <p:blipFill>
          <a:blip r:embed="rId1"/>
          <a:stretch>
            <a:fillRect/>
          </a:stretch>
        </p:blipFill>
        <p:spPr>
          <a:xfrm>
            <a:off x="11228832" y="310896"/>
            <a:ext cx="411480" cy="411480"/>
          </a:xfrm>
          <a:prstGeom prst="rect">
            <a:avLst/>
          </a:prstGeom>
        </p:spPr>
      </p:pic>
      <p:sp>
        <p:nvSpPr>
          <p:cNvPr id="4" name="Text 1"/>
          <p:cNvSpPr txBox="1"/>
          <p:nvPr/>
        </p:nvSpPr>
        <p:spPr>
          <a:xfrm>
            <a:off x="548640" y="603504"/>
            <a:ext cx="10515600" cy="822960"/>
          </a:xfrm>
          <a:prstGeom prst="rect">
            <a:avLst/>
          </a:prstGeom>
          <a:noFill/>
          <a:ln/>
        </p:spPr>
        <p:txBody>
          <a:bodyPr wrap="square" lIns="0" tIns="0" rIns="0" bIns="0" rtlCol="0" anchor="t"/>
          <a:lstStyle/>
          <a:p>
            <a:pPr indent="0" marL="0">
              <a:lnSpc>
                <a:spcPct val="95000"/>
              </a:lnSpc>
              <a:buNone/>
            </a:pPr>
            <a:r>
              <a:rPr lang="en-US" sz="2500" dirty="0">
                <a:solidFill>
                  <a:srgbClr val="1A1D21"/>
                </a:solidFill>
                <a:latin typeface="Lora" pitchFamily="34" charset="0"/>
                <a:ea typeface="Lora" pitchFamily="34" charset="-122"/>
                <a:cs typeface="Lora" pitchFamily="34" charset="-120"/>
              </a:rPr>
              <a:t>Los cuatro escenarios se diferencian en crecimiento, márgenes, capex y circulante</a:t>
            </a:r>
            <a:endParaRPr lang="en-US" sz="2500" dirty="0"/>
          </a:p>
        </p:txBody>
      </p:sp>
      <p:sp>
        <p:nvSpPr>
          <p:cNvPr id="5" name="Text 2"/>
          <p:cNvSpPr txBox="1"/>
          <p:nvPr/>
        </p:nvSpPr>
        <p:spPr>
          <a:xfrm>
            <a:off x="548640" y="1645920"/>
            <a:ext cx="3566160" cy="429768"/>
          </a:xfrm>
          <a:prstGeom prst="rect">
            <a:avLst/>
          </a:prstGeom>
          <a:solidFill>
            <a:srgbClr val="1A1D21"/>
          </a:solidFill>
          <a:ln/>
        </p:spPr>
        <p:txBody>
          <a:bodyPr wrap="square" lIns="0" tIns="76200" rIns="76200" bIns="0" rtlCol="0" anchor="ctr"/>
          <a:lstStyle/>
          <a:p>
            <a:pPr algn="l" indent="0" marL="0">
              <a:buNone/>
            </a:pPr>
            <a:r>
              <a:rPr lang="en-US" sz="1200" b="1" dirty="0">
                <a:solidFill>
                  <a:srgbClr val="FFFFFF"/>
                </a:solidFill>
                <a:latin typeface="Inter" pitchFamily="34" charset="0"/>
                <a:ea typeface="Inter" pitchFamily="34" charset="-122"/>
                <a:cs typeface="Inter" pitchFamily="34" charset="-120"/>
              </a:rPr>
              <a:t>Hipótesis anual (2026–2032)</a:t>
            </a:r>
            <a:endParaRPr lang="en-US" sz="1200" dirty="0"/>
          </a:p>
        </p:txBody>
      </p:sp>
      <p:sp>
        <p:nvSpPr>
          <p:cNvPr id="6" name="Text 3"/>
          <p:cNvSpPr txBox="1"/>
          <p:nvPr/>
        </p:nvSpPr>
        <p:spPr>
          <a:xfrm>
            <a:off x="4114800" y="1645920"/>
            <a:ext cx="1024128" cy="429768"/>
          </a:xfrm>
          <a:prstGeom prst="rect">
            <a:avLst/>
          </a:prstGeom>
          <a:solidFill>
            <a:srgbClr val="1A1D21"/>
          </a:solidFill>
          <a:ln/>
        </p:spPr>
        <p:txBody>
          <a:bodyPr wrap="square" lIns="0" tIns="76200" rIns="76200" bIns="0" rtlCol="0" anchor="ctr"/>
          <a:lstStyle/>
          <a:p>
            <a:pPr algn="r" indent="0" marL="0">
              <a:buNone/>
            </a:pPr>
            <a:r>
              <a:rPr lang="en-US" sz="1200" b="1" dirty="0">
                <a:solidFill>
                  <a:srgbClr val="FFFFFF"/>
                </a:solidFill>
                <a:latin typeface="Inter" pitchFamily="34" charset="0"/>
                <a:ea typeface="Inter" pitchFamily="34" charset="-122"/>
                <a:cs typeface="Inter" pitchFamily="34" charset="-120"/>
              </a:rPr>
              <a:t>Base (P50)</a:t>
            </a:r>
            <a:endParaRPr lang="en-US" sz="1200" dirty="0"/>
          </a:p>
        </p:txBody>
      </p:sp>
      <p:sp>
        <p:nvSpPr>
          <p:cNvPr id="7" name="Text 4"/>
          <p:cNvSpPr txBox="1"/>
          <p:nvPr/>
        </p:nvSpPr>
        <p:spPr>
          <a:xfrm>
            <a:off x="5138928" y="1645920"/>
            <a:ext cx="1024128" cy="429768"/>
          </a:xfrm>
          <a:prstGeom prst="rect">
            <a:avLst/>
          </a:prstGeom>
          <a:solidFill>
            <a:srgbClr val="1A1D21"/>
          </a:solidFill>
          <a:ln/>
        </p:spPr>
        <p:txBody>
          <a:bodyPr wrap="square" lIns="0" tIns="76200" rIns="76200" bIns="0" rtlCol="0" anchor="ctr"/>
          <a:lstStyle/>
          <a:p>
            <a:pPr algn="r" indent="0" marL="0">
              <a:buNone/>
            </a:pPr>
            <a:r>
              <a:rPr lang="en-US" sz="1200" b="1" dirty="0">
                <a:solidFill>
                  <a:srgbClr val="FFFFFF"/>
                </a:solidFill>
                <a:latin typeface="Inter" pitchFamily="34" charset="0"/>
                <a:ea typeface="Inter" pitchFamily="34" charset="-122"/>
                <a:cs typeface="Inter" pitchFamily="34" charset="-120"/>
              </a:rPr>
              <a:t>Bull (P80)</a:t>
            </a:r>
            <a:endParaRPr lang="en-US" sz="1200" dirty="0"/>
          </a:p>
        </p:txBody>
      </p:sp>
      <p:sp>
        <p:nvSpPr>
          <p:cNvPr id="8" name="Text 5"/>
          <p:cNvSpPr txBox="1"/>
          <p:nvPr/>
        </p:nvSpPr>
        <p:spPr>
          <a:xfrm>
            <a:off x="6163056" y="1645920"/>
            <a:ext cx="1024128" cy="429768"/>
          </a:xfrm>
          <a:prstGeom prst="rect">
            <a:avLst/>
          </a:prstGeom>
          <a:solidFill>
            <a:srgbClr val="1A1D21"/>
          </a:solidFill>
          <a:ln/>
        </p:spPr>
        <p:txBody>
          <a:bodyPr wrap="square" lIns="0" tIns="76200" rIns="76200" bIns="0" rtlCol="0" anchor="ctr"/>
          <a:lstStyle/>
          <a:p>
            <a:pPr algn="r" indent="0" marL="0">
              <a:buNone/>
            </a:pPr>
            <a:r>
              <a:rPr lang="en-US" sz="1200" b="1" dirty="0">
                <a:solidFill>
                  <a:srgbClr val="FFFFFF"/>
                </a:solidFill>
                <a:latin typeface="Inter" pitchFamily="34" charset="0"/>
                <a:ea typeface="Inter" pitchFamily="34" charset="-122"/>
                <a:cs typeface="Inter" pitchFamily="34" charset="-120"/>
              </a:rPr>
              <a:t>Bear (P20)</a:t>
            </a:r>
            <a:endParaRPr lang="en-US" sz="1200" dirty="0"/>
          </a:p>
        </p:txBody>
      </p:sp>
      <p:sp>
        <p:nvSpPr>
          <p:cNvPr id="9" name="Text 6"/>
          <p:cNvSpPr txBox="1"/>
          <p:nvPr/>
        </p:nvSpPr>
        <p:spPr>
          <a:xfrm>
            <a:off x="7187184" y="1645920"/>
            <a:ext cx="1024128" cy="429768"/>
          </a:xfrm>
          <a:prstGeom prst="rect">
            <a:avLst/>
          </a:prstGeom>
          <a:solidFill>
            <a:srgbClr val="1A1D21"/>
          </a:solidFill>
          <a:ln/>
        </p:spPr>
        <p:txBody>
          <a:bodyPr wrap="square" lIns="0" tIns="76200" rIns="76200" bIns="0" rtlCol="0" anchor="ctr"/>
          <a:lstStyle/>
          <a:p>
            <a:pPr algn="r" indent="0" marL="0">
              <a:buNone/>
            </a:pPr>
            <a:r>
              <a:rPr lang="en-US" sz="1200" b="1" dirty="0">
                <a:solidFill>
                  <a:srgbClr val="FFFFFF"/>
                </a:solidFill>
                <a:latin typeface="Inter" pitchFamily="34" charset="0"/>
                <a:ea typeface="Inter" pitchFamily="34" charset="-122"/>
                <a:cs typeface="Inter" pitchFamily="34" charset="-120"/>
              </a:rPr>
              <a:t>Bank (P10)</a:t>
            </a:r>
            <a:endParaRPr lang="en-US" sz="1200" dirty="0"/>
          </a:p>
        </p:txBody>
      </p:sp>
      <p:sp>
        <p:nvSpPr>
          <p:cNvPr id="10" name="Text 7"/>
          <p:cNvSpPr txBox="1"/>
          <p:nvPr/>
        </p:nvSpPr>
        <p:spPr>
          <a:xfrm>
            <a:off x="548640" y="2075688"/>
            <a:ext cx="3566160" cy="429768"/>
          </a:xfrm>
          <a:prstGeom prst="rect">
            <a:avLst/>
          </a:prstGeom>
          <a:solidFill>
            <a:srgbClr val="FFFFFF"/>
          </a:solidFill>
          <a:ln/>
        </p:spPr>
        <p:txBody>
          <a:bodyPr wrap="square" lIns="0" tIns="76200" rIns="76200" bIns="0" rtlCol="0" anchor="ctr"/>
          <a:lstStyle/>
          <a:p>
            <a:pPr algn="l" indent="0" marL="0">
              <a:buNone/>
            </a:pPr>
            <a:r>
              <a:rPr lang="en-US" sz="1250" dirty="0">
                <a:solidFill>
                  <a:srgbClr val="1F2124"/>
                </a:solidFill>
                <a:latin typeface="Inter" pitchFamily="34" charset="0"/>
                <a:ea typeface="Inter" pitchFamily="34" charset="-122"/>
                <a:cs typeface="Inter" pitchFamily="34" charset="-120"/>
              </a:rPr>
              <a:t>Crecimiento de las ventas</a:t>
            </a:r>
            <a:endParaRPr lang="en-US" sz="1250" dirty="0"/>
          </a:p>
        </p:txBody>
      </p:sp>
      <p:sp>
        <p:nvSpPr>
          <p:cNvPr id="11" name="Text 8"/>
          <p:cNvSpPr txBox="1"/>
          <p:nvPr/>
        </p:nvSpPr>
        <p:spPr>
          <a:xfrm>
            <a:off x="4114800" y="2075688"/>
            <a:ext cx="1024128" cy="429768"/>
          </a:xfrm>
          <a:prstGeom prst="rect">
            <a:avLst/>
          </a:prstGeom>
          <a:solidFill>
            <a:srgbClr val="E7EFEA"/>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5,25%</a:t>
            </a:r>
            <a:endParaRPr lang="en-US" sz="1250" dirty="0"/>
          </a:p>
        </p:txBody>
      </p:sp>
      <p:sp>
        <p:nvSpPr>
          <p:cNvPr id="12" name="Text 9"/>
          <p:cNvSpPr txBox="1"/>
          <p:nvPr/>
        </p:nvSpPr>
        <p:spPr>
          <a:xfrm>
            <a:off x="5138928" y="2075688"/>
            <a:ext cx="1024128" cy="429768"/>
          </a:xfrm>
          <a:prstGeom prst="rect">
            <a:avLst/>
          </a:prstGeom>
          <a:solidFill>
            <a:srgbClr val="FFFFFF"/>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7,00%</a:t>
            </a:r>
            <a:endParaRPr lang="en-US" sz="1250" dirty="0"/>
          </a:p>
        </p:txBody>
      </p:sp>
      <p:sp>
        <p:nvSpPr>
          <p:cNvPr id="13" name="Text 10"/>
          <p:cNvSpPr txBox="1"/>
          <p:nvPr/>
        </p:nvSpPr>
        <p:spPr>
          <a:xfrm>
            <a:off x="6163056" y="2075688"/>
            <a:ext cx="1024128" cy="429768"/>
          </a:xfrm>
          <a:prstGeom prst="rect">
            <a:avLst/>
          </a:prstGeom>
          <a:solidFill>
            <a:srgbClr val="FFFFFF"/>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3,75%</a:t>
            </a:r>
            <a:endParaRPr lang="en-US" sz="1250" dirty="0"/>
          </a:p>
        </p:txBody>
      </p:sp>
      <p:sp>
        <p:nvSpPr>
          <p:cNvPr id="14" name="Text 11"/>
          <p:cNvSpPr txBox="1"/>
          <p:nvPr/>
        </p:nvSpPr>
        <p:spPr>
          <a:xfrm>
            <a:off x="7187184" y="2075688"/>
            <a:ext cx="1024128" cy="429768"/>
          </a:xfrm>
          <a:prstGeom prst="rect">
            <a:avLst/>
          </a:prstGeom>
          <a:solidFill>
            <a:srgbClr val="FFFFFF"/>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2,75%</a:t>
            </a:r>
            <a:endParaRPr lang="en-US" sz="1250" dirty="0"/>
          </a:p>
        </p:txBody>
      </p:sp>
      <p:sp>
        <p:nvSpPr>
          <p:cNvPr id="15" name="Text 12"/>
          <p:cNvSpPr txBox="1"/>
          <p:nvPr/>
        </p:nvSpPr>
        <p:spPr>
          <a:xfrm>
            <a:off x="548640" y="2505456"/>
            <a:ext cx="3566160" cy="429768"/>
          </a:xfrm>
          <a:prstGeom prst="rect">
            <a:avLst/>
          </a:prstGeom>
          <a:solidFill>
            <a:srgbClr val="F3F3F2"/>
          </a:solidFill>
          <a:ln/>
        </p:spPr>
        <p:txBody>
          <a:bodyPr wrap="square" lIns="0" tIns="76200" rIns="76200" bIns="0" rtlCol="0" anchor="ctr"/>
          <a:lstStyle/>
          <a:p>
            <a:pPr algn="l" indent="0" marL="0">
              <a:buNone/>
            </a:pPr>
            <a:r>
              <a:rPr lang="en-US" sz="1250" dirty="0">
                <a:solidFill>
                  <a:srgbClr val="1F2124"/>
                </a:solidFill>
                <a:latin typeface="Inter" pitchFamily="34" charset="0"/>
                <a:ea typeface="Inter" pitchFamily="34" charset="-122"/>
                <a:cs typeface="Inter" pitchFamily="34" charset="-120"/>
              </a:rPr>
              <a:t>Margen bruto</a:t>
            </a:r>
            <a:endParaRPr lang="en-US" sz="1250" dirty="0"/>
          </a:p>
        </p:txBody>
      </p:sp>
      <p:sp>
        <p:nvSpPr>
          <p:cNvPr id="16" name="Text 13"/>
          <p:cNvSpPr txBox="1"/>
          <p:nvPr/>
        </p:nvSpPr>
        <p:spPr>
          <a:xfrm>
            <a:off x="4114800" y="2505456"/>
            <a:ext cx="1024128" cy="429768"/>
          </a:xfrm>
          <a:prstGeom prst="rect">
            <a:avLst/>
          </a:prstGeom>
          <a:solidFill>
            <a:srgbClr val="E7EFEA"/>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58,1%</a:t>
            </a:r>
            <a:endParaRPr lang="en-US" sz="1250" dirty="0"/>
          </a:p>
        </p:txBody>
      </p:sp>
      <p:sp>
        <p:nvSpPr>
          <p:cNvPr id="17" name="Text 14"/>
          <p:cNvSpPr txBox="1"/>
          <p:nvPr/>
        </p:nvSpPr>
        <p:spPr>
          <a:xfrm>
            <a:off x="5138928" y="2505456"/>
            <a:ext cx="1024128" cy="429768"/>
          </a:xfrm>
          <a:prstGeom prst="rect">
            <a:avLst/>
          </a:prstGeom>
          <a:solidFill>
            <a:srgbClr val="F3F3F2"/>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58,5%</a:t>
            </a:r>
            <a:endParaRPr lang="en-US" sz="1250" dirty="0"/>
          </a:p>
        </p:txBody>
      </p:sp>
      <p:sp>
        <p:nvSpPr>
          <p:cNvPr id="18" name="Text 15"/>
          <p:cNvSpPr txBox="1"/>
          <p:nvPr/>
        </p:nvSpPr>
        <p:spPr>
          <a:xfrm>
            <a:off x="6163056" y="2505456"/>
            <a:ext cx="1024128" cy="429768"/>
          </a:xfrm>
          <a:prstGeom prst="rect">
            <a:avLst/>
          </a:prstGeom>
          <a:solidFill>
            <a:srgbClr val="F3F3F2"/>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57,7%</a:t>
            </a:r>
            <a:endParaRPr lang="en-US" sz="1250" dirty="0"/>
          </a:p>
        </p:txBody>
      </p:sp>
      <p:sp>
        <p:nvSpPr>
          <p:cNvPr id="19" name="Text 16"/>
          <p:cNvSpPr txBox="1"/>
          <p:nvPr/>
        </p:nvSpPr>
        <p:spPr>
          <a:xfrm>
            <a:off x="7187184" y="2505456"/>
            <a:ext cx="1024128" cy="429768"/>
          </a:xfrm>
          <a:prstGeom prst="rect">
            <a:avLst/>
          </a:prstGeom>
          <a:solidFill>
            <a:srgbClr val="F3F3F2"/>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57,4%</a:t>
            </a:r>
            <a:endParaRPr lang="en-US" sz="1250" dirty="0"/>
          </a:p>
        </p:txBody>
      </p:sp>
      <p:sp>
        <p:nvSpPr>
          <p:cNvPr id="20" name="Text 17"/>
          <p:cNvSpPr txBox="1"/>
          <p:nvPr/>
        </p:nvSpPr>
        <p:spPr>
          <a:xfrm>
            <a:off x="548640" y="2935224"/>
            <a:ext cx="3566160" cy="429768"/>
          </a:xfrm>
          <a:prstGeom prst="rect">
            <a:avLst/>
          </a:prstGeom>
          <a:solidFill>
            <a:srgbClr val="FFFFFF"/>
          </a:solidFill>
          <a:ln/>
        </p:spPr>
        <p:txBody>
          <a:bodyPr wrap="square" lIns="0" tIns="76200" rIns="76200" bIns="0" rtlCol="0" anchor="ctr"/>
          <a:lstStyle/>
          <a:p>
            <a:pPr algn="l" indent="0" marL="0">
              <a:buNone/>
            </a:pPr>
            <a:r>
              <a:rPr lang="en-US" sz="1250" dirty="0">
                <a:solidFill>
                  <a:srgbClr val="1F2124"/>
                </a:solidFill>
                <a:latin typeface="Inter" pitchFamily="34" charset="0"/>
                <a:ea typeface="Inter" pitchFamily="34" charset="-122"/>
                <a:cs typeface="Inter" pitchFamily="34" charset="-120"/>
              </a:rPr>
              <a:t>Crecimiento de los gastos operativos</a:t>
            </a:r>
            <a:endParaRPr lang="en-US" sz="1250" dirty="0"/>
          </a:p>
        </p:txBody>
      </p:sp>
      <p:sp>
        <p:nvSpPr>
          <p:cNvPr id="21" name="Text 18"/>
          <p:cNvSpPr txBox="1"/>
          <p:nvPr/>
        </p:nvSpPr>
        <p:spPr>
          <a:xfrm>
            <a:off x="4114800" y="2935224"/>
            <a:ext cx="1024128" cy="429768"/>
          </a:xfrm>
          <a:prstGeom prst="rect">
            <a:avLst/>
          </a:prstGeom>
          <a:solidFill>
            <a:srgbClr val="E7EFEA"/>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4,5%</a:t>
            </a:r>
            <a:endParaRPr lang="en-US" sz="1250" dirty="0"/>
          </a:p>
        </p:txBody>
      </p:sp>
      <p:sp>
        <p:nvSpPr>
          <p:cNvPr id="22" name="Text 19"/>
          <p:cNvSpPr txBox="1"/>
          <p:nvPr/>
        </p:nvSpPr>
        <p:spPr>
          <a:xfrm>
            <a:off x="5138928" y="2935224"/>
            <a:ext cx="1024128" cy="429768"/>
          </a:xfrm>
          <a:prstGeom prst="rect">
            <a:avLst/>
          </a:prstGeom>
          <a:solidFill>
            <a:srgbClr val="FFFFFF"/>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5,8%</a:t>
            </a:r>
            <a:endParaRPr lang="en-US" sz="1250" dirty="0"/>
          </a:p>
        </p:txBody>
      </p:sp>
      <p:sp>
        <p:nvSpPr>
          <p:cNvPr id="23" name="Text 20"/>
          <p:cNvSpPr txBox="1"/>
          <p:nvPr/>
        </p:nvSpPr>
        <p:spPr>
          <a:xfrm>
            <a:off x="6163056" y="2935224"/>
            <a:ext cx="1024128" cy="429768"/>
          </a:xfrm>
          <a:prstGeom prst="rect">
            <a:avLst/>
          </a:prstGeom>
          <a:solidFill>
            <a:srgbClr val="FFFFFF"/>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3,5%</a:t>
            </a:r>
            <a:endParaRPr lang="en-US" sz="1250" dirty="0"/>
          </a:p>
        </p:txBody>
      </p:sp>
      <p:sp>
        <p:nvSpPr>
          <p:cNvPr id="24" name="Text 21"/>
          <p:cNvSpPr txBox="1"/>
          <p:nvPr/>
        </p:nvSpPr>
        <p:spPr>
          <a:xfrm>
            <a:off x="7187184" y="2935224"/>
            <a:ext cx="1024128" cy="429768"/>
          </a:xfrm>
          <a:prstGeom prst="rect">
            <a:avLst/>
          </a:prstGeom>
          <a:solidFill>
            <a:srgbClr val="FFFFFF"/>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2,8%</a:t>
            </a:r>
            <a:endParaRPr lang="en-US" sz="1250" dirty="0"/>
          </a:p>
        </p:txBody>
      </p:sp>
      <p:sp>
        <p:nvSpPr>
          <p:cNvPr id="25" name="Text 22"/>
          <p:cNvSpPr txBox="1"/>
          <p:nvPr/>
        </p:nvSpPr>
        <p:spPr>
          <a:xfrm>
            <a:off x="548640" y="3364992"/>
            <a:ext cx="3566160" cy="429768"/>
          </a:xfrm>
          <a:prstGeom prst="rect">
            <a:avLst/>
          </a:prstGeom>
          <a:solidFill>
            <a:srgbClr val="F3F3F2"/>
          </a:solidFill>
          <a:ln/>
        </p:spPr>
        <p:txBody>
          <a:bodyPr wrap="square" lIns="0" tIns="76200" rIns="76200" bIns="0" rtlCol="0" anchor="ctr"/>
          <a:lstStyle/>
          <a:p>
            <a:pPr algn="l" indent="0" marL="0">
              <a:buNone/>
            </a:pPr>
            <a:r>
              <a:rPr lang="en-US" sz="1250" dirty="0">
                <a:solidFill>
                  <a:srgbClr val="1F2124"/>
                </a:solidFill>
                <a:latin typeface="Inter" pitchFamily="34" charset="0"/>
                <a:ea typeface="Inter" pitchFamily="34" charset="-122"/>
                <a:cs typeface="Inter" pitchFamily="34" charset="-120"/>
              </a:rPr>
              <a:t>Crecimiento de los alquileres en caja</a:t>
            </a:r>
            <a:endParaRPr lang="en-US" sz="1250" dirty="0"/>
          </a:p>
        </p:txBody>
      </p:sp>
      <p:sp>
        <p:nvSpPr>
          <p:cNvPr id="26" name="Text 23"/>
          <p:cNvSpPr txBox="1"/>
          <p:nvPr/>
        </p:nvSpPr>
        <p:spPr>
          <a:xfrm>
            <a:off x="4114800" y="3364992"/>
            <a:ext cx="1024128" cy="429768"/>
          </a:xfrm>
          <a:prstGeom prst="rect">
            <a:avLst/>
          </a:prstGeom>
          <a:solidFill>
            <a:srgbClr val="E7EFEA"/>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3,6%</a:t>
            </a:r>
            <a:endParaRPr lang="en-US" sz="1250" dirty="0"/>
          </a:p>
        </p:txBody>
      </p:sp>
      <p:sp>
        <p:nvSpPr>
          <p:cNvPr id="27" name="Text 24"/>
          <p:cNvSpPr txBox="1"/>
          <p:nvPr/>
        </p:nvSpPr>
        <p:spPr>
          <a:xfrm>
            <a:off x="5138928" y="3364992"/>
            <a:ext cx="1024128" cy="429768"/>
          </a:xfrm>
          <a:prstGeom prst="rect">
            <a:avLst/>
          </a:prstGeom>
          <a:solidFill>
            <a:srgbClr val="F3F3F2"/>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3,9%</a:t>
            </a:r>
            <a:endParaRPr lang="en-US" sz="1250" dirty="0"/>
          </a:p>
        </p:txBody>
      </p:sp>
      <p:sp>
        <p:nvSpPr>
          <p:cNvPr id="28" name="Text 25"/>
          <p:cNvSpPr txBox="1"/>
          <p:nvPr/>
        </p:nvSpPr>
        <p:spPr>
          <a:xfrm>
            <a:off x="6163056" y="3364992"/>
            <a:ext cx="1024128" cy="429768"/>
          </a:xfrm>
          <a:prstGeom prst="rect">
            <a:avLst/>
          </a:prstGeom>
          <a:solidFill>
            <a:srgbClr val="F3F3F2"/>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3,0%</a:t>
            </a:r>
            <a:endParaRPr lang="en-US" sz="1250" dirty="0"/>
          </a:p>
        </p:txBody>
      </p:sp>
      <p:sp>
        <p:nvSpPr>
          <p:cNvPr id="29" name="Text 26"/>
          <p:cNvSpPr txBox="1"/>
          <p:nvPr/>
        </p:nvSpPr>
        <p:spPr>
          <a:xfrm>
            <a:off x="7187184" y="3364992"/>
            <a:ext cx="1024128" cy="429768"/>
          </a:xfrm>
          <a:prstGeom prst="rect">
            <a:avLst/>
          </a:prstGeom>
          <a:solidFill>
            <a:srgbClr val="F3F3F2"/>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2,5%</a:t>
            </a:r>
            <a:endParaRPr lang="en-US" sz="1250" dirty="0"/>
          </a:p>
        </p:txBody>
      </p:sp>
      <p:sp>
        <p:nvSpPr>
          <p:cNvPr id="30" name="Text 27"/>
          <p:cNvSpPr txBox="1"/>
          <p:nvPr/>
        </p:nvSpPr>
        <p:spPr>
          <a:xfrm>
            <a:off x="548640" y="3794760"/>
            <a:ext cx="3566160" cy="429768"/>
          </a:xfrm>
          <a:prstGeom prst="rect">
            <a:avLst/>
          </a:prstGeom>
          <a:solidFill>
            <a:srgbClr val="FFFFFF"/>
          </a:solidFill>
          <a:ln/>
        </p:spPr>
        <p:txBody>
          <a:bodyPr wrap="square" lIns="0" tIns="76200" rIns="76200" bIns="0" rtlCol="0" anchor="ctr"/>
          <a:lstStyle/>
          <a:p>
            <a:pPr algn="l" indent="0" marL="0">
              <a:buNone/>
            </a:pPr>
            <a:r>
              <a:rPr lang="en-US" sz="1250" dirty="0">
                <a:solidFill>
                  <a:srgbClr val="1F2124"/>
                </a:solidFill>
                <a:latin typeface="Inter" pitchFamily="34" charset="0"/>
                <a:ea typeface="Inter" pitchFamily="34" charset="-122"/>
                <a:cs typeface="Inter" pitchFamily="34" charset="-120"/>
              </a:rPr>
              <a:t>Capex de mantenimiento (% ventas)</a:t>
            </a:r>
            <a:endParaRPr lang="en-US" sz="1250" dirty="0"/>
          </a:p>
        </p:txBody>
      </p:sp>
      <p:sp>
        <p:nvSpPr>
          <p:cNvPr id="31" name="Text 28"/>
          <p:cNvSpPr txBox="1"/>
          <p:nvPr/>
        </p:nvSpPr>
        <p:spPr>
          <a:xfrm>
            <a:off x="4114800" y="3794760"/>
            <a:ext cx="1024128" cy="429768"/>
          </a:xfrm>
          <a:prstGeom prst="rect">
            <a:avLst/>
          </a:prstGeom>
          <a:solidFill>
            <a:srgbClr val="E7EFEA"/>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3,5%</a:t>
            </a:r>
            <a:endParaRPr lang="en-US" sz="1250" dirty="0"/>
          </a:p>
        </p:txBody>
      </p:sp>
      <p:sp>
        <p:nvSpPr>
          <p:cNvPr id="32" name="Text 29"/>
          <p:cNvSpPr txBox="1"/>
          <p:nvPr/>
        </p:nvSpPr>
        <p:spPr>
          <a:xfrm>
            <a:off x="5138928" y="3794760"/>
            <a:ext cx="1024128" cy="429768"/>
          </a:xfrm>
          <a:prstGeom prst="rect">
            <a:avLst/>
          </a:prstGeom>
          <a:solidFill>
            <a:srgbClr val="FFFFFF"/>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3,5%</a:t>
            </a:r>
            <a:endParaRPr lang="en-US" sz="1250" dirty="0"/>
          </a:p>
        </p:txBody>
      </p:sp>
      <p:sp>
        <p:nvSpPr>
          <p:cNvPr id="33" name="Text 30"/>
          <p:cNvSpPr txBox="1"/>
          <p:nvPr/>
        </p:nvSpPr>
        <p:spPr>
          <a:xfrm>
            <a:off x="6163056" y="3794760"/>
            <a:ext cx="1024128" cy="429768"/>
          </a:xfrm>
          <a:prstGeom prst="rect">
            <a:avLst/>
          </a:prstGeom>
          <a:solidFill>
            <a:srgbClr val="FFFFFF"/>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3,2%</a:t>
            </a:r>
            <a:endParaRPr lang="en-US" sz="1250" dirty="0"/>
          </a:p>
        </p:txBody>
      </p:sp>
      <p:sp>
        <p:nvSpPr>
          <p:cNvPr id="34" name="Text 31"/>
          <p:cNvSpPr txBox="1"/>
          <p:nvPr/>
        </p:nvSpPr>
        <p:spPr>
          <a:xfrm>
            <a:off x="7187184" y="3794760"/>
            <a:ext cx="1024128" cy="429768"/>
          </a:xfrm>
          <a:prstGeom prst="rect">
            <a:avLst/>
          </a:prstGeom>
          <a:solidFill>
            <a:srgbClr val="FFFFFF"/>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3,0%</a:t>
            </a:r>
            <a:endParaRPr lang="en-US" sz="1250" dirty="0"/>
          </a:p>
        </p:txBody>
      </p:sp>
      <p:sp>
        <p:nvSpPr>
          <p:cNvPr id="35" name="Text 32"/>
          <p:cNvSpPr txBox="1"/>
          <p:nvPr/>
        </p:nvSpPr>
        <p:spPr>
          <a:xfrm>
            <a:off x="548640" y="4224528"/>
            <a:ext cx="3566160" cy="429768"/>
          </a:xfrm>
          <a:prstGeom prst="rect">
            <a:avLst/>
          </a:prstGeom>
          <a:solidFill>
            <a:srgbClr val="F3F3F2"/>
          </a:solidFill>
          <a:ln/>
        </p:spPr>
        <p:txBody>
          <a:bodyPr wrap="square" lIns="0" tIns="76200" rIns="76200" bIns="0" rtlCol="0" anchor="ctr"/>
          <a:lstStyle/>
          <a:p>
            <a:pPr algn="l" indent="0" marL="0">
              <a:buNone/>
            </a:pPr>
            <a:r>
              <a:rPr lang="en-US" sz="1250" dirty="0">
                <a:solidFill>
                  <a:srgbClr val="1F2124"/>
                </a:solidFill>
                <a:latin typeface="Inter" pitchFamily="34" charset="0"/>
                <a:ea typeface="Inter" pitchFamily="34" charset="-122"/>
                <a:cs typeface="Inter" pitchFamily="34" charset="-120"/>
              </a:rPr>
              <a:t>Capex de expansión EE. UU. y logística (% ventas)</a:t>
            </a:r>
            <a:endParaRPr lang="en-US" sz="1250" dirty="0"/>
          </a:p>
        </p:txBody>
      </p:sp>
      <p:sp>
        <p:nvSpPr>
          <p:cNvPr id="36" name="Text 33"/>
          <p:cNvSpPr txBox="1"/>
          <p:nvPr/>
        </p:nvSpPr>
        <p:spPr>
          <a:xfrm>
            <a:off x="4114800" y="4224528"/>
            <a:ext cx="1024128" cy="429768"/>
          </a:xfrm>
          <a:prstGeom prst="rect">
            <a:avLst/>
          </a:prstGeom>
          <a:solidFill>
            <a:srgbClr val="E7EFEA"/>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1,5%</a:t>
            </a:r>
            <a:endParaRPr lang="en-US" sz="1250" dirty="0"/>
          </a:p>
        </p:txBody>
      </p:sp>
      <p:sp>
        <p:nvSpPr>
          <p:cNvPr id="37" name="Text 34"/>
          <p:cNvSpPr txBox="1"/>
          <p:nvPr/>
        </p:nvSpPr>
        <p:spPr>
          <a:xfrm>
            <a:off x="5138928" y="4224528"/>
            <a:ext cx="1024128" cy="429768"/>
          </a:xfrm>
          <a:prstGeom prst="rect">
            <a:avLst/>
          </a:prstGeom>
          <a:solidFill>
            <a:srgbClr val="F3F3F2"/>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2,0%</a:t>
            </a:r>
            <a:endParaRPr lang="en-US" sz="1250" dirty="0"/>
          </a:p>
        </p:txBody>
      </p:sp>
      <p:sp>
        <p:nvSpPr>
          <p:cNvPr id="38" name="Text 35"/>
          <p:cNvSpPr txBox="1"/>
          <p:nvPr/>
        </p:nvSpPr>
        <p:spPr>
          <a:xfrm>
            <a:off x="6163056" y="4224528"/>
            <a:ext cx="1024128" cy="429768"/>
          </a:xfrm>
          <a:prstGeom prst="rect">
            <a:avLst/>
          </a:prstGeom>
          <a:solidFill>
            <a:srgbClr val="F3F3F2"/>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1,2%</a:t>
            </a:r>
            <a:endParaRPr lang="en-US" sz="1250" dirty="0"/>
          </a:p>
        </p:txBody>
      </p:sp>
      <p:sp>
        <p:nvSpPr>
          <p:cNvPr id="39" name="Text 36"/>
          <p:cNvSpPr txBox="1"/>
          <p:nvPr/>
        </p:nvSpPr>
        <p:spPr>
          <a:xfrm>
            <a:off x="7187184" y="4224528"/>
            <a:ext cx="1024128" cy="429768"/>
          </a:xfrm>
          <a:prstGeom prst="rect">
            <a:avLst/>
          </a:prstGeom>
          <a:solidFill>
            <a:srgbClr val="F3F3F2"/>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1,0%</a:t>
            </a:r>
            <a:endParaRPr lang="en-US" sz="1250" dirty="0"/>
          </a:p>
        </p:txBody>
      </p:sp>
      <p:sp>
        <p:nvSpPr>
          <p:cNvPr id="40" name="Text 37"/>
          <p:cNvSpPr txBox="1"/>
          <p:nvPr/>
        </p:nvSpPr>
        <p:spPr>
          <a:xfrm>
            <a:off x="548640" y="4654296"/>
            <a:ext cx="3566160" cy="429768"/>
          </a:xfrm>
          <a:prstGeom prst="rect">
            <a:avLst/>
          </a:prstGeom>
          <a:solidFill>
            <a:srgbClr val="FFFFFF"/>
          </a:solidFill>
          <a:ln/>
        </p:spPr>
        <p:txBody>
          <a:bodyPr wrap="square" lIns="0" tIns="76200" rIns="76200" bIns="0" rtlCol="0" anchor="ctr"/>
          <a:lstStyle/>
          <a:p>
            <a:pPr algn="l" indent="0" marL="0">
              <a:buNone/>
            </a:pPr>
            <a:r>
              <a:rPr lang="en-US" sz="1250" dirty="0">
                <a:solidFill>
                  <a:srgbClr val="1F2124"/>
                </a:solidFill>
                <a:latin typeface="Inter" pitchFamily="34" charset="0"/>
                <a:ea typeface="Inter" pitchFamily="34" charset="-122"/>
                <a:cs typeface="Inter" pitchFamily="34" charset="-120"/>
              </a:rPr>
              <a:t>Existencias (% ventas)</a:t>
            </a:r>
            <a:endParaRPr lang="en-US" sz="1250" dirty="0"/>
          </a:p>
        </p:txBody>
      </p:sp>
      <p:sp>
        <p:nvSpPr>
          <p:cNvPr id="41" name="Text 38"/>
          <p:cNvSpPr txBox="1"/>
          <p:nvPr/>
        </p:nvSpPr>
        <p:spPr>
          <a:xfrm>
            <a:off x="4114800" y="4654296"/>
            <a:ext cx="1024128" cy="429768"/>
          </a:xfrm>
          <a:prstGeom prst="rect">
            <a:avLst/>
          </a:prstGeom>
          <a:solidFill>
            <a:srgbClr val="E7EFEA"/>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8,2%</a:t>
            </a:r>
            <a:endParaRPr lang="en-US" sz="1250" dirty="0"/>
          </a:p>
        </p:txBody>
      </p:sp>
      <p:sp>
        <p:nvSpPr>
          <p:cNvPr id="42" name="Text 39"/>
          <p:cNvSpPr txBox="1"/>
          <p:nvPr/>
        </p:nvSpPr>
        <p:spPr>
          <a:xfrm>
            <a:off x="5138928" y="4654296"/>
            <a:ext cx="1024128" cy="429768"/>
          </a:xfrm>
          <a:prstGeom prst="rect">
            <a:avLst/>
          </a:prstGeom>
          <a:solidFill>
            <a:srgbClr val="FFFFFF"/>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8,0%</a:t>
            </a:r>
            <a:endParaRPr lang="en-US" sz="1250" dirty="0"/>
          </a:p>
        </p:txBody>
      </p:sp>
      <p:sp>
        <p:nvSpPr>
          <p:cNvPr id="43" name="Text 40"/>
          <p:cNvSpPr txBox="1"/>
          <p:nvPr/>
        </p:nvSpPr>
        <p:spPr>
          <a:xfrm>
            <a:off x="6163056" y="4654296"/>
            <a:ext cx="1024128" cy="429768"/>
          </a:xfrm>
          <a:prstGeom prst="rect">
            <a:avLst/>
          </a:prstGeom>
          <a:solidFill>
            <a:srgbClr val="FFFFFF"/>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8,4%</a:t>
            </a:r>
            <a:endParaRPr lang="en-US" sz="1250" dirty="0"/>
          </a:p>
        </p:txBody>
      </p:sp>
      <p:sp>
        <p:nvSpPr>
          <p:cNvPr id="44" name="Text 41"/>
          <p:cNvSpPr txBox="1"/>
          <p:nvPr/>
        </p:nvSpPr>
        <p:spPr>
          <a:xfrm>
            <a:off x="7187184" y="4654296"/>
            <a:ext cx="1024128" cy="429768"/>
          </a:xfrm>
          <a:prstGeom prst="rect">
            <a:avLst/>
          </a:prstGeom>
          <a:solidFill>
            <a:srgbClr val="FFFFFF"/>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8,5%</a:t>
            </a:r>
            <a:endParaRPr lang="en-US" sz="1250" dirty="0"/>
          </a:p>
        </p:txBody>
      </p:sp>
      <p:sp>
        <p:nvSpPr>
          <p:cNvPr id="45" name="Text 42"/>
          <p:cNvSpPr txBox="1"/>
          <p:nvPr/>
        </p:nvSpPr>
        <p:spPr>
          <a:xfrm>
            <a:off x="548640" y="5084064"/>
            <a:ext cx="3566160" cy="429768"/>
          </a:xfrm>
          <a:prstGeom prst="rect">
            <a:avLst/>
          </a:prstGeom>
          <a:solidFill>
            <a:srgbClr val="F3F3F2"/>
          </a:solidFill>
          <a:ln/>
        </p:spPr>
        <p:txBody>
          <a:bodyPr wrap="square" lIns="0" tIns="76200" rIns="76200" bIns="0" rtlCol="0" anchor="ctr"/>
          <a:lstStyle/>
          <a:p>
            <a:pPr algn="l" indent="0" marL="0">
              <a:buNone/>
            </a:pPr>
            <a:r>
              <a:rPr lang="en-US" sz="1250" dirty="0">
                <a:solidFill>
                  <a:srgbClr val="1F2124"/>
                </a:solidFill>
                <a:latin typeface="Inter" pitchFamily="34" charset="0"/>
                <a:ea typeface="Inter" pitchFamily="34" charset="-122"/>
                <a:cs typeface="Inter" pitchFamily="34" charset="-120"/>
              </a:rPr>
              <a:t>Clientes (% ventas)</a:t>
            </a:r>
            <a:endParaRPr lang="en-US" sz="1250" dirty="0"/>
          </a:p>
        </p:txBody>
      </p:sp>
      <p:sp>
        <p:nvSpPr>
          <p:cNvPr id="46" name="Text 43"/>
          <p:cNvSpPr txBox="1"/>
          <p:nvPr/>
        </p:nvSpPr>
        <p:spPr>
          <a:xfrm>
            <a:off x="4114800" y="5084064"/>
            <a:ext cx="1024128" cy="429768"/>
          </a:xfrm>
          <a:prstGeom prst="rect">
            <a:avLst/>
          </a:prstGeom>
          <a:solidFill>
            <a:srgbClr val="E7EFEA"/>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2,9%</a:t>
            </a:r>
            <a:endParaRPr lang="en-US" sz="1250" dirty="0"/>
          </a:p>
        </p:txBody>
      </p:sp>
      <p:sp>
        <p:nvSpPr>
          <p:cNvPr id="47" name="Text 44"/>
          <p:cNvSpPr txBox="1"/>
          <p:nvPr/>
        </p:nvSpPr>
        <p:spPr>
          <a:xfrm>
            <a:off x="5138928" y="5084064"/>
            <a:ext cx="1024128" cy="429768"/>
          </a:xfrm>
          <a:prstGeom prst="rect">
            <a:avLst/>
          </a:prstGeom>
          <a:solidFill>
            <a:srgbClr val="F3F3F2"/>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2,9%</a:t>
            </a:r>
            <a:endParaRPr lang="en-US" sz="1250" dirty="0"/>
          </a:p>
        </p:txBody>
      </p:sp>
      <p:sp>
        <p:nvSpPr>
          <p:cNvPr id="48" name="Text 45"/>
          <p:cNvSpPr txBox="1"/>
          <p:nvPr/>
        </p:nvSpPr>
        <p:spPr>
          <a:xfrm>
            <a:off x="6163056" y="5084064"/>
            <a:ext cx="1024128" cy="429768"/>
          </a:xfrm>
          <a:prstGeom prst="rect">
            <a:avLst/>
          </a:prstGeom>
          <a:solidFill>
            <a:srgbClr val="F3F3F2"/>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2,9%</a:t>
            </a:r>
            <a:endParaRPr lang="en-US" sz="1250" dirty="0"/>
          </a:p>
        </p:txBody>
      </p:sp>
      <p:sp>
        <p:nvSpPr>
          <p:cNvPr id="49" name="Text 46"/>
          <p:cNvSpPr txBox="1"/>
          <p:nvPr/>
        </p:nvSpPr>
        <p:spPr>
          <a:xfrm>
            <a:off x="7187184" y="5084064"/>
            <a:ext cx="1024128" cy="429768"/>
          </a:xfrm>
          <a:prstGeom prst="rect">
            <a:avLst/>
          </a:prstGeom>
          <a:solidFill>
            <a:srgbClr val="F3F3F2"/>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3,0%</a:t>
            </a:r>
            <a:endParaRPr lang="en-US" sz="1250" dirty="0"/>
          </a:p>
        </p:txBody>
      </p:sp>
      <p:sp>
        <p:nvSpPr>
          <p:cNvPr id="50" name="Text 47"/>
          <p:cNvSpPr txBox="1"/>
          <p:nvPr/>
        </p:nvSpPr>
        <p:spPr>
          <a:xfrm>
            <a:off x="548640" y="5513832"/>
            <a:ext cx="3566160" cy="429768"/>
          </a:xfrm>
          <a:prstGeom prst="rect">
            <a:avLst/>
          </a:prstGeom>
          <a:solidFill>
            <a:srgbClr val="FFFFFF"/>
          </a:solidFill>
          <a:ln/>
        </p:spPr>
        <p:txBody>
          <a:bodyPr wrap="square" lIns="0" tIns="76200" rIns="76200" bIns="0" rtlCol="0" anchor="ctr"/>
          <a:lstStyle/>
          <a:p>
            <a:pPr algn="l" indent="0" marL="0">
              <a:buNone/>
            </a:pPr>
            <a:r>
              <a:rPr lang="en-US" sz="1250" dirty="0">
                <a:solidFill>
                  <a:srgbClr val="1F2124"/>
                </a:solidFill>
                <a:latin typeface="Inter" pitchFamily="34" charset="0"/>
                <a:ea typeface="Inter" pitchFamily="34" charset="-122"/>
                <a:cs typeface="Inter" pitchFamily="34" charset="-120"/>
              </a:rPr>
              <a:t>Proveedores (% ventas)</a:t>
            </a:r>
            <a:endParaRPr lang="en-US" sz="1250" dirty="0"/>
          </a:p>
        </p:txBody>
      </p:sp>
      <p:sp>
        <p:nvSpPr>
          <p:cNvPr id="51" name="Text 48"/>
          <p:cNvSpPr txBox="1"/>
          <p:nvPr/>
        </p:nvSpPr>
        <p:spPr>
          <a:xfrm>
            <a:off x="4114800" y="5513832"/>
            <a:ext cx="1024128" cy="429768"/>
          </a:xfrm>
          <a:prstGeom prst="rect">
            <a:avLst/>
          </a:prstGeom>
          <a:solidFill>
            <a:srgbClr val="E7EFEA"/>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−21,5%</a:t>
            </a:r>
            <a:endParaRPr lang="en-US" sz="1250" dirty="0"/>
          </a:p>
        </p:txBody>
      </p:sp>
      <p:sp>
        <p:nvSpPr>
          <p:cNvPr id="52" name="Text 49"/>
          <p:cNvSpPr txBox="1"/>
          <p:nvPr/>
        </p:nvSpPr>
        <p:spPr>
          <a:xfrm>
            <a:off x="5138928" y="5513832"/>
            <a:ext cx="1024128" cy="429768"/>
          </a:xfrm>
          <a:prstGeom prst="rect">
            <a:avLst/>
          </a:prstGeom>
          <a:solidFill>
            <a:srgbClr val="FFFFFF"/>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−22,0%</a:t>
            </a:r>
            <a:endParaRPr lang="en-US" sz="1250" dirty="0"/>
          </a:p>
        </p:txBody>
      </p:sp>
      <p:sp>
        <p:nvSpPr>
          <p:cNvPr id="53" name="Text 50"/>
          <p:cNvSpPr txBox="1"/>
          <p:nvPr/>
        </p:nvSpPr>
        <p:spPr>
          <a:xfrm>
            <a:off x="6163056" y="5513832"/>
            <a:ext cx="1024128" cy="429768"/>
          </a:xfrm>
          <a:prstGeom prst="rect">
            <a:avLst/>
          </a:prstGeom>
          <a:solidFill>
            <a:srgbClr val="FFFFFF"/>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−21,3%</a:t>
            </a:r>
            <a:endParaRPr lang="en-US" sz="1250" dirty="0"/>
          </a:p>
        </p:txBody>
      </p:sp>
      <p:sp>
        <p:nvSpPr>
          <p:cNvPr id="54" name="Text 51"/>
          <p:cNvSpPr txBox="1"/>
          <p:nvPr/>
        </p:nvSpPr>
        <p:spPr>
          <a:xfrm>
            <a:off x="7187184" y="5513832"/>
            <a:ext cx="1024128" cy="429768"/>
          </a:xfrm>
          <a:prstGeom prst="rect">
            <a:avLst/>
          </a:prstGeom>
          <a:solidFill>
            <a:srgbClr val="FFFFFF"/>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−21,1%</a:t>
            </a:r>
            <a:endParaRPr lang="en-US" sz="1250" dirty="0"/>
          </a:p>
        </p:txBody>
      </p:sp>
      <p:sp>
        <p:nvSpPr>
          <p:cNvPr id="55" name="Shape 52"/>
          <p:cNvSpPr/>
          <p:nvPr/>
        </p:nvSpPr>
        <p:spPr>
          <a:xfrm>
            <a:off x="8503920" y="1645920"/>
            <a:ext cx="3136392" cy="4297680"/>
          </a:xfrm>
          <a:prstGeom prst="rect">
            <a:avLst>
              <a:gd name="adj" fmla="val 1749"/>
            </a:avLst>
          </a:prstGeom>
          <a:solidFill>
            <a:srgbClr val="F3F3F2"/>
          </a:solidFill>
          <a:ln/>
        </p:spPr>
      </p:sp>
      <p:sp>
        <p:nvSpPr>
          <p:cNvPr id="56" name="Text 53"/>
          <p:cNvSpPr txBox="1"/>
          <p:nvPr/>
        </p:nvSpPr>
        <p:spPr>
          <a:xfrm>
            <a:off x="8686800" y="1810512"/>
            <a:ext cx="2743200" cy="274320"/>
          </a:xfrm>
          <a:prstGeom prst="rect">
            <a:avLst/>
          </a:prstGeom>
          <a:noFill/>
          <a:ln/>
        </p:spPr>
        <p:txBody>
          <a:bodyPr wrap="square" lIns="0" tIns="0" rIns="0" bIns="0" rtlCol="0" anchor="t"/>
          <a:lstStyle/>
          <a:p>
            <a:pPr indent="0" marL="0">
              <a:buNone/>
            </a:pPr>
            <a:r>
              <a:rPr lang="en-US" sz="1400" b="1" dirty="0">
                <a:solidFill>
                  <a:srgbClr val="1A1D21"/>
                </a:solidFill>
                <a:latin typeface="Inter" pitchFamily="34" charset="0"/>
                <a:ea typeface="Inter" pitchFamily="34" charset="-122"/>
                <a:cs typeface="Inter" pitchFamily="34" charset="-120"/>
              </a:rPr>
              <a:t>Cómo leer el caso base</a:t>
            </a:r>
            <a:endParaRPr lang="en-US" sz="1400" dirty="0"/>
          </a:p>
        </p:txBody>
      </p:sp>
      <p:sp>
        <p:nvSpPr>
          <p:cNvPr id="57" name="Text 54"/>
          <p:cNvSpPr txBox="1"/>
          <p:nvPr/>
        </p:nvSpPr>
        <p:spPr>
          <a:xfrm>
            <a:off x="8686800" y="2194560"/>
            <a:ext cx="2788920" cy="3566160"/>
          </a:xfrm>
          <a:prstGeom prst="rect">
            <a:avLst/>
          </a:prstGeom>
          <a:noFill/>
          <a:ln/>
        </p:spPr>
        <p:txBody>
          <a:bodyPr wrap="square" lIns="0" tIns="0" rIns="0" bIns="0" rtlCol="0" anchor="t"/>
          <a:lstStyle/>
          <a:p>
            <a:pPr indent="0" marL="0">
              <a:lnSpc>
                <a:spcPct val="105000"/>
              </a:lnSpc>
              <a:buNone/>
            </a:pPr>
            <a:r>
              <a:rPr lang="en-US" sz="1250" b="1" dirty="0">
                <a:solidFill>
                  <a:srgbClr val="1F2124"/>
                </a:solidFill>
                <a:latin typeface="Inter" pitchFamily="34" charset="0"/>
                <a:ea typeface="Inter" pitchFamily="34" charset="-122"/>
                <a:cs typeface="Inter" pitchFamily="34" charset="-120"/>
              </a:rPr>
              <a:t>Apalancamiento operativo: </a:t>
            </a:r>
            <a:pPr indent="0" marL="0">
              <a:lnSpc>
                <a:spcPct val="105000"/>
              </a:lnSpc>
              <a:buNone/>
            </a:pPr>
            <a:r>
              <a:rPr lang="en-US" sz="1250" dirty="0">
                <a:solidFill>
                  <a:srgbClr val="1F2124"/>
                </a:solidFill>
                <a:latin typeface="Inter" pitchFamily="34" charset="0"/>
                <a:ea typeface="Inter" pitchFamily="34" charset="-122"/>
                <a:cs typeface="Inter" pitchFamily="34" charset="-120"/>
              </a:rPr>
              <a:t>los gastos crecen al 4,5%, menos que las ventas (5,25%), y el margen EBITDA sube del 23,7% al 25,5%.</a:t>
            </a:r>
            <a:endParaRPr lang="en-US" sz="1250" dirty="0"/>
          </a:p>
          <a:p>
            <a:pPr indent="0" marL="0">
              <a:lnSpc>
                <a:spcPct val="105000"/>
              </a:lnSpc>
              <a:buNone/>
            </a:pPr>
            <a:r>
              <a:rPr lang="en-US" sz="600" dirty="0">
                <a:solidFill>
                  <a:srgbClr val="1F2124"/>
                </a:solidFill>
                <a:latin typeface="Inter" pitchFamily="34" charset="0"/>
                <a:ea typeface="Inter" pitchFamily="34" charset="-122"/>
                <a:cs typeface="Inter" pitchFamily="34" charset="-120"/>
              </a:rPr>
              <a:t> </a:t>
            </a:r>
            <a:endParaRPr lang="en-US" sz="1250" dirty="0"/>
          </a:p>
          <a:p>
            <a:pPr indent="0" marL="0">
              <a:lnSpc>
                <a:spcPct val="105000"/>
              </a:lnSpc>
              <a:buNone/>
            </a:pPr>
            <a:r>
              <a:rPr lang="en-US" sz="1250" b="1" dirty="0">
                <a:solidFill>
                  <a:srgbClr val="1F2124"/>
                </a:solidFill>
                <a:latin typeface="Inter" pitchFamily="34" charset="0"/>
                <a:ea typeface="Inter" pitchFamily="34" charset="-122"/>
                <a:cs typeface="Inter" pitchFamily="34" charset="-120"/>
              </a:rPr>
              <a:t>Capex del 5% de las ventas, </a:t>
            </a:r>
            <a:pPr indent="0" marL="0">
              <a:lnSpc>
                <a:spcPct val="105000"/>
              </a:lnSpc>
              <a:buNone/>
            </a:pPr>
            <a:r>
              <a:rPr lang="en-US" sz="1250" dirty="0">
                <a:solidFill>
                  <a:srgbClr val="1F2124"/>
                </a:solidFill>
                <a:latin typeface="Inter" pitchFamily="34" charset="0"/>
                <a:ea typeface="Inter" pitchFamily="34" charset="-122"/>
                <a:cs typeface="Inter" pitchFamily="34" charset="-120"/>
              </a:rPr>
              <a:t>financiado con la caja del negocio, incluida la expansión en EE. UU.</a:t>
            </a:r>
            <a:endParaRPr lang="en-US" sz="1250" dirty="0"/>
          </a:p>
          <a:p>
            <a:pPr indent="0" marL="0">
              <a:lnSpc>
                <a:spcPct val="105000"/>
              </a:lnSpc>
              <a:buNone/>
            </a:pPr>
            <a:r>
              <a:rPr lang="en-US" sz="600" dirty="0">
                <a:solidFill>
                  <a:srgbClr val="1F2124"/>
                </a:solidFill>
                <a:latin typeface="Inter" pitchFamily="34" charset="0"/>
                <a:ea typeface="Inter" pitchFamily="34" charset="-122"/>
                <a:cs typeface="Inter" pitchFamily="34" charset="-120"/>
              </a:rPr>
              <a:t> </a:t>
            </a:r>
            <a:endParaRPr lang="en-US" sz="1250" dirty="0"/>
          </a:p>
          <a:p>
            <a:pPr indent="0" marL="0">
              <a:lnSpc>
                <a:spcPct val="105000"/>
              </a:lnSpc>
              <a:buNone/>
            </a:pPr>
            <a:r>
              <a:rPr lang="en-US" sz="1250" b="1" dirty="0">
                <a:solidFill>
                  <a:srgbClr val="1F2124"/>
                </a:solidFill>
                <a:latin typeface="Inter" pitchFamily="34" charset="0"/>
                <a:ea typeface="Inter" pitchFamily="34" charset="-122"/>
                <a:cs typeface="Inter" pitchFamily="34" charset="-120"/>
              </a:rPr>
              <a:t>Circulante negativo: </a:t>
            </a:r>
            <a:pPr indent="0" marL="0">
              <a:lnSpc>
                <a:spcPct val="105000"/>
              </a:lnSpc>
              <a:buNone/>
            </a:pPr>
            <a:r>
              <a:rPr lang="en-US" sz="1250" dirty="0">
                <a:solidFill>
                  <a:srgbClr val="1F2124"/>
                </a:solidFill>
                <a:latin typeface="Inter" pitchFamily="34" charset="0"/>
                <a:ea typeface="Inter" pitchFamily="34" charset="-122"/>
                <a:cs typeface="Inter" pitchFamily="34" charset="-120"/>
              </a:rPr>
              <a:t>al crecer las ventas libera caja cada año (+€208m en 2026).</a:t>
            </a:r>
            <a:endParaRPr lang="en-US" sz="1250" dirty="0"/>
          </a:p>
        </p:txBody>
      </p:sp>
      <p:sp>
        <p:nvSpPr>
          <p:cNvPr id="58" name="Text 55"/>
          <p:cNvSpPr txBox="1"/>
          <p:nvPr/>
        </p:nvSpPr>
        <p:spPr>
          <a:xfrm>
            <a:off x="548640" y="6327648"/>
            <a:ext cx="7863840" cy="228600"/>
          </a:xfrm>
          <a:prstGeom prst="rect">
            <a:avLst/>
          </a:prstGeom>
          <a:noFill/>
          <a:ln/>
        </p:spPr>
        <p:txBody>
          <a:bodyPr wrap="square" lIns="0" tIns="0" rIns="0" bIns="0" rtlCol="0" anchor="t"/>
          <a:lstStyle/>
          <a:p>
            <a:pPr indent="0" marL="0">
              <a:buNone/>
            </a:pPr>
            <a:r>
              <a:rPr lang="en-US" sz="900" dirty="0">
                <a:solidFill>
                  <a:srgbClr val="6E7378"/>
                </a:solidFill>
                <a:latin typeface="Inter" pitchFamily="34" charset="0"/>
                <a:ea typeface="Inter" pitchFamily="34" charset="-122"/>
                <a:cs typeface="Inter" pitchFamily="34" charset="-120"/>
              </a:rPr>
              <a:t>Fuente: modelo LBO definitivo, hoja Active Case (selector de escenario F8, columnas E–H).</a:t>
            </a:r>
            <a:endParaRPr lang="en-US" sz="900" dirty="0"/>
          </a:p>
        </p:txBody>
      </p:sp>
      <p:sp>
        <p:nvSpPr>
          <p:cNvPr id="59" name="Text 56"/>
          <p:cNvSpPr txBox="1"/>
          <p:nvPr/>
        </p:nvSpPr>
        <p:spPr>
          <a:xfrm>
            <a:off x="8595360" y="6327648"/>
            <a:ext cx="3044952" cy="228600"/>
          </a:xfrm>
          <a:prstGeom prst="rect">
            <a:avLst/>
          </a:prstGeom>
          <a:noFill/>
          <a:ln/>
        </p:spPr>
        <p:txBody>
          <a:bodyPr wrap="square" lIns="0" tIns="0" rIns="0" bIns="0" rtlCol="0" anchor="t"/>
          <a:lstStyle/>
          <a:p>
            <a:pPr algn="r" indent="0" marL="0">
              <a:buNone/>
            </a:pPr>
            <a:r>
              <a:rPr lang="en-US" sz="900" dirty="0">
                <a:solidFill>
                  <a:srgbClr val="6E7378"/>
                </a:solidFill>
                <a:latin typeface="Inter" pitchFamily="34" charset="0"/>
                <a:ea typeface="Inter" pitchFamily="34" charset="-122"/>
                <a:cs typeface="Inter" pitchFamily="34" charset="-120"/>
              </a:rPr>
              <a:t>Project Galicia  ·  Estrictamente confidencial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47472"/>
            <a:ext cx="8229600" cy="228600"/>
          </a:xfrm>
          <a:prstGeom prst="rect">
            <a:avLst/>
          </a:prstGeom>
          <a:noFill/>
          <a:ln/>
        </p:spPr>
        <p:txBody>
          <a:bodyPr wrap="square" lIns="0" tIns="0" rIns="0" bIns="0" rtlCol="0" anchor="t"/>
          <a:lstStyle/>
          <a:p>
            <a:pPr indent="0" marL="0">
              <a:buNone/>
            </a:pPr>
            <a:r>
              <a:rPr lang="en-US" sz="1100" b="1" spc="200" kern="0" dirty="0">
                <a:solidFill>
                  <a:srgbClr val="1F4B3F"/>
                </a:solidFill>
                <a:latin typeface="Inter" pitchFamily="34" charset="0"/>
                <a:ea typeface="Inter" pitchFamily="34" charset="-122"/>
                <a:cs typeface="Inter" pitchFamily="34" charset="-120"/>
              </a:rPr>
              <a:t>01  BUSINESS PLAN</a:t>
            </a:r>
            <a:endParaRPr lang="en-US" sz="1100" dirty="0"/>
          </a:p>
        </p:txBody>
      </p:sp>
      <p:pic>
        <p:nvPicPr>
          <p:cNvPr id="3" name="Image 0" descr="/tmp/claude-0/-home-claude/8d7de6a3-f167-5c95-8bc2-67944307bfd8/scratchpad/canva/img/HLP_monograma.png">    </p:cNvPr>
          <p:cNvPicPr>
            <a:picLocks noChangeAspect="1"/>
          </p:cNvPicPr>
          <p:nvPr/>
        </p:nvPicPr>
        <p:blipFill>
          <a:blip r:embed="rId1"/>
          <a:stretch>
            <a:fillRect/>
          </a:stretch>
        </p:blipFill>
        <p:spPr>
          <a:xfrm>
            <a:off x="11228832" y="310896"/>
            <a:ext cx="411480" cy="411480"/>
          </a:xfrm>
          <a:prstGeom prst="rect">
            <a:avLst/>
          </a:prstGeom>
        </p:spPr>
      </p:pic>
      <p:sp>
        <p:nvSpPr>
          <p:cNvPr id="4" name="Text 1"/>
          <p:cNvSpPr txBox="1"/>
          <p:nvPr/>
        </p:nvSpPr>
        <p:spPr>
          <a:xfrm>
            <a:off x="548640" y="603504"/>
            <a:ext cx="10515600" cy="822960"/>
          </a:xfrm>
          <a:prstGeom prst="rect">
            <a:avLst/>
          </a:prstGeom>
          <a:noFill/>
          <a:ln/>
        </p:spPr>
        <p:txBody>
          <a:bodyPr wrap="square" lIns="0" tIns="0" rIns="0" bIns="0" rtlCol="0" anchor="t"/>
          <a:lstStyle/>
          <a:p>
            <a:pPr indent="0" marL="0">
              <a:lnSpc>
                <a:spcPct val="95000"/>
              </a:lnSpc>
              <a:buNone/>
            </a:pPr>
            <a:r>
              <a:rPr lang="en-US" sz="2500" dirty="0">
                <a:solidFill>
                  <a:srgbClr val="1A1D21"/>
                </a:solidFill>
                <a:latin typeface="Lora" pitchFamily="34" charset="0"/>
                <a:ea typeface="Lora" pitchFamily="34" charset="-122"/>
                <a:cs typeface="Lora" pitchFamily="34" charset="-120"/>
              </a:rPr>
              <a:t>En el caso base el EBITDA crece de €9.433m a €14.519m y el margen sube casi dos puntos</a:t>
            </a:r>
            <a:endParaRPr lang="en-US" sz="2500" dirty="0"/>
          </a:p>
        </p:txBody>
      </p:sp>
      <p:pic>
        <p:nvPicPr>
          <p:cNvPr id="5" name="Image 1" descr="/tmp/claude-0/-home-claude/8d7de6a3-f167-5c95-8bc2-67944307bfd8/scratchpad/canva/img/c2_proj.png">    </p:cNvPr>
          <p:cNvPicPr>
            <a:picLocks noChangeAspect="1"/>
          </p:cNvPicPr>
          <p:nvPr/>
        </p:nvPicPr>
        <p:blipFill>
          <a:blip r:embed="rId2"/>
          <a:stretch>
            <a:fillRect/>
          </a:stretch>
        </p:blipFill>
        <p:spPr>
          <a:xfrm>
            <a:off x="548640" y="1554480"/>
            <a:ext cx="7498080" cy="4526280"/>
          </a:xfrm>
          <a:prstGeom prst="rect">
            <a:avLst/>
          </a:prstGeom>
        </p:spPr>
      </p:pic>
      <p:sp>
        <p:nvSpPr>
          <p:cNvPr id="6" name="Shape 2"/>
          <p:cNvSpPr/>
          <p:nvPr/>
        </p:nvSpPr>
        <p:spPr>
          <a:xfrm>
            <a:off x="8321040" y="1645920"/>
            <a:ext cx="3319272" cy="1298448"/>
          </a:xfrm>
          <a:prstGeom prst="rect">
            <a:avLst>
              <a:gd name="adj" fmla="val 4225"/>
            </a:avLst>
          </a:prstGeom>
          <a:solidFill>
            <a:srgbClr val="F3F3F2"/>
          </a:solidFill>
          <a:ln/>
        </p:spPr>
      </p:sp>
      <p:sp>
        <p:nvSpPr>
          <p:cNvPr id="7" name="Text 3"/>
          <p:cNvSpPr txBox="1"/>
          <p:nvPr/>
        </p:nvSpPr>
        <p:spPr>
          <a:xfrm>
            <a:off x="8503920" y="1783080"/>
            <a:ext cx="3017520" cy="411480"/>
          </a:xfrm>
          <a:prstGeom prst="rect">
            <a:avLst/>
          </a:prstGeom>
          <a:noFill/>
          <a:ln/>
        </p:spPr>
        <p:txBody>
          <a:bodyPr wrap="square" lIns="0" tIns="0" rIns="0" bIns="0" rtlCol="0" anchor="t"/>
          <a:lstStyle/>
          <a:p>
            <a:pPr indent="0" marL="0">
              <a:buNone/>
            </a:pPr>
            <a:r>
              <a:rPr lang="en-US" sz="2200" b="1" dirty="0">
                <a:solidFill>
                  <a:srgbClr val="1A1D21"/>
                </a:solidFill>
                <a:latin typeface="Inter" pitchFamily="34" charset="0"/>
                <a:ea typeface="Inter" pitchFamily="34" charset="-122"/>
                <a:cs typeface="Inter" pitchFamily="34" charset="-120"/>
              </a:rPr>
              <a:t>€57.034m</a:t>
            </a:r>
            <a:endParaRPr lang="en-US" sz="2200" dirty="0"/>
          </a:p>
        </p:txBody>
      </p:sp>
      <p:sp>
        <p:nvSpPr>
          <p:cNvPr id="8" name="Text 4"/>
          <p:cNvSpPr txBox="1"/>
          <p:nvPr/>
        </p:nvSpPr>
        <p:spPr>
          <a:xfrm>
            <a:off x="8503920" y="2240280"/>
            <a:ext cx="3017520" cy="274320"/>
          </a:xfrm>
          <a:prstGeom prst="rect">
            <a:avLst/>
          </a:prstGeom>
          <a:noFill/>
          <a:ln/>
        </p:spPr>
        <p:txBody>
          <a:bodyPr wrap="square" lIns="0" tIns="0" rIns="0" bIns="0" rtlCol="0" anchor="t"/>
          <a:lstStyle/>
          <a:p>
            <a:pPr indent="0" marL="0">
              <a:buNone/>
            </a:pPr>
            <a:r>
              <a:rPr lang="en-US" sz="1250" b="1" dirty="0">
                <a:solidFill>
                  <a:srgbClr val="1F2124"/>
                </a:solidFill>
                <a:latin typeface="Inter" pitchFamily="34" charset="0"/>
                <a:ea typeface="Inter" pitchFamily="34" charset="-122"/>
                <a:cs typeface="Inter" pitchFamily="34" charset="-120"/>
              </a:rPr>
              <a:t>Ventas en 2032</a:t>
            </a:r>
            <a:endParaRPr lang="en-US" sz="1250" dirty="0"/>
          </a:p>
        </p:txBody>
      </p:sp>
      <p:sp>
        <p:nvSpPr>
          <p:cNvPr id="9" name="Text 5"/>
          <p:cNvSpPr txBox="1"/>
          <p:nvPr/>
        </p:nvSpPr>
        <p:spPr>
          <a:xfrm>
            <a:off x="8503920" y="2514600"/>
            <a:ext cx="3017520" cy="411480"/>
          </a:xfrm>
          <a:prstGeom prst="rect">
            <a:avLst/>
          </a:prstGeom>
          <a:noFill/>
          <a:ln/>
        </p:spPr>
        <p:txBody>
          <a:bodyPr wrap="square" lIns="0" tIns="0" rIns="0" bIns="0" rtlCol="0" anchor="t"/>
          <a:lstStyle/>
          <a:p>
            <a:pPr indent="0" marL="0">
              <a:buNone/>
            </a:pPr>
            <a:r>
              <a:rPr lang="en-US" sz="1050" dirty="0">
                <a:solidFill>
                  <a:srgbClr val="6E7378"/>
                </a:solidFill>
                <a:latin typeface="Inter" pitchFamily="34" charset="0"/>
                <a:ea typeface="Inter" pitchFamily="34" charset="-122"/>
                <a:cs typeface="Inter" pitchFamily="34" charset="-120"/>
              </a:rPr>
              <a:t>Crecimiento anual del 5,25%</a:t>
            </a:r>
            <a:endParaRPr lang="en-US" sz="1050" dirty="0"/>
          </a:p>
        </p:txBody>
      </p:sp>
      <p:sp>
        <p:nvSpPr>
          <p:cNvPr id="10" name="Shape 6"/>
          <p:cNvSpPr/>
          <p:nvPr/>
        </p:nvSpPr>
        <p:spPr>
          <a:xfrm>
            <a:off x="8321040" y="3108960"/>
            <a:ext cx="3319272" cy="1298448"/>
          </a:xfrm>
          <a:prstGeom prst="rect">
            <a:avLst>
              <a:gd name="adj" fmla="val 4225"/>
            </a:avLst>
          </a:prstGeom>
          <a:solidFill>
            <a:srgbClr val="1A1D21"/>
          </a:solidFill>
          <a:ln/>
        </p:spPr>
      </p:sp>
      <p:sp>
        <p:nvSpPr>
          <p:cNvPr id="11" name="Text 7"/>
          <p:cNvSpPr txBox="1"/>
          <p:nvPr/>
        </p:nvSpPr>
        <p:spPr>
          <a:xfrm>
            <a:off x="8503920" y="324612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Inter" pitchFamily="34" charset="0"/>
                <a:ea typeface="Inter" pitchFamily="34" charset="-122"/>
                <a:cs typeface="Inter" pitchFamily="34" charset="-120"/>
              </a:rPr>
              <a:t>€14.519m</a:t>
            </a:r>
            <a:endParaRPr lang="en-US" sz="2200" dirty="0"/>
          </a:p>
        </p:txBody>
      </p:sp>
      <p:sp>
        <p:nvSpPr>
          <p:cNvPr id="12" name="Text 8"/>
          <p:cNvSpPr txBox="1"/>
          <p:nvPr/>
        </p:nvSpPr>
        <p:spPr>
          <a:xfrm>
            <a:off x="8503920" y="3703320"/>
            <a:ext cx="3017520" cy="274320"/>
          </a:xfrm>
          <a:prstGeom prst="rect">
            <a:avLst/>
          </a:prstGeom>
          <a:noFill/>
          <a:ln/>
        </p:spPr>
        <p:txBody>
          <a:bodyPr wrap="square" lIns="0" tIns="0" rIns="0" bIns="0" rtlCol="0" anchor="t"/>
          <a:lstStyle/>
          <a:p>
            <a:pPr indent="0" marL="0">
              <a:buNone/>
            </a:pPr>
            <a:r>
              <a:rPr lang="en-US" sz="1250" b="1" dirty="0">
                <a:solidFill>
                  <a:srgbClr val="EDEDED"/>
                </a:solidFill>
                <a:latin typeface="Inter" pitchFamily="34" charset="0"/>
                <a:ea typeface="Inter" pitchFamily="34" charset="-122"/>
                <a:cs typeface="Inter" pitchFamily="34" charset="-120"/>
              </a:rPr>
              <a:t>EBITDA pre-IFRS 16 en 2032</a:t>
            </a:r>
            <a:endParaRPr lang="en-US" sz="1250" dirty="0"/>
          </a:p>
        </p:txBody>
      </p:sp>
      <p:sp>
        <p:nvSpPr>
          <p:cNvPr id="13" name="Text 9"/>
          <p:cNvSpPr txBox="1"/>
          <p:nvPr/>
        </p:nvSpPr>
        <p:spPr>
          <a:xfrm>
            <a:off x="8503920" y="3977640"/>
            <a:ext cx="3017520" cy="411480"/>
          </a:xfrm>
          <a:prstGeom prst="rect">
            <a:avLst/>
          </a:prstGeom>
          <a:noFill/>
          <a:ln/>
        </p:spPr>
        <p:txBody>
          <a:bodyPr wrap="square" lIns="0" tIns="0" rIns="0" bIns="0" rtlCol="0" anchor="t"/>
          <a:lstStyle/>
          <a:p>
            <a:pPr indent="0" marL="0">
              <a:buNone/>
            </a:pPr>
            <a:r>
              <a:rPr lang="en-US" sz="1050" dirty="0">
                <a:solidFill>
                  <a:srgbClr val="BFC4CA"/>
                </a:solidFill>
                <a:latin typeface="Inter" pitchFamily="34" charset="0"/>
                <a:ea typeface="Inter" pitchFamily="34" charset="-122"/>
                <a:cs typeface="Inter" pitchFamily="34" charset="-120"/>
              </a:rPr>
              <a:t>Crecimiento anual del 6,4%; margen del 25,5%</a:t>
            </a:r>
            <a:endParaRPr lang="en-US" sz="1050" dirty="0"/>
          </a:p>
        </p:txBody>
      </p:sp>
      <p:sp>
        <p:nvSpPr>
          <p:cNvPr id="14" name="Shape 10"/>
          <p:cNvSpPr/>
          <p:nvPr/>
        </p:nvSpPr>
        <p:spPr>
          <a:xfrm>
            <a:off x="8321040" y="4572000"/>
            <a:ext cx="3319272" cy="1298448"/>
          </a:xfrm>
          <a:prstGeom prst="rect">
            <a:avLst>
              <a:gd name="adj" fmla="val 4225"/>
            </a:avLst>
          </a:prstGeom>
          <a:solidFill>
            <a:srgbClr val="F3F3F2"/>
          </a:solidFill>
          <a:ln/>
        </p:spPr>
      </p:sp>
      <p:sp>
        <p:nvSpPr>
          <p:cNvPr id="15" name="Text 11"/>
          <p:cNvSpPr txBox="1"/>
          <p:nvPr/>
        </p:nvSpPr>
        <p:spPr>
          <a:xfrm>
            <a:off x="8503920" y="4709160"/>
            <a:ext cx="3017520" cy="411480"/>
          </a:xfrm>
          <a:prstGeom prst="rect">
            <a:avLst/>
          </a:prstGeom>
          <a:noFill/>
          <a:ln/>
        </p:spPr>
        <p:txBody>
          <a:bodyPr wrap="square" lIns="0" tIns="0" rIns="0" bIns="0" rtlCol="0" anchor="t"/>
          <a:lstStyle/>
          <a:p>
            <a:pPr indent="0" marL="0">
              <a:buNone/>
            </a:pPr>
            <a:r>
              <a:rPr lang="en-US" sz="1900" b="1" dirty="0">
                <a:solidFill>
                  <a:srgbClr val="1A1D21"/>
                </a:solidFill>
                <a:latin typeface="Inter" pitchFamily="34" charset="0"/>
                <a:ea typeface="Inter" pitchFamily="34" charset="-122"/>
                <a:cs typeface="Inter" pitchFamily="34" charset="-120"/>
              </a:rPr>
              <a:t>€7.322m → €10.993m</a:t>
            </a:r>
            <a:endParaRPr lang="en-US" sz="1900" dirty="0"/>
          </a:p>
        </p:txBody>
      </p:sp>
      <p:sp>
        <p:nvSpPr>
          <p:cNvPr id="16" name="Text 12"/>
          <p:cNvSpPr txBox="1"/>
          <p:nvPr/>
        </p:nvSpPr>
        <p:spPr>
          <a:xfrm>
            <a:off x="8503920" y="5166360"/>
            <a:ext cx="3017520" cy="274320"/>
          </a:xfrm>
          <a:prstGeom prst="rect">
            <a:avLst/>
          </a:prstGeom>
          <a:noFill/>
          <a:ln/>
        </p:spPr>
        <p:txBody>
          <a:bodyPr wrap="square" lIns="0" tIns="0" rIns="0" bIns="0" rtlCol="0" anchor="t"/>
          <a:lstStyle/>
          <a:p>
            <a:pPr indent="0" marL="0">
              <a:buNone/>
            </a:pPr>
            <a:r>
              <a:rPr lang="en-US" sz="1250" b="1" dirty="0">
                <a:solidFill>
                  <a:srgbClr val="1F2124"/>
                </a:solidFill>
                <a:latin typeface="Inter" pitchFamily="34" charset="0"/>
                <a:ea typeface="Inter" pitchFamily="34" charset="-122"/>
                <a:cs typeface="Inter" pitchFamily="34" charset="-120"/>
              </a:rPr>
              <a:t>Caja para servir la deuda (CFADS)</a:t>
            </a:r>
            <a:endParaRPr lang="en-US" sz="1250" dirty="0"/>
          </a:p>
        </p:txBody>
      </p:sp>
      <p:sp>
        <p:nvSpPr>
          <p:cNvPr id="17" name="Text 13"/>
          <p:cNvSpPr txBox="1"/>
          <p:nvPr/>
        </p:nvSpPr>
        <p:spPr>
          <a:xfrm>
            <a:off x="8503920" y="5440680"/>
            <a:ext cx="3017520" cy="411480"/>
          </a:xfrm>
          <a:prstGeom prst="rect">
            <a:avLst/>
          </a:prstGeom>
          <a:noFill/>
          <a:ln/>
        </p:spPr>
        <p:txBody>
          <a:bodyPr wrap="square" lIns="0" tIns="0" rIns="0" bIns="0" rtlCol="0" anchor="t"/>
          <a:lstStyle/>
          <a:p>
            <a:pPr indent="0" marL="0">
              <a:buNone/>
            </a:pPr>
            <a:r>
              <a:rPr lang="en-US" sz="1050" dirty="0">
                <a:solidFill>
                  <a:srgbClr val="6E7378"/>
                </a:solidFill>
                <a:latin typeface="Inter" pitchFamily="34" charset="0"/>
                <a:ea typeface="Inter" pitchFamily="34" charset="-122"/>
                <a:cs typeface="Inter" pitchFamily="34" charset="-120"/>
              </a:rPr>
              <a:t>EBITDA menos impuestos, capex de mantenimiento y circulante, 2026–2032</a:t>
            </a:r>
            <a:endParaRPr lang="en-US" sz="1050" dirty="0"/>
          </a:p>
        </p:txBody>
      </p:sp>
      <p:sp>
        <p:nvSpPr>
          <p:cNvPr id="18" name="Text 14"/>
          <p:cNvSpPr txBox="1"/>
          <p:nvPr/>
        </p:nvSpPr>
        <p:spPr>
          <a:xfrm>
            <a:off x="548640" y="6327648"/>
            <a:ext cx="7863840" cy="228600"/>
          </a:xfrm>
          <a:prstGeom prst="rect">
            <a:avLst/>
          </a:prstGeom>
          <a:noFill/>
          <a:ln/>
        </p:spPr>
        <p:txBody>
          <a:bodyPr wrap="square" lIns="0" tIns="0" rIns="0" bIns="0" rtlCol="0" anchor="t"/>
          <a:lstStyle/>
          <a:p>
            <a:pPr indent="0" marL="0">
              <a:buNone/>
            </a:pPr>
            <a:r>
              <a:rPr lang="en-US" sz="900" dirty="0">
                <a:solidFill>
                  <a:srgbClr val="6E7378"/>
                </a:solidFill>
                <a:latin typeface="Inter" pitchFamily="34" charset="0"/>
                <a:ea typeface="Inter" pitchFamily="34" charset="-122"/>
                <a:cs typeface="Inter" pitchFamily="34" charset="-120"/>
              </a:rPr>
              <a:t>Fuente: modelo LBO definitivo del grupo (Inditex_LBO_Version_Definitiva.xlsx), caso base salvo indicación. € millones.</a:t>
            </a:r>
            <a:endParaRPr lang="en-US" sz="900" dirty="0"/>
          </a:p>
        </p:txBody>
      </p:sp>
      <p:sp>
        <p:nvSpPr>
          <p:cNvPr id="19" name="Text 15"/>
          <p:cNvSpPr txBox="1"/>
          <p:nvPr/>
        </p:nvSpPr>
        <p:spPr>
          <a:xfrm>
            <a:off x="8595360" y="6327648"/>
            <a:ext cx="3044952" cy="228600"/>
          </a:xfrm>
          <a:prstGeom prst="rect">
            <a:avLst/>
          </a:prstGeom>
          <a:noFill/>
          <a:ln/>
        </p:spPr>
        <p:txBody>
          <a:bodyPr wrap="square" lIns="0" tIns="0" rIns="0" bIns="0" rtlCol="0" anchor="t"/>
          <a:lstStyle/>
          <a:p>
            <a:pPr algn="r" indent="0" marL="0">
              <a:buNone/>
            </a:pPr>
            <a:r>
              <a:rPr lang="en-US" sz="900" dirty="0">
                <a:solidFill>
                  <a:srgbClr val="6E7378"/>
                </a:solidFill>
                <a:latin typeface="Inter" pitchFamily="34" charset="0"/>
                <a:ea typeface="Inter" pitchFamily="34" charset="-122"/>
                <a:cs typeface="Inter" pitchFamily="34" charset="-120"/>
              </a:rPr>
              <a:t>Project Galicia  ·  Estrictamente confidencial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47472"/>
            <a:ext cx="8229600" cy="228600"/>
          </a:xfrm>
          <a:prstGeom prst="rect">
            <a:avLst/>
          </a:prstGeom>
          <a:noFill/>
          <a:ln/>
        </p:spPr>
        <p:txBody>
          <a:bodyPr wrap="square" lIns="0" tIns="0" rIns="0" bIns="0" rtlCol="0" anchor="t"/>
          <a:lstStyle/>
          <a:p>
            <a:pPr indent="0" marL="0">
              <a:buNone/>
            </a:pPr>
            <a:r>
              <a:rPr lang="en-US" sz="1100" b="1" spc="200" kern="0" dirty="0">
                <a:solidFill>
                  <a:srgbClr val="1F4B3F"/>
                </a:solidFill>
                <a:latin typeface="Inter" pitchFamily="34" charset="0"/>
                <a:ea typeface="Inter" pitchFamily="34" charset="-122"/>
                <a:cs typeface="Inter" pitchFamily="34" charset="-120"/>
              </a:rPr>
              <a:t>01  BUSINESS PLAN</a:t>
            </a:r>
            <a:endParaRPr lang="en-US" sz="1100" dirty="0"/>
          </a:p>
        </p:txBody>
      </p:sp>
      <p:pic>
        <p:nvPicPr>
          <p:cNvPr id="3" name="Image 0" descr="/tmp/claude-0/-home-claude/8d7de6a3-f167-5c95-8bc2-67944307bfd8/scratchpad/canva/img/HLP_monograma.png">    </p:cNvPr>
          <p:cNvPicPr>
            <a:picLocks noChangeAspect="1"/>
          </p:cNvPicPr>
          <p:nvPr/>
        </p:nvPicPr>
        <p:blipFill>
          <a:blip r:embed="rId1"/>
          <a:stretch>
            <a:fillRect/>
          </a:stretch>
        </p:blipFill>
        <p:spPr>
          <a:xfrm>
            <a:off x="11228832" y="310896"/>
            <a:ext cx="411480" cy="411480"/>
          </a:xfrm>
          <a:prstGeom prst="rect">
            <a:avLst/>
          </a:prstGeom>
        </p:spPr>
      </p:pic>
      <p:sp>
        <p:nvSpPr>
          <p:cNvPr id="4" name="Text 1"/>
          <p:cNvSpPr txBox="1"/>
          <p:nvPr/>
        </p:nvSpPr>
        <p:spPr>
          <a:xfrm>
            <a:off x="548640" y="603504"/>
            <a:ext cx="10515600" cy="822960"/>
          </a:xfrm>
          <a:prstGeom prst="rect">
            <a:avLst/>
          </a:prstGeom>
          <a:noFill/>
          <a:ln/>
        </p:spPr>
        <p:txBody>
          <a:bodyPr wrap="square" lIns="0" tIns="0" rIns="0" bIns="0" rtlCol="0" anchor="t"/>
          <a:lstStyle/>
          <a:p>
            <a:pPr indent="0" marL="0">
              <a:lnSpc>
                <a:spcPct val="95000"/>
              </a:lnSpc>
              <a:buNone/>
            </a:pPr>
            <a:r>
              <a:rPr lang="en-US" sz="2500" dirty="0">
                <a:solidFill>
                  <a:srgbClr val="1A1D21"/>
                </a:solidFill>
                <a:latin typeface="Lora" pitchFamily="34" charset="0"/>
                <a:ea typeface="Lora" pitchFamily="34" charset="-122"/>
                <a:cs typeface="Lora" pitchFamily="34" charset="-120"/>
              </a:rPr>
              <a:t>La operación aguanta hasta el escenario Bear; el Bank case marca el límite de la estructura</a:t>
            </a:r>
            <a:endParaRPr lang="en-US" sz="2500" dirty="0"/>
          </a:p>
        </p:txBody>
      </p:sp>
      <p:pic>
        <p:nvPicPr>
          <p:cNvPr id="5" name="Image 1" descr="/tmp/claude-0/-home-claude/8d7de6a3-f167-5c95-8bc2-67944307bfd8/scratchpad/canva/img/c3_scen.png">    </p:cNvPr>
          <p:cNvPicPr>
            <a:picLocks noChangeAspect="1"/>
          </p:cNvPicPr>
          <p:nvPr/>
        </p:nvPicPr>
        <p:blipFill>
          <a:blip r:embed="rId2"/>
          <a:stretch>
            <a:fillRect/>
          </a:stretch>
        </p:blipFill>
        <p:spPr>
          <a:xfrm>
            <a:off x="548640" y="1554480"/>
            <a:ext cx="5486400" cy="3493008"/>
          </a:xfrm>
          <a:prstGeom prst="rect">
            <a:avLst/>
          </a:prstGeom>
        </p:spPr>
      </p:pic>
      <p:pic>
        <p:nvPicPr>
          <p:cNvPr id="6" name="Image 2" descr="/tmp/claude-0/-home-claude/8d7de6a3-f167-5c95-8bc2-67944307bfd8/scratchpad/canva/img/c4_irr.png">    </p:cNvPr>
          <p:cNvPicPr>
            <a:picLocks noChangeAspect="1"/>
          </p:cNvPicPr>
          <p:nvPr/>
        </p:nvPicPr>
        <p:blipFill>
          <a:blip r:embed="rId3"/>
          <a:stretch>
            <a:fillRect/>
          </a:stretch>
        </p:blipFill>
        <p:spPr>
          <a:xfrm>
            <a:off x="6309360" y="1554480"/>
            <a:ext cx="5330952" cy="3108960"/>
          </a:xfrm>
          <a:prstGeom prst="rect">
            <a:avLst/>
          </a:prstGeom>
        </p:spPr>
      </p:pic>
      <p:sp>
        <p:nvSpPr>
          <p:cNvPr id="7" name="Shape 2"/>
          <p:cNvSpPr/>
          <p:nvPr/>
        </p:nvSpPr>
        <p:spPr>
          <a:xfrm>
            <a:off x="548640" y="5166360"/>
            <a:ext cx="2651760" cy="960120"/>
          </a:xfrm>
          <a:prstGeom prst="rect">
            <a:avLst>
              <a:gd name="adj" fmla="val 5714"/>
            </a:avLst>
          </a:prstGeom>
          <a:solidFill>
            <a:srgbClr val="F3F3F2"/>
          </a:solidFill>
          <a:ln/>
        </p:spPr>
      </p:sp>
      <p:sp>
        <p:nvSpPr>
          <p:cNvPr id="8" name="Text 3"/>
          <p:cNvSpPr txBox="1"/>
          <p:nvPr/>
        </p:nvSpPr>
        <p:spPr>
          <a:xfrm>
            <a:off x="731520" y="5257800"/>
            <a:ext cx="2286000" cy="274320"/>
          </a:xfrm>
          <a:prstGeom prst="rect">
            <a:avLst/>
          </a:prstGeom>
          <a:noFill/>
          <a:ln/>
        </p:spPr>
        <p:txBody>
          <a:bodyPr wrap="square" lIns="0" tIns="0" rIns="0" bIns="0" rtlCol="0" anchor="t"/>
          <a:lstStyle/>
          <a:p>
            <a:pPr indent="0" marL="0">
              <a:buNone/>
            </a:pPr>
            <a:r>
              <a:rPr lang="en-US" sz="1300" b="1" dirty="0">
                <a:solidFill>
                  <a:srgbClr val="1A1D21"/>
                </a:solidFill>
                <a:latin typeface="Inter" pitchFamily="34" charset="0"/>
                <a:ea typeface="Inter" pitchFamily="34" charset="-122"/>
                <a:cs typeface="Inter" pitchFamily="34" charset="-120"/>
              </a:rPr>
              <a:t>Bull (P80)</a:t>
            </a:r>
            <a:endParaRPr lang="en-US" sz="1300" dirty="0"/>
          </a:p>
        </p:txBody>
      </p:sp>
      <p:sp>
        <p:nvSpPr>
          <p:cNvPr id="9" name="Text 4"/>
          <p:cNvSpPr txBox="1"/>
          <p:nvPr/>
        </p:nvSpPr>
        <p:spPr>
          <a:xfrm>
            <a:off x="731520" y="5550408"/>
            <a:ext cx="2377440" cy="256032"/>
          </a:xfrm>
          <a:prstGeom prst="rect">
            <a:avLst/>
          </a:prstGeom>
          <a:noFill/>
          <a:ln/>
        </p:spPr>
        <p:txBody>
          <a:bodyPr wrap="square" lIns="0" tIns="0" rIns="0" bIns="0" rtlCol="0" anchor="t"/>
          <a:lstStyle/>
          <a:p>
            <a:pPr indent="0" marL="0">
              <a:buNone/>
            </a:pPr>
            <a:r>
              <a:rPr lang="en-US" sz="1150" dirty="0">
                <a:solidFill>
                  <a:srgbClr val="1F2124"/>
                </a:solidFill>
                <a:latin typeface="Inter" pitchFamily="34" charset="0"/>
                <a:ea typeface="Inter" pitchFamily="34" charset="-122"/>
                <a:cs typeface="Inter" pitchFamily="34" charset="-120"/>
              </a:rPr>
              <a:t>DSCR mínimo 1,56x</a:t>
            </a:r>
            <a:endParaRPr lang="en-US" sz="1150" dirty="0"/>
          </a:p>
        </p:txBody>
      </p:sp>
      <p:sp>
        <p:nvSpPr>
          <p:cNvPr id="10" name="Text 5"/>
          <p:cNvSpPr txBox="1"/>
          <p:nvPr/>
        </p:nvSpPr>
        <p:spPr>
          <a:xfrm>
            <a:off x="731520" y="5806440"/>
            <a:ext cx="2377440" cy="256032"/>
          </a:xfrm>
          <a:prstGeom prst="rect">
            <a:avLst/>
          </a:prstGeom>
          <a:noFill/>
          <a:ln/>
        </p:spPr>
        <p:txBody>
          <a:bodyPr wrap="square" lIns="0" tIns="0" rIns="0" bIns="0" rtlCol="0" anchor="t"/>
          <a:lstStyle/>
          <a:p>
            <a:pPr indent="0" marL="0">
              <a:buNone/>
            </a:pPr>
            <a:r>
              <a:rPr lang="en-US" sz="1150" dirty="0">
                <a:solidFill>
                  <a:srgbClr val="1F2124"/>
                </a:solidFill>
                <a:latin typeface="Inter" pitchFamily="34" charset="0"/>
                <a:ea typeface="Inter" pitchFamily="34" charset="-122"/>
                <a:cs typeface="Inter" pitchFamily="34" charset="-120"/>
              </a:rPr>
              <a:t>Deuda neta / EBITDA 2032: 2,6x</a:t>
            </a:r>
            <a:endParaRPr lang="en-US" sz="1150" dirty="0"/>
          </a:p>
        </p:txBody>
      </p:sp>
      <p:sp>
        <p:nvSpPr>
          <p:cNvPr id="11" name="Shape 6"/>
          <p:cNvSpPr/>
          <p:nvPr/>
        </p:nvSpPr>
        <p:spPr>
          <a:xfrm>
            <a:off x="3346704" y="5166360"/>
            <a:ext cx="2651760" cy="960120"/>
          </a:xfrm>
          <a:prstGeom prst="rect">
            <a:avLst>
              <a:gd name="adj" fmla="val 5714"/>
            </a:avLst>
          </a:prstGeom>
          <a:solidFill>
            <a:srgbClr val="F3F3F2"/>
          </a:solidFill>
          <a:ln/>
        </p:spPr>
      </p:sp>
      <p:sp>
        <p:nvSpPr>
          <p:cNvPr id="12" name="Text 7"/>
          <p:cNvSpPr txBox="1"/>
          <p:nvPr/>
        </p:nvSpPr>
        <p:spPr>
          <a:xfrm>
            <a:off x="3529584" y="5257800"/>
            <a:ext cx="2286000" cy="274320"/>
          </a:xfrm>
          <a:prstGeom prst="rect">
            <a:avLst/>
          </a:prstGeom>
          <a:noFill/>
          <a:ln/>
        </p:spPr>
        <p:txBody>
          <a:bodyPr wrap="square" lIns="0" tIns="0" rIns="0" bIns="0" rtlCol="0" anchor="t"/>
          <a:lstStyle/>
          <a:p>
            <a:pPr indent="0" marL="0">
              <a:buNone/>
            </a:pPr>
            <a:r>
              <a:rPr lang="en-US" sz="1300" b="1" dirty="0">
                <a:solidFill>
                  <a:srgbClr val="1F4B3F"/>
                </a:solidFill>
                <a:latin typeface="Inter" pitchFamily="34" charset="0"/>
                <a:ea typeface="Inter" pitchFamily="34" charset="-122"/>
                <a:cs typeface="Inter" pitchFamily="34" charset="-120"/>
              </a:rPr>
              <a:t>Base (P50)</a:t>
            </a:r>
            <a:endParaRPr lang="en-US" sz="1300" dirty="0"/>
          </a:p>
        </p:txBody>
      </p:sp>
      <p:sp>
        <p:nvSpPr>
          <p:cNvPr id="13" name="Text 8"/>
          <p:cNvSpPr txBox="1"/>
          <p:nvPr/>
        </p:nvSpPr>
        <p:spPr>
          <a:xfrm>
            <a:off x="3529584" y="5550408"/>
            <a:ext cx="2377440" cy="256032"/>
          </a:xfrm>
          <a:prstGeom prst="rect">
            <a:avLst/>
          </a:prstGeom>
          <a:noFill/>
          <a:ln/>
        </p:spPr>
        <p:txBody>
          <a:bodyPr wrap="square" lIns="0" tIns="0" rIns="0" bIns="0" rtlCol="0" anchor="t"/>
          <a:lstStyle/>
          <a:p>
            <a:pPr indent="0" marL="0">
              <a:buNone/>
            </a:pPr>
            <a:r>
              <a:rPr lang="en-US" sz="1150" dirty="0">
                <a:solidFill>
                  <a:srgbClr val="1F2124"/>
                </a:solidFill>
                <a:latin typeface="Inter" pitchFamily="34" charset="0"/>
                <a:ea typeface="Inter" pitchFamily="34" charset="-122"/>
                <a:cs typeface="Inter" pitchFamily="34" charset="-120"/>
              </a:rPr>
              <a:t>DSCR mínimo 1,44x</a:t>
            </a:r>
            <a:endParaRPr lang="en-US" sz="1150" dirty="0"/>
          </a:p>
        </p:txBody>
      </p:sp>
      <p:sp>
        <p:nvSpPr>
          <p:cNvPr id="14" name="Text 9"/>
          <p:cNvSpPr txBox="1"/>
          <p:nvPr/>
        </p:nvSpPr>
        <p:spPr>
          <a:xfrm>
            <a:off x="3529584" y="5806440"/>
            <a:ext cx="2377440" cy="256032"/>
          </a:xfrm>
          <a:prstGeom prst="rect">
            <a:avLst/>
          </a:prstGeom>
          <a:noFill/>
          <a:ln/>
        </p:spPr>
        <p:txBody>
          <a:bodyPr wrap="square" lIns="0" tIns="0" rIns="0" bIns="0" rtlCol="0" anchor="t"/>
          <a:lstStyle/>
          <a:p>
            <a:pPr indent="0" marL="0">
              <a:buNone/>
            </a:pPr>
            <a:r>
              <a:rPr lang="en-US" sz="1150" dirty="0">
                <a:solidFill>
                  <a:srgbClr val="1F2124"/>
                </a:solidFill>
                <a:latin typeface="Inter" pitchFamily="34" charset="0"/>
                <a:ea typeface="Inter" pitchFamily="34" charset="-122"/>
                <a:cs typeface="Inter" pitchFamily="34" charset="-120"/>
              </a:rPr>
              <a:t>Deuda neta / EBITDA 2032: 3,6x</a:t>
            </a:r>
            <a:endParaRPr lang="en-US" sz="1150" dirty="0"/>
          </a:p>
        </p:txBody>
      </p:sp>
      <p:sp>
        <p:nvSpPr>
          <p:cNvPr id="15" name="Shape 10"/>
          <p:cNvSpPr/>
          <p:nvPr/>
        </p:nvSpPr>
        <p:spPr>
          <a:xfrm>
            <a:off x="6144768" y="5166360"/>
            <a:ext cx="2651760" cy="960120"/>
          </a:xfrm>
          <a:prstGeom prst="rect">
            <a:avLst>
              <a:gd name="adj" fmla="val 5714"/>
            </a:avLst>
          </a:prstGeom>
          <a:solidFill>
            <a:srgbClr val="F3F3F2"/>
          </a:solidFill>
          <a:ln/>
        </p:spPr>
      </p:sp>
      <p:sp>
        <p:nvSpPr>
          <p:cNvPr id="16" name="Text 11"/>
          <p:cNvSpPr txBox="1"/>
          <p:nvPr/>
        </p:nvSpPr>
        <p:spPr>
          <a:xfrm>
            <a:off x="6327648" y="5257800"/>
            <a:ext cx="2286000" cy="274320"/>
          </a:xfrm>
          <a:prstGeom prst="rect">
            <a:avLst/>
          </a:prstGeom>
          <a:noFill/>
          <a:ln/>
        </p:spPr>
        <p:txBody>
          <a:bodyPr wrap="square" lIns="0" tIns="0" rIns="0" bIns="0" rtlCol="0" anchor="t"/>
          <a:lstStyle/>
          <a:p>
            <a:pPr indent="0" marL="0">
              <a:buNone/>
            </a:pPr>
            <a:r>
              <a:rPr lang="en-US" sz="1300" b="1" dirty="0">
                <a:solidFill>
                  <a:srgbClr val="7D848C"/>
                </a:solidFill>
                <a:latin typeface="Inter" pitchFamily="34" charset="0"/>
                <a:ea typeface="Inter" pitchFamily="34" charset="-122"/>
                <a:cs typeface="Inter" pitchFamily="34" charset="-120"/>
              </a:rPr>
              <a:t>Bear (P20)</a:t>
            </a:r>
            <a:endParaRPr lang="en-US" sz="1300" dirty="0"/>
          </a:p>
        </p:txBody>
      </p:sp>
      <p:sp>
        <p:nvSpPr>
          <p:cNvPr id="17" name="Text 12"/>
          <p:cNvSpPr txBox="1"/>
          <p:nvPr/>
        </p:nvSpPr>
        <p:spPr>
          <a:xfrm>
            <a:off x="6327648" y="5550408"/>
            <a:ext cx="2377440" cy="256032"/>
          </a:xfrm>
          <a:prstGeom prst="rect">
            <a:avLst/>
          </a:prstGeom>
          <a:noFill/>
          <a:ln/>
        </p:spPr>
        <p:txBody>
          <a:bodyPr wrap="square" lIns="0" tIns="0" rIns="0" bIns="0" rtlCol="0" anchor="t"/>
          <a:lstStyle/>
          <a:p>
            <a:pPr indent="0" marL="0">
              <a:buNone/>
            </a:pPr>
            <a:r>
              <a:rPr lang="en-US" sz="1150" dirty="0">
                <a:solidFill>
                  <a:srgbClr val="1F2124"/>
                </a:solidFill>
                <a:latin typeface="Inter" pitchFamily="34" charset="0"/>
                <a:ea typeface="Inter" pitchFamily="34" charset="-122"/>
                <a:cs typeface="Inter" pitchFamily="34" charset="-120"/>
              </a:rPr>
              <a:t>DSCR mínimo 1,29x</a:t>
            </a:r>
            <a:endParaRPr lang="en-US" sz="1150" dirty="0"/>
          </a:p>
        </p:txBody>
      </p:sp>
      <p:sp>
        <p:nvSpPr>
          <p:cNvPr id="18" name="Text 13"/>
          <p:cNvSpPr txBox="1"/>
          <p:nvPr/>
        </p:nvSpPr>
        <p:spPr>
          <a:xfrm>
            <a:off x="6327648" y="5806440"/>
            <a:ext cx="2377440" cy="256032"/>
          </a:xfrm>
          <a:prstGeom prst="rect">
            <a:avLst/>
          </a:prstGeom>
          <a:noFill/>
          <a:ln/>
        </p:spPr>
        <p:txBody>
          <a:bodyPr wrap="square" lIns="0" tIns="0" rIns="0" bIns="0" rtlCol="0" anchor="t"/>
          <a:lstStyle/>
          <a:p>
            <a:pPr indent="0" marL="0">
              <a:buNone/>
            </a:pPr>
            <a:r>
              <a:rPr lang="en-US" sz="1150" dirty="0">
                <a:solidFill>
                  <a:srgbClr val="1F2124"/>
                </a:solidFill>
                <a:latin typeface="Inter" pitchFamily="34" charset="0"/>
                <a:ea typeface="Inter" pitchFamily="34" charset="-122"/>
                <a:cs typeface="Inter" pitchFamily="34" charset="-120"/>
              </a:rPr>
              <a:t>Deuda neta / EBITDA 2032: 4,8x</a:t>
            </a:r>
            <a:endParaRPr lang="en-US" sz="1150" dirty="0"/>
          </a:p>
        </p:txBody>
      </p:sp>
      <p:sp>
        <p:nvSpPr>
          <p:cNvPr id="19" name="Shape 14"/>
          <p:cNvSpPr/>
          <p:nvPr/>
        </p:nvSpPr>
        <p:spPr>
          <a:xfrm>
            <a:off x="8942832" y="5166360"/>
            <a:ext cx="2651760" cy="960120"/>
          </a:xfrm>
          <a:prstGeom prst="rect">
            <a:avLst>
              <a:gd name="adj" fmla="val 5714"/>
            </a:avLst>
          </a:prstGeom>
          <a:solidFill>
            <a:srgbClr val="E7EFEA"/>
          </a:solidFill>
          <a:ln/>
        </p:spPr>
      </p:sp>
      <p:sp>
        <p:nvSpPr>
          <p:cNvPr id="20" name="Text 15"/>
          <p:cNvSpPr txBox="1"/>
          <p:nvPr/>
        </p:nvSpPr>
        <p:spPr>
          <a:xfrm>
            <a:off x="9125712" y="5257800"/>
            <a:ext cx="2286000" cy="274320"/>
          </a:xfrm>
          <a:prstGeom prst="rect">
            <a:avLst/>
          </a:prstGeom>
          <a:noFill/>
          <a:ln/>
        </p:spPr>
        <p:txBody>
          <a:bodyPr wrap="square" lIns="0" tIns="0" rIns="0" bIns="0" rtlCol="0" anchor="t"/>
          <a:lstStyle/>
          <a:p>
            <a:pPr indent="0" marL="0">
              <a:buNone/>
            </a:pPr>
            <a:r>
              <a:rPr lang="en-US" sz="1300" b="1" dirty="0">
                <a:solidFill>
                  <a:srgbClr val="8C7A48"/>
                </a:solidFill>
                <a:latin typeface="Inter" pitchFamily="34" charset="0"/>
                <a:ea typeface="Inter" pitchFamily="34" charset="-122"/>
                <a:cs typeface="Inter" pitchFamily="34" charset="-120"/>
              </a:rPr>
              <a:t>Bank (P10)</a:t>
            </a:r>
            <a:endParaRPr lang="en-US" sz="1300" dirty="0"/>
          </a:p>
        </p:txBody>
      </p:sp>
      <p:sp>
        <p:nvSpPr>
          <p:cNvPr id="21" name="Text 16"/>
          <p:cNvSpPr txBox="1"/>
          <p:nvPr/>
        </p:nvSpPr>
        <p:spPr>
          <a:xfrm>
            <a:off x="9125712" y="5550408"/>
            <a:ext cx="2377440" cy="256032"/>
          </a:xfrm>
          <a:prstGeom prst="rect">
            <a:avLst/>
          </a:prstGeom>
          <a:noFill/>
          <a:ln/>
        </p:spPr>
        <p:txBody>
          <a:bodyPr wrap="square" lIns="0" tIns="0" rIns="0" bIns="0" rtlCol="0" anchor="t"/>
          <a:lstStyle/>
          <a:p>
            <a:pPr indent="0" marL="0">
              <a:buNone/>
            </a:pPr>
            <a:r>
              <a:rPr lang="en-US" sz="1150" dirty="0">
                <a:solidFill>
                  <a:srgbClr val="1F2124"/>
                </a:solidFill>
                <a:latin typeface="Inter" pitchFamily="34" charset="0"/>
                <a:ea typeface="Inter" pitchFamily="34" charset="-122"/>
                <a:cs typeface="Inter" pitchFamily="34" charset="-120"/>
              </a:rPr>
              <a:t>DSCR mínimo 1,17x · incumple</a:t>
            </a:r>
            <a:endParaRPr lang="en-US" sz="1150" dirty="0"/>
          </a:p>
        </p:txBody>
      </p:sp>
      <p:sp>
        <p:nvSpPr>
          <p:cNvPr id="22" name="Text 17"/>
          <p:cNvSpPr txBox="1"/>
          <p:nvPr/>
        </p:nvSpPr>
        <p:spPr>
          <a:xfrm>
            <a:off x="9125712" y="5806440"/>
            <a:ext cx="2377440" cy="256032"/>
          </a:xfrm>
          <a:prstGeom prst="rect">
            <a:avLst/>
          </a:prstGeom>
          <a:noFill/>
          <a:ln/>
        </p:spPr>
        <p:txBody>
          <a:bodyPr wrap="square" lIns="0" tIns="0" rIns="0" bIns="0" rtlCol="0" anchor="t"/>
          <a:lstStyle/>
          <a:p>
            <a:pPr indent="0" marL="0">
              <a:buNone/>
            </a:pPr>
            <a:r>
              <a:rPr lang="en-US" sz="1150" dirty="0">
                <a:solidFill>
                  <a:srgbClr val="1F2124"/>
                </a:solidFill>
                <a:latin typeface="Inter" pitchFamily="34" charset="0"/>
                <a:ea typeface="Inter" pitchFamily="34" charset="-122"/>
                <a:cs typeface="Inter" pitchFamily="34" charset="-120"/>
              </a:rPr>
              <a:t>Deuda neta / EBITDA 2032: 5,7x</a:t>
            </a:r>
            <a:endParaRPr lang="en-US" sz="1150" dirty="0"/>
          </a:p>
        </p:txBody>
      </p:sp>
      <p:sp>
        <p:nvSpPr>
          <p:cNvPr id="23" name="Text 18"/>
          <p:cNvSpPr txBox="1"/>
          <p:nvPr/>
        </p:nvSpPr>
        <p:spPr>
          <a:xfrm>
            <a:off x="548640" y="6327648"/>
            <a:ext cx="7863840" cy="228600"/>
          </a:xfrm>
          <a:prstGeom prst="rect">
            <a:avLst/>
          </a:prstGeom>
          <a:noFill/>
          <a:ln/>
        </p:spPr>
        <p:txBody>
          <a:bodyPr wrap="square" lIns="0" tIns="0" rIns="0" bIns="0" rtlCol="0" anchor="t"/>
          <a:lstStyle/>
          <a:p>
            <a:pPr indent="0" marL="0">
              <a:buNone/>
            </a:pPr>
            <a:r>
              <a:rPr lang="en-US" sz="900" dirty="0">
                <a:solidFill>
                  <a:srgbClr val="6E7378"/>
                </a:solidFill>
                <a:latin typeface="Inter" pitchFamily="34" charset="0"/>
                <a:ea typeface="Inter" pitchFamily="34" charset="-122"/>
                <a:cs typeface="Inter" pitchFamily="34" charset="-120"/>
              </a:rPr>
              <a:t>Fuente: modelo LBO definitivo recalculado por escenario (Active Case!F8 = 1 a 4). Salida en 2032 a 19,9x.</a:t>
            </a:r>
            <a:endParaRPr lang="en-US" sz="900" dirty="0"/>
          </a:p>
        </p:txBody>
      </p:sp>
      <p:sp>
        <p:nvSpPr>
          <p:cNvPr id="24" name="Text 19"/>
          <p:cNvSpPr txBox="1"/>
          <p:nvPr/>
        </p:nvSpPr>
        <p:spPr>
          <a:xfrm>
            <a:off x="8595360" y="6327648"/>
            <a:ext cx="3044952" cy="228600"/>
          </a:xfrm>
          <a:prstGeom prst="rect">
            <a:avLst/>
          </a:prstGeom>
          <a:noFill/>
          <a:ln/>
        </p:spPr>
        <p:txBody>
          <a:bodyPr wrap="square" lIns="0" tIns="0" rIns="0" bIns="0" rtlCol="0" anchor="t"/>
          <a:lstStyle/>
          <a:p>
            <a:pPr algn="r" indent="0" marL="0">
              <a:buNone/>
            </a:pPr>
            <a:r>
              <a:rPr lang="en-US" sz="900" dirty="0">
                <a:solidFill>
                  <a:srgbClr val="6E7378"/>
                </a:solidFill>
                <a:latin typeface="Inter" pitchFamily="34" charset="0"/>
                <a:ea typeface="Inter" pitchFamily="34" charset="-122"/>
                <a:cs typeface="Inter" pitchFamily="34" charset="-120"/>
              </a:rPr>
              <a:t>Project Galicia  ·  Estrictamente confidencial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47472"/>
            <a:ext cx="8229600" cy="228600"/>
          </a:xfrm>
          <a:prstGeom prst="rect">
            <a:avLst/>
          </a:prstGeom>
          <a:noFill/>
          <a:ln/>
        </p:spPr>
        <p:txBody>
          <a:bodyPr wrap="square" lIns="0" tIns="0" rIns="0" bIns="0" rtlCol="0" anchor="t"/>
          <a:lstStyle/>
          <a:p>
            <a:pPr indent="0" marL="0">
              <a:buNone/>
            </a:pPr>
            <a:r>
              <a:rPr lang="en-US" sz="1100" b="1" spc="200" kern="0" dirty="0">
                <a:solidFill>
                  <a:srgbClr val="1F4B3F"/>
                </a:solidFill>
                <a:latin typeface="Inter" pitchFamily="34" charset="0"/>
                <a:ea typeface="Inter" pitchFamily="34" charset="-122"/>
                <a:cs typeface="Inter" pitchFamily="34" charset="-120"/>
              </a:rPr>
              <a:t>02  ESTRUCTURA DE LA COMPRA</a:t>
            </a:r>
            <a:endParaRPr lang="en-US" sz="1100" dirty="0"/>
          </a:p>
        </p:txBody>
      </p:sp>
      <p:pic>
        <p:nvPicPr>
          <p:cNvPr id="3" name="Image 0" descr="/tmp/claude-0/-home-claude/8d7de6a3-f167-5c95-8bc2-67944307bfd8/scratchpad/canva/img/HLP_monograma.png">    </p:cNvPr>
          <p:cNvPicPr>
            <a:picLocks noChangeAspect="1"/>
          </p:cNvPicPr>
          <p:nvPr/>
        </p:nvPicPr>
        <p:blipFill>
          <a:blip r:embed="rId1"/>
          <a:stretch>
            <a:fillRect/>
          </a:stretch>
        </p:blipFill>
        <p:spPr>
          <a:xfrm>
            <a:off x="11228832" y="310896"/>
            <a:ext cx="411480" cy="411480"/>
          </a:xfrm>
          <a:prstGeom prst="rect">
            <a:avLst/>
          </a:prstGeom>
        </p:spPr>
      </p:pic>
      <p:sp>
        <p:nvSpPr>
          <p:cNvPr id="4" name="Text 1"/>
          <p:cNvSpPr txBox="1"/>
          <p:nvPr/>
        </p:nvSpPr>
        <p:spPr>
          <a:xfrm>
            <a:off x="548640" y="603504"/>
            <a:ext cx="10515600" cy="822960"/>
          </a:xfrm>
          <a:prstGeom prst="rect">
            <a:avLst/>
          </a:prstGeom>
          <a:noFill/>
          <a:ln/>
        </p:spPr>
        <p:txBody>
          <a:bodyPr wrap="square" lIns="0" tIns="0" rIns="0" bIns="0" rtlCol="0" anchor="t"/>
          <a:lstStyle/>
          <a:p>
            <a:pPr indent="0" marL="0">
              <a:lnSpc>
                <a:spcPct val="95000"/>
              </a:lnSpc>
              <a:buNone/>
            </a:pPr>
            <a:r>
              <a:rPr lang="en-US" sz="2500" dirty="0">
                <a:solidFill>
                  <a:srgbClr val="1A1D21"/>
                </a:solidFill>
                <a:latin typeface="Lora" pitchFamily="34" charset="0"/>
                <a:ea typeface="Lora" pitchFamily="34" charset="-122"/>
                <a:cs typeface="Lora" pitchFamily="34" charset="-120"/>
              </a:rPr>
              <a:t>Compramos el 100% con una OPA de exclusión: es obligatoria y es la única forma de acceder a la caja</a:t>
            </a:r>
            <a:endParaRPr lang="en-US" sz="2500" dirty="0"/>
          </a:p>
        </p:txBody>
      </p:sp>
      <p:pic>
        <p:nvPicPr>
          <p:cNvPr id="5" name="Image 1" descr="/tmp/claude-0/-home-claude/8d7de6a3-f167-5c95-8bc2-67944307bfd8/scratchpad/canva/img/c5_share.png">    </p:cNvPr>
          <p:cNvPicPr>
            <a:picLocks noChangeAspect="1"/>
          </p:cNvPicPr>
          <p:nvPr/>
        </p:nvPicPr>
        <p:blipFill>
          <a:blip r:embed="rId2"/>
          <a:stretch>
            <a:fillRect/>
          </a:stretch>
        </p:blipFill>
        <p:spPr>
          <a:xfrm>
            <a:off x="640080" y="1691640"/>
            <a:ext cx="3017520" cy="3017520"/>
          </a:xfrm>
          <a:prstGeom prst="rect">
            <a:avLst/>
          </a:prstGeom>
        </p:spPr>
      </p:pic>
      <p:sp>
        <p:nvSpPr>
          <p:cNvPr id="6" name="Shape 2"/>
          <p:cNvSpPr/>
          <p:nvPr/>
        </p:nvSpPr>
        <p:spPr>
          <a:xfrm>
            <a:off x="868680" y="4965192"/>
            <a:ext cx="182880" cy="182880"/>
          </a:xfrm>
          <a:prstGeom prst="rect">
            <a:avLst/>
          </a:prstGeom>
          <a:solidFill>
            <a:srgbClr val="1A1D21"/>
          </a:solidFill>
          <a:ln/>
        </p:spPr>
      </p:sp>
      <p:sp>
        <p:nvSpPr>
          <p:cNvPr id="7" name="Text 3"/>
          <p:cNvSpPr txBox="1"/>
          <p:nvPr/>
        </p:nvSpPr>
        <p:spPr>
          <a:xfrm>
            <a:off x="1188720" y="4892040"/>
            <a:ext cx="1737360" cy="329184"/>
          </a:xfrm>
          <a:prstGeom prst="rect">
            <a:avLst/>
          </a:prstGeom>
          <a:noFill/>
          <a:ln/>
        </p:spPr>
        <p:txBody>
          <a:bodyPr wrap="square" lIns="0" tIns="0" rIns="0" bIns="0" rtlCol="0" anchor="ctr"/>
          <a:lstStyle/>
          <a:p>
            <a:pPr indent="0" marL="0">
              <a:buNone/>
            </a:pPr>
            <a:r>
              <a:rPr lang="en-US" sz="1300" dirty="0">
                <a:solidFill>
                  <a:srgbClr val="1F2124"/>
                </a:solidFill>
                <a:latin typeface="Inter" pitchFamily="34" charset="0"/>
                <a:ea typeface="Inter" pitchFamily="34" charset="-122"/>
                <a:cs typeface="Inter" pitchFamily="34" charset="-120"/>
              </a:rPr>
              <a:t>Amancio Ortega</a:t>
            </a:r>
            <a:endParaRPr lang="en-US" sz="1300" dirty="0"/>
          </a:p>
        </p:txBody>
      </p:sp>
      <p:sp>
        <p:nvSpPr>
          <p:cNvPr id="8" name="Text 4"/>
          <p:cNvSpPr txBox="1"/>
          <p:nvPr/>
        </p:nvSpPr>
        <p:spPr>
          <a:xfrm>
            <a:off x="2834640" y="4892040"/>
            <a:ext cx="822960" cy="329184"/>
          </a:xfrm>
          <a:prstGeom prst="rect">
            <a:avLst/>
          </a:prstGeom>
          <a:noFill/>
          <a:ln/>
        </p:spPr>
        <p:txBody>
          <a:bodyPr wrap="square" lIns="0" tIns="0" rIns="0" bIns="0" rtlCol="0" anchor="ctr"/>
          <a:lstStyle/>
          <a:p>
            <a:pPr algn="r" indent="0" marL="0">
              <a:buNone/>
            </a:pPr>
            <a:r>
              <a:rPr lang="en-US" sz="1300" b="1" dirty="0">
                <a:solidFill>
                  <a:srgbClr val="1A1D21"/>
                </a:solidFill>
                <a:latin typeface="Inter" pitchFamily="34" charset="0"/>
                <a:ea typeface="Inter" pitchFamily="34" charset="-122"/>
                <a:cs typeface="Inter" pitchFamily="34" charset="-120"/>
              </a:rPr>
              <a:t>59,3%</a:t>
            </a:r>
            <a:endParaRPr lang="en-US" sz="1300" dirty="0"/>
          </a:p>
        </p:txBody>
      </p:sp>
      <p:sp>
        <p:nvSpPr>
          <p:cNvPr id="9" name="Shape 5"/>
          <p:cNvSpPr/>
          <p:nvPr/>
        </p:nvSpPr>
        <p:spPr>
          <a:xfrm>
            <a:off x="868680" y="5349240"/>
            <a:ext cx="182880" cy="182880"/>
          </a:xfrm>
          <a:prstGeom prst="rect">
            <a:avLst/>
          </a:prstGeom>
          <a:solidFill>
            <a:srgbClr val="1F4B3F"/>
          </a:solidFill>
          <a:ln/>
        </p:spPr>
      </p:sp>
      <p:sp>
        <p:nvSpPr>
          <p:cNvPr id="10" name="Text 6"/>
          <p:cNvSpPr txBox="1"/>
          <p:nvPr/>
        </p:nvSpPr>
        <p:spPr>
          <a:xfrm>
            <a:off x="1188720" y="5276088"/>
            <a:ext cx="1737360" cy="329184"/>
          </a:xfrm>
          <a:prstGeom prst="rect">
            <a:avLst/>
          </a:prstGeom>
          <a:noFill/>
          <a:ln/>
        </p:spPr>
        <p:txBody>
          <a:bodyPr wrap="square" lIns="0" tIns="0" rIns="0" bIns="0" rtlCol="0" anchor="ctr"/>
          <a:lstStyle/>
          <a:p>
            <a:pPr indent="0" marL="0">
              <a:buNone/>
            </a:pPr>
            <a:r>
              <a:rPr lang="en-US" sz="1300" dirty="0">
                <a:solidFill>
                  <a:srgbClr val="1F2124"/>
                </a:solidFill>
                <a:latin typeface="Inter" pitchFamily="34" charset="0"/>
                <a:ea typeface="Inter" pitchFamily="34" charset="-122"/>
                <a:cs typeface="Inter" pitchFamily="34" charset="-120"/>
              </a:rPr>
              <a:t>Sandra Ortega</a:t>
            </a:r>
            <a:endParaRPr lang="en-US" sz="1300" dirty="0"/>
          </a:p>
        </p:txBody>
      </p:sp>
      <p:sp>
        <p:nvSpPr>
          <p:cNvPr id="11" name="Text 7"/>
          <p:cNvSpPr txBox="1"/>
          <p:nvPr/>
        </p:nvSpPr>
        <p:spPr>
          <a:xfrm>
            <a:off x="2834640" y="5276088"/>
            <a:ext cx="822960" cy="329184"/>
          </a:xfrm>
          <a:prstGeom prst="rect">
            <a:avLst/>
          </a:prstGeom>
          <a:noFill/>
          <a:ln/>
        </p:spPr>
        <p:txBody>
          <a:bodyPr wrap="square" lIns="0" tIns="0" rIns="0" bIns="0" rtlCol="0" anchor="ctr"/>
          <a:lstStyle/>
          <a:p>
            <a:pPr algn="r" indent="0" marL="0">
              <a:buNone/>
            </a:pPr>
            <a:r>
              <a:rPr lang="en-US" sz="1300" b="1" dirty="0">
                <a:solidFill>
                  <a:srgbClr val="1A1D21"/>
                </a:solidFill>
                <a:latin typeface="Inter" pitchFamily="34" charset="0"/>
                <a:ea typeface="Inter" pitchFamily="34" charset="-122"/>
                <a:cs typeface="Inter" pitchFamily="34" charset="-120"/>
              </a:rPr>
              <a:t>5,05%</a:t>
            </a:r>
            <a:endParaRPr lang="en-US" sz="1300" dirty="0"/>
          </a:p>
        </p:txBody>
      </p:sp>
      <p:sp>
        <p:nvSpPr>
          <p:cNvPr id="12" name="Shape 8"/>
          <p:cNvSpPr/>
          <p:nvPr/>
        </p:nvSpPr>
        <p:spPr>
          <a:xfrm>
            <a:off x="868680" y="5733288"/>
            <a:ext cx="182880" cy="182880"/>
          </a:xfrm>
          <a:prstGeom prst="rect">
            <a:avLst/>
          </a:prstGeom>
          <a:solidFill>
            <a:srgbClr val="BFC4CA"/>
          </a:solidFill>
          <a:ln/>
        </p:spPr>
      </p:sp>
      <p:sp>
        <p:nvSpPr>
          <p:cNvPr id="13" name="Text 9"/>
          <p:cNvSpPr txBox="1"/>
          <p:nvPr/>
        </p:nvSpPr>
        <p:spPr>
          <a:xfrm>
            <a:off x="1188720" y="5660136"/>
            <a:ext cx="1737360" cy="329184"/>
          </a:xfrm>
          <a:prstGeom prst="rect">
            <a:avLst/>
          </a:prstGeom>
          <a:noFill/>
          <a:ln/>
        </p:spPr>
        <p:txBody>
          <a:bodyPr wrap="square" lIns="0" tIns="0" rIns="0" bIns="0" rtlCol="0" anchor="ctr"/>
          <a:lstStyle/>
          <a:p>
            <a:pPr indent="0" marL="0">
              <a:buNone/>
            </a:pPr>
            <a:r>
              <a:rPr lang="en-US" sz="1300" dirty="0">
                <a:solidFill>
                  <a:srgbClr val="1F2124"/>
                </a:solidFill>
                <a:latin typeface="Inter" pitchFamily="34" charset="0"/>
                <a:ea typeface="Inter" pitchFamily="34" charset="-122"/>
                <a:cs typeface="Inter" pitchFamily="34" charset="-120"/>
              </a:rPr>
              <a:t>Free float</a:t>
            </a:r>
            <a:endParaRPr lang="en-US" sz="1300" dirty="0"/>
          </a:p>
        </p:txBody>
      </p:sp>
      <p:sp>
        <p:nvSpPr>
          <p:cNvPr id="14" name="Text 10"/>
          <p:cNvSpPr txBox="1"/>
          <p:nvPr/>
        </p:nvSpPr>
        <p:spPr>
          <a:xfrm>
            <a:off x="2834640" y="5660136"/>
            <a:ext cx="822960" cy="329184"/>
          </a:xfrm>
          <a:prstGeom prst="rect">
            <a:avLst/>
          </a:prstGeom>
          <a:noFill/>
          <a:ln/>
        </p:spPr>
        <p:txBody>
          <a:bodyPr wrap="square" lIns="0" tIns="0" rIns="0" bIns="0" rtlCol="0" anchor="ctr"/>
          <a:lstStyle/>
          <a:p>
            <a:pPr algn="r" indent="0" marL="0">
              <a:buNone/>
            </a:pPr>
            <a:r>
              <a:rPr lang="en-US" sz="1300" b="1" dirty="0">
                <a:solidFill>
                  <a:srgbClr val="1A1D21"/>
                </a:solidFill>
                <a:latin typeface="Inter" pitchFamily="34" charset="0"/>
                <a:ea typeface="Inter" pitchFamily="34" charset="-122"/>
                <a:cs typeface="Inter" pitchFamily="34" charset="-120"/>
              </a:rPr>
              <a:t>35,65%</a:t>
            </a:r>
            <a:endParaRPr lang="en-US" sz="1300" dirty="0"/>
          </a:p>
        </p:txBody>
      </p:sp>
      <p:sp>
        <p:nvSpPr>
          <p:cNvPr id="15" name="Shape 11"/>
          <p:cNvSpPr/>
          <p:nvPr/>
        </p:nvSpPr>
        <p:spPr>
          <a:xfrm>
            <a:off x="4343400" y="1691640"/>
            <a:ext cx="384048" cy="384048"/>
          </a:xfrm>
          <a:prstGeom prst="rect">
            <a:avLst/>
          </a:prstGeom>
          <a:solidFill>
            <a:srgbClr val="1A1D21"/>
          </a:solidFill>
          <a:ln/>
        </p:spPr>
      </p:sp>
      <p:sp>
        <p:nvSpPr>
          <p:cNvPr id="16" name="Text 12"/>
          <p:cNvSpPr txBox="1"/>
          <p:nvPr/>
        </p:nvSpPr>
        <p:spPr>
          <a:xfrm>
            <a:off x="4343400" y="1700784"/>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1</a:t>
            </a:r>
            <a:endParaRPr lang="en-US" sz="1400" dirty="0"/>
          </a:p>
        </p:txBody>
      </p:sp>
      <p:sp>
        <p:nvSpPr>
          <p:cNvPr id="17" name="Text 13"/>
          <p:cNvSpPr txBox="1"/>
          <p:nvPr/>
        </p:nvSpPr>
        <p:spPr>
          <a:xfrm>
            <a:off x="4892040" y="1645920"/>
            <a:ext cx="6675120" cy="320040"/>
          </a:xfrm>
          <a:prstGeom prst="rect">
            <a:avLst/>
          </a:prstGeom>
          <a:noFill/>
          <a:ln/>
        </p:spPr>
        <p:txBody>
          <a:bodyPr wrap="square" lIns="0" tIns="0" rIns="0" bIns="0" rtlCol="0" anchor="t"/>
          <a:lstStyle/>
          <a:p>
            <a:pPr indent="0" marL="0">
              <a:buNone/>
            </a:pPr>
            <a:r>
              <a:rPr lang="en-US" sz="1500" b="1" dirty="0">
                <a:solidFill>
                  <a:srgbClr val="1A1D21"/>
                </a:solidFill>
                <a:latin typeface="Inter" pitchFamily="34" charset="0"/>
                <a:ea typeface="Inter" pitchFamily="34" charset="-122"/>
                <a:cs typeface="Inter" pitchFamily="34" charset="-120"/>
              </a:rPr>
              <a:t>Es obligatoria</a:t>
            </a:r>
            <a:endParaRPr lang="en-US" sz="1500" dirty="0"/>
          </a:p>
        </p:txBody>
      </p:sp>
      <p:sp>
        <p:nvSpPr>
          <p:cNvPr id="18" name="Text 14"/>
          <p:cNvSpPr txBox="1"/>
          <p:nvPr/>
        </p:nvSpPr>
        <p:spPr>
          <a:xfrm>
            <a:off x="4892040" y="1993392"/>
            <a:ext cx="6720840" cy="685800"/>
          </a:xfrm>
          <a:prstGeom prst="rect">
            <a:avLst/>
          </a:prstGeom>
          <a:noFill/>
          <a:ln/>
        </p:spPr>
        <p:txBody>
          <a:bodyPr wrap="square" lIns="0" tIns="0" rIns="0" bIns="0" rtlCol="0" anchor="t"/>
          <a:lstStyle/>
          <a:p>
            <a:pPr indent="0" marL="0">
              <a:buNone/>
            </a:pPr>
            <a:r>
              <a:rPr lang="en-US" sz="1250" dirty="0">
                <a:solidFill>
                  <a:srgbClr val="1F2124"/>
                </a:solidFill>
                <a:latin typeface="Inter" pitchFamily="34" charset="0"/>
                <a:ea typeface="Inter" pitchFamily="34" charset="-122"/>
                <a:cs typeface="Inter" pitchFamily="34" charset="-120"/>
              </a:rPr>
              <a:t>Quien supera el 30% de una cotizada debe ofrecer comprar el 100% (RD 1066/2007). La OPA de exclusión, además, saca a Inditex de bolsa.</a:t>
            </a:r>
            <a:endParaRPr lang="en-US" sz="1250" dirty="0"/>
          </a:p>
        </p:txBody>
      </p:sp>
      <p:sp>
        <p:nvSpPr>
          <p:cNvPr id="19" name="Shape 15"/>
          <p:cNvSpPr/>
          <p:nvPr/>
        </p:nvSpPr>
        <p:spPr>
          <a:xfrm>
            <a:off x="4343400" y="2807208"/>
            <a:ext cx="384048" cy="384048"/>
          </a:xfrm>
          <a:prstGeom prst="rect">
            <a:avLst/>
          </a:prstGeom>
          <a:solidFill>
            <a:srgbClr val="1A1D21"/>
          </a:solidFill>
          <a:ln/>
        </p:spPr>
      </p:sp>
      <p:sp>
        <p:nvSpPr>
          <p:cNvPr id="20" name="Text 16"/>
          <p:cNvSpPr txBox="1"/>
          <p:nvPr/>
        </p:nvSpPr>
        <p:spPr>
          <a:xfrm>
            <a:off x="4343400" y="2816352"/>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a:t>
            </a:r>
            <a:endParaRPr lang="en-US" sz="1400" dirty="0"/>
          </a:p>
        </p:txBody>
      </p:sp>
      <p:sp>
        <p:nvSpPr>
          <p:cNvPr id="21" name="Text 17"/>
          <p:cNvSpPr txBox="1"/>
          <p:nvPr/>
        </p:nvSpPr>
        <p:spPr>
          <a:xfrm>
            <a:off x="4892040" y="2761488"/>
            <a:ext cx="6675120" cy="320040"/>
          </a:xfrm>
          <a:prstGeom prst="rect">
            <a:avLst/>
          </a:prstGeom>
          <a:noFill/>
          <a:ln/>
        </p:spPr>
        <p:txBody>
          <a:bodyPr wrap="square" lIns="0" tIns="0" rIns="0" bIns="0" rtlCol="0" anchor="t"/>
          <a:lstStyle/>
          <a:p>
            <a:pPr indent="0" marL="0">
              <a:buNone/>
            </a:pPr>
            <a:r>
              <a:rPr lang="en-US" sz="1500" b="1" dirty="0">
                <a:solidFill>
                  <a:srgbClr val="1A1D21"/>
                </a:solidFill>
                <a:latin typeface="Inter" pitchFamily="34" charset="0"/>
                <a:ea typeface="Inter" pitchFamily="34" charset="-122"/>
                <a:cs typeface="Inter" pitchFamily="34" charset="-120"/>
              </a:rPr>
              <a:t>Da acceso a la caja</a:t>
            </a:r>
            <a:endParaRPr lang="en-US" sz="1500" dirty="0"/>
          </a:p>
        </p:txBody>
      </p:sp>
      <p:sp>
        <p:nvSpPr>
          <p:cNvPr id="22" name="Text 18"/>
          <p:cNvSpPr txBox="1"/>
          <p:nvPr/>
        </p:nvSpPr>
        <p:spPr>
          <a:xfrm>
            <a:off x="4892040" y="3108960"/>
            <a:ext cx="6720840" cy="685800"/>
          </a:xfrm>
          <a:prstGeom prst="rect">
            <a:avLst/>
          </a:prstGeom>
          <a:noFill/>
          <a:ln/>
        </p:spPr>
        <p:txBody>
          <a:bodyPr wrap="square" lIns="0" tIns="0" rIns="0" bIns="0" rtlCol="0" anchor="t"/>
          <a:lstStyle/>
          <a:p>
            <a:pPr indent="0" marL="0">
              <a:buNone/>
            </a:pPr>
            <a:r>
              <a:rPr lang="en-US" sz="1250" dirty="0">
                <a:solidFill>
                  <a:srgbClr val="1F2124"/>
                </a:solidFill>
                <a:latin typeface="Inter" pitchFamily="34" charset="0"/>
                <a:ea typeface="Inter" pitchFamily="34" charset="-122"/>
                <a:cs typeface="Inter" pitchFamily="34" charset="-120"/>
              </a:rPr>
              <a:t>Con el 100% (venta forzosa a partir del 90%) Inditex puede pagar dividendos a la BidCo sin minoritarios y fusionarse con ella.</a:t>
            </a:r>
            <a:endParaRPr lang="en-US" sz="1250" dirty="0"/>
          </a:p>
        </p:txBody>
      </p:sp>
      <p:sp>
        <p:nvSpPr>
          <p:cNvPr id="23" name="Shape 19"/>
          <p:cNvSpPr/>
          <p:nvPr/>
        </p:nvSpPr>
        <p:spPr>
          <a:xfrm>
            <a:off x="4343400" y="3922776"/>
            <a:ext cx="384048" cy="384048"/>
          </a:xfrm>
          <a:prstGeom prst="rect">
            <a:avLst/>
          </a:prstGeom>
          <a:solidFill>
            <a:srgbClr val="1A1D21"/>
          </a:solidFill>
          <a:ln/>
        </p:spPr>
      </p:sp>
      <p:sp>
        <p:nvSpPr>
          <p:cNvPr id="24" name="Text 20"/>
          <p:cNvSpPr txBox="1"/>
          <p:nvPr/>
        </p:nvSpPr>
        <p:spPr>
          <a:xfrm>
            <a:off x="4343400" y="3931920"/>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a:t>
            </a:r>
            <a:endParaRPr lang="en-US" sz="1400" dirty="0"/>
          </a:p>
        </p:txBody>
      </p:sp>
      <p:sp>
        <p:nvSpPr>
          <p:cNvPr id="25" name="Text 21"/>
          <p:cNvSpPr txBox="1"/>
          <p:nvPr/>
        </p:nvSpPr>
        <p:spPr>
          <a:xfrm>
            <a:off x="4892040" y="3877056"/>
            <a:ext cx="6675120" cy="320040"/>
          </a:xfrm>
          <a:prstGeom prst="rect">
            <a:avLst/>
          </a:prstGeom>
          <a:noFill/>
          <a:ln/>
        </p:spPr>
        <p:txBody>
          <a:bodyPr wrap="square" lIns="0" tIns="0" rIns="0" bIns="0" rtlCol="0" anchor="t"/>
          <a:lstStyle/>
          <a:p>
            <a:pPr indent="0" marL="0">
              <a:buNone/>
            </a:pPr>
            <a:r>
              <a:rPr lang="en-US" sz="1500" b="1" dirty="0">
                <a:solidFill>
                  <a:srgbClr val="1A1D21"/>
                </a:solidFill>
                <a:latin typeface="Inter" pitchFamily="34" charset="0"/>
                <a:ea typeface="Inter" pitchFamily="34" charset="-122"/>
                <a:cs typeface="Inter" pitchFamily="34" charset="-120"/>
              </a:rPr>
              <a:t>Permite deducir los intereses</a:t>
            </a:r>
            <a:endParaRPr lang="en-US" sz="1500" dirty="0"/>
          </a:p>
        </p:txBody>
      </p:sp>
      <p:sp>
        <p:nvSpPr>
          <p:cNvPr id="26" name="Text 22"/>
          <p:cNvSpPr txBox="1"/>
          <p:nvPr/>
        </p:nvSpPr>
        <p:spPr>
          <a:xfrm>
            <a:off x="4892040" y="4224528"/>
            <a:ext cx="6720840" cy="685800"/>
          </a:xfrm>
          <a:prstGeom prst="rect">
            <a:avLst/>
          </a:prstGeom>
          <a:noFill/>
          <a:ln/>
        </p:spPr>
        <p:txBody>
          <a:bodyPr wrap="square" lIns="0" tIns="0" rIns="0" bIns="0" rtlCol="0" anchor="t"/>
          <a:lstStyle/>
          <a:p>
            <a:pPr indent="0" marL="0">
              <a:buNone/>
            </a:pPr>
            <a:r>
              <a:rPr lang="en-US" sz="1250" dirty="0">
                <a:solidFill>
                  <a:srgbClr val="1F2124"/>
                </a:solidFill>
                <a:latin typeface="Inter" pitchFamily="34" charset="0"/>
                <a:ea typeface="Inter" pitchFamily="34" charset="-122"/>
                <a:cs typeface="Inter" pitchFamily="34" charset="-120"/>
              </a:rPr>
              <a:t>Con más del 75% se forma un grupo fiscal (art. 58 LIS): los intereses de la BidCo se compensan con los beneficios de Inditex.</a:t>
            </a:r>
            <a:endParaRPr lang="en-US" sz="1250" dirty="0"/>
          </a:p>
        </p:txBody>
      </p:sp>
      <p:sp>
        <p:nvSpPr>
          <p:cNvPr id="27" name="Shape 23"/>
          <p:cNvSpPr/>
          <p:nvPr/>
        </p:nvSpPr>
        <p:spPr>
          <a:xfrm>
            <a:off x="4343400" y="5038344"/>
            <a:ext cx="384048" cy="384048"/>
          </a:xfrm>
          <a:prstGeom prst="rect">
            <a:avLst/>
          </a:prstGeom>
          <a:solidFill>
            <a:srgbClr val="1A1D21"/>
          </a:solidFill>
          <a:ln/>
        </p:spPr>
      </p:sp>
      <p:sp>
        <p:nvSpPr>
          <p:cNvPr id="28" name="Text 24"/>
          <p:cNvSpPr txBox="1"/>
          <p:nvPr/>
        </p:nvSpPr>
        <p:spPr>
          <a:xfrm>
            <a:off x="4343400" y="5047488"/>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a:t>
            </a:r>
            <a:endParaRPr lang="en-US" sz="1400" dirty="0"/>
          </a:p>
        </p:txBody>
      </p:sp>
      <p:sp>
        <p:nvSpPr>
          <p:cNvPr id="29" name="Text 25"/>
          <p:cNvSpPr txBox="1"/>
          <p:nvPr/>
        </p:nvSpPr>
        <p:spPr>
          <a:xfrm>
            <a:off x="4892040" y="4992624"/>
            <a:ext cx="6675120" cy="320040"/>
          </a:xfrm>
          <a:prstGeom prst="rect">
            <a:avLst/>
          </a:prstGeom>
          <a:noFill/>
          <a:ln/>
        </p:spPr>
        <p:txBody>
          <a:bodyPr wrap="square" lIns="0" tIns="0" rIns="0" bIns="0" rtlCol="0" anchor="t"/>
          <a:lstStyle/>
          <a:p>
            <a:pPr indent="0" marL="0">
              <a:buNone/>
            </a:pPr>
            <a:r>
              <a:rPr lang="en-US" sz="1500" b="1" dirty="0">
                <a:solidFill>
                  <a:srgbClr val="1A1D21"/>
                </a:solidFill>
                <a:latin typeface="Inter" pitchFamily="34" charset="0"/>
                <a:ea typeface="Inter" pitchFamily="34" charset="-122"/>
                <a:cs typeface="Inter" pitchFamily="34" charset="-120"/>
              </a:rPr>
              <a:t>Precio atractivo para vender</a:t>
            </a:r>
            <a:endParaRPr lang="en-US" sz="1500" dirty="0"/>
          </a:p>
        </p:txBody>
      </p:sp>
      <p:sp>
        <p:nvSpPr>
          <p:cNvPr id="30" name="Text 26"/>
          <p:cNvSpPr txBox="1"/>
          <p:nvPr/>
        </p:nvSpPr>
        <p:spPr>
          <a:xfrm>
            <a:off x="4892040" y="5340096"/>
            <a:ext cx="6720840" cy="685800"/>
          </a:xfrm>
          <a:prstGeom prst="rect">
            <a:avLst/>
          </a:prstGeom>
          <a:noFill/>
          <a:ln/>
        </p:spPr>
        <p:txBody>
          <a:bodyPr wrap="square" lIns="0" tIns="0" rIns="0" bIns="0" rtlCol="0" anchor="t"/>
          <a:lstStyle/>
          <a:p>
            <a:pPr indent="0" marL="0">
              <a:buNone/>
            </a:pPr>
            <a:r>
              <a:rPr lang="en-US" sz="1250" dirty="0">
                <a:solidFill>
                  <a:srgbClr val="1F2124"/>
                </a:solidFill>
                <a:latin typeface="Inter" pitchFamily="34" charset="0"/>
                <a:ea typeface="Inter" pitchFamily="34" charset="-122"/>
                <a:cs typeface="Inter" pitchFamily="34" charset="-120"/>
              </a:rPr>
              <a:t>Prima del 15% sobre €55,42: €63,73 por acción y €198.634m por el 100%, 19,9x el EBITDA pre-IFRS 16.</a:t>
            </a:r>
            <a:endParaRPr lang="en-US" sz="1250" dirty="0"/>
          </a:p>
        </p:txBody>
      </p:sp>
      <p:sp>
        <p:nvSpPr>
          <p:cNvPr id="31" name="Text 27"/>
          <p:cNvSpPr txBox="1"/>
          <p:nvPr/>
        </p:nvSpPr>
        <p:spPr>
          <a:xfrm>
            <a:off x="548640" y="6327648"/>
            <a:ext cx="7863840" cy="228600"/>
          </a:xfrm>
          <a:prstGeom prst="rect">
            <a:avLst/>
          </a:prstGeom>
          <a:noFill/>
          <a:ln/>
        </p:spPr>
        <p:txBody>
          <a:bodyPr wrap="square" lIns="0" tIns="0" rIns="0" bIns="0" rtlCol="0" anchor="t"/>
          <a:lstStyle/>
          <a:p>
            <a:pPr indent="0" marL="0">
              <a:buNone/>
            </a:pPr>
            <a:r>
              <a:rPr lang="en-US" sz="900" dirty="0">
                <a:solidFill>
                  <a:srgbClr val="6E7378"/>
                </a:solidFill>
                <a:latin typeface="Inter" pitchFamily="34" charset="0"/>
                <a:ea typeface="Inter" pitchFamily="34" charset="-122"/>
                <a:cs typeface="Inter" pitchFamily="34" charset="-120"/>
              </a:rPr>
              <a:t>Fuente: modelo LBO definitivo (LBO Summary F9–F17, Checks); RD 1066/2007 de OPAs; Ley 27/2014 (LIS).</a:t>
            </a:r>
            <a:endParaRPr lang="en-US" sz="900" dirty="0"/>
          </a:p>
        </p:txBody>
      </p:sp>
      <p:sp>
        <p:nvSpPr>
          <p:cNvPr id="32" name="Text 28"/>
          <p:cNvSpPr txBox="1"/>
          <p:nvPr/>
        </p:nvSpPr>
        <p:spPr>
          <a:xfrm>
            <a:off x="8595360" y="6327648"/>
            <a:ext cx="3044952" cy="228600"/>
          </a:xfrm>
          <a:prstGeom prst="rect">
            <a:avLst/>
          </a:prstGeom>
          <a:noFill/>
          <a:ln/>
        </p:spPr>
        <p:txBody>
          <a:bodyPr wrap="square" lIns="0" tIns="0" rIns="0" bIns="0" rtlCol="0" anchor="t"/>
          <a:lstStyle/>
          <a:p>
            <a:pPr algn="r" indent="0" marL="0">
              <a:buNone/>
            </a:pPr>
            <a:r>
              <a:rPr lang="en-US" sz="900" dirty="0">
                <a:solidFill>
                  <a:srgbClr val="6E7378"/>
                </a:solidFill>
                <a:latin typeface="Inter" pitchFamily="34" charset="0"/>
                <a:ea typeface="Inter" pitchFamily="34" charset="-122"/>
                <a:cs typeface="Inter" pitchFamily="34" charset="-120"/>
              </a:rPr>
              <a:t>Project Galicia  ·  Estrictamente confidencial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47472"/>
            <a:ext cx="8229600" cy="228600"/>
          </a:xfrm>
          <a:prstGeom prst="rect">
            <a:avLst/>
          </a:prstGeom>
          <a:noFill/>
          <a:ln/>
        </p:spPr>
        <p:txBody>
          <a:bodyPr wrap="square" lIns="0" tIns="0" rIns="0" bIns="0" rtlCol="0" anchor="t"/>
          <a:lstStyle/>
          <a:p>
            <a:pPr indent="0" marL="0">
              <a:buNone/>
            </a:pPr>
            <a:r>
              <a:rPr lang="en-US" sz="1100" b="1" spc="200" kern="0" dirty="0">
                <a:solidFill>
                  <a:srgbClr val="1F4B3F"/>
                </a:solidFill>
                <a:latin typeface="Inter" pitchFamily="34" charset="0"/>
                <a:ea typeface="Inter" pitchFamily="34" charset="-122"/>
                <a:cs typeface="Inter" pitchFamily="34" charset="-120"/>
              </a:rPr>
              <a:t>02  ESTRUCTURA DE LA COMPRA</a:t>
            </a:r>
            <a:endParaRPr lang="en-US" sz="1100" dirty="0"/>
          </a:p>
        </p:txBody>
      </p:sp>
      <p:pic>
        <p:nvPicPr>
          <p:cNvPr id="3" name="Image 0" descr="/tmp/claude-0/-home-claude/8d7de6a3-f167-5c95-8bc2-67944307bfd8/scratchpad/canva/img/HLP_monograma.png">    </p:cNvPr>
          <p:cNvPicPr>
            <a:picLocks noChangeAspect="1"/>
          </p:cNvPicPr>
          <p:nvPr/>
        </p:nvPicPr>
        <p:blipFill>
          <a:blip r:embed="rId1"/>
          <a:stretch>
            <a:fillRect/>
          </a:stretch>
        </p:blipFill>
        <p:spPr>
          <a:xfrm>
            <a:off x="11228832" y="310896"/>
            <a:ext cx="411480" cy="411480"/>
          </a:xfrm>
          <a:prstGeom prst="rect">
            <a:avLst/>
          </a:prstGeom>
        </p:spPr>
      </p:pic>
      <p:sp>
        <p:nvSpPr>
          <p:cNvPr id="4" name="Text 1"/>
          <p:cNvSpPr txBox="1"/>
          <p:nvPr/>
        </p:nvSpPr>
        <p:spPr>
          <a:xfrm>
            <a:off x="548640" y="603504"/>
            <a:ext cx="10515600" cy="822960"/>
          </a:xfrm>
          <a:prstGeom prst="rect">
            <a:avLst/>
          </a:prstGeom>
          <a:noFill/>
          <a:ln/>
        </p:spPr>
        <p:txBody>
          <a:bodyPr wrap="square" lIns="0" tIns="0" rIns="0" bIns="0" rtlCol="0" anchor="t"/>
          <a:lstStyle/>
          <a:p>
            <a:pPr indent="0" marL="0">
              <a:lnSpc>
                <a:spcPct val="95000"/>
              </a:lnSpc>
              <a:buNone/>
            </a:pPr>
            <a:r>
              <a:rPr lang="en-US" sz="2500" dirty="0">
                <a:solidFill>
                  <a:srgbClr val="1A1D21"/>
                </a:solidFill>
                <a:latin typeface="Lora" pitchFamily="34" charset="0"/>
                <a:ea typeface="Lora" pitchFamily="34" charset="-122"/>
                <a:cs typeface="Lora" pitchFamily="34" charset="-120"/>
              </a:rPr>
              <a:t>Cinco limitaciones condicionaron el diseño de la operación</a:t>
            </a:r>
            <a:endParaRPr lang="en-US" sz="2500" dirty="0"/>
          </a:p>
        </p:txBody>
      </p:sp>
      <p:sp>
        <p:nvSpPr>
          <p:cNvPr id="5" name="Shape 2"/>
          <p:cNvSpPr/>
          <p:nvPr/>
        </p:nvSpPr>
        <p:spPr>
          <a:xfrm>
            <a:off x="548640" y="1600200"/>
            <a:ext cx="11091672" cy="786384"/>
          </a:xfrm>
          <a:prstGeom prst="rect">
            <a:avLst>
              <a:gd name="adj" fmla="val 6977"/>
            </a:avLst>
          </a:prstGeom>
          <a:solidFill>
            <a:srgbClr val="F3F3F2"/>
          </a:solidFill>
          <a:ln/>
        </p:spPr>
      </p:sp>
      <p:sp>
        <p:nvSpPr>
          <p:cNvPr id="6" name="Shape 3"/>
          <p:cNvSpPr/>
          <p:nvPr/>
        </p:nvSpPr>
        <p:spPr>
          <a:xfrm>
            <a:off x="731520" y="1801368"/>
            <a:ext cx="384048" cy="384048"/>
          </a:xfrm>
          <a:prstGeom prst="rect">
            <a:avLst/>
          </a:prstGeom>
          <a:solidFill>
            <a:srgbClr val="1F4B3F"/>
          </a:solidFill>
          <a:ln/>
        </p:spPr>
      </p:sp>
      <p:sp>
        <p:nvSpPr>
          <p:cNvPr id="7" name="Text 4"/>
          <p:cNvSpPr txBox="1"/>
          <p:nvPr/>
        </p:nvSpPr>
        <p:spPr>
          <a:xfrm>
            <a:off x="731520" y="1810512"/>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1</a:t>
            </a:r>
            <a:endParaRPr lang="en-US" sz="1400" dirty="0"/>
          </a:p>
        </p:txBody>
      </p:sp>
      <p:sp>
        <p:nvSpPr>
          <p:cNvPr id="8" name="Text 5"/>
          <p:cNvSpPr txBox="1"/>
          <p:nvPr/>
        </p:nvSpPr>
        <p:spPr>
          <a:xfrm>
            <a:off x="1280160" y="1691640"/>
            <a:ext cx="2514600" cy="603504"/>
          </a:xfrm>
          <a:prstGeom prst="rect">
            <a:avLst/>
          </a:prstGeom>
          <a:noFill/>
          <a:ln/>
        </p:spPr>
        <p:txBody>
          <a:bodyPr wrap="square" lIns="0" tIns="0" rIns="0" bIns="0" rtlCol="0" anchor="ctr"/>
          <a:lstStyle/>
          <a:p>
            <a:pPr indent="0" marL="0">
              <a:buNone/>
            </a:pPr>
            <a:r>
              <a:rPr lang="en-US" sz="1400" b="1" dirty="0">
                <a:solidFill>
                  <a:srgbClr val="1A1D21"/>
                </a:solidFill>
                <a:latin typeface="Inter" pitchFamily="34" charset="0"/>
                <a:ea typeface="Inter" pitchFamily="34" charset="-122"/>
                <a:cs typeface="Inter" pitchFamily="34" charset="-120"/>
              </a:rPr>
              <a:t>Tamaño</a:t>
            </a:r>
            <a:endParaRPr lang="en-US" sz="1400" dirty="0"/>
          </a:p>
        </p:txBody>
      </p:sp>
      <p:sp>
        <p:nvSpPr>
          <p:cNvPr id="9" name="Text 6"/>
          <p:cNvSpPr txBox="1"/>
          <p:nvPr/>
        </p:nvSpPr>
        <p:spPr>
          <a:xfrm>
            <a:off x="3886200" y="1691640"/>
            <a:ext cx="4434840" cy="603504"/>
          </a:xfrm>
          <a:prstGeom prst="rect">
            <a:avLst/>
          </a:prstGeom>
          <a:noFill/>
          <a:ln/>
        </p:spPr>
        <p:txBody>
          <a:bodyPr wrap="square" lIns="0" tIns="0" rIns="0" bIns="0" rtlCol="0" anchor="ctr"/>
          <a:lstStyle/>
          <a:p>
            <a:pPr indent="0" marL="0">
              <a:buNone/>
            </a:pPr>
            <a:r>
              <a:rPr lang="en-US" sz="1200" dirty="0">
                <a:solidFill>
                  <a:srgbClr val="1F2124"/>
                </a:solidFill>
                <a:latin typeface="Inter" pitchFamily="34" charset="0"/>
                <a:ea typeface="Inter" pitchFamily="34" charset="-122"/>
                <a:cs typeface="Inter" pitchFamily="34" charset="-120"/>
              </a:rPr>
              <a:t>€198.634m de equity: sería el mayor LBO de la historia. Ningún fondo ni banco puede asumirlo solo.</a:t>
            </a:r>
            <a:endParaRPr lang="en-US" sz="1200" dirty="0"/>
          </a:p>
        </p:txBody>
      </p:sp>
      <p:sp>
        <p:nvSpPr>
          <p:cNvPr id="10" name="Text 7"/>
          <p:cNvSpPr txBox="1"/>
          <p:nvPr/>
        </p:nvSpPr>
        <p:spPr>
          <a:xfrm>
            <a:off x="8458200" y="1691640"/>
            <a:ext cx="3063240" cy="603504"/>
          </a:xfrm>
          <a:prstGeom prst="rect">
            <a:avLst/>
          </a:prstGeom>
          <a:noFill/>
          <a:ln/>
        </p:spPr>
        <p:txBody>
          <a:bodyPr wrap="square" lIns="0" tIns="0" rIns="0" bIns="0" rtlCol="0" anchor="ctr"/>
          <a:lstStyle/>
          <a:p>
            <a:pPr indent="0" marL="0">
              <a:buNone/>
            </a:pPr>
            <a:r>
              <a:rPr lang="en-US" sz="1200" b="1" dirty="0">
                <a:solidFill>
                  <a:srgbClr val="1F4B3F"/>
                </a:solidFill>
                <a:latin typeface="Inter" pitchFamily="34" charset="0"/>
                <a:ea typeface="Inter" pitchFamily="34" charset="-122"/>
                <a:cs typeface="Inter" pitchFamily="34" charset="-120"/>
              </a:rPr>
              <a:t>→  Consorcio de PE con co-inversores y deuda sindicada</a:t>
            </a:r>
            <a:endParaRPr lang="en-US" sz="1200" dirty="0"/>
          </a:p>
        </p:txBody>
      </p:sp>
      <p:sp>
        <p:nvSpPr>
          <p:cNvPr id="11" name="Shape 8"/>
          <p:cNvSpPr/>
          <p:nvPr/>
        </p:nvSpPr>
        <p:spPr>
          <a:xfrm>
            <a:off x="548640" y="2496312"/>
            <a:ext cx="11091672" cy="786384"/>
          </a:xfrm>
          <a:prstGeom prst="rect">
            <a:avLst>
              <a:gd name="adj" fmla="val 6977"/>
            </a:avLst>
          </a:prstGeom>
          <a:solidFill>
            <a:srgbClr val="FFFFFF"/>
          </a:solidFill>
          <a:ln w="12700">
            <a:solidFill>
              <a:srgbClr val="D9D9D6"/>
            </a:solidFill>
            <a:prstDash val="solid"/>
          </a:ln>
        </p:spPr>
      </p:sp>
      <p:sp>
        <p:nvSpPr>
          <p:cNvPr id="12" name="Shape 9"/>
          <p:cNvSpPr/>
          <p:nvPr/>
        </p:nvSpPr>
        <p:spPr>
          <a:xfrm>
            <a:off x="731520" y="2697480"/>
            <a:ext cx="384048" cy="384048"/>
          </a:xfrm>
          <a:prstGeom prst="rect">
            <a:avLst/>
          </a:prstGeom>
          <a:solidFill>
            <a:srgbClr val="1F4B3F"/>
          </a:solidFill>
          <a:ln/>
        </p:spPr>
      </p:sp>
      <p:sp>
        <p:nvSpPr>
          <p:cNvPr id="13" name="Text 10"/>
          <p:cNvSpPr txBox="1"/>
          <p:nvPr/>
        </p:nvSpPr>
        <p:spPr>
          <a:xfrm>
            <a:off x="731520" y="2706624"/>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a:t>
            </a:r>
            <a:endParaRPr lang="en-US" sz="1400" dirty="0"/>
          </a:p>
        </p:txBody>
      </p:sp>
      <p:sp>
        <p:nvSpPr>
          <p:cNvPr id="14" name="Text 11"/>
          <p:cNvSpPr txBox="1"/>
          <p:nvPr/>
        </p:nvSpPr>
        <p:spPr>
          <a:xfrm>
            <a:off x="1280160" y="2587752"/>
            <a:ext cx="2514600" cy="603504"/>
          </a:xfrm>
          <a:prstGeom prst="rect">
            <a:avLst/>
          </a:prstGeom>
          <a:noFill/>
          <a:ln/>
        </p:spPr>
        <p:txBody>
          <a:bodyPr wrap="square" lIns="0" tIns="0" rIns="0" bIns="0" rtlCol="0" anchor="ctr"/>
          <a:lstStyle/>
          <a:p>
            <a:pPr indent="0" marL="0">
              <a:buNone/>
            </a:pPr>
            <a:r>
              <a:rPr lang="en-US" sz="1400" b="1" dirty="0">
                <a:solidFill>
                  <a:srgbClr val="1A1D21"/>
                </a:solidFill>
                <a:latin typeface="Inter" pitchFamily="34" charset="0"/>
                <a:ea typeface="Inter" pitchFamily="34" charset="-122"/>
                <a:cs typeface="Inter" pitchFamily="34" charset="-120"/>
              </a:rPr>
              <a:t>Control de Amancio Ortega</a:t>
            </a:r>
            <a:endParaRPr lang="en-US" sz="1400" dirty="0"/>
          </a:p>
        </p:txBody>
      </p:sp>
      <p:sp>
        <p:nvSpPr>
          <p:cNvPr id="15" name="Text 12"/>
          <p:cNvSpPr txBox="1"/>
          <p:nvPr/>
        </p:nvSpPr>
        <p:spPr>
          <a:xfrm>
            <a:off x="3886200" y="2587752"/>
            <a:ext cx="4434840" cy="603504"/>
          </a:xfrm>
          <a:prstGeom prst="rect">
            <a:avLst/>
          </a:prstGeom>
          <a:noFill/>
          <a:ln/>
        </p:spPr>
        <p:txBody>
          <a:bodyPr wrap="square" lIns="0" tIns="0" rIns="0" bIns="0" rtlCol="0" anchor="ctr"/>
          <a:lstStyle/>
          <a:p>
            <a:pPr indent="0" marL="0">
              <a:buNone/>
            </a:pPr>
            <a:r>
              <a:rPr lang="en-US" sz="1200" dirty="0">
                <a:solidFill>
                  <a:srgbClr val="1F2124"/>
                </a:solidFill>
                <a:latin typeface="Inter" pitchFamily="34" charset="0"/>
                <a:ea typeface="Inter" pitchFamily="34" charset="-122"/>
                <a:cs typeface="Inter" pitchFamily="34" charset="-120"/>
              </a:rPr>
              <a:t>Tiene el 59,3%: sin su acuerdo no hay operación.</a:t>
            </a:r>
            <a:endParaRPr lang="en-US" sz="1200" dirty="0"/>
          </a:p>
        </p:txBody>
      </p:sp>
      <p:sp>
        <p:nvSpPr>
          <p:cNvPr id="16" name="Text 13"/>
          <p:cNvSpPr txBox="1"/>
          <p:nvPr/>
        </p:nvSpPr>
        <p:spPr>
          <a:xfrm>
            <a:off x="8458200" y="2587752"/>
            <a:ext cx="3063240" cy="603504"/>
          </a:xfrm>
          <a:prstGeom prst="rect">
            <a:avLst/>
          </a:prstGeom>
          <a:noFill/>
          <a:ln/>
        </p:spPr>
        <p:txBody>
          <a:bodyPr wrap="square" lIns="0" tIns="0" rIns="0" bIns="0" rtlCol="0" anchor="ctr"/>
          <a:lstStyle/>
          <a:p>
            <a:pPr indent="0" marL="0">
              <a:buNone/>
            </a:pPr>
            <a:r>
              <a:rPr lang="en-US" sz="1200" b="1" dirty="0">
                <a:solidFill>
                  <a:srgbClr val="1F4B3F"/>
                </a:solidFill>
                <a:latin typeface="Inter" pitchFamily="34" charset="0"/>
                <a:ea typeface="Inter" pitchFamily="34" charset="-122"/>
                <a:cs typeface="Inter" pitchFamily="34" charset="-120"/>
              </a:rPr>
              <a:t>→  Rollover del 25% de Inditex en la TopCo</a:t>
            </a:r>
            <a:endParaRPr lang="en-US" sz="1200" dirty="0"/>
          </a:p>
        </p:txBody>
      </p:sp>
      <p:sp>
        <p:nvSpPr>
          <p:cNvPr id="17" name="Shape 14"/>
          <p:cNvSpPr/>
          <p:nvPr/>
        </p:nvSpPr>
        <p:spPr>
          <a:xfrm>
            <a:off x="548640" y="3392424"/>
            <a:ext cx="11091672" cy="786384"/>
          </a:xfrm>
          <a:prstGeom prst="rect">
            <a:avLst>
              <a:gd name="adj" fmla="val 6977"/>
            </a:avLst>
          </a:prstGeom>
          <a:solidFill>
            <a:srgbClr val="F3F3F2"/>
          </a:solidFill>
          <a:ln/>
        </p:spPr>
      </p:sp>
      <p:sp>
        <p:nvSpPr>
          <p:cNvPr id="18" name="Shape 15"/>
          <p:cNvSpPr/>
          <p:nvPr/>
        </p:nvSpPr>
        <p:spPr>
          <a:xfrm>
            <a:off x="731520" y="3593592"/>
            <a:ext cx="384048" cy="384048"/>
          </a:xfrm>
          <a:prstGeom prst="rect">
            <a:avLst/>
          </a:prstGeom>
          <a:solidFill>
            <a:srgbClr val="1F4B3F"/>
          </a:solidFill>
          <a:ln/>
        </p:spPr>
      </p:sp>
      <p:sp>
        <p:nvSpPr>
          <p:cNvPr id="19" name="Text 16"/>
          <p:cNvSpPr txBox="1"/>
          <p:nvPr/>
        </p:nvSpPr>
        <p:spPr>
          <a:xfrm>
            <a:off x="731520" y="3602736"/>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a:t>
            </a:r>
            <a:endParaRPr lang="en-US" sz="1400" dirty="0"/>
          </a:p>
        </p:txBody>
      </p:sp>
      <p:sp>
        <p:nvSpPr>
          <p:cNvPr id="20" name="Text 17"/>
          <p:cNvSpPr txBox="1"/>
          <p:nvPr/>
        </p:nvSpPr>
        <p:spPr>
          <a:xfrm>
            <a:off x="1280160" y="3483864"/>
            <a:ext cx="2514600" cy="603504"/>
          </a:xfrm>
          <a:prstGeom prst="rect">
            <a:avLst/>
          </a:prstGeom>
          <a:noFill/>
          <a:ln/>
        </p:spPr>
        <p:txBody>
          <a:bodyPr wrap="square" lIns="0" tIns="0" rIns="0" bIns="0" rtlCol="0" anchor="ctr"/>
          <a:lstStyle/>
          <a:p>
            <a:pPr indent="0" marL="0">
              <a:buNone/>
            </a:pPr>
            <a:r>
              <a:rPr lang="en-US" sz="1400" b="1" dirty="0">
                <a:solidFill>
                  <a:srgbClr val="1A1D21"/>
                </a:solidFill>
                <a:latin typeface="Inter" pitchFamily="34" charset="0"/>
                <a:ea typeface="Inter" pitchFamily="34" charset="-122"/>
                <a:cs typeface="Inter" pitchFamily="34" charset="-120"/>
              </a:rPr>
              <a:t>Precio de entrada</a:t>
            </a:r>
            <a:endParaRPr lang="en-US" sz="1400" dirty="0"/>
          </a:p>
        </p:txBody>
      </p:sp>
      <p:sp>
        <p:nvSpPr>
          <p:cNvPr id="21" name="Text 18"/>
          <p:cNvSpPr txBox="1"/>
          <p:nvPr/>
        </p:nvSpPr>
        <p:spPr>
          <a:xfrm>
            <a:off x="3886200" y="3483864"/>
            <a:ext cx="4434840" cy="603504"/>
          </a:xfrm>
          <a:prstGeom prst="rect">
            <a:avLst/>
          </a:prstGeom>
          <a:noFill/>
          <a:ln/>
        </p:spPr>
        <p:txBody>
          <a:bodyPr wrap="square" lIns="0" tIns="0" rIns="0" bIns="0" rtlCol="0" anchor="ctr"/>
          <a:lstStyle/>
          <a:p>
            <a:pPr indent="0" marL="0">
              <a:buNone/>
            </a:pPr>
            <a:r>
              <a:rPr lang="en-US" sz="1200" dirty="0">
                <a:solidFill>
                  <a:srgbClr val="1F2124"/>
                </a:solidFill>
                <a:latin typeface="Inter" pitchFamily="34" charset="0"/>
                <a:ea typeface="Inter" pitchFamily="34" charset="-122"/>
                <a:cs typeface="Inter" pitchFamily="34" charset="-120"/>
              </a:rPr>
              <a:t>Pagamos 19,9x EBITDA: la rentabilidad depende del crecimiento, no de la deuda.</a:t>
            </a:r>
            <a:endParaRPr lang="en-US" sz="1200" dirty="0"/>
          </a:p>
        </p:txBody>
      </p:sp>
      <p:sp>
        <p:nvSpPr>
          <p:cNvPr id="22" name="Text 19"/>
          <p:cNvSpPr txBox="1"/>
          <p:nvPr/>
        </p:nvSpPr>
        <p:spPr>
          <a:xfrm>
            <a:off x="8458200" y="3483864"/>
            <a:ext cx="3063240" cy="603504"/>
          </a:xfrm>
          <a:prstGeom prst="rect">
            <a:avLst/>
          </a:prstGeom>
          <a:noFill/>
          <a:ln/>
        </p:spPr>
        <p:txBody>
          <a:bodyPr wrap="square" lIns="0" tIns="0" rIns="0" bIns="0" rtlCol="0" anchor="ctr"/>
          <a:lstStyle/>
          <a:p>
            <a:pPr indent="0" marL="0">
              <a:buNone/>
            </a:pPr>
            <a:r>
              <a:rPr lang="en-US" sz="1200" b="1" dirty="0">
                <a:solidFill>
                  <a:srgbClr val="1F4B3F"/>
                </a:solidFill>
                <a:latin typeface="Inter" pitchFamily="34" charset="0"/>
                <a:ea typeface="Inter" pitchFamily="34" charset="-122"/>
                <a:cs typeface="Inter" pitchFamily="34" charset="-120"/>
              </a:rPr>
              <a:t>→  Deuda limitada a lo que la caja puede pagar (8,2x)</a:t>
            </a:r>
            <a:endParaRPr lang="en-US" sz="1200" dirty="0"/>
          </a:p>
        </p:txBody>
      </p:sp>
      <p:sp>
        <p:nvSpPr>
          <p:cNvPr id="23" name="Shape 20"/>
          <p:cNvSpPr/>
          <p:nvPr/>
        </p:nvSpPr>
        <p:spPr>
          <a:xfrm>
            <a:off x="548640" y="4288536"/>
            <a:ext cx="11091672" cy="786384"/>
          </a:xfrm>
          <a:prstGeom prst="rect">
            <a:avLst>
              <a:gd name="adj" fmla="val 6977"/>
            </a:avLst>
          </a:prstGeom>
          <a:solidFill>
            <a:srgbClr val="FFFFFF"/>
          </a:solidFill>
          <a:ln w="12700">
            <a:solidFill>
              <a:srgbClr val="D9D9D6"/>
            </a:solidFill>
            <a:prstDash val="solid"/>
          </a:ln>
        </p:spPr>
      </p:sp>
      <p:sp>
        <p:nvSpPr>
          <p:cNvPr id="24" name="Shape 21"/>
          <p:cNvSpPr/>
          <p:nvPr/>
        </p:nvSpPr>
        <p:spPr>
          <a:xfrm>
            <a:off x="731520" y="4489704"/>
            <a:ext cx="384048" cy="384048"/>
          </a:xfrm>
          <a:prstGeom prst="rect">
            <a:avLst/>
          </a:prstGeom>
          <a:solidFill>
            <a:srgbClr val="1F4B3F"/>
          </a:solidFill>
          <a:ln/>
        </p:spPr>
      </p:sp>
      <p:sp>
        <p:nvSpPr>
          <p:cNvPr id="25" name="Text 22"/>
          <p:cNvSpPr txBox="1"/>
          <p:nvPr/>
        </p:nvSpPr>
        <p:spPr>
          <a:xfrm>
            <a:off x="731520" y="4498848"/>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a:t>
            </a:r>
            <a:endParaRPr lang="en-US" sz="1400" dirty="0"/>
          </a:p>
        </p:txBody>
      </p:sp>
      <p:sp>
        <p:nvSpPr>
          <p:cNvPr id="26" name="Text 23"/>
          <p:cNvSpPr txBox="1"/>
          <p:nvPr/>
        </p:nvSpPr>
        <p:spPr>
          <a:xfrm>
            <a:off x="1280160" y="4379976"/>
            <a:ext cx="2514600" cy="603504"/>
          </a:xfrm>
          <a:prstGeom prst="rect">
            <a:avLst/>
          </a:prstGeom>
          <a:noFill/>
          <a:ln/>
        </p:spPr>
        <p:txBody>
          <a:bodyPr wrap="square" lIns="0" tIns="0" rIns="0" bIns="0" rtlCol="0" anchor="ctr"/>
          <a:lstStyle/>
          <a:p>
            <a:pPr indent="0" marL="0">
              <a:buNone/>
            </a:pPr>
            <a:r>
              <a:rPr lang="en-US" sz="1400" b="1" dirty="0">
                <a:solidFill>
                  <a:srgbClr val="1A1D21"/>
                </a:solidFill>
                <a:latin typeface="Inter" pitchFamily="34" charset="0"/>
                <a:ea typeface="Inter" pitchFamily="34" charset="-122"/>
                <a:cs typeface="Inter" pitchFamily="34" charset="-120"/>
              </a:rPr>
              <a:t>Límites fiscales</a:t>
            </a:r>
            <a:endParaRPr lang="en-US" sz="1400" dirty="0"/>
          </a:p>
        </p:txBody>
      </p:sp>
      <p:sp>
        <p:nvSpPr>
          <p:cNvPr id="27" name="Text 24"/>
          <p:cNvSpPr txBox="1"/>
          <p:nvPr/>
        </p:nvSpPr>
        <p:spPr>
          <a:xfrm>
            <a:off x="3886200" y="4379976"/>
            <a:ext cx="4434840" cy="603504"/>
          </a:xfrm>
          <a:prstGeom prst="rect">
            <a:avLst/>
          </a:prstGeom>
          <a:noFill/>
          <a:ln/>
        </p:spPr>
        <p:txBody>
          <a:bodyPr wrap="square" lIns="0" tIns="0" rIns="0" bIns="0" rtlCol="0" anchor="ctr"/>
          <a:lstStyle/>
          <a:p>
            <a:pPr indent="0" marL="0">
              <a:buNone/>
            </a:pPr>
            <a:r>
              <a:rPr lang="en-US" sz="1200" dirty="0">
                <a:solidFill>
                  <a:srgbClr val="1F2124"/>
                </a:solidFill>
                <a:latin typeface="Inter" pitchFamily="34" charset="0"/>
                <a:ea typeface="Inter" pitchFamily="34" charset="-122"/>
                <a:cs typeface="Inter" pitchFamily="34" charset="-120"/>
              </a:rPr>
              <a:t>Intereses deducibles hasta el 30% del EBITDA (art. 16.1 LIS); deuda de adquisición ≤70% del precio (art. 16.5).</a:t>
            </a:r>
            <a:endParaRPr lang="en-US" sz="1200" dirty="0"/>
          </a:p>
        </p:txBody>
      </p:sp>
      <p:sp>
        <p:nvSpPr>
          <p:cNvPr id="28" name="Text 25"/>
          <p:cNvSpPr txBox="1"/>
          <p:nvPr/>
        </p:nvSpPr>
        <p:spPr>
          <a:xfrm>
            <a:off x="8458200" y="4379976"/>
            <a:ext cx="3063240" cy="603504"/>
          </a:xfrm>
          <a:prstGeom prst="rect">
            <a:avLst/>
          </a:prstGeom>
          <a:noFill/>
          <a:ln/>
        </p:spPr>
        <p:txBody>
          <a:bodyPr wrap="square" lIns="0" tIns="0" rIns="0" bIns="0" rtlCol="0" anchor="ctr"/>
          <a:lstStyle/>
          <a:p>
            <a:pPr indent="0" marL="0">
              <a:buNone/>
            </a:pPr>
            <a:r>
              <a:rPr lang="en-US" sz="1200" b="1" dirty="0">
                <a:solidFill>
                  <a:srgbClr val="1F4B3F"/>
                </a:solidFill>
                <a:latin typeface="Inter" pitchFamily="34" charset="0"/>
                <a:ea typeface="Inter" pitchFamily="34" charset="-122"/>
                <a:cs typeface="Inter" pitchFamily="34" charset="-120"/>
              </a:rPr>
              <a:t>→  Deuda de adquisición del 38,7% del precio</a:t>
            </a:r>
            <a:endParaRPr lang="en-US" sz="1200" dirty="0"/>
          </a:p>
        </p:txBody>
      </p:sp>
      <p:sp>
        <p:nvSpPr>
          <p:cNvPr id="29" name="Shape 26"/>
          <p:cNvSpPr/>
          <p:nvPr/>
        </p:nvSpPr>
        <p:spPr>
          <a:xfrm>
            <a:off x="548640" y="5184648"/>
            <a:ext cx="11091672" cy="786384"/>
          </a:xfrm>
          <a:prstGeom prst="rect">
            <a:avLst>
              <a:gd name="adj" fmla="val 6977"/>
            </a:avLst>
          </a:prstGeom>
          <a:solidFill>
            <a:srgbClr val="F3F3F2"/>
          </a:solidFill>
          <a:ln/>
        </p:spPr>
      </p:sp>
      <p:sp>
        <p:nvSpPr>
          <p:cNvPr id="30" name="Shape 27"/>
          <p:cNvSpPr/>
          <p:nvPr/>
        </p:nvSpPr>
        <p:spPr>
          <a:xfrm>
            <a:off x="731520" y="5385816"/>
            <a:ext cx="384048" cy="384048"/>
          </a:xfrm>
          <a:prstGeom prst="rect">
            <a:avLst/>
          </a:prstGeom>
          <a:solidFill>
            <a:srgbClr val="1F4B3F"/>
          </a:solidFill>
          <a:ln/>
        </p:spPr>
      </p:sp>
      <p:sp>
        <p:nvSpPr>
          <p:cNvPr id="31" name="Text 28"/>
          <p:cNvSpPr txBox="1"/>
          <p:nvPr/>
        </p:nvSpPr>
        <p:spPr>
          <a:xfrm>
            <a:off x="731520" y="5394960"/>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a:t>
            </a:r>
            <a:endParaRPr lang="en-US" sz="1400" dirty="0"/>
          </a:p>
        </p:txBody>
      </p:sp>
      <p:sp>
        <p:nvSpPr>
          <p:cNvPr id="32" name="Text 29"/>
          <p:cNvSpPr txBox="1"/>
          <p:nvPr/>
        </p:nvSpPr>
        <p:spPr>
          <a:xfrm>
            <a:off x="1280160" y="5276088"/>
            <a:ext cx="2514600" cy="603504"/>
          </a:xfrm>
          <a:prstGeom prst="rect">
            <a:avLst/>
          </a:prstGeom>
          <a:noFill/>
          <a:ln/>
        </p:spPr>
        <p:txBody>
          <a:bodyPr wrap="square" lIns="0" tIns="0" rIns="0" bIns="0" rtlCol="0" anchor="ctr"/>
          <a:lstStyle/>
          <a:p>
            <a:pPr indent="0" marL="0">
              <a:buNone/>
            </a:pPr>
            <a:r>
              <a:rPr lang="en-US" sz="1400" b="1" dirty="0">
                <a:solidFill>
                  <a:srgbClr val="1A1D21"/>
                </a:solidFill>
                <a:latin typeface="Inter" pitchFamily="34" charset="0"/>
                <a:ea typeface="Inter" pitchFamily="34" charset="-122"/>
                <a:cs typeface="Inter" pitchFamily="34" charset="-120"/>
              </a:rPr>
              <a:t>Asistencia financiera</a:t>
            </a:r>
            <a:endParaRPr lang="en-US" sz="1400" dirty="0"/>
          </a:p>
        </p:txBody>
      </p:sp>
      <p:sp>
        <p:nvSpPr>
          <p:cNvPr id="33" name="Text 30"/>
          <p:cNvSpPr txBox="1"/>
          <p:nvPr/>
        </p:nvSpPr>
        <p:spPr>
          <a:xfrm>
            <a:off x="3886200" y="5276088"/>
            <a:ext cx="4434840" cy="603504"/>
          </a:xfrm>
          <a:prstGeom prst="rect">
            <a:avLst/>
          </a:prstGeom>
          <a:noFill/>
          <a:ln/>
        </p:spPr>
        <p:txBody>
          <a:bodyPr wrap="square" lIns="0" tIns="0" rIns="0" bIns="0" rtlCol="0" anchor="ctr"/>
          <a:lstStyle/>
          <a:p>
            <a:pPr indent="0" marL="0">
              <a:buNone/>
            </a:pPr>
            <a:r>
              <a:rPr lang="en-US" sz="1200" dirty="0">
                <a:solidFill>
                  <a:srgbClr val="1F2124"/>
                </a:solidFill>
                <a:latin typeface="Inter" pitchFamily="34" charset="0"/>
                <a:ea typeface="Inter" pitchFamily="34" charset="-122"/>
                <a:cs typeface="Inter" pitchFamily="34" charset="-120"/>
              </a:rPr>
              <a:t>Inditex no puede garantizar la deuda de su propia compra (art. 150 LSC).</a:t>
            </a:r>
            <a:endParaRPr lang="en-US" sz="1200" dirty="0"/>
          </a:p>
        </p:txBody>
      </p:sp>
      <p:sp>
        <p:nvSpPr>
          <p:cNvPr id="34" name="Text 31"/>
          <p:cNvSpPr txBox="1"/>
          <p:nvPr/>
        </p:nvSpPr>
        <p:spPr>
          <a:xfrm>
            <a:off x="8458200" y="5276088"/>
            <a:ext cx="3063240" cy="603504"/>
          </a:xfrm>
          <a:prstGeom prst="rect">
            <a:avLst/>
          </a:prstGeom>
          <a:noFill/>
          <a:ln/>
        </p:spPr>
        <p:txBody>
          <a:bodyPr wrap="square" lIns="0" tIns="0" rIns="0" bIns="0" rtlCol="0" anchor="ctr"/>
          <a:lstStyle/>
          <a:p>
            <a:pPr indent="0" marL="0">
              <a:buNone/>
            </a:pPr>
            <a:r>
              <a:rPr lang="en-US" sz="1200" b="1" dirty="0">
                <a:solidFill>
                  <a:srgbClr val="1F4B3F"/>
                </a:solidFill>
                <a:latin typeface="Inter" pitchFamily="34" charset="0"/>
                <a:ea typeface="Inter" pitchFamily="34" charset="-122"/>
                <a:cs typeface="Inter" pitchFamily="34" charset="-120"/>
              </a:rPr>
              <a:t>→  Deuda en la BidCo y fusión apalancada tras la OPA</a:t>
            </a:r>
            <a:endParaRPr lang="en-US" sz="1200" dirty="0"/>
          </a:p>
        </p:txBody>
      </p:sp>
      <p:sp>
        <p:nvSpPr>
          <p:cNvPr id="35" name="Text 32"/>
          <p:cNvSpPr txBox="1"/>
          <p:nvPr/>
        </p:nvSpPr>
        <p:spPr>
          <a:xfrm>
            <a:off x="548640" y="6327648"/>
            <a:ext cx="7863840" cy="228600"/>
          </a:xfrm>
          <a:prstGeom prst="rect">
            <a:avLst/>
          </a:prstGeom>
          <a:noFill/>
          <a:ln/>
        </p:spPr>
        <p:txBody>
          <a:bodyPr wrap="square" lIns="0" tIns="0" rIns="0" bIns="0" rtlCol="0" anchor="t"/>
          <a:lstStyle/>
          <a:p>
            <a:pPr indent="0" marL="0">
              <a:buNone/>
            </a:pPr>
            <a:r>
              <a:rPr lang="en-US" sz="900" dirty="0">
                <a:solidFill>
                  <a:srgbClr val="6E7378"/>
                </a:solidFill>
                <a:latin typeface="Inter" pitchFamily="34" charset="0"/>
                <a:ea typeface="Inter" pitchFamily="34" charset="-122"/>
                <a:cs typeface="Inter" pitchFamily="34" charset="-120"/>
              </a:rPr>
              <a:t>Fuente: modelo LBO (Tax &amp; WACC E8–J10); Ley 27/2014 (LIS); Ley de Sociedades de Capital; art. 42 RDL 5/2023.</a:t>
            </a:r>
            <a:endParaRPr lang="en-US" sz="900" dirty="0"/>
          </a:p>
        </p:txBody>
      </p:sp>
      <p:sp>
        <p:nvSpPr>
          <p:cNvPr id="36" name="Text 33"/>
          <p:cNvSpPr txBox="1"/>
          <p:nvPr/>
        </p:nvSpPr>
        <p:spPr>
          <a:xfrm>
            <a:off x="8595360" y="6327648"/>
            <a:ext cx="3044952" cy="228600"/>
          </a:xfrm>
          <a:prstGeom prst="rect">
            <a:avLst/>
          </a:prstGeom>
          <a:noFill/>
          <a:ln/>
        </p:spPr>
        <p:txBody>
          <a:bodyPr wrap="square" lIns="0" tIns="0" rIns="0" bIns="0" rtlCol="0" anchor="t"/>
          <a:lstStyle/>
          <a:p>
            <a:pPr algn="r" indent="0" marL="0">
              <a:buNone/>
            </a:pPr>
            <a:r>
              <a:rPr lang="en-US" sz="900" dirty="0">
                <a:solidFill>
                  <a:srgbClr val="6E7378"/>
                </a:solidFill>
                <a:latin typeface="Inter" pitchFamily="34" charset="0"/>
                <a:ea typeface="Inter" pitchFamily="34" charset="-122"/>
                <a:cs typeface="Inter" pitchFamily="34" charset="-120"/>
              </a:rPr>
              <a:t>Project Galicia  ·  Estrictamente confidencial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47472"/>
            <a:ext cx="8229600" cy="228600"/>
          </a:xfrm>
          <a:prstGeom prst="rect">
            <a:avLst/>
          </a:prstGeom>
          <a:noFill/>
          <a:ln/>
        </p:spPr>
        <p:txBody>
          <a:bodyPr wrap="square" lIns="0" tIns="0" rIns="0" bIns="0" rtlCol="0" anchor="t"/>
          <a:lstStyle/>
          <a:p>
            <a:pPr indent="0" marL="0">
              <a:buNone/>
            </a:pPr>
            <a:r>
              <a:rPr lang="en-US" sz="1100" b="1" spc="200" kern="0" dirty="0">
                <a:solidFill>
                  <a:srgbClr val="1F4B3F"/>
                </a:solidFill>
                <a:latin typeface="Inter" pitchFamily="34" charset="0"/>
                <a:ea typeface="Inter" pitchFamily="34" charset="-122"/>
                <a:cs typeface="Inter" pitchFamily="34" charset="-120"/>
              </a:rPr>
              <a:t>02  ESTRUCTURA DE LA COMPRA</a:t>
            </a:r>
            <a:endParaRPr lang="en-US" sz="1100" dirty="0"/>
          </a:p>
        </p:txBody>
      </p:sp>
      <p:pic>
        <p:nvPicPr>
          <p:cNvPr id="3" name="Image 0" descr="/tmp/claude-0/-home-claude/8d7de6a3-f167-5c95-8bc2-67944307bfd8/scratchpad/canva/img/HLP_monograma.png">    </p:cNvPr>
          <p:cNvPicPr>
            <a:picLocks noChangeAspect="1"/>
          </p:cNvPicPr>
          <p:nvPr/>
        </p:nvPicPr>
        <p:blipFill>
          <a:blip r:embed="rId1"/>
          <a:stretch>
            <a:fillRect/>
          </a:stretch>
        </p:blipFill>
        <p:spPr>
          <a:xfrm>
            <a:off x="11228832" y="310896"/>
            <a:ext cx="411480" cy="411480"/>
          </a:xfrm>
          <a:prstGeom prst="rect">
            <a:avLst/>
          </a:prstGeom>
        </p:spPr>
      </p:pic>
      <p:sp>
        <p:nvSpPr>
          <p:cNvPr id="4" name="Text 1"/>
          <p:cNvSpPr txBox="1"/>
          <p:nvPr/>
        </p:nvSpPr>
        <p:spPr>
          <a:xfrm>
            <a:off x="548640" y="603504"/>
            <a:ext cx="10515600" cy="822960"/>
          </a:xfrm>
          <a:prstGeom prst="rect">
            <a:avLst/>
          </a:prstGeom>
          <a:noFill/>
          <a:ln/>
        </p:spPr>
        <p:txBody>
          <a:bodyPr wrap="square" lIns="0" tIns="0" rIns="0" bIns="0" rtlCol="0" anchor="t"/>
          <a:lstStyle/>
          <a:p>
            <a:pPr indent="0" marL="0">
              <a:lnSpc>
                <a:spcPct val="95000"/>
              </a:lnSpc>
              <a:buNone/>
            </a:pPr>
            <a:r>
              <a:rPr lang="en-US" sz="2500" dirty="0">
                <a:solidFill>
                  <a:srgbClr val="1A1D21"/>
                </a:solidFill>
                <a:latin typeface="Lora" pitchFamily="34" charset="0"/>
                <a:ea typeface="Lora" pitchFamily="34" charset="-122"/>
                <a:cs typeface="Lora" pitchFamily="34" charset="-120"/>
              </a:rPr>
              <a:t>Amancio Ortega reinvierte el 25% de Inditex y el resto de accionistas cobra en efectivo</a:t>
            </a:r>
            <a:endParaRPr lang="en-US" sz="2500" dirty="0"/>
          </a:p>
        </p:txBody>
      </p:sp>
      <p:sp>
        <p:nvSpPr>
          <p:cNvPr id="5" name="Text 2"/>
          <p:cNvSpPr txBox="1"/>
          <p:nvPr/>
        </p:nvSpPr>
        <p:spPr>
          <a:xfrm>
            <a:off x="548640" y="1572768"/>
            <a:ext cx="6675120" cy="274320"/>
          </a:xfrm>
          <a:prstGeom prst="rect">
            <a:avLst/>
          </a:prstGeom>
          <a:noFill/>
          <a:ln/>
        </p:spPr>
        <p:txBody>
          <a:bodyPr wrap="square" lIns="0" tIns="0" rIns="0" bIns="0" rtlCol="0" anchor="t"/>
          <a:lstStyle/>
          <a:p>
            <a:pPr indent="0" marL="0">
              <a:buNone/>
            </a:pPr>
            <a:r>
              <a:rPr lang="en-US" sz="1300" b="1" dirty="0">
                <a:solidFill>
                  <a:srgbClr val="1A1D21"/>
                </a:solidFill>
                <a:latin typeface="Inter" pitchFamily="34" charset="0"/>
                <a:ea typeface="Inter" pitchFamily="34" charset="-122"/>
                <a:cs typeface="Inter" pitchFamily="34" charset="-120"/>
              </a:rPr>
              <a:t>Quién vende y cómo cobra a €63,73 por acción</a:t>
            </a:r>
            <a:endParaRPr lang="en-US" sz="1300" dirty="0"/>
          </a:p>
        </p:txBody>
      </p:sp>
      <p:sp>
        <p:nvSpPr>
          <p:cNvPr id="6" name="Text 3"/>
          <p:cNvSpPr txBox="1"/>
          <p:nvPr/>
        </p:nvSpPr>
        <p:spPr>
          <a:xfrm>
            <a:off x="548640" y="1920240"/>
            <a:ext cx="2514600" cy="457200"/>
          </a:xfrm>
          <a:prstGeom prst="rect">
            <a:avLst/>
          </a:prstGeom>
          <a:solidFill>
            <a:srgbClr val="1A1D21"/>
          </a:solidFill>
          <a:ln/>
        </p:spPr>
        <p:txBody>
          <a:bodyPr wrap="square" lIns="0" tIns="76200" rIns="76200" bIns="0" rtlCol="0" anchor="ctr"/>
          <a:lstStyle/>
          <a:p>
            <a:pPr algn="l" indent="0" marL="0">
              <a:buNone/>
            </a:pPr>
            <a:r>
              <a:rPr lang="en-US" sz="1200" b="1" dirty="0">
                <a:solidFill>
                  <a:srgbClr val="FFFFFF"/>
                </a:solidFill>
                <a:latin typeface="Inter" pitchFamily="34" charset="0"/>
                <a:ea typeface="Inter" pitchFamily="34" charset="-122"/>
                <a:cs typeface="Inter" pitchFamily="34" charset="-120"/>
              </a:rPr>
              <a:t>Accionista</a:t>
            </a:r>
            <a:endParaRPr lang="en-US" sz="1200" dirty="0"/>
          </a:p>
        </p:txBody>
      </p:sp>
      <p:sp>
        <p:nvSpPr>
          <p:cNvPr id="7" name="Text 4"/>
          <p:cNvSpPr txBox="1"/>
          <p:nvPr/>
        </p:nvSpPr>
        <p:spPr>
          <a:xfrm>
            <a:off x="3063240" y="1920240"/>
            <a:ext cx="1097280" cy="457200"/>
          </a:xfrm>
          <a:prstGeom prst="rect">
            <a:avLst/>
          </a:prstGeom>
          <a:solidFill>
            <a:srgbClr val="1A1D21"/>
          </a:solidFill>
          <a:ln/>
        </p:spPr>
        <p:txBody>
          <a:bodyPr wrap="square" lIns="0" tIns="76200" rIns="76200" bIns="0" rtlCol="0" anchor="ctr"/>
          <a:lstStyle/>
          <a:p>
            <a:pPr algn="r" indent="0" marL="0">
              <a:buNone/>
            </a:pPr>
            <a:r>
              <a:rPr lang="en-US" sz="1200" b="1" dirty="0">
                <a:solidFill>
                  <a:srgbClr val="FFFFFF"/>
                </a:solidFill>
                <a:latin typeface="Inter" pitchFamily="34" charset="0"/>
                <a:ea typeface="Inter" pitchFamily="34" charset="-122"/>
                <a:cs typeface="Inter" pitchFamily="34" charset="-120"/>
              </a:rPr>
              <a:t>% de Inditex</a:t>
            </a:r>
            <a:endParaRPr lang="en-US" sz="1200" dirty="0"/>
          </a:p>
        </p:txBody>
      </p:sp>
      <p:sp>
        <p:nvSpPr>
          <p:cNvPr id="8" name="Text 5"/>
          <p:cNvSpPr txBox="1"/>
          <p:nvPr/>
        </p:nvSpPr>
        <p:spPr>
          <a:xfrm>
            <a:off x="4160520" y="1920240"/>
            <a:ext cx="1097280" cy="457200"/>
          </a:xfrm>
          <a:prstGeom prst="rect">
            <a:avLst/>
          </a:prstGeom>
          <a:solidFill>
            <a:srgbClr val="1A1D21"/>
          </a:solidFill>
          <a:ln/>
        </p:spPr>
        <p:txBody>
          <a:bodyPr wrap="square" lIns="0" tIns="76200" rIns="76200" bIns="0" rtlCol="0" anchor="ctr"/>
          <a:lstStyle/>
          <a:p>
            <a:pPr algn="r" indent="0" marL="0">
              <a:buNone/>
            </a:pPr>
            <a:r>
              <a:rPr lang="en-US" sz="1200" b="1" dirty="0">
                <a:solidFill>
                  <a:srgbClr val="FFFFFF"/>
                </a:solidFill>
                <a:latin typeface="Inter" pitchFamily="34" charset="0"/>
                <a:ea typeface="Inter" pitchFamily="34" charset="-122"/>
                <a:cs typeface="Inter" pitchFamily="34" charset="-120"/>
              </a:rPr>
              <a:t>€m</a:t>
            </a:r>
            <a:endParaRPr lang="en-US" sz="1200" dirty="0"/>
          </a:p>
        </p:txBody>
      </p:sp>
      <p:sp>
        <p:nvSpPr>
          <p:cNvPr id="9" name="Text 6"/>
          <p:cNvSpPr txBox="1"/>
          <p:nvPr/>
        </p:nvSpPr>
        <p:spPr>
          <a:xfrm>
            <a:off x="5257800" y="1920240"/>
            <a:ext cx="2148840" cy="457200"/>
          </a:xfrm>
          <a:prstGeom prst="rect">
            <a:avLst/>
          </a:prstGeom>
          <a:solidFill>
            <a:srgbClr val="1A1D21"/>
          </a:solidFill>
          <a:ln/>
        </p:spPr>
        <p:txBody>
          <a:bodyPr wrap="square" lIns="0" tIns="76200" rIns="76200" bIns="0" rtlCol="0" anchor="ctr"/>
          <a:lstStyle/>
          <a:p>
            <a:pPr algn="l" indent="0" marL="0">
              <a:buNone/>
            </a:pPr>
            <a:r>
              <a:rPr lang="en-US" sz="1200" b="1" dirty="0">
                <a:solidFill>
                  <a:srgbClr val="FFFFFF"/>
                </a:solidFill>
                <a:latin typeface="Inter" pitchFamily="34" charset="0"/>
                <a:ea typeface="Inter" pitchFamily="34" charset="-122"/>
                <a:cs typeface="Inter" pitchFamily="34" charset="-120"/>
              </a:rPr>
              <a:t>Cómo cobra</a:t>
            </a:r>
            <a:endParaRPr lang="en-US" sz="1200" dirty="0"/>
          </a:p>
        </p:txBody>
      </p:sp>
      <p:sp>
        <p:nvSpPr>
          <p:cNvPr id="10" name="Text 7"/>
          <p:cNvSpPr txBox="1"/>
          <p:nvPr/>
        </p:nvSpPr>
        <p:spPr>
          <a:xfrm>
            <a:off x="548640" y="2377440"/>
            <a:ext cx="2514600" cy="457200"/>
          </a:xfrm>
          <a:prstGeom prst="rect">
            <a:avLst/>
          </a:prstGeom>
          <a:solidFill>
            <a:srgbClr val="FFFFFF"/>
          </a:solidFill>
          <a:ln/>
        </p:spPr>
        <p:txBody>
          <a:bodyPr wrap="square" lIns="0" tIns="76200" rIns="76200" bIns="0" rtlCol="0" anchor="ctr"/>
          <a:lstStyle/>
          <a:p>
            <a:pPr algn="l" indent="0" marL="0">
              <a:buNone/>
            </a:pPr>
            <a:r>
              <a:rPr lang="en-US" sz="1250" dirty="0">
                <a:solidFill>
                  <a:srgbClr val="1F2124"/>
                </a:solidFill>
                <a:latin typeface="Inter" pitchFamily="34" charset="0"/>
                <a:ea typeface="Inter" pitchFamily="34" charset="-122"/>
                <a:cs typeface="Inter" pitchFamily="34" charset="-120"/>
              </a:rPr>
              <a:t>Amancio Ortega · rollover</a:t>
            </a:r>
            <a:endParaRPr lang="en-US" sz="1250" dirty="0"/>
          </a:p>
        </p:txBody>
      </p:sp>
      <p:sp>
        <p:nvSpPr>
          <p:cNvPr id="11" name="Text 8"/>
          <p:cNvSpPr txBox="1"/>
          <p:nvPr/>
        </p:nvSpPr>
        <p:spPr>
          <a:xfrm>
            <a:off x="3063240" y="2377440"/>
            <a:ext cx="1097280" cy="457200"/>
          </a:xfrm>
          <a:prstGeom prst="rect">
            <a:avLst/>
          </a:prstGeom>
          <a:solidFill>
            <a:srgbClr val="FFFFFF"/>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25,0%</a:t>
            </a:r>
            <a:endParaRPr lang="en-US" sz="1250" dirty="0"/>
          </a:p>
        </p:txBody>
      </p:sp>
      <p:sp>
        <p:nvSpPr>
          <p:cNvPr id="12" name="Text 9"/>
          <p:cNvSpPr txBox="1"/>
          <p:nvPr/>
        </p:nvSpPr>
        <p:spPr>
          <a:xfrm>
            <a:off x="4160520" y="2377440"/>
            <a:ext cx="1097280" cy="457200"/>
          </a:xfrm>
          <a:prstGeom prst="rect">
            <a:avLst/>
          </a:prstGeom>
          <a:solidFill>
            <a:srgbClr val="FFFFFF"/>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49.658</a:t>
            </a:r>
            <a:endParaRPr lang="en-US" sz="1250" dirty="0"/>
          </a:p>
        </p:txBody>
      </p:sp>
      <p:sp>
        <p:nvSpPr>
          <p:cNvPr id="13" name="Text 10"/>
          <p:cNvSpPr txBox="1"/>
          <p:nvPr/>
        </p:nvSpPr>
        <p:spPr>
          <a:xfrm>
            <a:off x="5257800" y="2377440"/>
            <a:ext cx="2148840" cy="457200"/>
          </a:xfrm>
          <a:prstGeom prst="rect">
            <a:avLst/>
          </a:prstGeom>
          <a:solidFill>
            <a:srgbClr val="FFFFFF"/>
          </a:solidFill>
          <a:ln/>
        </p:spPr>
        <p:txBody>
          <a:bodyPr wrap="square" lIns="0" tIns="76200" rIns="76200" bIns="0" rtlCol="0" anchor="ctr"/>
          <a:lstStyle/>
          <a:p>
            <a:pPr algn="l" indent="0" marL="0">
              <a:buNone/>
            </a:pPr>
            <a:r>
              <a:rPr lang="en-US" sz="1250" dirty="0">
                <a:solidFill>
                  <a:srgbClr val="1F2124"/>
                </a:solidFill>
                <a:latin typeface="Inter" pitchFamily="34" charset="0"/>
                <a:ea typeface="Inter" pitchFamily="34" charset="-122"/>
                <a:cs typeface="Inter" pitchFamily="34" charset="-120"/>
              </a:rPr>
              <a:t>Acciones TopCo</a:t>
            </a:r>
            <a:endParaRPr lang="en-US" sz="1250" dirty="0"/>
          </a:p>
        </p:txBody>
      </p:sp>
      <p:sp>
        <p:nvSpPr>
          <p:cNvPr id="14" name="Text 11"/>
          <p:cNvSpPr txBox="1"/>
          <p:nvPr/>
        </p:nvSpPr>
        <p:spPr>
          <a:xfrm>
            <a:off x="548640" y="2834640"/>
            <a:ext cx="2514600" cy="457200"/>
          </a:xfrm>
          <a:prstGeom prst="rect">
            <a:avLst/>
          </a:prstGeom>
          <a:solidFill>
            <a:srgbClr val="F3F3F2"/>
          </a:solidFill>
          <a:ln/>
        </p:spPr>
        <p:txBody>
          <a:bodyPr wrap="square" lIns="0" tIns="76200" rIns="76200" bIns="0" rtlCol="0" anchor="ctr"/>
          <a:lstStyle/>
          <a:p>
            <a:pPr algn="l" indent="0" marL="0">
              <a:buNone/>
            </a:pPr>
            <a:r>
              <a:rPr lang="en-US" sz="1250" dirty="0">
                <a:solidFill>
                  <a:srgbClr val="1F2124"/>
                </a:solidFill>
                <a:latin typeface="Inter" pitchFamily="34" charset="0"/>
                <a:ea typeface="Inter" pitchFamily="34" charset="-122"/>
                <a:cs typeface="Inter" pitchFamily="34" charset="-120"/>
              </a:rPr>
              <a:t>Amancio Ortega · venta</a:t>
            </a:r>
            <a:endParaRPr lang="en-US" sz="1250" dirty="0"/>
          </a:p>
        </p:txBody>
      </p:sp>
      <p:sp>
        <p:nvSpPr>
          <p:cNvPr id="15" name="Text 12"/>
          <p:cNvSpPr txBox="1"/>
          <p:nvPr/>
        </p:nvSpPr>
        <p:spPr>
          <a:xfrm>
            <a:off x="3063240" y="2834640"/>
            <a:ext cx="1097280" cy="457200"/>
          </a:xfrm>
          <a:prstGeom prst="rect">
            <a:avLst/>
          </a:prstGeom>
          <a:solidFill>
            <a:srgbClr val="F3F3F2"/>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34,3%</a:t>
            </a:r>
            <a:endParaRPr lang="en-US" sz="1250" dirty="0"/>
          </a:p>
        </p:txBody>
      </p:sp>
      <p:sp>
        <p:nvSpPr>
          <p:cNvPr id="16" name="Text 13"/>
          <p:cNvSpPr txBox="1"/>
          <p:nvPr/>
        </p:nvSpPr>
        <p:spPr>
          <a:xfrm>
            <a:off x="4160520" y="2834640"/>
            <a:ext cx="1097280" cy="457200"/>
          </a:xfrm>
          <a:prstGeom prst="rect">
            <a:avLst/>
          </a:prstGeom>
          <a:solidFill>
            <a:srgbClr val="F3F3F2"/>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68.131</a:t>
            </a:r>
            <a:endParaRPr lang="en-US" sz="1250" dirty="0"/>
          </a:p>
        </p:txBody>
      </p:sp>
      <p:sp>
        <p:nvSpPr>
          <p:cNvPr id="17" name="Text 14"/>
          <p:cNvSpPr txBox="1"/>
          <p:nvPr/>
        </p:nvSpPr>
        <p:spPr>
          <a:xfrm>
            <a:off x="5257800" y="2834640"/>
            <a:ext cx="2148840" cy="457200"/>
          </a:xfrm>
          <a:prstGeom prst="rect">
            <a:avLst/>
          </a:prstGeom>
          <a:solidFill>
            <a:srgbClr val="F3F3F2"/>
          </a:solidFill>
          <a:ln/>
        </p:spPr>
        <p:txBody>
          <a:bodyPr wrap="square" lIns="0" tIns="76200" rIns="76200" bIns="0" rtlCol="0" anchor="ctr"/>
          <a:lstStyle/>
          <a:p>
            <a:pPr algn="l" indent="0" marL="0">
              <a:buNone/>
            </a:pPr>
            <a:r>
              <a:rPr lang="en-US" sz="1250" dirty="0">
                <a:solidFill>
                  <a:srgbClr val="1F2124"/>
                </a:solidFill>
                <a:latin typeface="Inter" pitchFamily="34" charset="0"/>
                <a:ea typeface="Inter" pitchFamily="34" charset="-122"/>
                <a:cs typeface="Inter" pitchFamily="34" charset="-120"/>
              </a:rPr>
              <a:t>Efectivo</a:t>
            </a:r>
            <a:endParaRPr lang="en-US" sz="1250" dirty="0"/>
          </a:p>
        </p:txBody>
      </p:sp>
      <p:sp>
        <p:nvSpPr>
          <p:cNvPr id="18" name="Text 15"/>
          <p:cNvSpPr txBox="1"/>
          <p:nvPr/>
        </p:nvSpPr>
        <p:spPr>
          <a:xfrm>
            <a:off x="548640" y="3291840"/>
            <a:ext cx="2514600" cy="457200"/>
          </a:xfrm>
          <a:prstGeom prst="rect">
            <a:avLst/>
          </a:prstGeom>
          <a:solidFill>
            <a:srgbClr val="FFFFFF"/>
          </a:solidFill>
          <a:ln/>
        </p:spPr>
        <p:txBody>
          <a:bodyPr wrap="square" lIns="0" tIns="76200" rIns="76200" bIns="0" rtlCol="0" anchor="ctr"/>
          <a:lstStyle/>
          <a:p>
            <a:pPr algn="l" indent="0" marL="0">
              <a:buNone/>
            </a:pPr>
            <a:r>
              <a:rPr lang="en-US" sz="1250" dirty="0">
                <a:solidFill>
                  <a:srgbClr val="1F2124"/>
                </a:solidFill>
                <a:latin typeface="Inter" pitchFamily="34" charset="0"/>
                <a:ea typeface="Inter" pitchFamily="34" charset="-122"/>
                <a:cs typeface="Inter" pitchFamily="34" charset="-120"/>
              </a:rPr>
              <a:t>Sandra Ortega</a:t>
            </a:r>
            <a:endParaRPr lang="en-US" sz="1250" dirty="0"/>
          </a:p>
        </p:txBody>
      </p:sp>
      <p:sp>
        <p:nvSpPr>
          <p:cNvPr id="19" name="Text 16"/>
          <p:cNvSpPr txBox="1"/>
          <p:nvPr/>
        </p:nvSpPr>
        <p:spPr>
          <a:xfrm>
            <a:off x="3063240" y="3291840"/>
            <a:ext cx="1097280" cy="457200"/>
          </a:xfrm>
          <a:prstGeom prst="rect">
            <a:avLst/>
          </a:prstGeom>
          <a:solidFill>
            <a:srgbClr val="FFFFFF"/>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5,05%</a:t>
            </a:r>
            <a:endParaRPr lang="en-US" sz="1250" dirty="0"/>
          </a:p>
        </p:txBody>
      </p:sp>
      <p:sp>
        <p:nvSpPr>
          <p:cNvPr id="20" name="Text 17"/>
          <p:cNvSpPr txBox="1"/>
          <p:nvPr/>
        </p:nvSpPr>
        <p:spPr>
          <a:xfrm>
            <a:off x="4160520" y="3291840"/>
            <a:ext cx="1097280" cy="457200"/>
          </a:xfrm>
          <a:prstGeom prst="rect">
            <a:avLst/>
          </a:prstGeom>
          <a:solidFill>
            <a:srgbClr val="FFFFFF"/>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10.031</a:t>
            </a:r>
            <a:endParaRPr lang="en-US" sz="1250" dirty="0"/>
          </a:p>
        </p:txBody>
      </p:sp>
      <p:sp>
        <p:nvSpPr>
          <p:cNvPr id="21" name="Text 18"/>
          <p:cNvSpPr txBox="1"/>
          <p:nvPr/>
        </p:nvSpPr>
        <p:spPr>
          <a:xfrm>
            <a:off x="5257800" y="3291840"/>
            <a:ext cx="2148840" cy="457200"/>
          </a:xfrm>
          <a:prstGeom prst="rect">
            <a:avLst/>
          </a:prstGeom>
          <a:solidFill>
            <a:srgbClr val="FFFFFF"/>
          </a:solidFill>
          <a:ln/>
        </p:spPr>
        <p:txBody>
          <a:bodyPr wrap="square" lIns="0" tIns="76200" rIns="76200" bIns="0" rtlCol="0" anchor="ctr"/>
          <a:lstStyle/>
          <a:p>
            <a:pPr algn="l" indent="0" marL="0">
              <a:buNone/>
            </a:pPr>
            <a:r>
              <a:rPr lang="en-US" sz="1250" dirty="0">
                <a:solidFill>
                  <a:srgbClr val="1F2124"/>
                </a:solidFill>
                <a:latin typeface="Inter" pitchFamily="34" charset="0"/>
                <a:ea typeface="Inter" pitchFamily="34" charset="-122"/>
                <a:cs typeface="Inter" pitchFamily="34" charset="-120"/>
              </a:rPr>
              <a:t>Efectivo + nota TopCo</a:t>
            </a:r>
            <a:endParaRPr lang="en-US" sz="1250" dirty="0"/>
          </a:p>
        </p:txBody>
      </p:sp>
      <p:sp>
        <p:nvSpPr>
          <p:cNvPr id="22" name="Text 19"/>
          <p:cNvSpPr txBox="1"/>
          <p:nvPr/>
        </p:nvSpPr>
        <p:spPr>
          <a:xfrm>
            <a:off x="548640" y="3749040"/>
            <a:ext cx="2514600" cy="457200"/>
          </a:xfrm>
          <a:prstGeom prst="rect">
            <a:avLst/>
          </a:prstGeom>
          <a:solidFill>
            <a:srgbClr val="F3F3F2"/>
          </a:solidFill>
          <a:ln/>
        </p:spPr>
        <p:txBody>
          <a:bodyPr wrap="square" lIns="0" tIns="76200" rIns="76200" bIns="0" rtlCol="0" anchor="ctr"/>
          <a:lstStyle/>
          <a:p>
            <a:pPr algn="l" indent="0" marL="0">
              <a:buNone/>
            </a:pPr>
            <a:r>
              <a:rPr lang="en-US" sz="1250" dirty="0">
                <a:solidFill>
                  <a:srgbClr val="1F2124"/>
                </a:solidFill>
                <a:latin typeface="Inter" pitchFamily="34" charset="0"/>
                <a:ea typeface="Inter" pitchFamily="34" charset="-122"/>
                <a:cs typeface="Inter" pitchFamily="34" charset="-120"/>
              </a:rPr>
              <a:t>Free float (bolsa)</a:t>
            </a:r>
            <a:endParaRPr lang="en-US" sz="1250" dirty="0"/>
          </a:p>
        </p:txBody>
      </p:sp>
      <p:sp>
        <p:nvSpPr>
          <p:cNvPr id="23" name="Text 20"/>
          <p:cNvSpPr txBox="1"/>
          <p:nvPr/>
        </p:nvSpPr>
        <p:spPr>
          <a:xfrm>
            <a:off x="3063240" y="3749040"/>
            <a:ext cx="1097280" cy="457200"/>
          </a:xfrm>
          <a:prstGeom prst="rect">
            <a:avLst/>
          </a:prstGeom>
          <a:solidFill>
            <a:srgbClr val="F3F3F2"/>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35,65%</a:t>
            </a:r>
            <a:endParaRPr lang="en-US" sz="1250" dirty="0"/>
          </a:p>
        </p:txBody>
      </p:sp>
      <p:sp>
        <p:nvSpPr>
          <p:cNvPr id="24" name="Text 21"/>
          <p:cNvSpPr txBox="1"/>
          <p:nvPr/>
        </p:nvSpPr>
        <p:spPr>
          <a:xfrm>
            <a:off x="4160520" y="3749040"/>
            <a:ext cx="1097280" cy="457200"/>
          </a:xfrm>
          <a:prstGeom prst="rect">
            <a:avLst/>
          </a:prstGeom>
          <a:solidFill>
            <a:srgbClr val="F3F3F2"/>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70.813</a:t>
            </a:r>
            <a:endParaRPr lang="en-US" sz="1250" dirty="0"/>
          </a:p>
        </p:txBody>
      </p:sp>
      <p:sp>
        <p:nvSpPr>
          <p:cNvPr id="25" name="Text 22"/>
          <p:cNvSpPr txBox="1"/>
          <p:nvPr/>
        </p:nvSpPr>
        <p:spPr>
          <a:xfrm>
            <a:off x="5257800" y="3749040"/>
            <a:ext cx="2148840" cy="457200"/>
          </a:xfrm>
          <a:prstGeom prst="rect">
            <a:avLst/>
          </a:prstGeom>
          <a:solidFill>
            <a:srgbClr val="F3F3F2"/>
          </a:solidFill>
          <a:ln/>
        </p:spPr>
        <p:txBody>
          <a:bodyPr wrap="square" lIns="0" tIns="76200" rIns="76200" bIns="0" rtlCol="0" anchor="ctr"/>
          <a:lstStyle/>
          <a:p>
            <a:pPr algn="l" indent="0" marL="0">
              <a:buNone/>
            </a:pPr>
            <a:r>
              <a:rPr lang="en-US" sz="1250" dirty="0">
                <a:solidFill>
                  <a:srgbClr val="1F2124"/>
                </a:solidFill>
                <a:latin typeface="Inter" pitchFamily="34" charset="0"/>
                <a:ea typeface="Inter" pitchFamily="34" charset="-122"/>
                <a:cs typeface="Inter" pitchFamily="34" charset="-120"/>
              </a:rPr>
              <a:t>Efectivo</a:t>
            </a:r>
            <a:endParaRPr lang="en-US" sz="1250" dirty="0"/>
          </a:p>
        </p:txBody>
      </p:sp>
      <p:sp>
        <p:nvSpPr>
          <p:cNvPr id="26" name="Text 23"/>
          <p:cNvSpPr txBox="1"/>
          <p:nvPr/>
        </p:nvSpPr>
        <p:spPr>
          <a:xfrm>
            <a:off x="548640" y="4206240"/>
            <a:ext cx="2514600" cy="457200"/>
          </a:xfrm>
          <a:prstGeom prst="rect">
            <a:avLst/>
          </a:prstGeom>
          <a:solidFill>
            <a:srgbClr val="E8E8E6"/>
          </a:solidFill>
          <a:ln/>
        </p:spPr>
        <p:txBody>
          <a:bodyPr wrap="square" lIns="0" tIns="76200" rIns="76200" bIns="0" rtlCol="0" anchor="ctr"/>
          <a:lstStyle/>
          <a:p>
            <a:pPr algn="l" indent="0" marL="0">
              <a:buNone/>
            </a:pPr>
            <a:r>
              <a:rPr lang="en-US" sz="1250" b="1" dirty="0">
                <a:solidFill>
                  <a:srgbClr val="1F2124"/>
                </a:solidFill>
                <a:latin typeface="Inter" pitchFamily="34" charset="0"/>
                <a:ea typeface="Inter" pitchFamily="34" charset="-122"/>
                <a:cs typeface="Inter" pitchFamily="34" charset="-120"/>
              </a:rPr>
              <a:t>Total</a:t>
            </a:r>
            <a:endParaRPr lang="en-US" sz="1250" dirty="0"/>
          </a:p>
        </p:txBody>
      </p:sp>
      <p:sp>
        <p:nvSpPr>
          <p:cNvPr id="27" name="Text 24"/>
          <p:cNvSpPr txBox="1"/>
          <p:nvPr/>
        </p:nvSpPr>
        <p:spPr>
          <a:xfrm>
            <a:off x="3063240" y="4206240"/>
            <a:ext cx="1097280" cy="457200"/>
          </a:xfrm>
          <a:prstGeom prst="rect">
            <a:avLst/>
          </a:prstGeom>
          <a:solidFill>
            <a:srgbClr val="E8E8E6"/>
          </a:solidFill>
          <a:ln/>
        </p:spPr>
        <p:txBody>
          <a:bodyPr wrap="square" lIns="0" tIns="76200" rIns="76200" bIns="0" rtlCol="0" anchor="ctr"/>
          <a:lstStyle/>
          <a:p>
            <a:pPr algn="r" indent="0" marL="0">
              <a:buNone/>
            </a:pPr>
            <a:r>
              <a:rPr lang="en-US" sz="1250" b="1" dirty="0">
                <a:solidFill>
                  <a:srgbClr val="1F2124"/>
                </a:solidFill>
                <a:latin typeface="Inter" pitchFamily="34" charset="0"/>
                <a:ea typeface="Inter" pitchFamily="34" charset="-122"/>
                <a:cs typeface="Inter" pitchFamily="34" charset="-120"/>
              </a:rPr>
              <a:t>100%</a:t>
            </a:r>
            <a:endParaRPr lang="en-US" sz="1250" dirty="0"/>
          </a:p>
        </p:txBody>
      </p:sp>
      <p:sp>
        <p:nvSpPr>
          <p:cNvPr id="28" name="Text 25"/>
          <p:cNvSpPr txBox="1"/>
          <p:nvPr/>
        </p:nvSpPr>
        <p:spPr>
          <a:xfrm>
            <a:off x="4160520" y="4206240"/>
            <a:ext cx="1097280" cy="457200"/>
          </a:xfrm>
          <a:prstGeom prst="rect">
            <a:avLst/>
          </a:prstGeom>
          <a:solidFill>
            <a:srgbClr val="E8E8E6"/>
          </a:solidFill>
          <a:ln/>
        </p:spPr>
        <p:txBody>
          <a:bodyPr wrap="square" lIns="0" tIns="76200" rIns="76200" bIns="0" rtlCol="0" anchor="ctr"/>
          <a:lstStyle/>
          <a:p>
            <a:pPr algn="r" indent="0" marL="0">
              <a:buNone/>
            </a:pPr>
            <a:r>
              <a:rPr lang="en-US" sz="1250" b="1" dirty="0">
                <a:solidFill>
                  <a:srgbClr val="1F2124"/>
                </a:solidFill>
                <a:latin typeface="Inter" pitchFamily="34" charset="0"/>
                <a:ea typeface="Inter" pitchFamily="34" charset="-122"/>
                <a:cs typeface="Inter" pitchFamily="34" charset="-120"/>
              </a:rPr>
              <a:t>198.634</a:t>
            </a:r>
            <a:endParaRPr lang="en-US" sz="1250" dirty="0"/>
          </a:p>
        </p:txBody>
      </p:sp>
      <p:sp>
        <p:nvSpPr>
          <p:cNvPr id="29" name="Text 26"/>
          <p:cNvSpPr txBox="1"/>
          <p:nvPr/>
        </p:nvSpPr>
        <p:spPr>
          <a:xfrm>
            <a:off x="5257800" y="4206240"/>
            <a:ext cx="2148840" cy="457200"/>
          </a:xfrm>
          <a:prstGeom prst="rect">
            <a:avLst/>
          </a:prstGeom>
          <a:solidFill>
            <a:srgbClr val="E8E8E6"/>
          </a:solidFill>
          <a:ln/>
        </p:spPr>
        <p:txBody>
          <a:bodyPr wrap="square" lIns="0" tIns="76200" rIns="76200" bIns="0" rtlCol="0" anchor="ctr"/>
          <a:lstStyle/>
          <a:p>
            <a:pPr algn="l" indent="0" marL="0">
              <a:buNone/>
            </a:pPr>
            <a:r>
              <a:rPr lang="en-US" sz="1250" b="1" dirty="0">
                <a:solidFill>
                  <a:srgbClr val="1F2124"/>
                </a:solidFill>
                <a:latin typeface="Inter" pitchFamily="34" charset="0"/>
                <a:ea typeface="Inter" pitchFamily="34" charset="-122"/>
                <a:cs typeface="Inter" pitchFamily="34" charset="-120"/>
              </a:rPr>
              <a:t>148.975 en efectivo</a:t>
            </a:r>
            <a:endParaRPr lang="en-US" sz="1250" dirty="0"/>
          </a:p>
        </p:txBody>
      </p:sp>
      <p:sp>
        <p:nvSpPr>
          <p:cNvPr id="30" name="Shape 27"/>
          <p:cNvSpPr/>
          <p:nvPr/>
        </p:nvSpPr>
        <p:spPr>
          <a:xfrm>
            <a:off x="548640" y="4800600"/>
            <a:ext cx="6858000" cy="1280160"/>
          </a:xfrm>
          <a:prstGeom prst="rect">
            <a:avLst>
              <a:gd name="adj" fmla="val 4286"/>
            </a:avLst>
          </a:prstGeom>
          <a:solidFill>
            <a:srgbClr val="F3F3F2"/>
          </a:solidFill>
          <a:ln/>
        </p:spPr>
      </p:sp>
      <p:sp>
        <p:nvSpPr>
          <p:cNvPr id="31" name="Text 28"/>
          <p:cNvSpPr txBox="1"/>
          <p:nvPr/>
        </p:nvSpPr>
        <p:spPr>
          <a:xfrm>
            <a:off x="777240" y="4937760"/>
            <a:ext cx="6446520" cy="1051560"/>
          </a:xfrm>
          <a:prstGeom prst="rect">
            <a:avLst/>
          </a:prstGeom>
          <a:noFill/>
          <a:ln/>
        </p:spPr>
        <p:txBody>
          <a:bodyPr wrap="square" lIns="0" tIns="0" rIns="0" bIns="0" rtlCol="0" anchor="t"/>
          <a:lstStyle/>
          <a:p>
            <a:pPr indent="0" marL="0">
              <a:buNone/>
            </a:pPr>
            <a:r>
              <a:rPr lang="en-US" sz="1250" dirty="0">
                <a:solidFill>
                  <a:srgbClr val="1F2124"/>
                </a:solidFill>
                <a:latin typeface="Inter" pitchFamily="34" charset="0"/>
                <a:ea typeface="Inter" pitchFamily="34" charset="-122"/>
                <a:cs typeface="Inter" pitchFamily="34" charset="-120"/>
              </a:rPr>
              <a:t>El efectivo de la OPA (€148.975m, el 75%) se financia con deuda, caja de Inditex y equity del consorcio; el 25% de Amancio entra en la TopCo como acciones. </a:t>
            </a:r>
            <a:pPr indent="0" marL="0">
              <a:buNone/>
            </a:pPr>
            <a:r>
              <a:rPr lang="en-US" sz="1250" b="1" dirty="0">
                <a:solidFill>
                  <a:srgbClr val="1F2124"/>
                </a:solidFill>
                <a:latin typeface="Inter" pitchFamily="34" charset="0"/>
                <a:ea typeface="Inter" pitchFamily="34" charset="-122"/>
                <a:cs typeface="Inter" pitchFamily="34" charset="-120"/>
              </a:rPr>
              <a:t>Sandra vende todo su 5,05% y sale del capital: </a:t>
            </a:r>
            <a:pPr indent="0" marL="0">
              <a:buNone/>
            </a:pPr>
            <a:r>
              <a:rPr lang="en-US" sz="1250" dirty="0">
                <a:solidFill>
                  <a:srgbClr val="1F2124"/>
                </a:solidFill>
                <a:latin typeface="Inter" pitchFamily="34" charset="0"/>
                <a:ea typeface="Inter" pitchFamily="34" charset="-122"/>
                <a:cs typeface="Inter" pitchFamily="34" charset="-120"/>
              </a:rPr>
              <a:t>financia parte del precio con una nota de €10.925m a la TopCo y pasa de accionista a acreedora.</a:t>
            </a:r>
            <a:endParaRPr lang="en-US" sz="1250" dirty="0"/>
          </a:p>
        </p:txBody>
      </p:sp>
      <p:sp>
        <p:nvSpPr>
          <p:cNvPr id="32" name="Shape 29"/>
          <p:cNvSpPr/>
          <p:nvPr/>
        </p:nvSpPr>
        <p:spPr>
          <a:xfrm>
            <a:off x="7726680" y="1572768"/>
            <a:ext cx="3913632" cy="4507992"/>
          </a:xfrm>
          <a:prstGeom prst="rect">
            <a:avLst>
              <a:gd name="adj" fmla="val 1402"/>
            </a:avLst>
          </a:prstGeom>
          <a:solidFill>
            <a:srgbClr val="1A1D21"/>
          </a:solidFill>
          <a:ln/>
        </p:spPr>
      </p:sp>
      <p:sp>
        <p:nvSpPr>
          <p:cNvPr id="33" name="Text 30"/>
          <p:cNvSpPr txBox="1"/>
          <p:nvPr/>
        </p:nvSpPr>
        <p:spPr>
          <a:xfrm>
            <a:off x="7955280" y="1755648"/>
            <a:ext cx="3474720" cy="320040"/>
          </a:xfrm>
          <a:prstGeom prst="rect">
            <a:avLst/>
          </a:prstGeom>
          <a:noFill/>
          <a:ln/>
        </p:spPr>
        <p:txBody>
          <a:bodyPr wrap="square" lIns="0" tIns="0" rIns="0" bIns="0" rtlCol="0" anchor="t"/>
          <a:lstStyle/>
          <a:p>
            <a:pPr indent="0" marL="0">
              <a:buNone/>
            </a:pPr>
            <a:r>
              <a:rPr lang="en-US" sz="1600" b="1" dirty="0">
                <a:solidFill>
                  <a:srgbClr val="A8C9B8"/>
                </a:solidFill>
                <a:latin typeface="Inter" pitchFamily="34" charset="0"/>
                <a:ea typeface="Inter" pitchFamily="34" charset="-122"/>
                <a:cs typeface="Inter" pitchFamily="34" charset="-120"/>
              </a:rPr>
              <a:t>Por qué el rollover</a:t>
            </a:r>
            <a:endParaRPr lang="en-US" sz="1600" dirty="0"/>
          </a:p>
        </p:txBody>
      </p:sp>
      <p:sp>
        <p:nvSpPr>
          <p:cNvPr id="34" name="Text 31"/>
          <p:cNvSpPr txBox="1"/>
          <p:nvPr/>
        </p:nvSpPr>
        <p:spPr>
          <a:xfrm>
            <a:off x="7955280" y="2240280"/>
            <a:ext cx="3474720" cy="274320"/>
          </a:xfrm>
          <a:prstGeom prst="rect">
            <a:avLst/>
          </a:prstGeom>
          <a:noFill/>
          <a:ln/>
        </p:spPr>
        <p:txBody>
          <a:bodyPr wrap="square" lIns="0" tIns="0" rIns="0" bIns="0" rtlCol="0" anchor="t"/>
          <a:lstStyle/>
          <a:p>
            <a:pPr indent="0" marL="0">
              <a:buNone/>
            </a:pPr>
            <a:r>
              <a:rPr lang="en-US" sz="1350" b="1" dirty="0">
                <a:solidFill>
                  <a:srgbClr val="FFFFFF"/>
                </a:solidFill>
                <a:latin typeface="Inter" pitchFamily="34" charset="0"/>
                <a:ea typeface="Inter" pitchFamily="34" charset="-122"/>
                <a:cs typeface="Inter" pitchFamily="34" charset="-120"/>
              </a:rPr>
              <a:t>Para Amancio</a:t>
            </a:r>
            <a:endParaRPr lang="en-US" sz="1350" dirty="0"/>
          </a:p>
        </p:txBody>
      </p:sp>
      <p:sp>
        <p:nvSpPr>
          <p:cNvPr id="35" name="Text 32"/>
          <p:cNvSpPr txBox="1"/>
          <p:nvPr/>
        </p:nvSpPr>
        <p:spPr>
          <a:xfrm>
            <a:off x="7955280" y="2542032"/>
            <a:ext cx="3474720" cy="868680"/>
          </a:xfrm>
          <a:prstGeom prst="rect">
            <a:avLst/>
          </a:prstGeom>
          <a:noFill/>
          <a:ln/>
        </p:spPr>
        <p:txBody>
          <a:bodyPr wrap="square" lIns="0" tIns="0" rIns="0" bIns="0" rtlCol="0" anchor="t"/>
          <a:lstStyle/>
          <a:p>
            <a:pPr indent="0" marL="0">
              <a:buNone/>
            </a:pPr>
            <a:r>
              <a:rPr lang="en-US" sz="1200" dirty="0">
                <a:solidFill>
                  <a:srgbClr val="D9D9D6"/>
                </a:solidFill>
                <a:latin typeface="Inter" pitchFamily="34" charset="0"/>
                <a:ea typeface="Inter" pitchFamily="34" charset="-122"/>
                <a:cs typeface="Inter" pitchFamily="34" charset="-120"/>
              </a:rPr>
              <a:t>Mantiene el 43,4% de la TopCo, cobra €68.131m en efectivo y el canje no tributa (régimen FEAC, art. 87 LIS).</a:t>
            </a:r>
            <a:endParaRPr lang="en-US" sz="1200" dirty="0"/>
          </a:p>
        </p:txBody>
      </p:sp>
      <p:sp>
        <p:nvSpPr>
          <p:cNvPr id="36" name="Text 33"/>
          <p:cNvSpPr txBox="1"/>
          <p:nvPr/>
        </p:nvSpPr>
        <p:spPr>
          <a:xfrm>
            <a:off x="7955280" y="3474720"/>
            <a:ext cx="3474720" cy="274320"/>
          </a:xfrm>
          <a:prstGeom prst="rect">
            <a:avLst/>
          </a:prstGeom>
          <a:noFill/>
          <a:ln/>
        </p:spPr>
        <p:txBody>
          <a:bodyPr wrap="square" lIns="0" tIns="0" rIns="0" bIns="0" rtlCol="0" anchor="t"/>
          <a:lstStyle/>
          <a:p>
            <a:pPr indent="0" marL="0">
              <a:buNone/>
            </a:pPr>
            <a:r>
              <a:rPr lang="en-US" sz="1350" b="1" dirty="0">
                <a:solidFill>
                  <a:srgbClr val="FFFFFF"/>
                </a:solidFill>
                <a:latin typeface="Inter" pitchFamily="34" charset="0"/>
                <a:ea typeface="Inter" pitchFamily="34" charset="-122"/>
                <a:cs typeface="Inter" pitchFamily="34" charset="-120"/>
              </a:rPr>
              <a:t>Para el consorcio</a:t>
            </a:r>
            <a:endParaRPr lang="en-US" sz="1350" dirty="0"/>
          </a:p>
        </p:txBody>
      </p:sp>
      <p:sp>
        <p:nvSpPr>
          <p:cNvPr id="37" name="Text 34"/>
          <p:cNvSpPr txBox="1"/>
          <p:nvPr/>
        </p:nvSpPr>
        <p:spPr>
          <a:xfrm>
            <a:off x="7955280" y="3776472"/>
            <a:ext cx="3474720" cy="868680"/>
          </a:xfrm>
          <a:prstGeom prst="rect">
            <a:avLst/>
          </a:prstGeom>
          <a:noFill/>
          <a:ln/>
        </p:spPr>
        <p:txBody>
          <a:bodyPr wrap="square" lIns="0" tIns="0" rIns="0" bIns="0" rtlCol="0" anchor="t"/>
          <a:lstStyle/>
          <a:p>
            <a:pPr indent="0" marL="0">
              <a:buNone/>
            </a:pPr>
            <a:r>
              <a:rPr lang="en-US" sz="1200" dirty="0">
                <a:solidFill>
                  <a:srgbClr val="D9D9D6"/>
                </a:solidFill>
                <a:latin typeface="Inter" pitchFamily="34" charset="0"/>
                <a:ea typeface="Inter" pitchFamily="34" charset="-122"/>
                <a:cs typeface="Inter" pitchFamily="34" charset="-120"/>
              </a:rPr>
              <a:t>Reduce en €49.658m el efectivo que hay que levantar.</a:t>
            </a:r>
            <a:endParaRPr lang="en-US" sz="1200" dirty="0"/>
          </a:p>
        </p:txBody>
      </p:sp>
      <p:sp>
        <p:nvSpPr>
          <p:cNvPr id="38" name="Text 35"/>
          <p:cNvSpPr txBox="1"/>
          <p:nvPr/>
        </p:nvSpPr>
        <p:spPr>
          <a:xfrm>
            <a:off x="7955280" y="4709160"/>
            <a:ext cx="3474720" cy="274320"/>
          </a:xfrm>
          <a:prstGeom prst="rect">
            <a:avLst/>
          </a:prstGeom>
          <a:noFill/>
          <a:ln/>
        </p:spPr>
        <p:txBody>
          <a:bodyPr wrap="square" lIns="0" tIns="0" rIns="0" bIns="0" rtlCol="0" anchor="t"/>
          <a:lstStyle/>
          <a:p>
            <a:pPr indent="0" marL="0">
              <a:buNone/>
            </a:pPr>
            <a:r>
              <a:rPr lang="en-US" sz="1350" b="1" dirty="0">
                <a:solidFill>
                  <a:srgbClr val="FFFFFF"/>
                </a:solidFill>
                <a:latin typeface="Inter" pitchFamily="34" charset="0"/>
                <a:ea typeface="Inter" pitchFamily="34" charset="-122"/>
                <a:cs typeface="Inter" pitchFamily="34" charset="-120"/>
              </a:rPr>
              <a:t>Alineación</a:t>
            </a:r>
            <a:endParaRPr lang="en-US" sz="1350" dirty="0"/>
          </a:p>
        </p:txBody>
      </p:sp>
      <p:sp>
        <p:nvSpPr>
          <p:cNvPr id="39" name="Text 36"/>
          <p:cNvSpPr txBox="1"/>
          <p:nvPr/>
        </p:nvSpPr>
        <p:spPr>
          <a:xfrm>
            <a:off x="7955280" y="5010912"/>
            <a:ext cx="3474720" cy="868680"/>
          </a:xfrm>
          <a:prstGeom prst="rect">
            <a:avLst/>
          </a:prstGeom>
          <a:noFill/>
          <a:ln/>
        </p:spPr>
        <p:txBody>
          <a:bodyPr wrap="square" lIns="0" tIns="0" rIns="0" bIns="0" rtlCol="0" anchor="t"/>
          <a:lstStyle/>
          <a:p>
            <a:pPr indent="0" marL="0">
              <a:buNone/>
            </a:pPr>
            <a:r>
              <a:rPr lang="en-US" sz="1200" dirty="0">
                <a:solidFill>
                  <a:srgbClr val="D9D9D6"/>
                </a:solidFill>
                <a:latin typeface="Inter" pitchFamily="34" charset="0"/>
                <a:ea typeface="Inter" pitchFamily="34" charset="-122"/>
                <a:cs typeface="Inter" pitchFamily="34" charset="-120"/>
              </a:rPr>
              <a:t>El fundador gana lo mismo que el fondo: 2,05x hasta 2032 (de €49.658m a €101.609m).</a:t>
            </a:r>
            <a:endParaRPr lang="en-US" sz="1200" dirty="0"/>
          </a:p>
        </p:txBody>
      </p:sp>
      <p:sp>
        <p:nvSpPr>
          <p:cNvPr id="40" name="Text 37"/>
          <p:cNvSpPr txBox="1"/>
          <p:nvPr/>
        </p:nvSpPr>
        <p:spPr>
          <a:xfrm>
            <a:off x="548640" y="6327648"/>
            <a:ext cx="7863840" cy="228600"/>
          </a:xfrm>
          <a:prstGeom prst="rect">
            <a:avLst/>
          </a:prstGeom>
          <a:noFill/>
          <a:ln/>
        </p:spPr>
        <p:txBody>
          <a:bodyPr wrap="square" lIns="0" tIns="0" rIns="0" bIns="0" rtlCol="0" anchor="t"/>
          <a:lstStyle/>
          <a:p>
            <a:pPr indent="0" marL="0">
              <a:buNone/>
            </a:pPr>
            <a:r>
              <a:rPr lang="en-US" sz="900" dirty="0">
                <a:solidFill>
                  <a:srgbClr val="6E7378"/>
                </a:solidFill>
                <a:latin typeface="Inter" pitchFamily="34" charset="0"/>
                <a:ea typeface="Inter" pitchFamily="34" charset="-122"/>
                <a:cs typeface="Inter" pitchFamily="34" charset="-120"/>
              </a:rPr>
              <a:t>Fuente: modelo LBO definitivo (LBO Summary F11–F17, L57). Venta en efectivo repartida según el accionariado.</a:t>
            </a:r>
            <a:endParaRPr lang="en-US" sz="900" dirty="0"/>
          </a:p>
        </p:txBody>
      </p:sp>
      <p:sp>
        <p:nvSpPr>
          <p:cNvPr id="41" name="Text 38"/>
          <p:cNvSpPr txBox="1"/>
          <p:nvPr/>
        </p:nvSpPr>
        <p:spPr>
          <a:xfrm>
            <a:off x="8595360" y="6327648"/>
            <a:ext cx="3044952" cy="228600"/>
          </a:xfrm>
          <a:prstGeom prst="rect">
            <a:avLst/>
          </a:prstGeom>
          <a:noFill/>
          <a:ln/>
        </p:spPr>
        <p:txBody>
          <a:bodyPr wrap="square" lIns="0" tIns="0" rIns="0" bIns="0" rtlCol="0" anchor="t"/>
          <a:lstStyle/>
          <a:p>
            <a:pPr algn="r" indent="0" marL="0">
              <a:buNone/>
            </a:pPr>
            <a:r>
              <a:rPr lang="en-US" sz="900" dirty="0">
                <a:solidFill>
                  <a:srgbClr val="6E7378"/>
                </a:solidFill>
                <a:latin typeface="Inter" pitchFamily="34" charset="0"/>
                <a:ea typeface="Inter" pitchFamily="34" charset="-122"/>
                <a:cs typeface="Inter" pitchFamily="34" charset="-120"/>
              </a:rPr>
              <a:t>Project Galicia  ·  Estrictamente confidencial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47472"/>
            <a:ext cx="8229600" cy="228600"/>
          </a:xfrm>
          <a:prstGeom prst="rect">
            <a:avLst/>
          </a:prstGeom>
          <a:noFill/>
          <a:ln/>
        </p:spPr>
        <p:txBody>
          <a:bodyPr wrap="square" lIns="0" tIns="0" rIns="0" bIns="0" rtlCol="0" anchor="t"/>
          <a:lstStyle/>
          <a:p>
            <a:pPr indent="0" marL="0">
              <a:buNone/>
            </a:pPr>
            <a:r>
              <a:rPr lang="en-US" sz="1100" b="1" spc="200" kern="0" dirty="0">
                <a:solidFill>
                  <a:srgbClr val="1F4B3F"/>
                </a:solidFill>
                <a:latin typeface="Inter" pitchFamily="34" charset="0"/>
                <a:ea typeface="Inter" pitchFamily="34" charset="-122"/>
                <a:cs typeface="Inter" pitchFamily="34" charset="-120"/>
              </a:rPr>
              <a:t>02  ESTRUCTURA DE LA COMPRA</a:t>
            </a:r>
            <a:endParaRPr lang="en-US" sz="1100" dirty="0"/>
          </a:p>
        </p:txBody>
      </p:sp>
      <p:pic>
        <p:nvPicPr>
          <p:cNvPr id="3" name="Image 0" descr="/tmp/claude-0/-home-claude/8d7de6a3-f167-5c95-8bc2-67944307bfd8/scratchpad/canva/img/HLP_monograma.png">    </p:cNvPr>
          <p:cNvPicPr>
            <a:picLocks noChangeAspect="1"/>
          </p:cNvPicPr>
          <p:nvPr/>
        </p:nvPicPr>
        <p:blipFill>
          <a:blip r:embed="rId1"/>
          <a:stretch>
            <a:fillRect/>
          </a:stretch>
        </p:blipFill>
        <p:spPr>
          <a:xfrm>
            <a:off x="11228832" y="310896"/>
            <a:ext cx="411480" cy="411480"/>
          </a:xfrm>
          <a:prstGeom prst="rect">
            <a:avLst/>
          </a:prstGeom>
        </p:spPr>
      </p:pic>
      <p:sp>
        <p:nvSpPr>
          <p:cNvPr id="4" name="Text 1"/>
          <p:cNvSpPr txBox="1"/>
          <p:nvPr/>
        </p:nvSpPr>
        <p:spPr>
          <a:xfrm>
            <a:off x="548640" y="603504"/>
            <a:ext cx="10515600" cy="822960"/>
          </a:xfrm>
          <a:prstGeom prst="rect">
            <a:avLst/>
          </a:prstGeom>
          <a:noFill/>
          <a:ln/>
        </p:spPr>
        <p:txBody>
          <a:bodyPr wrap="square" lIns="0" tIns="0" rIns="0" bIns="0" rtlCol="0" anchor="t"/>
          <a:lstStyle/>
          <a:p>
            <a:pPr indent="0" marL="0">
              <a:lnSpc>
                <a:spcPct val="95000"/>
              </a:lnSpc>
              <a:buNone/>
            </a:pPr>
            <a:r>
              <a:rPr lang="en-US" sz="2500" dirty="0">
                <a:solidFill>
                  <a:srgbClr val="1A1D21"/>
                </a:solidFill>
                <a:latin typeface="Lora" pitchFamily="34" charset="0"/>
                <a:ea typeface="Lora" pitchFamily="34" charset="-122"/>
                <a:cs typeface="Lora" pitchFamily="34" charset="-120"/>
              </a:rPr>
              <a:t>La compra se hace con tres sociedades: cada financiador entra al nivel que le corresponde</a:t>
            </a:r>
            <a:endParaRPr lang="en-US" sz="2500" dirty="0"/>
          </a:p>
        </p:txBody>
      </p:sp>
      <p:sp>
        <p:nvSpPr>
          <p:cNvPr id="5" name="Shape 2"/>
          <p:cNvSpPr/>
          <p:nvPr/>
        </p:nvSpPr>
        <p:spPr>
          <a:xfrm>
            <a:off x="3246120" y="1645920"/>
            <a:ext cx="2194560" cy="731520"/>
          </a:xfrm>
          <a:prstGeom prst="rect">
            <a:avLst>
              <a:gd name="adj" fmla="val 7500"/>
            </a:avLst>
          </a:prstGeom>
          <a:solidFill>
            <a:srgbClr val="1A1D21"/>
          </a:solidFill>
          <a:ln/>
        </p:spPr>
      </p:sp>
      <p:sp>
        <p:nvSpPr>
          <p:cNvPr id="6" name="Text 3"/>
          <p:cNvSpPr txBox="1"/>
          <p:nvPr/>
        </p:nvSpPr>
        <p:spPr>
          <a:xfrm>
            <a:off x="3246120" y="1719072"/>
            <a:ext cx="2194560" cy="320040"/>
          </a:xfrm>
          <a:prstGeom prst="rect">
            <a:avLst/>
          </a:prstGeom>
          <a:noFill/>
          <a:ln/>
        </p:spPr>
        <p:txBody>
          <a:bodyPr wrap="square" lIns="0" tIns="0" rIns="0" bIns="0" rtlCol="0" anchor="t"/>
          <a:lstStyle/>
          <a:p>
            <a:pPr algn="ctr" indent="0" marL="0">
              <a:buNone/>
            </a:pPr>
            <a:r>
              <a:rPr lang="en-US" sz="1500" b="1" dirty="0">
                <a:solidFill>
                  <a:srgbClr val="FFFFFF"/>
                </a:solidFill>
                <a:latin typeface="Inter" pitchFamily="34" charset="0"/>
                <a:ea typeface="Inter" pitchFamily="34" charset="-122"/>
                <a:cs typeface="Inter" pitchFamily="34" charset="-120"/>
              </a:rPr>
              <a:t>TopCo</a:t>
            </a:r>
            <a:endParaRPr lang="en-US" sz="1500" dirty="0"/>
          </a:p>
        </p:txBody>
      </p:sp>
      <p:sp>
        <p:nvSpPr>
          <p:cNvPr id="7" name="Text 4"/>
          <p:cNvSpPr txBox="1"/>
          <p:nvPr/>
        </p:nvSpPr>
        <p:spPr>
          <a:xfrm>
            <a:off x="3246120" y="2048256"/>
            <a:ext cx="2194560" cy="274320"/>
          </a:xfrm>
          <a:prstGeom prst="rect">
            <a:avLst/>
          </a:prstGeom>
          <a:noFill/>
          <a:ln/>
        </p:spPr>
        <p:txBody>
          <a:bodyPr wrap="square" lIns="0" tIns="0" rIns="0" bIns="0" rtlCol="0" anchor="t"/>
          <a:lstStyle/>
          <a:p>
            <a:pPr algn="ctr" indent="0" marL="0">
              <a:buNone/>
            </a:pPr>
            <a:r>
              <a:rPr lang="en-US" sz="1100" dirty="0">
                <a:solidFill>
                  <a:srgbClr val="BFC4CA"/>
                </a:solidFill>
                <a:latin typeface="Inter" pitchFamily="34" charset="0"/>
                <a:ea typeface="Inter" pitchFamily="34" charset="-122"/>
                <a:cs typeface="Inter" pitchFamily="34" charset="-120"/>
              </a:rPr>
              <a:t>Equity €114.351m</a:t>
            </a:r>
            <a:endParaRPr lang="en-US" sz="1100" dirty="0"/>
          </a:p>
        </p:txBody>
      </p:sp>
      <p:sp>
        <p:nvSpPr>
          <p:cNvPr id="8" name="Shape 5"/>
          <p:cNvSpPr/>
          <p:nvPr/>
        </p:nvSpPr>
        <p:spPr>
          <a:xfrm>
            <a:off x="3246120" y="2743200"/>
            <a:ext cx="2194560" cy="731520"/>
          </a:xfrm>
          <a:prstGeom prst="rect">
            <a:avLst>
              <a:gd name="adj" fmla="val 7500"/>
            </a:avLst>
          </a:prstGeom>
          <a:solidFill>
            <a:srgbClr val="3A3F45"/>
          </a:solidFill>
          <a:ln/>
        </p:spPr>
      </p:sp>
      <p:sp>
        <p:nvSpPr>
          <p:cNvPr id="9" name="Text 6"/>
          <p:cNvSpPr txBox="1"/>
          <p:nvPr/>
        </p:nvSpPr>
        <p:spPr>
          <a:xfrm>
            <a:off x="3246120" y="2816352"/>
            <a:ext cx="2194560" cy="320040"/>
          </a:xfrm>
          <a:prstGeom prst="rect">
            <a:avLst/>
          </a:prstGeom>
          <a:noFill/>
          <a:ln/>
        </p:spPr>
        <p:txBody>
          <a:bodyPr wrap="square" lIns="0" tIns="0" rIns="0" bIns="0" rtlCol="0" anchor="t"/>
          <a:lstStyle/>
          <a:p>
            <a:pPr algn="ctr" indent="0" marL="0">
              <a:buNone/>
            </a:pPr>
            <a:r>
              <a:rPr lang="en-US" sz="1500" b="1" dirty="0">
                <a:solidFill>
                  <a:srgbClr val="FFFFFF"/>
                </a:solidFill>
                <a:latin typeface="Inter" pitchFamily="34" charset="0"/>
                <a:ea typeface="Inter" pitchFamily="34" charset="-122"/>
                <a:cs typeface="Inter" pitchFamily="34" charset="-120"/>
              </a:rPr>
              <a:t>MidCo</a:t>
            </a:r>
            <a:endParaRPr lang="en-US" sz="1500" dirty="0"/>
          </a:p>
        </p:txBody>
      </p:sp>
      <p:sp>
        <p:nvSpPr>
          <p:cNvPr id="10" name="Text 7"/>
          <p:cNvSpPr txBox="1"/>
          <p:nvPr/>
        </p:nvSpPr>
        <p:spPr>
          <a:xfrm>
            <a:off x="3246120" y="3145536"/>
            <a:ext cx="2194560" cy="274320"/>
          </a:xfrm>
          <a:prstGeom prst="rect">
            <a:avLst/>
          </a:prstGeom>
          <a:noFill/>
          <a:ln/>
        </p:spPr>
        <p:txBody>
          <a:bodyPr wrap="square" lIns="0" tIns="0" rIns="0" bIns="0" rtlCol="0" anchor="t"/>
          <a:lstStyle/>
          <a:p>
            <a:pPr algn="ctr" indent="0" marL="0">
              <a:buNone/>
            </a:pPr>
            <a:r>
              <a:rPr lang="en-US" sz="1100" dirty="0">
                <a:solidFill>
                  <a:srgbClr val="BFC4CA"/>
                </a:solidFill>
                <a:latin typeface="Inter" pitchFamily="34" charset="0"/>
                <a:ea typeface="Inter" pitchFamily="34" charset="-122"/>
                <a:cs typeface="Inter" pitchFamily="34" charset="-120"/>
              </a:rPr>
              <a:t>Holding intermedia</a:t>
            </a:r>
            <a:endParaRPr lang="en-US" sz="1100" dirty="0"/>
          </a:p>
        </p:txBody>
      </p:sp>
      <p:sp>
        <p:nvSpPr>
          <p:cNvPr id="11" name="Shape 8"/>
          <p:cNvSpPr/>
          <p:nvPr/>
        </p:nvSpPr>
        <p:spPr>
          <a:xfrm>
            <a:off x="3246120" y="3840480"/>
            <a:ext cx="2194560" cy="731520"/>
          </a:xfrm>
          <a:prstGeom prst="rect">
            <a:avLst>
              <a:gd name="adj" fmla="val 7500"/>
            </a:avLst>
          </a:prstGeom>
          <a:solidFill>
            <a:srgbClr val="163A30"/>
          </a:solidFill>
          <a:ln/>
        </p:spPr>
      </p:sp>
      <p:sp>
        <p:nvSpPr>
          <p:cNvPr id="12" name="Text 9"/>
          <p:cNvSpPr txBox="1"/>
          <p:nvPr/>
        </p:nvSpPr>
        <p:spPr>
          <a:xfrm>
            <a:off x="3246120" y="3913632"/>
            <a:ext cx="2194560" cy="320040"/>
          </a:xfrm>
          <a:prstGeom prst="rect">
            <a:avLst/>
          </a:prstGeom>
          <a:noFill/>
          <a:ln/>
        </p:spPr>
        <p:txBody>
          <a:bodyPr wrap="square" lIns="0" tIns="0" rIns="0" bIns="0" rtlCol="0" anchor="t"/>
          <a:lstStyle/>
          <a:p>
            <a:pPr algn="ctr" indent="0" marL="0">
              <a:buNone/>
            </a:pPr>
            <a:r>
              <a:rPr lang="en-US" sz="1500" b="1" dirty="0">
                <a:solidFill>
                  <a:srgbClr val="FFFFFF"/>
                </a:solidFill>
                <a:latin typeface="Inter" pitchFamily="34" charset="0"/>
                <a:ea typeface="Inter" pitchFamily="34" charset="-122"/>
                <a:cs typeface="Inter" pitchFamily="34" charset="-120"/>
              </a:rPr>
              <a:t>BidCo</a:t>
            </a:r>
            <a:endParaRPr lang="en-US" sz="1500" dirty="0"/>
          </a:p>
        </p:txBody>
      </p:sp>
      <p:sp>
        <p:nvSpPr>
          <p:cNvPr id="13" name="Text 10"/>
          <p:cNvSpPr txBox="1"/>
          <p:nvPr/>
        </p:nvSpPr>
        <p:spPr>
          <a:xfrm>
            <a:off x="3246120" y="4242816"/>
            <a:ext cx="2194560" cy="274320"/>
          </a:xfrm>
          <a:prstGeom prst="rect">
            <a:avLst/>
          </a:prstGeom>
          <a:noFill/>
          <a:ln/>
        </p:spPr>
        <p:txBody>
          <a:bodyPr wrap="square" lIns="0" tIns="0" rIns="0" bIns="0" rtlCol="0" anchor="t"/>
          <a:lstStyle/>
          <a:p>
            <a:pPr algn="ctr" indent="0" marL="0">
              <a:buNone/>
            </a:pPr>
            <a:r>
              <a:rPr lang="en-US" sz="1100" dirty="0">
                <a:solidFill>
                  <a:srgbClr val="BFC4CA"/>
                </a:solidFill>
                <a:latin typeface="Inter" pitchFamily="34" charset="0"/>
                <a:ea typeface="Inter" pitchFamily="34" charset="-122"/>
                <a:cs typeface="Inter" pitchFamily="34" charset="-120"/>
              </a:rPr>
              <a:t>Lanza la OPA</a:t>
            </a:r>
            <a:endParaRPr lang="en-US" sz="1100" dirty="0"/>
          </a:p>
        </p:txBody>
      </p:sp>
      <p:sp>
        <p:nvSpPr>
          <p:cNvPr id="14" name="Shape 11"/>
          <p:cNvSpPr/>
          <p:nvPr/>
        </p:nvSpPr>
        <p:spPr>
          <a:xfrm>
            <a:off x="3246120" y="4937760"/>
            <a:ext cx="2194560" cy="777240"/>
          </a:xfrm>
          <a:prstGeom prst="rect">
            <a:avLst>
              <a:gd name="adj" fmla="val 7059"/>
            </a:avLst>
          </a:prstGeom>
          <a:solidFill>
            <a:srgbClr val="E7EFEA"/>
          </a:solidFill>
          <a:ln w="12700">
            <a:solidFill>
              <a:srgbClr val="1F4B3F"/>
            </a:solidFill>
            <a:prstDash val="solid"/>
          </a:ln>
        </p:spPr>
      </p:sp>
      <p:sp>
        <p:nvSpPr>
          <p:cNvPr id="15" name="Text 12"/>
          <p:cNvSpPr txBox="1"/>
          <p:nvPr/>
        </p:nvSpPr>
        <p:spPr>
          <a:xfrm>
            <a:off x="3246120" y="5010912"/>
            <a:ext cx="2194560" cy="320040"/>
          </a:xfrm>
          <a:prstGeom prst="rect">
            <a:avLst/>
          </a:prstGeom>
          <a:noFill/>
          <a:ln/>
        </p:spPr>
        <p:txBody>
          <a:bodyPr wrap="square" lIns="0" tIns="0" rIns="0" bIns="0" rtlCol="0" anchor="t"/>
          <a:lstStyle/>
          <a:p>
            <a:pPr algn="ctr" indent="0" marL="0">
              <a:buNone/>
            </a:pPr>
            <a:r>
              <a:rPr lang="en-US" sz="1500" b="1" dirty="0">
                <a:solidFill>
                  <a:srgbClr val="1A1D21"/>
                </a:solidFill>
                <a:latin typeface="Inter" pitchFamily="34" charset="0"/>
                <a:ea typeface="Inter" pitchFamily="34" charset="-122"/>
                <a:cs typeface="Inter" pitchFamily="34" charset="-120"/>
              </a:rPr>
              <a:t>Inditex · 100%</a:t>
            </a:r>
            <a:endParaRPr lang="en-US" sz="1500" dirty="0"/>
          </a:p>
        </p:txBody>
      </p:sp>
      <p:sp>
        <p:nvSpPr>
          <p:cNvPr id="16" name="Text 13"/>
          <p:cNvSpPr txBox="1"/>
          <p:nvPr/>
        </p:nvSpPr>
        <p:spPr>
          <a:xfrm>
            <a:off x="3246120" y="5349240"/>
            <a:ext cx="2194560" cy="274320"/>
          </a:xfrm>
          <a:prstGeom prst="rect">
            <a:avLst/>
          </a:prstGeom>
          <a:noFill/>
          <a:ln/>
        </p:spPr>
        <p:txBody>
          <a:bodyPr wrap="square" lIns="0" tIns="0" rIns="0" bIns="0" rtlCol="0" anchor="t"/>
          <a:lstStyle/>
          <a:p>
            <a:pPr algn="ctr" indent="0" marL="0">
              <a:buNone/>
            </a:pPr>
            <a:r>
              <a:rPr lang="en-US" sz="1050" dirty="0">
                <a:solidFill>
                  <a:srgbClr val="1F2124"/>
                </a:solidFill>
                <a:latin typeface="Inter" pitchFamily="34" charset="0"/>
                <a:ea typeface="Inter" pitchFamily="34" charset="-122"/>
                <a:cs typeface="Inter" pitchFamily="34" charset="-120"/>
              </a:rPr>
              <a:t>EBITDA €9.433m · caja €9.958m</a:t>
            </a:r>
            <a:endParaRPr lang="en-US" sz="1050" dirty="0"/>
          </a:p>
        </p:txBody>
      </p:sp>
      <p:sp>
        <p:nvSpPr>
          <p:cNvPr id="17" name="Shape 14"/>
          <p:cNvSpPr/>
          <p:nvPr/>
        </p:nvSpPr>
        <p:spPr>
          <a:xfrm>
            <a:off x="4343400" y="2377440"/>
            <a:ext cx="0" cy="365760"/>
          </a:xfrm>
          <a:prstGeom prst="line">
            <a:avLst/>
          </a:prstGeom>
          <a:noFill/>
          <a:ln w="15875">
            <a:solidFill>
              <a:srgbClr val="6E7378"/>
            </a:solidFill>
            <a:prstDash val="solid"/>
            <a:tailEnd type="triangle"/>
          </a:ln>
        </p:spPr>
      </p:sp>
      <p:sp>
        <p:nvSpPr>
          <p:cNvPr id="18" name="Shape 15"/>
          <p:cNvSpPr/>
          <p:nvPr/>
        </p:nvSpPr>
        <p:spPr>
          <a:xfrm>
            <a:off x="4343400" y="3474720"/>
            <a:ext cx="0" cy="365760"/>
          </a:xfrm>
          <a:prstGeom prst="line">
            <a:avLst/>
          </a:prstGeom>
          <a:noFill/>
          <a:ln w="15875">
            <a:solidFill>
              <a:srgbClr val="6E7378"/>
            </a:solidFill>
            <a:prstDash val="solid"/>
            <a:tailEnd type="triangle"/>
          </a:ln>
        </p:spPr>
      </p:sp>
      <p:sp>
        <p:nvSpPr>
          <p:cNvPr id="19" name="Shape 16"/>
          <p:cNvSpPr/>
          <p:nvPr/>
        </p:nvSpPr>
        <p:spPr>
          <a:xfrm>
            <a:off x="4343400" y="4572000"/>
            <a:ext cx="0" cy="365760"/>
          </a:xfrm>
          <a:prstGeom prst="line">
            <a:avLst/>
          </a:prstGeom>
          <a:noFill/>
          <a:ln w="15875">
            <a:solidFill>
              <a:srgbClr val="6E7378"/>
            </a:solidFill>
            <a:prstDash val="solid"/>
            <a:tailEnd type="triangle"/>
          </a:ln>
        </p:spPr>
      </p:sp>
      <p:sp>
        <p:nvSpPr>
          <p:cNvPr id="20" name="Shape 17"/>
          <p:cNvSpPr/>
          <p:nvPr/>
        </p:nvSpPr>
        <p:spPr>
          <a:xfrm>
            <a:off x="548640" y="1508760"/>
            <a:ext cx="2331720" cy="1005840"/>
          </a:xfrm>
          <a:prstGeom prst="rect">
            <a:avLst>
              <a:gd name="adj" fmla="val 5455"/>
            </a:avLst>
          </a:prstGeom>
          <a:solidFill>
            <a:srgbClr val="F3F3F2"/>
          </a:solidFill>
          <a:ln/>
        </p:spPr>
      </p:sp>
      <p:sp>
        <p:nvSpPr>
          <p:cNvPr id="21" name="Text 18"/>
          <p:cNvSpPr txBox="1"/>
          <p:nvPr/>
        </p:nvSpPr>
        <p:spPr>
          <a:xfrm>
            <a:off x="685800" y="1581912"/>
            <a:ext cx="2057400" cy="274320"/>
          </a:xfrm>
          <a:prstGeom prst="rect">
            <a:avLst/>
          </a:prstGeom>
          <a:noFill/>
          <a:ln/>
        </p:spPr>
        <p:txBody>
          <a:bodyPr wrap="square" lIns="0" tIns="0" rIns="0" bIns="0" rtlCol="0" anchor="t"/>
          <a:lstStyle/>
          <a:p>
            <a:pPr indent="0" marL="0">
              <a:buNone/>
            </a:pPr>
            <a:r>
              <a:rPr lang="en-US" sz="1250" b="1" dirty="0">
                <a:solidFill>
                  <a:srgbClr val="1A1D21"/>
                </a:solidFill>
                <a:latin typeface="Inter" pitchFamily="34" charset="0"/>
                <a:ea typeface="Inter" pitchFamily="34" charset="-122"/>
                <a:cs typeface="Inter" pitchFamily="34" charset="-120"/>
              </a:rPr>
              <a:t>Accionistas</a:t>
            </a:r>
            <a:endParaRPr lang="en-US" sz="1250" dirty="0"/>
          </a:p>
        </p:txBody>
      </p:sp>
      <p:sp>
        <p:nvSpPr>
          <p:cNvPr id="22" name="Text 19"/>
          <p:cNvSpPr txBox="1"/>
          <p:nvPr/>
        </p:nvSpPr>
        <p:spPr>
          <a:xfrm>
            <a:off x="685800" y="1874520"/>
            <a:ext cx="2057400" cy="594360"/>
          </a:xfrm>
          <a:prstGeom prst="rect">
            <a:avLst/>
          </a:prstGeom>
          <a:noFill/>
          <a:ln/>
        </p:spPr>
        <p:txBody>
          <a:bodyPr wrap="square" lIns="0" tIns="0" rIns="0" bIns="0" rtlCol="0" anchor="t"/>
          <a:lstStyle/>
          <a:p>
            <a:pPr indent="0" marL="0">
              <a:buNone/>
            </a:pPr>
            <a:r>
              <a:rPr lang="en-US" sz="1050" dirty="0">
                <a:solidFill>
                  <a:srgbClr val="1F2124"/>
                </a:solidFill>
                <a:latin typeface="Inter" pitchFamily="34" charset="0"/>
                <a:ea typeface="Inter" pitchFamily="34" charset="-122"/>
                <a:cs typeface="Inter" pitchFamily="34" charset="-120"/>
              </a:rPr>
              <a:t>Amancio 43,4% · GP 8,5% · LPs 48,1%</a:t>
            </a:r>
            <a:endParaRPr lang="en-US" sz="1050" dirty="0"/>
          </a:p>
        </p:txBody>
      </p:sp>
      <p:sp>
        <p:nvSpPr>
          <p:cNvPr id="23" name="Shape 20"/>
          <p:cNvSpPr/>
          <p:nvPr/>
        </p:nvSpPr>
        <p:spPr>
          <a:xfrm>
            <a:off x="548640" y="3703320"/>
            <a:ext cx="2331720" cy="1005840"/>
          </a:xfrm>
          <a:prstGeom prst="rect">
            <a:avLst>
              <a:gd name="adj" fmla="val 5455"/>
            </a:avLst>
          </a:prstGeom>
          <a:solidFill>
            <a:srgbClr val="F3F3F2"/>
          </a:solidFill>
          <a:ln/>
        </p:spPr>
      </p:sp>
      <p:sp>
        <p:nvSpPr>
          <p:cNvPr id="24" name="Text 21"/>
          <p:cNvSpPr txBox="1"/>
          <p:nvPr/>
        </p:nvSpPr>
        <p:spPr>
          <a:xfrm>
            <a:off x="685800" y="3776472"/>
            <a:ext cx="2057400" cy="274320"/>
          </a:xfrm>
          <a:prstGeom prst="rect">
            <a:avLst/>
          </a:prstGeom>
          <a:noFill/>
          <a:ln/>
        </p:spPr>
        <p:txBody>
          <a:bodyPr wrap="square" lIns="0" tIns="0" rIns="0" bIns="0" rtlCol="0" anchor="t"/>
          <a:lstStyle/>
          <a:p>
            <a:pPr indent="0" marL="0">
              <a:buNone/>
            </a:pPr>
            <a:r>
              <a:rPr lang="en-US" sz="1250" b="1" dirty="0">
                <a:solidFill>
                  <a:srgbClr val="1A1D21"/>
                </a:solidFill>
                <a:latin typeface="Inter" pitchFamily="34" charset="0"/>
                <a:ea typeface="Inter" pitchFamily="34" charset="-122"/>
                <a:cs typeface="Inter" pitchFamily="34" charset="-120"/>
              </a:rPr>
              <a:t>Vendedores en la OPA</a:t>
            </a:r>
            <a:endParaRPr lang="en-US" sz="1250" dirty="0"/>
          </a:p>
        </p:txBody>
      </p:sp>
      <p:sp>
        <p:nvSpPr>
          <p:cNvPr id="25" name="Text 22"/>
          <p:cNvSpPr txBox="1"/>
          <p:nvPr/>
        </p:nvSpPr>
        <p:spPr>
          <a:xfrm>
            <a:off x="685800" y="4069080"/>
            <a:ext cx="2057400" cy="594360"/>
          </a:xfrm>
          <a:prstGeom prst="rect">
            <a:avLst/>
          </a:prstGeom>
          <a:noFill/>
          <a:ln/>
        </p:spPr>
        <p:txBody>
          <a:bodyPr wrap="square" lIns="0" tIns="0" rIns="0" bIns="0" rtlCol="0" anchor="t"/>
          <a:lstStyle/>
          <a:p>
            <a:pPr indent="0" marL="0">
              <a:buNone/>
            </a:pPr>
            <a:r>
              <a:rPr lang="en-US" sz="1050" dirty="0">
                <a:solidFill>
                  <a:srgbClr val="1F2124"/>
                </a:solidFill>
                <a:latin typeface="Inter" pitchFamily="34" charset="0"/>
                <a:ea typeface="Inter" pitchFamily="34" charset="-122"/>
                <a:cs typeface="Inter" pitchFamily="34" charset="-120"/>
              </a:rPr>
              <a:t>€148.975m en efectivo</a:t>
            </a:r>
            <a:endParaRPr lang="en-US" sz="1050" dirty="0"/>
          </a:p>
        </p:txBody>
      </p:sp>
      <p:sp>
        <p:nvSpPr>
          <p:cNvPr id="26" name="Shape 23"/>
          <p:cNvSpPr/>
          <p:nvPr/>
        </p:nvSpPr>
        <p:spPr>
          <a:xfrm>
            <a:off x="2880360" y="2011680"/>
            <a:ext cx="365760" cy="0"/>
          </a:xfrm>
          <a:prstGeom prst="line">
            <a:avLst/>
          </a:prstGeom>
          <a:noFill/>
          <a:ln w="15875">
            <a:solidFill>
              <a:srgbClr val="6E7378"/>
            </a:solidFill>
            <a:prstDash val="solid"/>
            <a:tailEnd type="triangle"/>
          </a:ln>
        </p:spPr>
      </p:sp>
      <p:sp>
        <p:nvSpPr>
          <p:cNvPr id="27" name="Shape 24"/>
          <p:cNvSpPr/>
          <p:nvPr/>
        </p:nvSpPr>
        <p:spPr>
          <a:xfrm>
            <a:off x="2880360" y="4206240"/>
            <a:ext cx="365760" cy="0"/>
          </a:xfrm>
          <a:prstGeom prst="line">
            <a:avLst/>
          </a:prstGeom>
          <a:noFill/>
          <a:ln w="15875">
            <a:solidFill>
              <a:srgbClr val="6E7378"/>
            </a:solidFill>
            <a:prstDash val="solid"/>
            <a:headEnd type="triangle"/>
          </a:ln>
        </p:spPr>
      </p:sp>
      <p:sp>
        <p:nvSpPr>
          <p:cNvPr id="28" name="Shape 25"/>
          <p:cNvSpPr/>
          <p:nvPr/>
        </p:nvSpPr>
        <p:spPr>
          <a:xfrm>
            <a:off x="5806440" y="1508760"/>
            <a:ext cx="2514600" cy="1005840"/>
          </a:xfrm>
          <a:prstGeom prst="rect">
            <a:avLst>
              <a:gd name="adj" fmla="val 5455"/>
            </a:avLst>
          </a:prstGeom>
          <a:solidFill>
            <a:srgbClr val="F3F3F2"/>
          </a:solidFill>
          <a:ln/>
        </p:spPr>
      </p:sp>
      <p:sp>
        <p:nvSpPr>
          <p:cNvPr id="29" name="Text 26"/>
          <p:cNvSpPr txBox="1"/>
          <p:nvPr/>
        </p:nvSpPr>
        <p:spPr>
          <a:xfrm>
            <a:off x="5943600" y="1581912"/>
            <a:ext cx="2240280" cy="274320"/>
          </a:xfrm>
          <a:prstGeom prst="rect">
            <a:avLst/>
          </a:prstGeom>
          <a:noFill/>
          <a:ln/>
        </p:spPr>
        <p:txBody>
          <a:bodyPr wrap="square" lIns="0" tIns="0" rIns="0" bIns="0" rtlCol="0" anchor="t"/>
          <a:lstStyle/>
          <a:p>
            <a:pPr indent="0" marL="0">
              <a:buNone/>
            </a:pPr>
            <a:r>
              <a:rPr lang="en-US" sz="1250" b="1" dirty="0">
                <a:solidFill>
                  <a:srgbClr val="1A1D21"/>
                </a:solidFill>
                <a:latin typeface="Inter" pitchFamily="34" charset="0"/>
                <a:ea typeface="Inter" pitchFamily="34" charset="-122"/>
                <a:cs typeface="Inter" pitchFamily="34" charset="-120"/>
              </a:rPr>
              <a:t>Sandra Ortega · acreedora</a:t>
            </a:r>
            <a:endParaRPr lang="en-US" sz="1250" dirty="0"/>
          </a:p>
        </p:txBody>
      </p:sp>
      <p:sp>
        <p:nvSpPr>
          <p:cNvPr id="30" name="Text 27"/>
          <p:cNvSpPr txBox="1"/>
          <p:nvPr/>
        </p:nvSpPr>
        <p:spPr>
          <a:xfrm>
            <a:off x="5943600" y="1874520"/>
            <a:ext cx="2240280" cy="594360"/>
          </a:xfrm>
          <a:prstGeom prst="rect">
            <a:avLst/>
          </a:prstGeom>
          <a:noFill/>
          <a:ln/>
        </p:spPr>
        <p:txBody>
          <a:bodyPr wrap="square" lIns="0" tIns="0" rIns="0" bIns="0" rtlCol="0" anchor="t"/>
          <a:lstStyle/>
          <a:p>
            <a:pPr indent="0" marL="0">
              <a:buNone/>
            </a:pPr>
            <a:r>
              <a:rPr lang="en-US" sz="1050" dirty="0">
                <a:solidFill>
                  <a:srgbClr val="1F2124"/>
                </a:solidFill>
                <a:latin typeface="Inter" pitchFamily="34" charset="0"/>
                <a:ea typeface="Inter" pitchFamily="34" charset="-122"/>
                <a:cs typeface="Inter" pitchFamily="34" charset="-120"/>
              </a:rPr>
              <a:t>Vende su 5,05% y presta €10.925m a la TopCo al 5%. Sin acciones.</a:t>
            </a:r>
            <a:endParaRPr lang="en-US" sz="1050" dirty="0"/>
          </a:p>
        </p:txBody>
      </p:sp>
      <p:sp>
        <p:nvSpPr>
          <p:cNvPr id="31" name="Shape 28"/>
          <p:cNvSpPr/>
          <p:nvPr/>
        </p:nvSpPr>
        <p:spPr>
          <a:xfrm>
            <a:off x="5806440" y="2606040"/>
            <a:ext cx="2514600" cy="1005840"/>
          </a:xfrm>
          <a:prstGeom prst="rect">
            <a:avLst>
              <a:gd name="adj" fmla="val 5455"/>
            </a:avLst>
          </a:prstGeom>
          <a:solidFill>
            <a:srgbClr val="F3F3F2"/>
          </a:solidFill>
          <a:ln/>
        </p:spPr>
      </p:sp>
      <p:sp>
        <p:nvSpPr>
          <p:cNvPr id="32" name="Text 29"/>
          <p:cNvSpPr txBox="1"/>
          <p:nvPr/>
        </p:nvSpPr>
        <p:spPr>
          <a:xfrm>
            <a:off x="5943600" y="2679192"/>
            <a:ext cx="2240280" cy="274320"/>
          </a:xfrm>
          <a:prstGeom prst="rect">
            <a:avLst/>
          </a:prstGeom>
          <a:noFill/>
          <a:ln/>
        </p:spPr>
        <p:txBody>
          <a:bodyPr wrap="square" lIns="0" tIns="0" rIns="0" bIns="0" rtlCol="0" anchor="t"/>
          <a:lstStyle/>
          <a:p>
            <a:pPr indent="0" marL="0">
              <a:buNone/>
            </a:pPr>
            <a:r>
              <a:rPr lang="en-US" sz="1250" b="1" dirty="0">
                <a:solidFill>
                  <a:srgbClr val="1A1D21"/>
                </a:solidFill>
                <a:latin typeface="Inter" pitchFamily="34" charset="0"/>
                <a:ea typeface="Inter" pitchFamily="34" charset="-122"/>
                <a:cs typeface="Inter" pitchFamily="34" charset="-120"/>
              </a:rPr>
              <a:t>Mezzanine</a:t>
            </a:r>
            <a:endParaRPr lang="en-US" sz="1250" dirty="0"/>
          </a:p>
        </p:txBody>
      </p:sp>
      <p:sp>
        <p:nvSpPr>
          <p:cNvPr id="33" name="Text 30"/>
          <p:cNvSpPr txBox="1"/>
          <p:nvPr/>
        </p:nvSpPr>
        <p:spPr>
          <a:xfrm>
            <a:off x="5943600" y="2971800"/>
            <a:ext cx="2240280" cy="594360"/>
          </a:xfrm>
          <a:prstGeom prst="rect">
            <a:avLst/>
          </a:prstGeom>
          <a:noFill/>
          <a:ln/>
        </p:spPr>
        <p:txBody>
          <a:bodyPr wrap="square" lIns="0" tIns="0" rIns="0" bIns="0" rtlCol="0" anchor="t"/>
          <a:lstStyle/>
          <a:p>
            <a:pPr indent="0" marL="0">
              <a:buNone/>
            </a:pPr>
            <a:r>
              <a:rPr lang="en-US" sz="1050" dirty="0">
                <a:solidFill>
                  <a:srgbClr val="1F2124"/>
                </a:solidFill>
                <a:latin typeface="Inter" pitchFamily="34" charset="0"/>
                <a:ea typeface="Inter" pitchFamily="34" charset="-122"/>
                <a:cs typeface="Inter" pitchFamily="34" charset="-120"/>
              </a:rPr>
              <a:t>€14.150m · 10,5% PIK · club de 9 fondos</a:t>
            </a:r>
            <a:endParaRPr lang="en-US" sz="1050" dirty="0"/>
          </a:p>
        </p:txBody>
      </p:sp>
      <p:sp>
        <p:nvSpPr>
          <p:cNvPr id="34" name="Shape 31"/>
          <p:cNvSpPr/>
          <p:nvPr/>
        </p:nvSpPr>
        <p:spPr>
          <a:xfrm>
            <a:off x="5806440" y="3703320"/>
            <a:ext cx="2514600" cy="1005840"/>
          </a:xfrm>
          <a:prstGeom prst="rect">
            <a:avLst>
              <a:gd name="adj" fmla="val 5455"/>
            </a:avLst>
          </a:prstGeom>
          <a:solidFill>
            <a:srgbClr val="EDEDEB"/>
          </a:solidFill>
          <a:ln/>
        </p:spPr>
      </p:sp>
      <p:sp>
        <p:nvSpPr>
          <p:cNvPr id="35" name="Text 32"/>
          <p:cNvSpPr txBox="1"/>
          <p:nvPr/>
        </p:nvSpPr>
        <p:spPr>
          <a:xfrm>
            <a:off x="5943600" y="3776472"/>
            <a:ext cx="2240280" cy="274320"/>
          </a:xfrm>
          <a:prstGeom prst="rect">
            <a:avLst/>
          </a:prstGeom>
          <a:noFill/>
          <a:ln/>
        </p:spPr>
        <p:txBody>
          <a:bodyPr wrap="square" lIns="0" tIns="0" rIns="0" bIns="0" rtlCol="0" anchor="t"/>
          <a:lstStyle/>
          <a:p>
            <a:pPr indent="0" marL="0">
              <a:buNone/>
            </a:pPr>
            <a:r>
              <a:rPr lang="en-US" sz="1250" b="1" dirty="0">
                <a:solidFill>
                  <a:srgbClr val="1A1D21"/>
                </a:solidFill>
                <a:latin typeface="Inter" pitchFamily="34" charset="0"/>
                <a:ea typeface="Inter" pitchFamily="34" charset="-122"/>
                <a:cs typeface="Inter" pitchFamily="34" charset="-120"/>
              </a:rPr>
              <a:t>Deuda senior · 5,5x</a:t>
            </a:r>
            <a:endParaRPr lang="en-US" sz="1250" dirty="0"/>
          </a:p>
        </p:txBody>
      </p:sp>
      <p:sp>
        <p:nvSpPr>
          <p:cNvPr id="36" name="Text 33"/>
          <p:cNvSpPr txBox="1"/>
          <p:nvPr/>
        </p:nvSpPr>
        <p:spPr>
          <a:xfrm>
            <a:off x="5943600" y="4069080"/>
            <a:ext cx="2240280" cy="594360"/>
          </a:xfrm>
          <a:prstGeom prst="rect">
            <a:avLst/>
          </a:prstGeom>
          <a:noFill/>
          <a:ln/>
        </p:spPr>
        <p:txBody>
          <a:bodyPr wrap="square" lIns="0" tIns="0" rIns="0" bIns="0" rtlCol="0" anchor="t"/>
          <a:lstStyle/>
          <a:p>
            <a:pPr indent="0" marL="0">
              <a:buNone/>
            </a:pPr>
            <a:r>
              <a:rPr lang="en-US" sz="1050" dirty="0">
                <a:solidFill>
                  <a:srgbClr val="1F2124"/>
                </a:solidFill>
                <a:latin typeface="Inter" pitchFamily="34" charset="0"/>
                <a:ea typeface="Inter" pitchFamily="34" charset="-122"/>
                <a:cs typeface="Inter" pitchFamily="34" charset="-120"/>
              </a:rPr>
              <a:t>TLA €18.866m · TLB €33.016m · RCF €1.000m</a:t>
            </a:r>
            <a:endParaRPr lang="en-US" sz="1050" dirty="0"/>
          </a:p>
        </p:txBody>
      </p:sp>
      <p:sp>
        <p:nvSpPr>
          <p:cNvPr id="37" name="Shape 34"/>
          <p:cNvSpPr/>
          <p:nvPr/>
        </p:nvSpPr>
        <p:spPr>
          <a:xfrm>
            <a:off x="5440680" y="2011680"/>
            <a:ext cx="365760" cy="0"/>
          </a:xfrm>
          <a:prstGeom prst="line">
            <a:avLst/>
          </a:prstGeom>
          <a:noFill/>
          <a:ln w="15875">
            <a:solidFill>
              <a:srgbClr val="6E7378"/>
            </a:solidFill>
            <a:prstDash val="solid"/>
            <a:headEnd type="triangle"/>
          </a:ln>
        </p:spPr>
      </p:sp>
      <p:sp>
        <p:nvSpPr>
          <p:cNvPr id="38" name="Shape 35"/>
          <p:cNvSpPr/>
          <p:nvPr/>
        </p:nvSpPr>
        <p:spPr>
          <a:xfrm>
            <a:off x="5440680" y="3108960"/>
            <a:ext cx="365760" cy="0"/>
          </a:xfrm>
          <a:prstGeom prst="line">
            <a:avLst/>
          </a:prstGeom>
          <a:noFill/>
          <a:ln w="15875">
            <a:solidFill>
              <a:srgbClr val="6E7378"/>
            </a:solidFill>
            <a:prstDash val="solid"/>
            <a:headEnd type="triangle"/>
          </a:ln>
        </p:spPr>
      </p:sp>
      <p:sp>
        <p:nvSpPr>
          <p:cNvPr id="39" name="Shape 36"/>
          <p:cNvSpPr/>
          <p:nvPr/>
        </p:nvSpPr>
        <p:spPr>
          <a:xfrm>
            <a:off x="5440680" y="4206240"/>
            <a:ext cx="365760" cy="0"/>
          </a:xfrm>
          <a:prstGeom prst="line">
            <a:avLst/>
          </a:prstGeom>
          <a:noFill/>
          <a:ln w="15875">
            <a:solidFill>
              <a:srgbClr val="6E7378"/>
            </a:solidFill>
            <a:prstDash val="solid"/>
            <a:headEnd type="triangle"/>
          </a:ln>
        </p:spPr>
      </p:sp>
      <p:sp>
        <p:nvSpPr>
          <p:cNvPr id="40" name="Shape 37"/>
          <p:cNvSpPr/>
          <p:nvPr/>
        </p:nvSpPr>
        <p:spPr>
          <a:xfrm>
            <a:off x="8641080" y="1508760"/>
            <a:ext cx="2999232" cy="4572000"/>
          </a:xfrm>
          <a:prstGeom prst="rect">
            <a:avLst>
              <a:gd name="adj" fmla="val 1829"/>
            </a:avLst>
          </a:prstGeom>
          <a:solidFill>
            <a:srgbClr val="1A1D21"/>
          </a:solidFill>
          <a:ln/>
        </p:spPr>
      </p:sp>
      <p:sp>
        <p:nvSpPr>
          <p:cNvPr id="41" name="Text 38"/>
          <p:cNvSpPr txBox="1"/>
          <p:nvPr/>
        </p:nvSpPr>
        <p:spPr>
          <a:xfrm>
            <a:off x="8823960" y="1645920"/>
            <a:ext cx="2651760" cy="274320"/>
          </a:xfrm>
          <a:prstGeom prst="rect">
            <a:avLst/>
          </a:prstGeom>
          <a:noFill/>
          <a:ln/>
        </p:spPr>
        <p:txBody>
          <a:bodyPr wrap="square" lIns="0" tIns="0" rIns="0" bIns="0" rtlCol="0" anchor="t"/>
          <a:lstStyle/>
          <a:p>
            <a:pPr indent="0" marL="0">
              <a:buNone/>
            </a:pPr>
            <a:r>
              <a:rPr lang="en-US" sz="1400" b="1" dirty="0">
                <a:solidFill>
                  <a:srgbClr val="A8C9B8"/>
                </a:solidFill>
                <a:latin typeface="Inter" pitchFamily="34" charset="0"/>
                <a:ea typeface="Inter" pitchFamily="34" charset="-122"/>
                <a:cs typeface="Inter" pitchFamily="34" charset="-120"/>
              </a:rPr>
              <a:t>Por qué así</a:t>
            </a:r>
            <a:endParaRPr lang="en-US" sz="1400" dirty="0"/>
          </a:p>
        </p:txBody>
      </p:sp>
      <p:sp>
        <p:nvSpPr>
          <p:cNvPr id="42" name="Text 39"/>
          <p:cNvSpPr txBox="1"/>
          <p:nvPr/>
        </p:nvSpPr>
        <p:spPr>
          <a:xfrm>
            <a:off x="8823960" y="2011680"/>
            <a:ext cx="2697480" cy="3977640"/>
          </a:xfrm>
          <a:prstGeom prst="rect">
            <a:avLst/>
          </a:prstGeom>
          <a:noFill/>
          <a:ln/>
        </p:spPr>
        <p:txBody>
          <a:bodyPr wrap="square" lIns="0" tIns="0" rIns="0" bIns="0" rtlCol="0" anchor="t"/>
          <a:lstStyle/>
          <a:p>
            <a:pPr indent="0" marL="0">
              <a:lnSpc>
                <a:spcPct val="105000"/>
              </a:lnSpc>
              <a:buNone/>
            </a:pPr>
            <a:r>
              <a:rPr lang="en-US" sz="1150" b="1" dirty="0">
                <a:solidFill>
                  <a:srgbClr val="FFFFFF"/>
                </a:solidFill>
                <a:latin typeface="Inter" pitchFamily="34" charset="0"/>
                <a:ea typeface="Inter" pitchFamily="34" charset="-122"/>
                <a:cs typeface="Inter" pitchFamily="34" charset="-120"/>
              </a:rPr>
              <a:t>TopCo: </a:t>
            </a:r>
            <a:pPr indent="0" marL="0">
              <a:lnSpc>
                <a:spcPct val="105000"/>
              </a:lnSpc>
              <a:buNone/>
            </a:pPr>
            <a:r>
              <a:rPr lang="en-US" sz="1150" dirty="0">
                <a:solidFill>
                  <a:srgbClr val="D9D9D6"/>
                </a:solidFill>
                <a:latin typeface="Inter" pitchFamily="34" charset="0"/>
                <a:ea typeface="Inter" pitchFamily="34" charset="-122"/>
                <a:cs typeface="Inter" pitchFamily="34" charset="-120"/>
              </a:rPr>
              <a:t>reúne a los accionistas y el pacto de socios.</a:t>
            </a:r>
            <a:endParaRPr lang="en-US" sz="1150" dirty="0"/>
          </a:p>
          <a:p>
            <a:pPr indent="0" marL="0">
              <a:lnSpc>
                <a:spcPct val="105000"/>
              </a:lnSpc>
              <a:buNone/>
            </a:pPr>
            <a:r>
              <a:rPr lang="en-US" sz="500" dirty="0">
                <a:solidFill>
                  <a:srgbClr val="D9D9D6"/>
                </a:solidFill>
                <a:latin typeface="Inter" pitchFamily="34" charset="0"/>
                <a:ea typeface="Inter" pitchFamily="34" charset="-122"/>
                <a:cs typeface="Inter" pitchFamily="34" charset="-120"/>
              </a:rPr>
              <a:t> </a:t>
            </a:r>
            <a:endParaRPr lang="en-US" sz="1150" dirty="0"/>
          </a:p>
          <a:p>
            <a:pPr indent="0" marL="0">
              <a:lnSpc>
                <a:spcPct val="105000"/>
              </a:lnSpc>
              <a:buNone/>
            </a:pPr>
            <a:r>
              <a:rPr lang="en-US" sz="1150" b="1" dirty="0">
                <a:solidFill>
                  <a:srgbClr val="FFFFFF"/>
                </a:solidFill>
                <a:latin typeface="Inter" pitchFamily="34" charset="0"/>
                <a:ea typeface="Inter" pitchFamily="34" charset="-122"/>
                <a:cs typeface="Inter" pitchFamily="34" charset="-120"/>
              </a:rPr>
              <a:t>MidCo: </a:t>
            </a:r>
            <a:pPr indent="0" marL="0">
              <a:lnSpc>
                <a:spcPct val="105000"/>
              </a:lnSpc>
              <a:buNone/>
            </a:pPr>
            <a:r>
              <a:rPr lang="en-US" sz="1150" dirty="0">
                <a:solidFill>
                  <a:srgbClr val="D9D9D6"/>
                </a:solidFill>
                <a:latin typeface="Inter" pitchFamily="34" charset="0"/>
                <a:ea typeface="Inter" pitchFamily="34" charset="-122"/>
                <a:cs typeface="Inter" pitchFamily="34" charset="-120"/>
              </a:rPr>
              <a:t>la mezzanine solo cobra lo que sube después de pagar la senior (subordinación estructural).</a:t>
            </a:r>
            <a:endParaRPr lang="en-US" sz="1150" dirty="0"/>
          </a:p>
          <a:p>
            <a:pPr indent="0" marL="0">
              <a:lnSpc>
                <a:spcPct val="105000"/>
              </a:lnSpc>
              <a:buNone/>
            </a:pPr>
            <a:r>
              <a:rPr lang="en-US" sz="500" dirty="0">
                <a:solidFill>
                  <a:srgbClr val="D9D9D6"/>
                </a:solidFill>
                <a:latin typeface="Inter" pitchFamily="34" charset="0"/>
                <a:ea typeface="Inter" pitchFamily="34" charset="-122"/>
                <a:cs typeface="Inter" pitchFamily="34" charset="-120"/>
              </a:rPr>
              <a:t> </a:t>
            </a:r>
            <a:endParaRPr lang="en-US" sz="1150" dirty="0"/>
          </a:p>
          <a:p>
            <a:pPr indent="0" marL="0">
              <a:lnSpc>
                <a:spcPct val="105000"/>
              </a:lnSpc>
              <a:buNone/>
            </a:pPr>
            <a:r>
              <a:rPr lang="en-US" sz="1150" b="1" dirty="0">
                <a:solidFill>
                  <a:srgbClr val="FFFFFF"/>
                </a:solidFill>
                <a:latin typeface="Inter" pitchFamily="34" charset="0"/>
                <a:ea typeface="Inter" pitchFamily="34" charset="-122"/>
                <a:cs typeface="Inter" pitchFamily="34" charset="-120"/>
              </a:rPr>
              <a:t>BidCo: </a:t>
            </a:r>
            <a:pPr indent="0" marL="0">
              <a:lnSpc>
                <a:spcPct val="105000"/>
              </a:lnSpc>
              <a:buNone/>
            </a:pPr>
            <a:r>
              <a:rPr lang="en-US" sz="1150" dirty="0">
                <a:solidFill>
                  <a:srgbClr val="D9D9D6"/>
                </a:solidFill>
                <a:latin typeface="Inter" pitchFamily="34" charset="0"/>
                <a:ea typeface="Inter" pitchFamily="34" charset="-122"/>
                <a:cs typeface="Inter" pitchFamily="34" charset="-120"/>
              </a:rPr>
              <a:t>recibe la deuda senior y paga la OPA.</a:t>
            </a:r>
            <a:endParaRPr lang="en-US" sz="1150" dirty="0"/>
          </a:p>
          <a:p>
            <a:pPr indent="0" marL="0">
              <a:lnSpc>
                <a:spcPct val="105000"/>
              </a:lnSpc>
              <a:buNone/>
            </a:pPr>
            <a:r>
              <a:rPr lang="en-US" sz="500" dirty="0">
                <a:solidFill>
                  <a:srgbClr val="D9D9D6"/>
                </a:solidFill>
                <a:latin typeface="Inter" pitchFamily="34" charset="0"/>
                <a:ea typeface="Inter" pitchFamily="34" charset="-122"/>
                <a:cs typeface="Inter" pitchFamily="34" charset="-120"/>
              </a:rPr>
              <a:t> </a:t>
            </a:r>
            <a:endParaRPr lang="en-US" sz="1150" dirty="0"/>
          </a:p>
          <a:p>
            <a:pPr indent="0" marL="0">
              <a:lnSpc>
                <a:spcPct val="105000"/>
              </a:lnSpc>
              <a:buNone/>
            </a:pPr>
            <a:r>
              <a:rPr lang="en-US" sz="1150" b="1" dirty="0">
                <a:solidFill>
                  <a:srgbClr val="A8C9B8"/>
                </a:solidFill>
                <a:latin typeface="Inter" pitchFamily="34" charset="0"/>
                <a:ea typeface="Inter" pitchFamily="34" charset="-122"/>
                <a:cs typeface="Inter" pitchFamily="34" charset="-120"/>
              </a:rPr>
              <a:t>Tras la OPA: </a:t>
            </a:r>
            <a:pPr indent="0" marL="0">
              <a:lnSpc>
                <a:spcPct val="105000"/>
              </a:lnSpc>
              <a:buNone/>
            </a:pPr>
            <a:r>
              <a:rPr lang="en-US" sz="1150" dirty="0">
                <a:solidFill>
                  <a:srgbClr val="D9D9D6"/>
                </a:solidFill>
                <a:latin typeface="Inter" pitchFamily="34" charset="0"/>
                <a:ea typeface="Inter" pitchFamily="34" charset="-122"/>
                <a:cs typeface="Inter" pitchFamily="34" charset="-120"/>
              </a:rPr>
              <a:t>fusión BidCo–Inditex. La deuda queda junto a la caja que la paga y los intereses se deducen en el grupo fiscal.</a:t>
            </a:r>
            <a:endParaRPr lang="en-US" sz="1150" dirty="0"/>
          </a:p>
        </p:txBody>
      </p:sp>
      <p:sp>
        <p:nvSpPr>
          <p:cNvPr id="43" name="Text 40"/>
          <p:cNvSpPr txBox="1"/>
          <p:nvPr/>
        </p:nvSpPr>
        <p:spPr>
          <a:xfrm>
            <a:off x="548640" y="5852160"/>
            <a:ext cx="7772400" cy="274320"/>
          </a:xfrm>
          <a:prstGeom prst="rect">
            <a:avLst/>
          </a:prstGeom>
          <a:noFill/>
          <a:ln/>
        </p:spPr>
        <p:txBody>
          <a:bodyPr wrap="square" lIns="0" tIns="0" rIns="0" bIns="0" rtlCol="0" anchor="t"/>
          <a:lstStyle/>
          <a:p>
            <a:pPr indent="0" marL="0">
              <a:buNone/>
            </a:pPr>
            <a:r>
              <a:rPr lang="en-US" sz="1150" b="1" dirty="0">
                <a:solidFill>
                  <a:srgbClr val="1F4B3F"/>
                </a:solidFill>
                <a:latin typeface="Inter" pitchFamily="34" charset="0"/>
                <a:ea typeface="Inter" pitchFamily="34" charset="-122"/>
                <a:cs typeface="Inter" pitchFamily="34" charset="-120"/>
              </a:rPr>
              <a:t>Más seguro y más barato cuanto más cerca de la caja de Inditex</a:t>
            </a:r>
            <a:endParaRPr lang="en-US" sz="1150" dirty="0"/>
          </a:p>
        </p:txBody>
      </p:sp>
      <p:sp>
        <p:nvSpPr>
          <p:cNvPr id="44" name="Text 41"/>
          <p:cNvSpPr txBox="1"/>
          <p:nvPr/>
        </p:nvSpPr>
        <p:spPr>
          <a:xfrm>
            <a:off x="548640" y="6327648"/>
            <a:ext cx="7863840" cy="228600"/>
          </a:xfrm>
          <a:prstGeom prst="rect">
            <a:avLst/>
          </a:prstGeom>
          <a:noFill/>
          <a:ln/>
        </p:spPr>
        <p:txBody>
          <a:bodyPr wrap="square" lIns="0" tIns="0" rIns="0" bIns="0" rtlCol="0" anchor="t"/>
          <a:lstStyle/>
          <a:p>
            <a:pPr indent="0" marL="0">
              <a:buNone/>
            </a:pPr>
            <a:r>
              <a:rPr lang="en-US" sz="900" dirty="0">
                <a:solidFill>
                  <a:srgbClr val="6E7378"/>
                </a:solidFill>
                <a:latin typeface="Inter" pitchFamily="34" charset="0"/>
                <a:ea typeface="Inter" pitchFamily="34" charset="-122"/>
                <a:cs typeface="Inter" pitchFamily="34" charset="-120"/>
              </a:rPr>
              <a:t>Fuente: modelo LBO definitivo del grupo (Inditex_LBO_Version_Definitiva.xlsx), caso base salvo indicación. € millones.</a:t>
            </a:r>
            <a:endParaRPr lang="en-US" sz="900" dirty="0"/>
          </a:p>
        </p:txBody>
      </p:sp>
      <p:sp>
        <p:nvSpPr>
          <p:cNvPr id="45" name="Text 42"/>
          <p:cNvSpPr txBox="1"/>
          <p:nvPr/>
        </p:nvSpPr>
        <p:spPr>
          <a:xfrm>
            <a:off x="8595360" y="6327648"/>
            <a:ext cx="3044952" cy="228600"/>
          </a:xfrm>
          <a:prstGeom prst="rect">
            <a:avLst/>
          </a:prstGeom>
          <a:noFill/>
          <a:ln/>
        </p:spPr>
        <p:txBody>
          <a:bodyPr wrap="square" lIns="0" tIns="0" rIns="0" bIns="0" rtlCol="0" anchor="t"/>
          <a:lstStyle/>
          <a:p>
            <a:pPr algn="r" indent="0" marL="0">
              <a:buNone/>
            </a:pPr>
            <a:r>
              <a:rPr lang="en-US" sz="900" dirty="0">
                <a:solidFill>
                  <a:srgbClr val="6E7378"/>
                </a:solidFill>
                <a:latin typeface="Inter" pitchFamily="34" charset="0"/>
                <a:ea typeface="Inter" pitchFamily="34" charset="-122"/>
                <a:cs typeface="Inter" pitchFamily="34" charset="-120"/>
              </a:rPr>
              <a:t>Project Galicia  ·  Estrictamente confidencial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47472"/>
            <a:ext cx="8229600" cy="228600"/>
          </a:xfrm>
          <a:prstGeom prst="rect">
            <a:avLst/>
          </a:prstGeom>
          <a:noFill/>
          <a:ln/>
        </p:spPr>
        <p:txBody>
          <a:bodyPr wrap="square" lIns="0" tIns="0" rIns="0" bIns="0" rtlCol="0" anchor="t"/>
          <a:lstStyle/>
          <a:p>
            <a:pPr indent="0" marL="0">
              <a:buNone/>
            </a:pPr>
            <a:r>
              <a:rPr lang="en-US" sz="1100" b="1" spc="200" kern="0" dirty="0">
                <a:solidFill>
                  <a:srgbClr val="1F4B3F"/>
                </a:solidFill>
                <a:latin typeface="Inter" pitchFamily="34" charset="0"/>
                <a:ea typeface="Inter" pitchFamily="34" charset="-122"/>
                <a:cs typeface="Inter" pitchFamily="34" charset="-120"/>
              </a:rPr>
              <a:t>02  ESTRUCTURA DE LA COMPRA</a:t>
            </a:r>
            <a:endParaRPr lang="en-US" sz="1100" dirty="0"/>
          </a:p>
        </p:txBody>
      </p:sp>
      <p:pic>
        <p:nvPicPr>
          <p:cNvPr id="3" name="Image 0" descr="/tmp/claude-0/-home-claude/8d7de6a3-f167-5c95-8bc2-67944307bfd8/scratchpad/canva/img/HLP_monograma.png">    </p:cNvPr>
          <p:cNvPicPr>
            <a:picLocks noChangeAspect="1"/>
          </p:cNvPicPr>
          <p:nvPr/>
        </p:nvPicPr>
        <p:blipFill>
          <a:blip r:embed="rId1"/>
          <a:stretch>
            <a:fillRect/>
          </a:stretch>
        </p:blipFill>
        <p:spPr>
          <a:xfrm>
            <a:off x="11228832" y="310896"/>
            <a:ext cx="411480" cy="411480"/>
          </a:xfrm>
          <a:prstGeom prst="rect">
            <a:avLst/>
          </a:prstGeom>
        </p:spPr>
      </p:pic>
      <p:sp>
        <p:nvSpPr>
          <p:cNvPr id="4" name="Text 1"/>
          <p:cNvSpPr txBox="1"/>
          <p:nvPr/>
        </p:nvSpPr>
        <p:spPr>
          <a:xfrm>
            <a:off x="548640" y="603504"/>
            <a:ext cx="10515600" cy="822960"/>
          </a:xfrm>
          <a:prstGeom prst="rect">
            <a:avLst/>
          </a:prstGeom>
          <a:noFill/>
          <a:ln/>
        </p:spPr>
        <p:txBody>
          <a:bodyPr wrap="square" lIns="0" tIns="0" rIns="0" bIns="0" rtlCol="0" anchor="t"/>
          <a:lstStyle/>
          <a:p>
            <a:pPr indent="0" marL="0">
              <a:lnSpc>
                <a:spcPct val="95000"/>
              </a:lnSpc>
              <a:buNone/>
            </a:pPr>
            <a:r>
              <a:rPr lang="en-US" sz="2500" dirty="0">
                <a:solidFill>
                  <a:srgbClr val="1A1D21"/>
                </a:solidFill>
                <a:latin typeface="Lora" pitchFamily="34" charset="0"/>
                <a:ea typeface="Lora" pitchFamily="34" charset="-122"/>
                <a:cs typeface="Lora" pitchFamily="34" charset="-120"/>
              </a:rPr>
              <a:t>TopCo en detalle: el consorcio controla el 56,6% y Amancio el 43,4%</a:t>
            </a:r>
            <a:endParaRPr lang="en-US" sz="2500" dirty="0"/>
          </a:p>
        </p:txBody>
      </p:sp>
      <p:sp>
        <p:nvSpPr>
          <p:cNvPr id="5" name="Shape 2"/>
          <p:cNvSpPr/>
          <p:nvPr/>
        </p:nvSpPr>
        <p:spPr>
          <a:xfrm>
            <a:off x="548640" y="1600200"/>
            <a:ext cx="2194560" cy="868680"/>
          </a:xfrm>
          <a:prstGeom prst="rect">
            <a:avLst>
              <a:gd name="adj" fmla="val 6316"/>
            </a:avLst>
          </a:prstGeom>
          <a:solidFill>
            <a:srgbClr val="F3F3F2"/>
          </a:solidFill>
          <a:ln/>
        </p:spPr>
      </p:sp>
      <p:sp>
        <p:nvSpPr>
          <p:cNvPr id="6" name="Text 3"/>
          <p:cNvSpPr txBox="1"/>
          <p:nvPr/>
        </p:nvSpPr>
        <p:spPr>
          <a:xfrm>
            <a:off x="658368" y="1691640"/>
            <a:ext cx="1975104" cy="310896"/>
          </a:xfrm>
          <a:prstGeom prst="rect">
            <a:avLst/>
          </a:prstGeom>
          <a:noFill/>
          <a:ln/>
        </p:spPr>
        <p:txBody>
          <a:bodyPr wrap="square" lIns="0" tIns="0" rIns="0" bIns="0" rtlCol="0" anchor="t"/>
          <a:lstStyle/>
          <a:p>
            <a:pPr algn="ctr" indent="0" marL="0">
              <a:buNone/>
            </a:pPr>
            <a:r>
              <a:rPr lang="en-US" sz="1300" b="1" dirty="0">
                <a:solidFill>
                  <a:srgbClr val="1A1D21"/>
                </a:solidFill>
                <a:latin typeface="Inter" pitchFamily="34" charset="0"/>
                <a:ea typeface="Inter" pitchFamily="34" charset="-122"/>
                <a:cs typeface="Inter" pitchFamily="34" charset="-120"/>
              </a:rPr>
              <a:t>Fondos de PE (GP)</a:t>
            </a:r>
            <a:endParaRPr lang="en-US" sz="1300" dirty="0"/>
          </a:p>
        </p:txBody>
      </p:sp>
      <p:sp>
        <p:nvSpPr>
          <p:cNvPr id="7" name="Text 4"/>
          <p:cNvSpPr txBox="1"/>
          <p:nvPr/>
        </p:nvSpPr>
        <p:spPr>
          <a:xfrm>
            <a:off x="658368" y="2029968"/>
            <a:ext cx="1975104" cy="384048"/>
          </a:xfrm>
          <a:prstGeom prst="rect">
            <a:avLst/>
          </a:prstGeom>
          <a:noFill/>
          <a:ln/>
        </p:spPr>
        <p:txBody>
          <a:bodyPr wrap="square" lIns="0" tIns="0" rIns="0" bIns="0" rtlCol="0" anchor="t"/>
          <a:lstStyle/>
          <a:p>
            <a:pPr algn="ctr" indent="0" marL="0">
              <a:buNone/>
            </a:pPr>
            <a:r>
              <a:rPr lang="en-US" sz="1050" dirty="0">
                <a:solidFill>
                  <a:srgbClr val="6E7378"/>
                </a:solidFill>
                <a:latin typeface="Inter" pitchFamily="34" charset="0"/>
                <a:ea typeface="Inter" pitchFamily="34" charset="-122"/>
                <a:cs typeface="Inter" pitchFamily="34" charset="-120"/>
              </a:rPr>
              <a:t>€9.704m · 15% del cheque</a:t>
            </a:r>
            <a:endParaRPr lang="en-US" sz="1050" dirty="0"/>
          </a:p>
        </p:txBody>
      </p:sp>
      <p:sp>
        <p:nvSpPr>
          <p:cNvPr id="8" name="Shape 5"/>
          <p:cNvSpPr/>
          <p:nvPr/>
        </p:nvSpPr>
        <p:spPr>
          <a:xfrm>
            <a:off x="2926080" y="1600200"/>
            <a:ext cx="2194560" cy="868680"/>
          </a:xfrm>
          <a:prstGeom prst="rect">
            <a:avLst>
              <a:gd name="adj" fmla="val 6316"/>
            </a:avLst>
          </a:prstGeom>
          <a:solidFill>
            <a:srgbClr val="F3F3F2"/>
          </a:solidFill>
          <a:ln/>
        </p:spPr>
      </p:sp>
      <p:sp>
        <p:nvSpPr>
          <p:cNvPr id="9" name="Text 6"/>
          <p:cNvSpPr txBox="1"/>
          <p:nvPr/>
        </p:nvSpPr>
        <p:spPr>
          <a:xfrm>
            <a:off x="3035808" y="1691640"/>
            <a:ext cx="1975104" cy="310896"/>
          </a:xfrm>
          <a:prstGeom prst="rect">
            <a:avLst/>
          </a:prstGeom>
          <a:noFill/>
          <a:ln/>
        </p:spPr>
        <p:txBody>
          <a:bodyPr wrap="square" lIns="0" tIns="0" rIns="0" bIns="0" rtlCol="0" anchor="t"/>
          <a:lstStyle/>
          <a:p>
            <a:pPr algn="ctr" indent="0" marL="0">
              <a:buNone/>
            </a:pPr>
            <a:r>
              <a:rPr lang="en-US" sz="1300" b="1" dirty="0">
                <a:solidFill>
                  <a:srgbClr val="1A1D21"/>
                </a:solidFill>
                <a:latin typeface="Inter" pitchFamily="34" charset="0"/>
                <a:ea typeface="Inter" pitchFamily="34" charset="-122"/>
                <a:cs typeface="Inter" pitchFamily="34" charset="-120"/>
              </a:rPr>
              <a:t>Co-inversores (LPs)</a:t>
            </a:r>
            <a:endParaRPr lang="en-US" sz="1300" dirty="0"/>
          </a:p>
        </p:txBody>
      </p:sp>
      <p:sp>
        <p:nvSpPr>
          <p:cNvPr id="10" name="Text 7"/>
          <p:cNvSpPr txBox="1"/>
          <p:nvPr/>
        </p:nvSpPr>
        <p:spPr>
          <a:xfrm>
            <a:off x="3035808" y="2029968"/>
            <a:ext cx="1975104" cy="384048"/>
          </a:xfrm>
          <a:prstGeom prst="rect">
            <a:avLst/>
          </a:prstGeom>
          <a:noFill/>
          <a:ln/>
        </p:spPr>
        <p:txBody>
          <a:bodyPr wrap="square" lIns="0" tIns="0" rIns="0" bIns="0" rtlCol="0" anchor="t"/>
          <a:lstStyle/>
          <a:p>
            <a:pPr algn="ctr" indent="0" marL="0">
              <a:buNone/>
            </a:pPr>
            <a:r>
              <a:rPr lang="en-US" sz="1050" dirty="0">
                <a:solidFill>
                  <a:srgbClr val="6E7378"/>
                </a:solidFill>
                <a:latin typeface="Inter" pitchFamily="34" charset="0"/>
                <a:ea typeface="Inter" pitchFamily="34" charset="-122"/>
                <a:cs typeface="Inter" pitchFamily="34" charset="-120"/>
              </a:rPr>
              <a:t>€54.989m · 85% del cheque</a:t>
            </a:r>
            <a:endParaRPr lang="en-US" sz="1050" dirty="0"/>
          </a:p>
        </p:txBody>
      </p:sp>
      <p:sp>
        <p:nvSpPr>
          <p:cNvPr id="11" name="Shape 8"/>
          <p:cNvSpPr/>
          <p:nvPr/>
        </p:nvSpPr>
        <p:spPr>
          <a:xfrm>
            <a:off x="1188720" y="2788920"/>
            <a:ext cx="3291840" cy="868680"/>
          </a:xfrm>
          <a:prstGeom prst="rect">
            <a:avLst>
              <a:gd name="adj" fmla="val 6316"/>
            </a:avLst>
          </a:prstGeom>
          <a:solidFill>
            <a:srgbClr val="1F4B3F"/>
          </a:solidFill>
          <a:ln/>
        </p:spPr>
      </p:sp>
      <p:sp>
        <p:nvSpPr>
          <p:cNvPr id="12" name="Text 9"/>
          <p:cNvSpPr txBox="1"/>
          <p:nvPr/>
        </p:nvSpPr>
        <p:spPr>
          <a:xfrm>
            <a:off x="1298448" y="2880360"/>
            <a:ext cx="3072384" cy="310896"/>
          </a:xfrm>
          <a:prstGeom prst="rect">
            <a:avLst/>
          </a:prstGeom>
          <a:noFill/>
          <a:ln/>
        </p:spPr>
        <p:txBody>
          <a:bodyPr wrap="square" lIns="0" tIns="0" rIns="0" bIns="0" rtlCol="0" anchor="t"/>
          <a:lstStyle/>
          <a:p>
            <a:pPr algn="ctr" indent="0" marL="0">
              <a:buNone/>
            </a:pPr>
            <a:r>
              <a:rPr lang="en-US" sz="1300" b="1" dirty="0">
                <a:solidFill>
                  <a:srgbClr val="FFFFFF"/>
                </a:solidFill>
                <a:latin typeface="Inter" pitchFamily="34" charset="0"/>
                <a:ea typeface="Inter" pitchFamily="34" charset="-122"/>
                <a:cs typeface="Inter" pitchFamily="34" charset="-120"/>
              </a:rPr>
              <a:t>Vehículo del consorcio</a:t>
            </a:r>
            <a:endParaRPr lang="en-US" sz="1300" dirty="0"/>
          </a:p>
        </p:txBody>
      </p:sp>
      <p:sp>
        <p:nvSpPr>
          <p:cNvPr id="13" name="Text 10"/>
          <p:cNvSpPr txBox="1"/>
          <p:nvPr/>
        </p:nvSpPr>
        <p:spPr>
          <a:xfrm>
            <a:off x="1298448" y="3218688"/>
            <a:ext cx="3072384" cy="384048"/>
          </a:xfrm>
          <a:prstGeom prst="rect">
            <a:avLst/>
          </a:prstGeom>
          <a:noFill/>
          <a:ln/>
        </p:spPr>
        <p:txBody>
          <a:bodyPr wrap="square" lIns="0" tIns="0" rIns="0" bIns="0" rtlCol="0" anchor="t"/>
          <a:lstStyle/>
          <a:p>
            <a:pPr algn="ctr" indent="0" marL="0">
              <a:buNone/>
            </a:pPr>
            <a:r>
              <a:rPr lang="en-US" sz="1050" dirty="0">
                <a:solidFill>
                  <a:srgbClr val="A8C9B8"/>
                </a:solidFill>
                <a:latin typeface="Inter" pitchFamily="34" charset="0"/>
                <a:ea typeface="Inter" pitchFamily="34" charset="-122"/>
                <a:cs typeface="Inter" pitchFamily="34" charset="-120"/>
              </a:rPr>
              <a:t>€64.693m · gestionado por el GP · aplica el waterfall</a:t>
            </a:r>
            <a:endParaRPr lang="en-US" sz="1050" dirty="0"/>
          </a:p>
        </p:txBody>
      </p:sp>
      <p:sp>
        <p:nvSpPr>
          <p:cNvPr id="14" name="Shape 11"/>
          <p:cNvSpPr/>
          <p:nvPr/>
        </p:nvSpPr>
        <p:spPr>
          <a:xfrm>
            <a:off x="4937760" y="2788920"/>
            <a:ext cx="2286000" cy="868680"/>
          </a:xfrm>
          <a:prstGeom prst="rect">
            <a:avLst>
              <a:gd name="adj" fmla="val 6316"/>
            </a:avLst>
          </a:prstGeom>
          <a:solidFill>
            <a:srgbClr val="F3F3F2"/>
          </a:solidFill>
          <a:ln/>
        </p:spPr>
      </p:sp>
      <p:sp>
        <p:nvSpPr>
          <p:cNvPr id="15" name="Text 12"/>
          <p:cNvSpPr txBox="1"/>
          <p:nvPr/>
        </p:nvSpPr>
        <p:spPr>
          <a:xfrm>
            <a:off x="5047488" y="2880360"/>
            <a:ext cx="2066544" cy="310896"/>
          </a:xfrm>
          <a:prstGeom prst="rect">
            <a:avLst/>
          </a:prstGeom>
          <a:noFill/>
          <a:ln/>
        </p:spPr>
        <p:txBody>
          <a:bodyPr wrap="square" lIns="0" tIns="0" rIns="0" bIns="0" rtlCol="0" anchor="t"/>
          <a:lstStyle/>
          <a:p>
            <a:pPr algn="ctr" indent="0" marL="0">
              <a:buNone/>
            </a:pPr>
            <a:r>
              <a:rPr lang="en-US" sz="1300" b="1" dirty="0">
                <a:solidFill>
                  <a:srgbClr val="1A1D21"/>
                </a:solidFill>
                <a:latin typeface="Inter" pitchFamily="34" charset="0"/>
                <a:ea typeface="Inter" pitchFamily="34" charset="-122"/>
                <a:cs typeface="Inter" pitchFamily="34" charset="-120"/>
              </a:rPr>
              <a:t>Pontegadea</a:t>
            </a:r>
            <a:endParaRPr lang="en-US" sz="1300" dirty="0"/>
          </a:p>
        </p:txBody>
      </p:sp>
      <p:sp>
        <p:nvSpPr>
          <p:cNvPr id="16" name="Text 13"/>
          <p:cNvSpPr txBox="1"/>
          <p:nvPr/>
        </p:nvSpPr>
        <p:spPr>
          <a:xfrm>
            <a:off x="5047488" y="3218688"/>
            <a:ext cx="2066544" cy="384048"/>
          </a:xfrm>
          <a:prstGeom prst="rect">
            <a:avLst/>
          </a:prstGeom>
          <a:noFill/>
          <a:ln/>
        </p:spPr>
        <p:txBody>
          <a:bodyPr wrap="square" lIns="0" tIns="0" rIns="0" bIns="0" rtlCol="0" anchor="t"/>
          <a:lstStyle/>
          <a:p>
            <a:pPr algn="ctr" indent="0" marL="0">
              <a:buNone/>
            </a:pPr>
            <a:r>
              <a:rPr lang="en-US" sz="1050" dirty="0">
                <a:solidFill>
                  <a:srgbClr val="6E7378"/>
                </a:solidFill>
                <a:latin typeface="Inter" pitchFamily="34" charset="0"/>
                <a:ea typeface="Inter" pitchFamily="34" charset="-122"/>
                <a:cs typeface="Inter" pitchFamily="34" charset="-120"/>
              </a:rPr>
              <a:t>Amancio Ortega · €49.658m en acciones</a:t>
            </a:r>
            <a:endParaRPr lang="en-US" sz="1050" dirty="0"/>
          </a:p>
        </p:txBody>
      </p:sp>
      <p:sp>
        <p:nvSpPr>
          <p:cNvPr id="17" name="Shape 14"/>
          <p:cNvSpPr/>
          <p:nvPr/>
        </p:nvSpPr>
        <p:spPr>
          <a:xfrm>
            <a:off x="1645920" y="2468880"/>
            <a:ext cx="0" cy="320040"/>
          </a:xfrm>
          <a:prstGeom prst="line">
            <a:avLst/>
          </a:prstGeom>
          <a:noFill/>
          <a:ln w="15875">
            <a:solidFill>
              <a:srgbClr val="6E7378"/>
            </a:solidFill>
            <a:prstDash val="solid"/>
            <a:tailEnd type="triangle"/>
          </a:ln>
        </p:spPr>
      </p:sp>
      <p:sp>
        <p:nvSpPr>
          <p:cNvPr id="18" name="Shape 15"/>
          <p:cNvSpPr/>
          <p:nvPr/>
        </p:nvSpPr>
        <p:spPr>
          <a:xfrm>
            <a:off x="4023360" y="2468880"/>
            <a:ext cx="0" cy="320040"/>
          </a:xfrm>
          <a:prstGeom prst="line">
            <a:avLst/>
          </a:prstGeom>
          <a:noFill/>
          <a:ln w="15875">
            <a:solidFill>
              <a:srgbClr val="6E7378"/>
            </a:solidFill>
            <a:prstDash val="solid"/>
            <a:tailEnd type="triangle"/>
          </a:ln>
        </p:spPr>
      </p:sp>
      <p:sp>
        <p:nvSpPr>
          <p:cNvPr id="19" name="Shape 16"/>
          <p:cNvSpPr/>
          <p:nvPr/>
        </p:nvSpPr>
        <p:spPr>
          <a:xfrm>
            <a:off x="2240280" y="4023360"/>
            <a:ext cx="4983480" cy="868680"/>
          </a:xfrm>
          <a:prstGeom prst="rect">
            <a:avLst>
              <a:gd name="adj" fmla="val 6316"/>
            </a:avLst>
          </a:prstGeom>
          <a:solidFill>
            <a:srgbClr val="1A1D21"/>
          </a:solidFill>
          <a:ln/>
        </p:spPr>
      </p:sp>
      <p:sp>
        <p:nvSpPr>
          <p:cNvPr id="20" name="Text 17"/>
          <p:cNvSpPr txBox="1"/>
          <p:nvPr/>
        </p:nvSpPr>
        <p:spPr>
          <a:xfrm>
            <a:off x="2350008" y="4114800"/>
            <a:ext cx="4764024" cy="310896"/>
          </a:xfrm>
          <a:prstGeom prst="rect">
            <a:avLst/>
          </a:prstGeom>
          <a:noFill/>
          <a:ln/>
        </p:spPr>
        <p:txBody>
          <a:bodyPr wrap="square" lIns="0" tIns="0" rIns="0" bIns="0" rtlCol="0" anchor="t"/>
          <a:lstStyle/>
          <a:p>
            <a:pPr algn="ctr" indent="0" marL="0">
              <a:buNone/>
            </a:pPr>
            <a:r>
              <a:rPr lang="en-US" sz="1300" b="1" dirty="0">
                <a:solidFill>
                  <a:srgbClr val="FFFFFF"/>
                </a:solidFill>
                <a:latin typeface="Inter" pitchFamily="34" charset="0"/>
                <a:ea typeface="Inter" pitchFamily="34" charset="-122"/>
                <a:cs typeface="Inter" pitchFamily="34" charset="-120"/>
              </a:rPr>
              <a:t>TopCo · €114.351m de equity</a:t>
            </a:r>
            <a:endParaRPr lang="en-US" sz="1300" dirty="0"/>
          </a:p>
        </p:txBody>
      </p:sp>
      <p:sp>
        <p:nvSpPr>
          <p:cNvPr id="21" name="Text 18"/>
          <p:cNvSpPr txBox="1"/>
          <p:nvPr/>
        </p:nvSpPr>
        <p:spPr>
          <a:xfrm>
            <a:off x="2350008" y="4453128"/>
            <a:ext cx="4764024" cy="384048"/>
          </a:xfrm>
          <a:prstGeom prst="rect">
            <a:avLst/>
          </a:prstGeom>
          <a:noFill/>
          <a:ln/>
        </p:spPr>
        <p:txBody>
          <a:bodyPr wrap="square" lIns="0" tIns="0" rIns="0" bIns="0" rtlCol="0" anchor="t"/>
          <a:lstStyle/>
          <a:p>
            <a:pPr algn="ctr" indent="0" marL="0">
              <a:buNone/>
            </a:pPr>
            <a:r>
              <a:rPr lang="en-US" sz="1050" dirty="0">
                <a:solidFill>
                  <a:srgbClr val="BFC4CA"/>
                </a:solidFill>
                <a:latin typeface="Inter" pitchFamily="34" charset="0"/>
                <a:ea typeface="Inter" pitchFamily="34" charset="-122"/>
                <a:cs typeface="Inter" pitchFamily="34" charset="-120"/>
              </a:rPr>
              <a:t>Acciones ordinarias · consorcio 56,6% · Amancio 43,4%</a:t>
            </a:r>
            <a:endParaRPr lang="en-US" sz="1050" dirty="0"/>
          </a:p>
        </p:txBody>
      </p:sp>
      <p:sp>
        <p:nvSpPr>
          <p:cNvPr id="22" name="Shape 19"/>
          <p:cNvSpPr/>
          <p:nvPr/>
        </p:nvSpPr>
        <p:spPr>
          <a:xfrm>
            <a:off x="2834640" y="3657600"/>
            <a:ext cx="0" cy="365760"/>
          </a:xfrm>
          <a:prstGeom prst="line">
            <a:avLst/>
          </a:prstGeom>
          <a:noFill/>
          <a:ln w="15875">
            <a:solidFill>
              <a:srgbClr val="6E7378"/>
            </a:solidFill>
            <a:prstDash val="solid"/>
            <a:tailEnd type="triangle"/>
          </a:ln>
        </p:spPr>
      </p:sp>
      <p:sp>
        <p:nvSpPr>
          <p:cNvPr id="23" name="Shape 20"/>
          <p:cNvSpPr/>
          <p:nvPr/>
        </p:nvSpPr>
        <p:spPr>
          <a:xfrm>
            <a:off x="6080760" y="3657600"/>
            <a:ext cx="0" cy="365760"/>
          </a:xfrm>
          <a:prstGeom prst="line">
            <a:avLst/>
          </a:prstGeom>
          <a:noFill/>
          <a:ln w="15875">
            <a:solidFill>
              <a:srgbClr val="6E7378"/>
            </a:solidFill>
            <a:prstDash val="solid"/>
            <a:tailEnd type="triangle"/>
          </a:ln>
        </p:spPr>
      </p:sp>
      <p:sp>
        <p:nvSpPr>
          <p:cNvPr id="24" name="Text 21"/>
          <p:cNvSpPr txBox="1"/>
          <p:nvPr/>
        </p:nvSpPr>
        <p:spPr>
          <a:xfrm>
            <a:off x="2926080" y="3712464"/>
            <a:ext cx="731520" cy="256032"/>
          </a:xfrm>
          <a:prstGeom prst="rect">
            <a:avLst/>
          </a:prstGeom>
          <a:noFill/>
          <a:ln/>
        </p:spPr>
        <p:txBody>
          <a:bodyPr wrap="square" lIns="0" tIns="0" rIns="0" bIns="0" rtlCol="0" anchor="t"/>
          <a:lstStyle/>
          <a:p>
            <a:pPr indent="0" marL="0">
              <a:buNone/>
            </a:pPr>
            <a:r>
              <a:rPr lang="en-US" sz="1100" b="1" dirty="0">
                <a:solidFill>
                  <a:srgbClr val="1F4B3F"/>
                </a:solidFill>
                <a:latin typeface="Inter" pitchFamily="34" charset="0"/>
                <a:ea typeface="Inter" pitchFamily="34" charset="-122"/>
                <a:cs typeface="Inter" pitchFamily="34" charset="-120"/>
              </a:rPr>
              <a:t>56,6%</a:t>
            </a:r>
            <a:endParaRPr lang="en-US" sz="1100" dirty="0"/>
          </a:p>
        </p:txBody>
      </p:sp>
      <p:sp>
        <p:nvSpPr>
          <p:cNvPr id="25" name="Text 22"/>
          <p:cNvSpPr txBox="1"/>
          <p:nvPr/>
        </p:nvSpPr>
        <p:spPr>
          <a:xfrm>
            <a:off x="6172200" y="3712464"/>
            <a:ext cx="731520" cy="256032"/>
          </a:xfrm>
          <a:prstGeom prst="rect">
            <a:avLst/>
          </a:prstGeom>
          <a:noFill/>
          <a:ln/>
        </p:spPr>
        <p:txBody>
          <a:bodyPr wrap="square" lIns="0" tIns="0" rIns="0" bIns="0" rtlCol="0" anchor="t"/>
          <a:lstStyle/>
          <a:p>
            <a:pPr indent="0" marL="0">
              <a:buNone/>
            </a:pPr>
            <a:r>
              <a:rPr lang="en-US" sz="1100" b="1" dirty="0">
                <a:solidFill>
                  <a:srgbClr val="1F4B3F"/>
                </a:solidFill>
                <a:latin typeface="Inter" pitchFamily="34" charset="0"/>
                <a:ea typeface="Inter" pitchFamily="34" charset="-122"/>
                <a:cs typeface="Inter" pitchFamily="34" charset="-120"/>
              </a:rPr>
              <a:t>43,4%</a:t>
            </a:r>
            <a:endParaRPr lang="en-US" sz="1100" dirty="0"/>
          </a:p>
        </p:txBody>
      </p:sp>
      <p:sp>
        <p:nvSpPr>
          <p:cNvPr id="26" name="Shape 23"/>
          <p:cNvSpPr/>
          <p:nvPr/>
        </p:nvSpPr>
        <p:spPr>
          <a:xfrm>
            <a:off x="548640" y="4023360"/>
            <a:ext cx="1508760" cy="868680"/>
          </a:xfrm>
          <a:prstGeom prst="rect">
            <a:avLst>
              <a:gd name="adj" fmla="val 6316"/>
            </a:avLst>
          </a:prstGeom>
          <a:solidFill>
            <a:srgbClr val="EDEDEB"/>
          </a:solidFill>
          <a:ln/>
        </p:spPr>
      </p:sp>
      <p:sp>
        <p:nvSpPr>
          <p:cNvPr id="27" name="Text 24"/>
          <p:cNvSpPr txBox="1"/>
          <p:nvPr/>
        </p:nvSpPr>
        <p:spPr>
          <a:xfrm>
            <a:off x="658368" y="4114800"/>
            <a:ext cx="1289304" cy="310896"/>
          </a:xfrm>
          <a:prstGeom prst="rect">
            <a:avLst/>
          </a:prstGeom>
          <a:noFill/>
          <a:ln/>
        </p:spPr>
        <p:txBody>
          <a:bodyPr wrap="square" lIns="0" tIns="0" rIns="0" bIns="0" rtlCol="0" anchor="t"/>
          <a:lstStyle/>
          <a:p>
            <a:pPr algn="ctr" indent="0" marL="0">
              <a:buNone/>
            </a:pPr>
            <a:r>
              <a:rPr lang="en-US" sz="1300" b="1" dirty="0">
                <a:solidFill>
                  <a:srgbClr val="1A1D21"/>
                </a:solidFill>
                <a:latin typeface="Inter" pitchFamily="34" charset="0"/>
                <a:ea typeface="Inter" pitchFamily="34" charset="-122"/>
                <a:cs typeface="Inter" pitchFamily="34" charset="-120"/>
              </a:rPr>
              <a:t>Sandra Ortega</a:t>
            </a:r>
            <a:endParaRPr lang="en-US" sz="1300" dirty="0"/>
          </a:p>
        </p:txBody>
      </p:sp>
      <p:sp>
        <p:nvSpPr>
          <p:cNvPr id="28" name="Text 25"/>
          <p:cNvSpPr txBox="1"/>
          <p:nvPr/>
        </p:nvSpPr>
        <p:spPr>
          <a:xfrm>
            <a:off x="658368" y="4453128"/>
            <a:ext cx="1289304" cy="384048"/>
          </a:xfrm>
          <a:prstGeom prst="rect">
            <a:avLst/>
          </a:prstGeom>
          <a:noFill/>
          <a:ln/>
        </p:spPr>
        <p:txBody>
          <a:bodyPr wrap="square" lIns="0" tIns="0" rIns="0" bIns="0" rtlCol="0" anchor="t"/>
          <a:lstStyle/>
          <a:p>
            <a:pPr algn="ctr" indent="0" marL="0">
              <a:buNone/>
            </a:pPr>
            <a:r>
              <a:rPr lang="en-US" sz="1050" dirty="0">
                <a:solidFill>
                  <a:srgbClr val="6E7378"/>
                </a:solidFill>
                <a:latin typeface="Inter" pitchFamily="34" charset="0"/>
                <a:ea typeface="Inter" pitchFamily="34" charset="-122"/>
                <a:cs typeface="Inter" pitchFamily="34" charset="-120"/>
              </a:rPr>
              <a:t>Acreedora · €10.925m</a:t>
            </a:r>
            <a:endParaRPr lang="en-US" sz="1050" dirty="0"/>
          </a:p>
        </p:txBody>
      </p:sp>
      <p:sp>
        <p:nvSpPr>
          <p:cNvPr id="29" name="Text 26"/>
          <p:cNvSpPr txBox="1"/>
          <p:nvPr/>
        </p:nvSpPr>
        <p:spPr>
          <a:xfrm>
            <a:off x="548640" y="4983480"/>
            <a:ext cx="1508760" cy="822960"/>
          </a:xfrm>
          <a:prstGeom prst="rect">
            <a:avLst/>
          </a:prstGeom>
          <a:noFill/>
          <a:ln/>
        </p:spPr>
        <p:txBody>
          <a:bodyPr wrap="square" lIns="0" tIns="0" rIns="0" bIns="0" rtlCol="0" anchor="t"/>
          <a:lstStyle/>
          <a:p>
            <a:pPr indent="0" marL="0">
              <a:buNone/>
            </a:pPr>
            <a:r>
              <a:rPr lang="en-US" sz="1000" dirty="0">
                <a:solidFill>
                  <a:srgbClr val="6E7378"/>
                </a:solidFill>
                <a:latin typeface="Inter" pitchFamily="34" charset="0"/>
                <a:ea typeface="Inter" pitchFamily="34" charset="-122"/>
                <a:cs typeface="Inter" pitchFamily="34" charset="-120"/>
              </a:rPr>
              <a:t>Sale del capital: le presta a la TopCo, sin acciones ni votos</a:t>
            </a:r>
            <a:endParaRPr lang="en-US" sz="1000" dirty="0"/>
          </a:p>
        </p:txBody>
      </p:sp>
      <p:sp>
        <p:nvSpPr>
          <p:cNvPr id="30" name="Shape 27"/>
          <p:cNvSpPr/>
          <p:nvPr/>
        </p:nvSpPr>
        <p:spPr>
          <a:xfrm>
            <a:off x="2057400" y="4457700"/>
            <a:ext cx="182880" cy="0"/>
          </a:xfrm>
          <a:prstGeom prst="line">
            <a:avLst/>
          </a:prstGeom>
          <a:noFill/>
          <a:ln w="15875">
            <a:solidFill>
              <a:srgbClr val="6E7378"/>
            </a:solidFill>
            <a:prstDash val="solid"/>
            <a:tailEnd type="triangle"/>
          </a:ln>
        </p:spPr>
      </p:sp>
      <p:sp>
        <p:nvSpPr>
          <p:cNvPr id="31" name="Shape 28"/>
          <p:cNvSpPr/>
          <p:nvPr/>
        </p:nvSpPr>
        <p:spPr>
          <a:xfrm>
            <a:off x="2240280" y="5257800"/>
            <a:ext cx="4983480" cy="640080"/>
          </a:xfrm>
          <a:prstGeom prst="rect">
            <a:avLst>
              <a:gd name="adj" fmla="val 8571"/>
            </a:avLst>
          </a:prstGeom>
          <a:solidFill>
            <a:srgbClr val="EDEDEB"/>
          </a:solidFill>
          <a:ln/>
        </p:spPr>
      </p:sp>
      <p:sp>
        <p:nvSpPr>
          <p:cNvPr id="32" name="Text 29"/>
          <p:cNvSpPr txBox="1"/>
          <p:nvPr/>
        </p:nvSpPr>
        <p:spPr>
          <a:xfrm>
            <a:off x="2240280" y="5257800"/>
            <a:ext cx="4983480" cy="640080"/>
          </a:xfrm>
          <a:prstGeom prst="rect">
            <a:avLst/>
          </a:prstGeom>
          <a:noFill/>
          <a:ln/>
        </p:spPr>
        <p:txBody>
          <a:bodyPr wrap="square" lIns="0" tIns="0" rIns="0" bIns="0" rtlCol="0" anchor="ctr"/>
          <a:lstStyle/>
          <a:p>
            <a:pPr algn="ctr" indent="0" marL="0">
              <a:buNone/>
            </a:pPr>
            <a:r>
              <a:rPr lang="en-US" sz="1300" b="1" dirty="0">
                <a:solidFill>
                  <a:srgbClr val="1A1D21"/>
                </a:solidFill>
                <a:latin typeface="Inter" pitchFamily="34" charset="0"/>
                <a:ea typeface="Inter" pitchFamily="34" charset="-122"/>
                <a:cs typeface="Inter" pitchFamily="34" charset="-120"/>
              </a:rPr>
              <a:t>100%  →  MidCo  →  BidCo  →  Inditex</a:t>
            </a:r>
            <a:endParaRPr lang="en-US" sz="1300" dirty="0"/>
          </a:p>
        </p:txBody>
      </p:sp>
      <p:sp>
        <p:nvSpPr>
          <p:cNvPr id="33" name="Shape 30"/>
          <p:cNvSpPr/>
          <p:nvPr/>
        </p:nvSpPr>
        <p:spPr>
          <a:xfrm>
            <a:off x="4732020" y="4892040"/>
            <a:ext cx="0" cy="365760"/>
          </a:xfrm>
          <a:prstGeom prst="line">
            <a:avLst/>
          </a:prstGeom>
          <a:noFill/>
          <a:ln w="15875">
            <a:solidFill>
              <a:srgbClr val="6E7378"/>
            </a:solidFill>
            <a:prstDash val="solid"/>
            <a:tailEnd type="triangle"/>
          </a:ln>
        </p:spPr>
      </p:sp>
      <p:sp>
        <p:nvSpPr>
          <p:cNvPr id="34" name="Shape 31"/>
          <p:cNvSpPr/>
          <p:nvPr/>
        </p:nvSpPr>
        <p:spPr>
          <a:xfrm>
            <a:off x="7498080" y="1600200"/>
            <a:ext cx="4142232" cy="4526280"/>
          </a:xfrm>
          <a:prstGeom prst="rect">
            <a:avLst>
              <a:gd name="adj" fmla="val 1325"/>
            </a:avLst>
          </a:prstGeom>
          <a:solidFill>
            <a:srgbClr val="FFFFFF"/>
          </a:solidFill>
          <a:ln w="12700">
            <a:solidFill>
              <a:srgbClr val="D9D9D6"/>
            </a:solidFill>
            <a:prstDash val="solid"/>
          </a:ln>
        </p:spPr>
      </p:sp>
      <p:sp>
        <p:nvSpPr>
          <p:cNvPr id="35" name="Shape 32"/>
          <p:cNvSpPr/>
          <p:nvPr/>
        </p:nvSpPr>
        <p:spPr>
          <a:xfrm>
            <a:off x="7680960" y="1755648"/>
            <a:ext cx="384048" cy="384048"/>
          </a:xfrm>
          <a:prstGeom prst="rect">
            <a:avLst/>
          </a:prstGeom>
          <a:solidFill>
            <a:srgbClr val="1F4B3F"/>
          </a:solidFill>
          <a:ln/>
        </p:spPr>
      </p:sp>
      <p:sp>
        <p:nvSpPr>
          <p:cNvPr id="36" name="Text 33"/>
          <p:cNvSpPr txBox="1"/>
          <p:nvPr/>
        </p:nvSpPr>
        <p:spPr>
          <a:xfrm>
            <a:off x="7680960" y="1764792"/>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1</a:t>
            </a:r>
            <a:endParaRPr lang="en-US" sz="1400" dirty="0"/>
          </a:p>
        </p:txBody>
      </p:sp>
      <p:sp>
        <p:nvSpPr>
          <p:cNvPr id="37" name="Text 34"/>
          <p:cNvSpPr txBox="1"/>
          <p:nvPr/>
        </p:nvSpPr>
        <p:spPr>
          <a:xfrm>
            <a:off x="8183880" y="1737360"/>
            <a:ext cx="3337560" cy="274320"/>
          </a:xfrm>
          <a:prstGeom prst="rect">
            <a:avLst/>
          </a:prstGeom>
          <a:noFill/>
          <a:ln/>
        </p:spPr>
        <p:txBody>
          <a:bodyPr wrap="square" lIns="0" tIns="0" rIns="0" bIns="0" rtlCol="0" anchor="t"/>
          <a:lstStyle/>
          <a:p>
            <a:pPr indent="0" marL="0">
              <a:buNone/>
            </a:pPr>
            <a:r>
              <a:rPr lang="en-US" sz="1250" b="1" dirty="0">
                <a:solidFill>
                  <a:srgbClr val="1A1D21"/>
                </a:solidFill>
                <a:latin typeface="Inter" pitchFamily="34" charset="0"/>
                <a:ea typeface="Inter" pitchFamily="34" charset="-122"/>
                <a:cs typeface="Inter" pitchFamily="34" charset="-120"/>
              </a:rPr>
              <a:t>Dos niveles de reparto</a:t>
            </a:r>
            <a:endParaRPr lang="en-US" sz="1250" dirty="0"/>
          </a:p>
        </p:txBody>
      </p:sp>
      <p:sp>
        <p:nvSpPr>
          <p:cNvPr id="38" name="Text 35"/>
          <p:cNvSpPr txBox="1"/>
          <p:nvPr/>
        </p:nvSpPr>
        <p:spPr>
          <a:xfrm>
            <a:off x="8183880" y="2029968"/>
            <a:ext cx="3337560" cy="749808"/>
          </a:xfrm>
          <a:prstGeom prst="rect">
            <a:avLst/>
          </a:prstGeom>
          <a:noFill/>
          <a:ln/>
        </p:spPr>
        <p:txBody>
          <a:bodyPr wrap="square" lIns="0" tIns="0" rIns="0" bIns="0" rtlCol="0" anchor="t"/>
          <a:lstStyle/>
          <a:p>
            <a:pPr indent="0" marL="0">
              <a:buNone/>
            </a:pPr>
            <a:r>
              <a:rPr lang="en-US" sz="1050" dirty="0">
                <a:solidFill>
                  <a:srgbClr val="1F2124"/>
                </a:solidFill>
                <a:latin typeface="Inter" pitchFamily="34" charset="0"/>
                <a:ea typeface="Inter" pitchFamily="34" charset="-122"/>
                <a:cs typeface="Inter" pitchFamily="34" charset="-120"/>
              </a:rPr>
              <a:t>En la TopCo todos tienen acciones ordinarias y cobran a prorrata. En 2032: Amancio €101.609m y consorcio €132.372m.</a:t>
            </a:r>
            <a:endParaRPr lang="en-US" sz="1050" dirty="0"/>
          </a:p>
        </p:txBody>
      </p:sp>
      <p:sp>
        <p:nvSpPr>
          <p:cNvPr id="39" name="Shape 36"/>
          <p:cNvSpPr/>
          <p:nvPr/>
        </p:nvSpPr>
        <p:spPr>
          <a:xfrm>
            <a:off x="7680960" y="2834640"/>
            <a:ext cx="384048" cy="384048"/>
          </a:xfrm>
          <a:prstGeom prst="rect">
            <a:avLst/>
          </a:prstGeom>
          <a:solidFill>
            <a:srgbClr val="1F4B3F"/>
          </a:solidFill>
          <a:ln/>
        </p:spPr>
      </p:sp>
      <p:sp>
        <p:nvSpPr>
          <p:cNvPr id="40" name="Text 37"/>
          <p:cNvSpPr txBox="1"/>
          <p:nvPr/>
        </p:nvSpPr>
        <p:spPr>
          <a:xfrm>
            <a:off x="7680960" y="2843784"/>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a:t>
            </a:r>
            <a:endParaRPr lang="en-US" sz="1400" dirty="0"/>
          </a:p>
        </p:txBody>
      </p:sp>
      <p:sp>
        <p:nvSpPr>
          <p:cNvPr id="41" name="Text 38"/>
          <p:cNvSpPr txBox="1"/>
          <p:nvPr/>
        </p:nvSpPr>
        <p:spPr>
          <a:xfrm>
            <a:off x="8183880" y="2816352"/>
            <a:ext cx="3337560" cy="274320"/>
          </a:xfrm>
          <a:prstGeom prst="rect">
            <a:avLst/>
          </a:prstGeom>
          <a:noFill/>
          <a:ln/>
        </p:spPr>
        <p:txBody>
          <a:bodyPr wrap="square" lIns="0" tIns="0" rIns="0" bIns="0" rtlCol="0" anchor="t"/>
          <a:lstStyle/>
          <a:p>
            <a:pPr indent="0" marL="0">
              <a:buNone/>
            </a:pPr>
            <a:r>
              <a:rPr lang="en-US" sz="1250" b="1" dirty="0">
                <a:solidFill>
                  <a:srgbClr val="1A1D21"/>
                </a:solidFill>
                <a:latin typeface="Inter" pitchFamily="34" charset="0"/>
                <a:ea typeface="Inter" pitchFamily="34" charset="-122"/>
                <a:cs typeface="Inter" pitchFamily="34" charset="-120"/>
              </a:rPr>
              <a:t>El waterfall, dentro del consorcio</a:t>
            </a:r>
            <a:endParaRPr lang="en-US" sz="1250" dirty="0"/>
          </a:p>
        </p:txBody>
      </p:sp>
      <p:sp>
        <p:nvSpPr>
          <p:cNvPr id="42" name="Text 39"/>
          <p:cNvSpPr txBox="1"/>
          <p:nvPr/>
        </p:nvSpPr>
        <p:spPr>
          <a:xfrm>
            <a:off x="8183880" y="3108960"/>
            <a:ext cx="3337560" cy="749808"/>
          </a:xfrm>
          <a:prstGeom prst="rect">
            <a:avLst/>
          </a:prstGeom>
          <a:noFill/>
          <a:ln/>
        </p:spPr>
        <p:txBody>
          <a:bodyPr wrap="square" lIns="0" tIns="0" rIns="0" bIns="0" rtlCol="0" anchor="t"/>
          <a:lstStyle/>
          <a:p>
            <a:pPr indent="0" marL="0">
              <a:buNone/>
            </a:pPr>
            <a:r>
              <a:rPr lang="en-US" sz="1050" dirty="0">
                <a:solidFill>
                  <a:srgbClr val="1F2124"/>
                </a:solidFill>
                <a:latin typeface="Inter" pitchFamily="34" charset="0"/>
                <a:ea typeface="Inter" pitchFamily="34" charset="-122"/>
                <a:cs typeface="Inter" pitchFamily="34" charset="-120"/>
              </a:rPr>
              <a:t>Los LPs recuperan su capital y un 8% anual; después catch-up del GP y reparto 80/20. GP €31.361m, LPs €101.011m.</a:t>
            </a:r>
            <a:endParaRPr lang="en-US" sz="1050" dirty="0"/>
          </a:p>
        </p:txBody>
      </p:sp>
      <p:sp>
        <p:nvSpPr>
          <p:cNvPr id="43" name="Shape 40"/>
          <p:cNvSpPr/>
          <p:nvPr/>
        </p:nvSpPr>
        <p:spPr>
          <a:xfrm>
            <a:off x="7680960" y="3913632"/>
            <a:ext cx="384048" cy="384048"/>
          </a:xfrm>
          <a:prstGeom prst="rect">
            <a:avLst/>
          </a:prstGeom>
          <a:solidFill>
            <a:srgbClr val="1F4B3F"/>
          </a:solidFill>
          <a:ln/>
        </p:spPr>
      </p:sp>
      <p:sp>
        <p:nvSpPr>
          <p:cNvPr id="44" name="Text 41"/>
          <p:cNvSpPr txBox="1"/>
          <p:nvPr/>
        </p:nvSpPr>
        <p:spPr>
          <a:xfrm>
            <a:off x="7680960" y="3922776"/>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a:t>
            </a:r>
            <a:endParaRPr lang="en-US" sz="1400" dirty="0"/>
          </a:p>
        </p:txBody>
      </p:sp>
      <p:sp>
        <p:nvSpPr>
          <p:cNvPr id="45" name="Text 42"/>
          <p:cNvSpPr txBox="1"/>
          <p:nvPr/>
        </p:nvSpPr>
        <p:spPr>
          <a:xfrm>
            <a:off x="8183880" y="3895344"/>
            <a:ext cx="3337560" cy="274320"/>
          </a:xfrm>
          <a:prstGeom prst="rect">
            <a:avLst/>
          </a:prstGeom>
          <a:noFill/>
          <a:ln/>
        </p:spPr>
        <p:txBody>
          <a:bodyPr wrap="square" lIns="0" tIns="0" rIns="0" bIns="0" rtlCol="0" anchor="t"/>
          <a:lstStyle/>
          <a:p>
            <a:pPr indent="0" marL="0">
              <a:buNone/>
            </a:pPr>
            <a:r>
              <a:rPr lang="en-US" sz="1250" b="1" dirty="0">
                <a:solidFill>
                  <a:srgbClr val="1A1D21"/>
                </a:solidFill>
                <a:latin typeface="Inter" pitchFamily="34" charset="0"/>
                <a:ea typeface="Inter" pitchFamily="34" charset="-122"/>
                <a:cs typeface="Inter" pitchFamily="34" charset="-120"/>
              </a:rPr>
              <a:t>Amancio entra con acciones</a:t>
            </a:r>
            <a:endParaRPr lang="en-US" sz="1250" dirty="0"/>
          </a:p>
        </p:txBody>
      </p:sp>
      <p:sp>
        <p:nvSpPr>
          <p:cNvPr id="46" name="Text 43"/>
          <p:cNvSpPr txBox="1"/>
          <p:nvPr/>
        </p:nvSpPr>
        <p:spPr>
          <a:xfrm>
            <a:off x="8183880" y="4187952"/>
            <a:ext cx="3337560" cy="749808"/>
          </a:xfrm>
          <a:prstGeom prst="rect">
            <a:avLst/>
          </a:prstGeom>
          <a:noFill/>
          <a:ln/>
        </p:spPr>
        <p:txBody>
          <a:bodyPr wrap="square" lIns="0" tIns="0" rIns="0" bIns="0" rtlCol="0" anchor="t"/>
          <a:lstStyle/>
          <a:p>
            <a:pPr indent="0" marL="0">
              <a:buNone/>
            </a:pPr>
            <a:r>
              <a:rPr lang="en-US" sz="1050" dirty="0">
                <a:solidFill>
                  <a:srgbClr val="1F2124"/>
                </a:solidFill>
                <a:latin typeface="Inter" pitchFamily="34" charset="0"/>
                <a:ea typeface="Inter" pitchFamily="34" charset="-122"/>
                <a:cs typeface="Inter" pitchFamily="34" charset="-120"/>
              </a:rPr>
              <a:t>Canje del 25% de Inditex por acciones de la TopCo, neutro fiscalmente (régimen FEAC, art. 87 LIS).</a:t>
            </a:r>
            <a:endParaRPr lang="en-US" sz="1050" dirty="0"/>
          </a:p>
        </p:txBody>
      </p:sp>
      <p:sp>
        <p:nvSpPr>
          <p:cNvPr id="47" name="Shape 44"/>
          <p:cNvSpPr/>
          <p:nvPr/>
        </p:nvSpPr>
        <p:spPr>
          <a:xfrm>
            <a:off x="7680960" y="4992624"/>
            <a:ext cx="384048" cy="384048"/>
          </a:xfrm>
          <a:prstGeom prst="rect">
            <a:avLst/>
          </a:prstGeom>
          <a:solidFill>
            <a:srgbClr val="7D848C"/>
          </a:solidFill>
          <a:ln/>
        </p:spPr>
      </p:sp>
      <p:sp>
        <p:nvSpPr>
          <p:cNvPr id="48" name="Text 45"/>
          <p:cNvSpPr txBox="1"/>
          <p:nvPr/>
        </p:nvSpPr>
        <p:spPr>
          <a:xfrm>
            <a:off x="7680960" y="5001768"/>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a:t>
            </a:r>
            <a:endParaRPr lang="en-US" sz="1400" dirty="0"/>
          </a:p>
        </p:txBody>
      </p:sp>
      <p:sp>
        <p:nvSpPr>
          <p:cNvPr id="49" name="Text 46"/>
          <p:cNvSpPr txBox="1"/>
          <p:nvPr/>
        </p:nvSpPr>
        <p:spPr>
          <a:xfrm>
            <a:off x="8183880" y="4974336"/>
            <a:ext cx="3337560" cy="274320"/>
          </a:xfrm>
          <a:prstGeom prst="rect">
            <a:avLst/>
          </a:prstGeom>
          <a:noFill/>
          <a:ln/>
        </p:spPr>
        <p:txBody>
          <a:bodyPr wrap="square" lIns="0" tIns="0" rIns="0" bIns="0" rtlCol="0" anchor="t"/>
          <a:lstStyle/>
          <a:p>
            <a:pPr indent="0" marL="0">
              <a:buNone/>
            </a:pPr>
            <a:r>
              <a:rPr lang="en-US" sz="1250" b="1" dirty="0">
                <a:solidFill>
                  <a:srgbClr val="1A1D21"/>
                </a:solidFill>
                <a:latin typeface="Inter" pitchFamily="34" charset="0"/>
                <a:ea typeface="Inter" pitchFamily="34" charset="-122"/>
                <a:cs typeface="Inter" pitchFamily="34" charset="-120"/>
              </a:rPr>
              <a:t>Pacto de socios (propuesta)</a:t>
            </a:r>
            <a:endParaRPr lang="en-US" sz="1250" dirty="0"/>
          </a:p>
        </p:txBody>
      </p:sp>
      <p:sp>
        <p:nvSpPr>
          <p:cNvPr id="50" name="Text 47"/>
          <p:cNvSpPr txBox="1"/>
          <p:nvPr/>
        </p:nvSpPr>
        <p:spPr>
          <a:xfrm>
            <a:off x="8183880" y="5266944"/>
            <a:ext cx="3337560" cy="749808"/>
          </a:xfrm>
          <a:prstGeom prst="rect">
            <a:avLst/>
          </a:prstGeom>
          <a:noFill/>
          <a:ln/>
        </p:spPr>
        <p:txBody>
          <a:bodyPr wrap="square" lIns="0" tIns="0" rIns="0" bIns="0" rtlCol="0" anchor="t"/>
          <a:lstStyle/>
          <a:p>
            <a:pPr indent="0" marL="0">
              <a:buNone/>
            </a:pPr>
            <a:r>
              <a:rPr lang="en-US" sz="1050" dirty="0">
                <a:solidFill>
                  <a:srgbClr val="1F2124"/>
                </a:solidFill>
                <a:latin typeface="Inter" pitchFamily="34" charset="0"/>
                <a:ea typeface="Inter" pitchFamily="34" charset="-122"/>
                <a:cs typeface="Inter" pitchFamily="34" charset="-120"/>
              </a:rPr>
              <a:t>Mayoría del consorcio en el consejo, veto de Amancio en materias reservadas, arrastre y acompañamiento en la salida.</a:t>
            </a:r>
            <a:endParaRPr lang="en-US" sz="1050" dirty="0"/>
          </a:p>
        </p:txBody>
      </p:sp>
      <p:sp>
        <p:nvSpPr>
          <p:cNvPr id="51" name="Text 48"/>
          <p:cNvSpPr txBox="1"/>
          <p:nvPr/>
        </p:nvSpPr>
        <p:spPr>
          <a:xfrm>
            <a:off x="548640" y="6327648"/>
            <a:ext cx="7863840" cy="228600"/>
          </a:xfrm>
          <a:prstGeom prst="rect">
            <a:avLst/>
          </a:prstGeom>
          <a:noFill/>
          <a:ln/>
        </p:spPr>
        <p:txBody>
          <a:bodyPr wrap="square" lIns="0" tIns="0" rIns="0" bIns="0" rtlCol="0" anchor="t"/>
          <a:lstStyle/>
          <a:p>
            <a:pPr indent="0" marL="0">
              <a:buNone/>
            </a:pPr>
            <a:r>
              <a:rPr lang="en-US" sz="900" dirty="0">
                <a:solidFill>
                  <a:srgbClr val="6E7378"/>
                </a:solidFill>
                <a:latin typeface="Inter" pitchFamily="34" charset="0"/>
                <a:ea typeface="Inter" pitchFamily="34" charset="-122"/>
                <a:cs typeface="Inter" pitchFamily="34" charset="-120"/>
              </a:rPr>
              <a:t>Fuente: modelo LBO definitivo (LBO Summary D42:L46, filas 56–84). Pacto de socios: propuesta.</a:t>
            </a:r>
            <a:endParaRPr lang="en-US" sz="900" dirty="0"/>
          </a:p>
        </p:txBody>
      </p:sp>
      <p:sp>
        <p:nvSpPr>
          <p:cNvPr id="52" name="Text 49"/>
          <p:cNvSpPr txBox="1"/>
          <p:nvPr/>
        </p:nvSpPr>
        <p:spPr>
          <a:xfrm>
            <a:off x="8595360" y="6327648"/>
            <a:ext cx="3044952" cy="228600"/>
          </a:xfrm>
          <a:prstGeom prst="rect">
            <a:avLst/>
          </a:prstGeom>
          <a:noFill/>
          <a:ln/>
        </p:spPr>
        <p:txBody>
          <a:bodyPr wrap="square" lIns="0" tIns="0" rIns="0" bIns="0" rtlCol="0" anchor="t"/>
          <a:lstStyle/>
          <a:p>
            <a:pPr algn="r" indent="0" marL="0">
              <a:buNone/>
            </a:pPr>
            <a:r>
              <a:rPr lang="en-US" sz="900" dirty="0">
                <a:solidFill>
                  <a:srgbClr val="6E7378"/>
                </a:solidFill>
                <a:latin typeface="Inter" pitchFamily="34" charset="0"/>
                <a:ea typeface="Inter" pitchFamily="34" charset="-122"/>
                <a:cs typeface="Inter" pitchFamily="34" charset="-120"/>
              </a:rPr>
              <a:t>Project Galicia  ·  Estrictamente confidencial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47472"/>
            <a:ext cx="8229600" cy="228600"/>
          </a:xfrm>
          <a:prstGeom prst="rect">
            <a:avLst/>
          </a:prstGeom>
          <a:noFill/>
          <a:ln/>
        </p:spPr>
        <p:txBody>
          <a:bodyPr wrap="square" lIns="0" tIns="0" rIns="0" bIns="0" rtlCol="0" anchor="t"/>
          <a:lstStyle/>
          <a:p>
            <a:pPr indent="0" marL="0">
              <a:buNone/>
            </a:pPr>
            <a:r>
              <a:rPr lang="en-US" sz="1100" b="1" spc="200" kern="0" dirty="0">
                <a:solidFill>
                  <a:srgbClr val="1F4B3F"/>
                </a:solidFill>
                <a:latin typeface="Inter" pitchFamily="34" charset="0"/>
                <a:ea typeface="Inter" pitchFamily="34" charset="-122"/>
                <a:cs typeface="Inter" pitchFamily="34" charset="-120"/>
              </a:rPr>
              <a:t>02  ESTRUCTURA DE LA COMPRA</a:t>
            </a:r>
            <a:endParaRPr lang="en-US" sz="1100" dirty="0"/>
          </a:p>
        </p:txBody>
      </p:sp>
      <p:pic>
        <p:nvPicPr>
          <p:cNvPr id="3" name="Image 0" descr="/tmp/claude-0/-home-claude/8d7de6a3-f167-5c95-8bc2-67944307bfd8/scratchpad/canva/img/HLP_monograma.png">    </p:cNvPr>
          <p:cNvPicPr>
            <a:picLocks noChangeAspect="1"/>
          </p:cNvPicPr>
          <p:nvPr/>
        </p:nvPicPr>
        <p:blipFill>
          <a:blip r:embed="rId1"/>
          <a:stretch>
            <a:fillRect/>
          </a:stretch>
        </p:blipFill>
        <p:spPr>
          <a:xfrm>
            <a:off x="11228832" y="310896"/>
            <a:ext cx="411480" cy="411480"/>
          </a:xfrm>
          <a:prstGeom prst="rect">
            <a:avLst/>
          </a:prstGeom>
        </p:spPr>
      </p:pic>
      <p:sp>
        <p:nvSpPr>
          <p:cNvPr id="4" name="Text 1"/>
          <p:cNvSpPr txBox="1"/>
          <p:nvPr/>
        </p:nvSpPr>
        <p:spPr>
          <a:xfrm>
            <a:off x="548640" y="603504"/>
            <a:ext cx="10515600" cy="822960"/>
          </a:xfrm>
          <a:prstGeom prst="rect">
            <a:avLst/>
          </a:prstGeom>
          <a:noFill/>
          <a:ln/>
        </p:spPr>
        <p:txBody>
          <a:bodyPr wrap="square" lIns="0" tIns="0" rIns="0" bIns="0" rtlCol="0" anchor="t"/>
          <a:lstStyle/>
          <a:p>
            <a:pPr indent="0" marL="0">
              <a:lnSpc>
                <a:spcPct val="95000"/>
              </a:lnSpc>
              <a:buNone/>
            </a:pPr>
            <a:r>
              <a:rPr lang="en-US" sz="2500" dirty="0">
                <a:solidFill>
                  <a:srgbClr val="1A1D21"/>
                </a:solidFill>
                <a:latin typeface="Lora" pitchFamily="34" charset="0"/>
                <a:ea typeface="Lora" pitchFamily="34" charset="-122"/>
                <a:cs typeface="Lora" pitchFamily="34" charset="-120"/>
              </a:rPr>
              <a:t>La operación mueve €201.265m: el 38% es deuda, el 57% equity y el 5% caja de Inditex</a:t>
            </a:r>
            <a:endParaRPr lang="en-US" sz="2500" dirty="0"/>
          </a:p>
        </p:txBody>
      </p:sp>
      <p:pic>
        <p:nvPicPr>
          <p:cNvPr id="5" name="Image 1" descr="/tmp/claude-0/-home-claude/8d7de6a3-f167-5c95-8bc2-67944307bfd8/scratchpad/canva/img/c6_su.png">    </p:cNvPr>
          <p:cNvPicPr>
            <a:picLocks noChangeAspect="1"/>
          </p:cNvPicPr>
          <p:nvPr/>
        </p:nvPicPr>
        <p:blipFill>
          <a:blip r:embed="rId2"/>
          <a:stretch>
            <a:fillRect/>
          </a:stretch>
        </p:blipFill>
        <p:spPr>
          <a:xfrm>
            <a:off x="548640" y="1508760"/>
            <a:ext cx="6949440" cy="4069080"/>
          </a:xfrm>
          <a:prstGeom prst="rect">
            <a:avLst/>
          </a:prstGeom>
        </p:spPr>
      </p:pic>
      <p:sp>
        <p:nvSpPr>
          <p:cNvPr id="6" name="Text 2"/>
          <p:cNvSpPr txBox="1"/>
          <p:nvPr/>
        </p:nvSpPr>
        <p:spPr>
          <a:xfrm>
            <a:off x="548640" y="5715000"/>
            <a:ext cx="6949440" cy="274320"/>
          </a:xfrm>
          <a:prstGeom prst="rect">
            <a:avLst/>
          </a:prstGeom>
          <a:noFill/>
          <a:ln/>
        </p:spPr>
        <p:txBody>
          <a:bodyPr wrap="square" lIns="0" tIns="0" rIns="0" bIns="0" rtlCol="0" anchor="t"/>
          <a:lstStyle/>
          <a:p>
            <a:pPr indent="0" marL="0">
              <a:buNone/>
            </a:pPr>
            <a:r>
              <a:rPr lang="en-US" sz="1100" dirty="0">
                <a:solidFill>
                  <a:srgbClr val="6E7378"/>
                </a:solidFill>
                <a:latin typeface="Inter" pitchFamily="34" charset="0"/>
                <a:ea typeface="Inter" pitchFamily="34" charset="-122"/>
                <a:cs typeface="Inter" pitchFamily="34" charset="-120"/>
              </a:rPr>
              <a:t>Usos y fuentes de la operación (€m)</a:t>
            </a:r>
            <a:endParaRPr lang="en-US" sz="1100" dirty="0"/>
          </a:p>
        </p:txBody>
      </p:sp>
      <p:sp>
        <p:nvSpPr>
          <p:cNvPr id="7" name="Shape 3"/>
          <p:cNvSpPr/>
          <p:nvPr/>
        </p:nvSpPr>
        <p:spPr>
          <a:xfrm>
            <a:off x="7818120" y="1600200"/>
            <a:ext cx="3822192" cy="1078992"/>
          </a:xfrm>
          <a:prstGeom prst="rect">
            <a:avLst>
              <a:gd name="adj" fmla="val 5085"/>
            </a:avLst>
          </a:prstGeom>
          <a:solidFill>
            <a:srgbClr val="F3F3F2"/>
          </a:solidFill>
          <a:ln/>
        </p:spPr>
      </p:sp>
      <p:sp>
        <p:nvSpPr>
          <p:cNvPr id="8" name="Text 4"/>
          <p:cNvSpPr txBox="1"/>
          <p:nvPr/>
        </p:nvSpPr>
        <p:spPr>
          <a:xfrm>
            <a:off x="8001000" y="1709928"/>
            <a:ext cx="1828800" cy="274320"/>
          </a:xfrm>
          <a:prstGeom prst="rect">
            <a:avLst/>
          </a:prstGeom>
          <a:noFill/>
          <a:ln/>
        </p:spPr>
        <p:txBody>
          <a:bodyPr wrap="square" lIns="0" tIns="0" rIns="0" bIns="0" rtlCol="0" anchor="t"/>
          <a:lstStyle/>
          <a:p>
            <a:pPr indent="0" marL="0">
              <a:buNone/>
            </a:pPr>
            <a:r>
              <a:rPr lang="en-US" sz="1300" b="1" dirty="0">
                <a:solidFill>
                  <a:srgbClr val="1A1D21"/>
                </a:solidFill>
                <a:latin typeface="Inter" pitchFamily="34" charset="0"/>
                <a:ea typeface="Inter" pitchFamily="34" charset="-122"/>
                <a:cs typeface="Inter" pitchFamily="34" charset="-120"/>
              </a:rPr>
              <a:t>Deuda</a:t>
            </a:r>
            <a:endParaRPr lang="en-US" sz="1300" dirty="0"/>
          </a:p>
        </p:txBody>
      </p:sp>
      <p:sp>
        <p:nvSpPr>
          <p:cNvPr id="9" name="Text 5"/>
          <p:cNvSpPr txBox="1"/>
          <p:nvPr/>
        </p:nvSpPr>
        <p:spPr>
          <a:xfrm>
            <a:off x="9509760" y="1709928"/>
            <a:ext cx="2011680" cy="274320"/>
          </a:xfrm>
          <a:prstGeom prst="rect">
            <a:avLst/>
          </a:prstGeom>
          <a:noFill/>
          <a:ln/>
        </p:spPr>
        <p:txBody>
          <a:bodyPr wrap="square" lIns="0" tIns="0" rIns="0" bIns="0" rtlCol="0" anchor="t"/>
          <a:lstStyle/>
          <a:p>
            <a:pPr algn="r" indent="0" marL="0">
              <a:buNone/>
            </a:pPr>
            <a:r>
              <a:rPr lang="en-US" sz="1300" b="1" dirty="0">
                <a:solidFill>
                  <a:srgbClr val="1F2124"/>
                </a:solidFill>
                <a:latin typeface="Inter" pitchFamily="34" charset="0"/>
                <a:ea typeface="Inter" pitchFamily="34" charset="-122"/>
                <a:cs typeface="Inter" pitchFamily="34" charset="-120"/>
              </a:rPr>
              <a:t>€76.956m  ·  38%</a:t>
            </a:r>
            <a:endParaRPr lang="en-US" sz="1300" dirty="0"/>
          </a:p>
        </p:txBody>
      </p:sp>
      <p:sp>
        <p:nvSpPr>
          <p:cNvPr id="10" name="Text 6"/>
          <p:cNvSpPr txBox="1"/>
          <p:nvPr/>
        </p:nvSpPr>
        <p:spPr>
          <a:xfrm>
            <a:off x="8001000" y="2057400"/>
            <a:ext cx="3474720" cy="566928"/>
          </a:xfrm>
          <a:prstGeom prst="rect">
            <a:avLst/>
          </a:prstGeom>
          <a:noFill/>
          <a:ln/>
        </p:spPr>
        <p:txBody>
          <a:bodyPr wrap="square" lIns="0" tIns="0" rIns="0" bIns="0" rtlCol="0" anchor="t"/>
          <a:lstStyle/>
          <a:p>
            <a:pPr indent="0" marL="0">
              <a:buNone/>
            </a:pPr>
            <a:r>
              <a:rPr lang="en-US" sz="1150" dirty="0">
                <a:solidFill>
                  <a:srgbClr val="6E7378"/>
                </a:solidFill>
                <a:latin typeface="Inter" pitchFamily="34" charset="0"/>
                <a:ea typeface="Inter" pitchFamily="34" charset="-122"/>
                <a:cs typeface="Inter" pitchFamily="34" charset="-120"/>
              </a:rPr>
              <a:t>8,2x EBITDA en cuatro tramos más un RCF sin disponer</a:t>
            </a:r>
            <a:endParaRPr lang="en-US" sz="1150" dirty="0"/>
          </a:p>
        </p:txBody>
      </p:sp>
      <p:sp>
        <p:nvSpPr>
          <p:cNvPr id="11" name="Shape 7"/>
          <p:cNvSpPr/>
          <p:nvPr/>
        </p:nvSpPr>
        <p:spPr>
          <a:xfrm>
            <a:off x="7818120" y="2816352"/>
            <a:ext cx="3822192" cy="1078992"/>
          </a:xfrm>
          <a:prstGeom prst="rect">
            <a:avLst>
              <a:gd name="adj" fmla="val 5085"/>
            </a:avLst>
          </a:prstGeom>
          <a:solidFill>
            <a:srgbClr val="1A1D21"/>
          </a:solidFill>
          <a:ln/>
        </p:spPr>
      </p:sp>
      <p:sp>
        <p:nvSpPr>
          <p:cNvPr id="12" name="Text 8"/>
          <p:cNvSpPr txBox="1"/>
          <p:nvPr/>
        </p:nvSpPr>
        <p:spPr>
          <a:xfrm>
            <a:off x="8001000" y="2926080"/>
            <a:ext cx="1828800" cy="274320"/>
          </a:xfrm>
          <a:prstGeom prst="rect">
            <a:avLst/>
          </a:prstGeom>
          <a:noFill/>
          <a:ln/>
        </p:spPr>
        <p:txBody>
          <a:bodyPr wrap="square" lIns="0" tIns="0" rIns="0" bIns="0" rtlCol="0" anchor="t"/>
          <a:lstStyle/>
          <a:p>
            <a:pPr indent="0" marL="0">
              <a:buNone/>
            </a:pPr>
            <a:r>
              <a:rPr lang="en-US" sz="1300" b="1" dirty="0">
                <a:solidFill>
                  <a:srgbClr val="A8C9B8"/>
                </a:solidFill>
                <a:latin typeface="Inter" pitchFamily="34" charset="0"/>
                <a:ea typeface="Inter" pitchFamily="34" charset="-122"/>
                <a:cs typeface="Inter" pitchFamily="34" charset="-120"/>
              </a:rPr>
              <a:t>Equity</a:t>
            </a:r>
            <a:endParaRPr lang="en-US" sz="1300" dirty="0"/>
          </a:p>
        </p:txBody>
      </p:sp>
      <p:sp>
        <p:nvSpPr>
          <p:cNvPr id="13" name="Text 9"/>
          <p:cNvSpPr txBox="1"/>
          <p:nvPr/>
        </p:nvSpPr>
        <p:spPr>
          <a:xfrm>
            <a:off x="9509760" y="2926080"/>
            <a:ext cx="2011680" cy="274320"/>
          </a:xfrm>
          <a:prstGeom prst="rect">
            <a:avLst/>
          </a:prstGeom>
          <a:noFill/>
          <a:ln/>
        </p:spPr>
        <p:txBody>
          <a:bodyPr wrap="square" lIns="0" tIns="0" rIns="0" bIns="0" rtlCol="0" anchor="t"/>
          <a:lstStyle/>
          <a:p>
            <a:pPr algn="r" indent="0" marL="0">
              <a:buNone/>
            </a:pPr>
            <a:r>
              <a:rPr lang="en-US" sz="1300" b="1" dirty="0">
                <a:solidFill>
                  <a:srgbClr val="FFFFFF"/>
                </a:solidFill>
                <a:latin typeface="Inter" pitchFamily="34" charset="0"/>
                <a:ea typeface="Inter" pitchFamily="34" charset="-122"/>
                <a:cs typeface="Inter" pitchFamily="34" charset="-120"/>
              </a:rPr>
              <a:t>€114.351m  ·  57%</a:t>
            </a:r>
            <a:endParaRPr lang="en-US" sz="1300" dirty="0"/>
          </a:p>
        </p:txBody>
      </p:sp>
      <p:sp>
        <p:nvSpPr>
          <p:cNvPr id="14" name="Text 10"/>
          <p:cNvSpPr txBox="1"/>
          <p:nvPr/>
        </p:nvSpPr>
        <p:spPr>
          <a:xfrm>
            <a:off x="8001000" y="3273552"/>
            <a:ext cx="3474720" cy="566928"/>
          </a:xfrm>
          <a:prstGeom prst="rect">
            <a:avLst/>
          </a:prstGeom>
          <a:noFill/>
          <a:ln/>
        </p:spPr>
        <p:txBody>
          <a:bodyPr wrap="square" lIns="0" tIns="0" rIns="0" bIns="0" rtlCol="0" anchor="t"/>
          <a:lstStyle/>
          <a:p>
            <a:pPr indent="0" marL="0">
              <a:buNone/>
            </a:pPr>
            <a:r>
              <a:rPr lang="en-US" sz="1150" dirty="0">
                <a:solidFill>
                  <a:srgbClr val="D9D9D6"/>
                </a:solidFill>
                <a:latin typeface="Inter" pitchFamily="34" charset="0"/>
                <a:ea typeface="Inter" pitchFamily="34" charset="-122"/>
                <a:cs typeface="Inter" pitchFamily="34" charset="-120"/>
              </a:rPr>
              <a:t>Rollover de Amancio (€49.658m) y cheque del consorcio (€64.693m)</a:t>
            </a:r>
            <a:endParaRPr lang="en-US" sz="1150" dirty="0"/>
          </a:p>
        </p:txBody>
      </p:sp>
      <p:sp>
        <p:nvSpPr>
          <p:cNvPr id="15" name="Shape 11"/>
          <p:cNvSpPr/>
          <p:nvPr/>
        </p:nvSpPr>
        <p:spPr>
          <a:xfrm>
            <a:off x="7818120" y="4032504"/>
            <a:ext cx="3822192" cy="1078992"/>
          </a:xfrm>
          <a:prstGeom prst="rect">
            <a:avLst>
              <a:gd name="adj" fmla="val 5085"/>
            </a:avLst>
          </a:prstGeom>
          <a:solidFill>
            <a:srgbClr val="F3F3F2"/>
          </a:solidFill>
          <a:ln/>
        </p:spPr>
      </p:sp>
      <p:sp>
        <p:nvSpPr>
          <p:cNvPr id="16" name="Text 12"/>
          <p:cNvSpPr txBox="1"/>
          <p:nvPr/>
        </p:nvSpPr>
        <p:spPr>
          <a:xfrm>
            <a:off x="8001000" y="4142232"/>
            <a:ext cx="1828800" cy="274320"/>
          </a:xfrm>
          <a:prstGeom prst="rect">
            <a:avLst/>
          </a:prstGeom>
          <a:noFill/>
          <a:ln/>
        </p:spPr>
        <p:txBody>
          <a:bodyPr wrap="square" lIns="0" tIns="0" rIns="0" bIns="0" rtlCol="0" anchor="t"/>
          <a:lstStyle/>
          <a:p>
            <a:pPr indent="0" marL="0">
              <a:buNone/>
            </a:pPr>
            <a:r>
              <a:rPr lang="en-US" sz="1300" b="1" dirty="0">
                <a:solidFill>
                  <a:srgbClr val="1A1D21"/>
                </a:solidFill>
                <a:latin typeface="Inter" pitchFamily="34" charset="0"/>
                <a:ea typeface="Inter" pitchFamily="34" charset="-122"/>
                <a:cs typeface="Inter" pitchFamily="34" charset="-120"/>
              </a:rPr>
              <a:t>Caja de Inditex</a:t>
            </a:r>
            <a:endParaRPr lang="en-US" sz="1300" dirty="0"/>
          </a:p>
        </p:txBody>
      </p:sp>
      <p:sp>
        <p:nvSpPr>
          <p:cNvPr id="17" name="Text 13"/>
          <p:cNvSpPr txBox="1"/>
          <p:nvPr/>
        </p:nvSpPr>
        <p:spPr>
          <a:xfrm>
            <a:off x="9509760" y="4142232"/>
            <a:ext cx="2011680" cy="274320"/>
          </a:xfrm>
          <a:prstGeom prst="rect">
            <a:avLst/>
          </a:prstGeom>
          <a:noFill/>
          <a:ln/>
        </p:spPr>
        <p:txBody>
          <a:bodyPr wrap="square" lIns="0" tIns="0" rIns="0" bIns="0" rtlCol="0" anchor="t"/>
          <a:lstStyle/>
          <a:p>
            <a:pPr algn="r" indent="0" marL="0">
              <a:buNone/>
            </a:pPr>
            <a:r>
              <a:rPr lang="en-US" sz="1300" b="1" dirty="0">
                <a:solidFill>
                  <a:srgbClr val="1F2124"/>
                </a:solidFill>
                <a:latin typeface="Inter" pitchFamily="34" charset="0"/>
                <a:ea typeface="Inter" pitchFamily="34" charset="-122"/>
                <a:cs typeface="Inter" pitchFamily="34" charset="-120"/>
              </a:rPr>
              <a:t>€9.958m  ·  5%</a:t>
            </a:r>
            <a:endParaRPr lang="en-US" sz="1300" dirty="0"/>
          </a:p>
        </p:txBody>
      </p:sp>
      <p:sp>
        <p:nvSpPr>
          <p:cNvPr id="18" name="Text 14"/>
          <p:cNvSpPr txBox="1"/>
          <p:nvPr/>
        </p:nvSpPr>
        <p:spPr>
          <a:xfrm>
            <a:off x="8001000" y="4489704"/>
            <a:ext cx="3474720" cy="566928"/>
          </a:xfrm>
          <a:prstGeom prst="rect">
            <a:avLst/>
          </a:prstGeom>
          <a:noFill/>
          <a:ln/>
        </p:spPr>
        <p:txBody>
          <a:bodyPr wrap="square" lIns="0" tIns="0" rIns="0" bIns="0" rtlCol="0" anchor="t"/>
          <a:lstStyle/>
          <a:p>
            <a:pPr indent="0" marL="0">
              <a:buNone/>
            </a:pPr>
            <a:r>
              <a:rPr lang="en-US" sz="1150" dirty="0">
                <a:solidFill>
                  <a:srgbClr val="6E7378"/>
                </a:solidFill>
                <a:latin typeface="Inter" pitchFamily="34" charset="0"/>
                <a:ea typeface="Inter" pitchFamily="34" charset="-122"/>
                <a:cs typeface="Inter" pitchFamily="34" charset="-120"/>
              </a:rPr>
              <a:t>Se usa toda salvo €1.000m de caja mínima operativa</a:t>
            </a:r>
            <a:endParaRPr lang="en-US" sz="1150" dirty="0"/>
          </a:p>
        </p:txBody>
      </p:sp>
      <p:sp>
        <p:nvSpPr>
          <p:cNvPr id="19" name="Shape 15"/>
          <p:cNvSpPr/>
          <p:nvPr/>
        </p:nvSpPr>
        <p:spPr>
          <a:xfrm>
            <a:off x="7818120" y="5257800"/>
            <a:ext cx="3822192" cy="822960"/>
          </a:xfrm>
          <a:prstGeom prst="rect">
            <a:avLst>
              <a:gd name="adj" fmla="val 6667"/>
            </a:avLst>
          </a:prstGeom>
          <a:solidFill>
            <a:srgbClr val="FFFFFF"/>
          </a:solidFill>
          <a:ln w="12700">
            <a:solidFill>
              <a:srgbClr val="D9D9D6"/>
            </a:solidFill>
            <a:prstDash val="solid"/>
          </a:ln>
        </p:spPr>
      </p:sp>
      <p:sp>
        <p:nvSpPr>
          <p:cNvPr id="20" name="Text 16"/>
          <p:cNvSpPr txBox="1"/>
          <p:nvPr/>
        </p:nvSpPr>
        <p:spPr>
          <a:xfrm>
            <a:off x="8001000" y="5330952"/>
            <a:ext cx="3520440" cy="713232"/>
          </a:xfrm>
          <a:prstGeom prst="rect">
            <a:avLst/>
          </a:prstGeom>
          <a:noFill/>
          <a:ln/>
        </p:spPr>
        <p:txBody>
          <a:bodyPr wrap="square" lIns="0" tIns="0" rIns="0" bIns="0" rtlCol="0" anchor="t"/>
          <a:lstStyle/>
          <a:p>
            <a:pPr indent="0" marL="0">
              <a:buNone/>
            </a:pPr>
            <a:r>
              <a:rPr lang="en-US" sz="1150" dirty="0">
                <a:solidFill>
                  <a:srgbClr val="1F2124"/>
                </a:solidFill>
                <a:latin typeface="Inter" pitchFamily="34" charset="0"/>
                <a:ea typeface="Inter" pitchFamily="34" charset="-122"/>
                <a:cs typeface="Inter" pitchFamily="34" charset="-120"/>
              </a:rPr>
              <a:t>El cheque del consorcio es el plug: lo que falta tras la deuda, la caja y el rollover. Costes de la operación: €2.632m.</a:t>
            </a:r>
            <a:endParaRPr lang="en-US" sz="1150" dirty="0"/>
          </a:p>
        </p:txBody>
      </p:sp>
      <p:sp>
        <p:nvSpPr>
          <p:cNvPr id="21" name="Text 17"/>
          <p:cNvSpPr txBox="1"/>
          <p:nvPr/>
        </p:nvSpPr>
        <p:spPr>
          <a:xfrm>
            <a:off x="548640" y="6327648"/>
            <a:ext cx="7863840" cy="228600"/>
          </a:xfrm>
          <a:prstGeom prst="rect">
            <a:avLst/>
          </a:prstGeom>
          <a:noFill/>
          <a:ln/>
        </p:spPr>
        <p:txBody>
          <a:bodyPr wrap="square" lIns="0" tIns="0" rIns="0" bIns="0" rtlCol="0" anchor="t"/>
          <a:lstStyle/>
          <a:p>
            <a:pPr indent="0" marL="0">
              <a:buNone/>
            </a:pPr>
            <a:r>
              <a:rPr lang="en-US" sz="900" dirty="0">
                <a:solidFill>
                  <a:srgbClr val="6E7378"/>
                </a:solidFill>
                <a:latin typeface="Inter" pitchFamily="34" charset="0"/>
                <a:ea typeface="Inter" pitchFamily="34" charset="-122"/>
                <a:cs typeface="Inter" pitchFamily="34" charset="-120"/>
              </a:rPr>
              <a:t>Fuente: modelo LBO definitivo (LBO Summary E32:L40).</a:t>
            </a:r>
            <a:endParaRPr lang="en-US" sz="900" dirty="0"/>
          </a:p>
        </p:txBody>
      </p:sp>
      <p:sp>
        <p:nvSpPr>
          <p:cNvPr id="22" name="Text 18"/>
          <p:cNvSpPr txBox="1"/>
          <p:nvPr/>
        </p:nvSpPr>
        <p:spPr>
          <a:xfrm>
            <a:off x="8595360" y="6327648"/>
            <a:ext cx="3044952" cy="228600"/>
          </a:xfrm>
          <a:prstGeom prst="rect">
            <a:avLst/>
          </a:prstGeom>
          <a:noFill/>
          <a:ln/>
        </p:spPr>
        <p:txBody>
          <a:bodyPr wrap="square" lIns="0" tIns="0" rIns="0" bIns="0" rtlCol="0" anchor="t"/>
          <a:lstStyle/>
          <a:p>
            <a:pPr algn="r" indent="0" marL="0">
              <a:buNone/>
            </a:pPr>
            <a:r>
              <a:rPr lang="en-US" sz="900" dirty="0">
                <a:solidFill>
                  <a:srgbClr val="6E7378"/>
                </a:solidFill>
                <a:latin typeface="Inter" pitchFamily="34" charset="0"/>
                <a:ea typeface="Inter" pitchFamily="34" charset="-122"/>
                <a:cs typeface="Inter" pitchFamily="34" charset="-120"/>
              </a:rPr>
              <a:t>Project Galicia  ·  Estrictamente confidencial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47472"/>
            <a:ext cx="8229600" cy="228600"/>
          </a:xfrm>
          <a:prstGeom prst="rect">
            <a:avLst/>
          </a:prstGeom>
          <a:noFill/>
          <a:ln/>
        </p:spPr>
        <p:txBody>
          <a:bodyPr wrap="square" lIns="0" tIns="0" rIns="0" bIns="0" rtlCol="0" anchor="t"/>
          <a:lstStyle/>
          <a:p>
            <a:pPr indent="0" marL="0">
              <a:buNone/>
            </a:pPr>
            <a:r>
              <a:rPr lang="en-US" sz="1100" b="1" spc="200" kern="0" dirty="0">
                <a:solidFill>
                  <a:srgbClr val="1F4B3F"/>
                </a:solidFill>
                <a:latin typeface="Inter" pitchFamily="34" charset="0"/>
                <a:ea typeface="Inter" pitchFamily="34" charset="-122"/>
                <a:cs typeface="Inter" pitchFamily="34" charset="-120"/>
              </a:rPr>
              <a:t>03  ESTRUCTURA DE LA DEUDA</a:t>
            </a:r>
            <a:endParaRPr lang="en-US" sz="1100" dirty="0"/>
          </a:p>
        </p:txBody>
      </p:sp>
      <p:pic>
        <p:nvPicPr>
          <p:cNvPr id="3" name="Image 0" descr="/tmp/claude-0/-home-claude/8d7de6a3-f167-5c95-8bc2-67944307bfd8/scratchpad/canva/img/HLP_monograma.png">    </p:cNvPr>
          <p:cNvPicPr>
            <a:picLocks noChangeAspect="1"/>
          </p:cNvPicPr>
          <p:nvPr/>
        </p:nvPicPr>
        <p:blipFill>
          <a:blip r:embed="rId1"/>
          <a:stretch>
            <a:fillRect/>
          </a:stretch>
        </p:blipFill>
        <p:spPr>
          <a:xfrm>
            <a:off x="11228832" y="310896"/>
            <a:ext cx="411480" cy="411480"/>
          </a:xfrm>
          <a:prstGeom prst="rect">
            <a:avLst/>
          </a:prstGeom>
        </p:spPr>
      </p:pic>
      <p:sp>
        <p:nvSpPr>
          <p:cNvPr id="4" name="Text 1"/>
          <p:cNvSpPr txBox="1"/>
          <p:nvPr/>
        </p:nvSpPr>
        <p:spPr>
          <a:xfrm>
            <a:off x="548640" y="603504"/>
            <a:ext cx="10515600" cy="822960"/>
          </a:xfrm>
          <a:prstGeom prst="rect">
            <a:avLst/>
          </a:prstGeom>
          <a:noFill/>
          <a:ln/>
        </p:spPr>
        <p:txBody>
          <a:bodyPr wrap="square" lIns="0" tIns="0" rIns="0" bIns="0" rtlCol="0" anchor="t"/>
          <a:lstStyle/>
          <a:p>
            <a:pPr indent="0" marL="0">
              <a:lnSpc>
                <a:spcPct val="95000"/>
              </a:lnSpc>
              <a:buNone/>
            </a:pPr>
            <a:r>
              <a:rPr lang="en-US" sz="2500" dirty="0">
                <a:solidFill>
                  <a:srgbClr val="1A1D21"/>
                </a:solidFill>
                <a:latin typeface="Lora" pitchFamily="34" charset="0"/>
                <a:ea typeface="Lora" pitchFamily="34" charset="-122"/>
                <a:cs typeface="Lora" pitchFamily="34" charset="-120"/>
              </a:rPr>
              <a:t>€76.956m de deuda (8,2x EBITDA) en cinco tramos, del más seguro al más arriesgado</a:t>
            </a:r>
            <a:endParaRPr lang="en-US" sz="2500" dirty="0"/>
          </a:p>
        </p:txBody>
      </p:sp>
      <p:sp>
        <p:nvSpPr>
          <p:cNvPr id="5" name="Text 2"/>
          <p:cNvSpPr txBox="1"/>
          <p:nvPr/>
        </p:nvSpPr>
        <p:spPr>
          <a:xfrm>
            <a:off x="1143000" y="1645920"/>
            <a:ext cx="2240280" cy="475488"/>
          </a:xfrm>
          <a:prstGeom prst="rect">
            <a:avLst/>
          </a:prstGeom>
          <a:solidFill>
            <a:srgbClr val="1A1D21"/>
          </a:solidFill>
          <a:ln/>
        </p:spPr>
        <p:txBody>
          <a:bodyPr wrap="square" lIns="0" tIns="76200" rIns="76200" bIns="0" rtlCol="0" anchor="ctr"/>
          <a:lstStyle/>
          <a:p>
            <a:pPr algn="l" indent="0" marL="0">
              <a:buNone/>
            </a:pPr>
            <a:r>
              <a:rPr lang="en-US" sz="1150" b="1" dirty="0">
                <a:solidFill>
                  <a:srgbClr val="FFFFFF"/>
                </a:solidFill>
                <a:latin typeface="Inter" pitchFamily="34" charset="0"/>
                <a:ea typeface="Inter" pitchFamily="34" charset="-122"/>
                <a:cs typeface="Inter" pitchFamily="34" charset="-120"/>
              </a:rPr>
              <a:t>Tramo</a:t>
            </a:r>
            <a:endParaRPr lang="en-US" sz="1150" dirty="0"/>
          </a:p>
        </p:txBody>
      </p:sp>
      <p:sp>
        <p:nvSpPr>
          <p:cNvPr id="6" name="Text 3"/>
          <p:cNvSpPr txBox="1"/>
          <p:nvPr/>
        </p:nvSpPr>
        <p:spPr>
          <a:xfrm>
            <a:off x="3383280" y="1645920"/>
            <a:ext cx="914400" cy="475488"/>
          </a:xfrm>
          <a:prstGeom prst="rect">
            <a:avLst/>
          </a:prstGeom>
          <a:solidFill>
            <a:srgbClr val="1A1D21"/>
          </a:solidFill>
          <a:ln/>
        </p:spPr>
        <p:txBody>
          <a:bodyPr wrap="square" lIns="0" tIns="76200" rIns="76200" bIns="0" rtlCol="0" anchor="ctr"/>
          <a:lstStyle/>
          <a:p>
            <a:pPr algn="l" indent="0" marL="0">
              <a:buNone/>
            </a:pPr>
            <a:r>
              <a:rPr lang="en-US" sz="1150" b="1" dirty="0">
                <a:solidFill>
                  <a:srgbClr val="FFFFFF"/>
                </a:solidFill>
                <a:latin typeface="Inter" pitchFamily="34" charset="0"/>
                <a:ea typeface="Inter" pitchFamily="34" charset="-122"/>
                <a:cs typeface="Inter" pitchFamily="34" charset="-120"/>
              </a:rPr>
              <a:t>Sociedad</a:t>
            </a:r>
            <a:endParaRPr lang="en-US" sz="1150" dirty="0"/>
          </a:p>
        </p:txBody>
      </p:sp>
      <p:sp>
        <p:nvSpPr>
          <p:cNvPr id="7" name="Text 4"/>
          <p:cNvSpPr txBox="1"/>
          <p:nvPr/>
        </p:nvSpPr>
        <p:spPr>
          <a:xfrm>
            <a:off x="4297680" y="1645920"/>
            <a:ext cx="960120" cy="475488"/>
          </a:xfrm>
          <a:prstGeom prst="rect">
            <a:avLst/>
          </a:prstGeom>
          <a:solidFill>
            <a:srgbClr val="1A1D21"/>
          </a:solidFill>
          <a:ln/>
        </p:spPr>
        <p:txBody>
          <a:bodyPr wrap="square" lIns="0" tIns="76200" rIns="76200" bIns="0" rtlCol="0" anchor="ctr"/>
          <a:lstStyle/>
          <a:p>
            <a:pPr algn="r" indent="0" marL="0">
              <a:buNone/>
            </a:pPr>
            <a:r>
              <a:rPr lang="en-US" sz="1150" b="1" dirty="0">
                <a:solidFill>
                  <a:srgbClr val="FFFFFF"/>
                </a:solidFill>
                <a:latin typeface="Inter" pitchFamily="34" charset="0"/>
                <a:ea typeface="Inter" pitchFamily="34" charset="-122"/>
                <a:cs typeface="Inter" pitchFamily="34" charset="-120"/>
              </a:rPr>
              <a:t>€m</a:t>
            </a:r>
            <a:endParaRPr lang="en-US" sz="1150" dirty="0"/>
          </a:p>
        </p:txBody>
      </p:sp>
      <p:sp>
        <p:nvSpPr>
          <p:cNvPr id="8" name="Text 5"/>
          <p:cNvSpPr txBox="1"/>
          <p:nvPr/>
        </p:nvSpPr>
        <p:spPr>
          <a:xfrm>
            <a:off x="5257800" y="1645920"/>
            <a:ext cx="914400" cy="475488"/>
          </a:xfrm>
          <a:prstGeom prst="rect">
            <a:avLst/>
          </a:prstGeom>
          <a:solidFill>
            <a:srgbClr val="1A1D21"/>
          </a:solidFill>
          <a:ln/>
        </p:spPr>
        <p:txBody>
          <a:bodyPr wrap="square" lIns="0" tIns="76200" rIns="76200" bIns="0" rtlCol="0" anchor="ctr"/>
          <a:lstStyle/>
          <a:p>
            <a:pPr algn="r" indent="0" marL="0">
              <a:buNone/>
            </a:pPr>
            <a:r>
              <a:rPr lang="en-US" sz="1150" b="1" dirty="0">
                <a:solidFill>
                  <a:srgbClr val="FFFFFF"/>
                </a:solidFill>
                <a:latin typeface="Inter" pitchFamily="34" charset="0"/>
                <a:ea typeface="Inter" pitchFamily="34" charset="-122"/>
                <a:cs typeface="Inter" pitchFamily="34" charset="-120"/>
              </a:rPr>
              <a:t>x EBITDA</a:t>
            </a:r>
            <a:endParaRPr lang="en-US" sz="1150" dirty="0"/>
          </a:p>
        </p:txBody>
      </p:sp>
      <p:sp>
        <p:nvSpPr>
          <p:cNvPr id="9" name="Text 6"/>
          <p:cNvSpPr txBox="1"/>
          <p:nvPr/>
        </p:nvSpPr>
        <p:spPr>
          <a:xfrm>
            <a:off x="6172200" y="1645920"/>
            <a:ext cx="1691640" cy="475488"/>
          </a:xfrm>
          <a:prstGeom prst="rect">
            <a:avLst/>
          </a:prstGeom>
          <a:solidFill>
            <a:srgbClr val="1A1D21"/>
          </a:solidFill>
          <a:ln/>
        </p:spPr>
        <p:txBody>
          <a:bodyPr wrap="square" lIns="0" tIns="76200" rIns="76200" bIns="0" rtlCol="0" anchor="ctr"/>
          <a:lstStyle/>
          <a:p>
            <a:pPr algn="l" indent="0" marL="0">
              <a:buNone/>
            </a:pPr>
            <a:r>
              <a:rPr lang="en-US" sz="1150" b="1" dirty="0">
                <a:solidFill>
                  <a:srgbClr val="FFFFFF"/>
                </a:solidFill>
                <a:latin typeface="Inter" pitchFamily="34" charset="0"/>
                <a:ea typeface="Inter" pitchFamily="34" charset="-122"/>
                <a:cs typeface="Inter" pitchFamily="34" charset="-120"/>
              </a:rPr>
              <a:t>Coste</a:t>
            </a:r>
            <a:endParaRPr lang="en-US" sz="1150" dirty="0"/>
          </a:p>
        </p:txBody>
      </p:sp>
      <p:sp>
        <p:nvSpPr>
          <p:cNvPr id="10" name="Text 7"/>
          <p:cNvSpPr txBox="1"/>
          <p:nvPr/>
        </p:nvSpPr>
        <p:spPr>
          <a:xfrm>
            <a:off x="7863840" y="1645920"/>
            <a:ext cx="2697480" cy="475488"/>
          </a:xfrm>
          <a:prstGeom prst="rect">
            <a:avLst/>
          </a:prstGeom>
          <a:solidFill>
            <a:srgbClr val="1A1D21"/>
          </a:solidFill>
          <a:ln/>
        </p:spPr>
        <p:txBody>
          <a:bodyPr wrap="square" lIns="0" tIns="76200" rIns="76200" bIns="0" rtlCol="0" anchor="ctr"/>
          <a:lstStyle/>
          <a:p>
            <a:pPr algn="l" indent="0" marL="0">
              <a:buNone/>
            </a:pPr>
            <a:r>
              <a:rPr lang="en-US" sz="1150" b="1" dirty="0">
                <a:solidFill>
                  <a:srgbClr val="FFFFFF"/>
                </a:solidFill>
                <a:latin typeface="Inter" pitchFamily="34" charset="0"/>
                <a:ea typeface="Inter" pitchFamily="34" charset="-122"/>
                <a:cs typeface="Inter" pitchFamily="34" charset="-120"/>
              </a:rPr>
              <a:t>Amortización</a:t>
            </a:r>
            <a:endParaRPr lang="en-US" sz="1150" dirty="0"/>
          </a:p>
        </p:txBody>
      </p:sp>
      <p:sp>
        <p:nvSpPr>
          <p:cNvPr id="11" name="Text 8"/>
          <p:cNvSpPr txBox="1"/>
          <p:nvPr/>
        </p:nvSpPr>
        <p:spPr>
          <a:xfrm>
            <a:off x="10561320" y="1645920"/>
            <a:ext cx="1033272" cy="475488"/>
          </a:xfrm>
          <a:prstGeom prst="rect">
            <a:avLst/>
          </a:prstGeom>
          <a:solidFill>
            <a:srgbClr val="1A1D21"/>
          </a:solidFill>
          <a:ln/>
        </p:spPr>
        <p:txBody>
          <a:bodyPr wrap="square" lIns="0" tIns="76200" rIns="76200" bIns="0" rtlCol="0" anchor="ctr"/>
          <a:lstStyle/>
          <a:p>
            <a:pPr algn="r" indent="0" marL="0">
              <a:buNone/>
            </a:pPr>
            <a:r>
              <a:rPr lang="en-US" sz="1150" b="1" dirty="0">
                <a:solidFill>
                  <a:srgbClr val="FFFFFF"/>
                </a:solidFill>
                <a:latin typeface="Inter" pitchFamily="34" charset="0"/>
                <a:ea typeface="Inter" pitchFamily="34" charset="-122"/>
                <a:cs typeface="Inter" pitchFamily="34" charset="-120"/>
              </a:rPr>
              <a:t>Comisión</a:t>
            </a:r>
            <a:endParaRPr lang="en-US" sz="1150" dirty="0"/>
          </a:p>
        </p:txBody>
      </p:sp>
      <p:sp>
        <p:nvSpPr>
          <p:cNvPr id="12" name="Text 9"/>
          <p:cNvSpPr txBox="1"/>
          <p:nvPr/>
        </p:nvSpPr>
        <p:spPr>
          <a:xfrm>
            <a:off x="1143000" y="2121408"/>
            <a:ext cx="2240280" cy="475488"/>
          </a:xfrm>
          <a:prstGeom prst="rect">
            <a:avLst/>
          </a:prstGeom>
          <a:solidFill>
            <a:srgbClr val="FFFFFF"/>
          </a:solidFill>
          <a:ln/>
        </p:spPr>
        <p:txBody>
          <a:bodyPr wrap="square" lIns="0" tIns="76200" rIns="76200" bIns="0" rtlCol="0" anchor="ctr"/>
          <a:lstStyle/>
          <a:p>
            <a:pPr algn="l" indent="0" marL="0">
              <a:buNone/>
            </a:pPr>
            <a:r>
              <a:rPr lang="en-US" sz="1200" b="1" dirty="0">
                <a:solidFill>
                  <a:srgbClr val="1F2124"/>
                </a:solidFill>
                <a:latin typeface="Inter" pitchFamily="34" charset="0"/>
                <a:ea typeface="Inter" pitchFamily="34" charset="-122"/>
                <a:cs typeface="Inter" pitchFamily="34" charset="-120"/>
              </a:rPr>
              <a:t>RCF (revolving)</a:t>
            </a:r>
            <a:endParaRPr lang="en-US" sz="1200" dirty="0"/>
          </a:p>
        </p:txBody>
      </p:sp>
      <p:sp>
        <p:nvSpPr>
          <p:cNvPr id="13" name="Text 10"/>
          <p:cNvSpPr txBox="1"/>
          <p:nvPr/>
        </p:nvSpPr>
        <p:spPr>
          <a:xfrm>
            <a:off x="3383280" y="2121408"/>
            <a:ext cx="914400" cy="475488"/>
          </a:xfrm>
          <a:prstGeom prst="rect">
            <a:avLst/>
          </a:prstGeom>
          <a:solidFill>
            <a:srgbClr val="FFFFFF"/>
          </a:solidFill>
          <a:ln/>
        </p:spPr>
        <p:txBody>
          <a:bodyPr wrap="square" lIns="0" tIns="76200" rIns="76200" bIns="0" rtlCol="0" anchor="ctr"/>
          <a:lstStyle/>
          <a:p>
            <a:pPr algn="l" indent="0" marL="0">
              <a:buNone/>
            </a:pPr>
            <a:r>
              <a:rPr lang="en-US" sz="1200" dirty="0">
                <a:solidFill>
                  <a:srgbClr val="1F2124"/>
                </a:solidFill>
                <a:latin typeface="Inter" pitchFamily="34" charset="0"/>
                <a:ea typeface="Inter" pitchFamily="34" charset="-122"/>
                <a:cs typeface="Inter" pitchFamily="34" charset="-120"/>
              </a:rPr>
              <a:t>BidCo</a:t>
            </a:r>
            <a:endParaRPr lang="en-US" sz="1200" dirty="0"/>
          </a:p>
        </p:txBody>
      </p:sp>
      <p:sp>
        <p:nvSpPr>
          <p:cNvPr id="14" name="Text 11"/>
          <p:cNvSpPr txBox="1"/>
          <p:nvPr/>
        </p:nvSpPr>
        <p:spPr>
          <a:xfrm>
            <a:off x="4297680" y="2121408"/>
            <a:ext cx="960120" cy="475488"/>
          </a:xfrm>
          <a:prstGeom prst="rect">
            <a:avLst/>
          </a:prstGeom>
          <a:solidFill>
            <a:srgbClr val="FFFFFF"/>
          </a:solidFill>
          <a:ln/>
        </p:spPr>
        <p:txBody>
          <a:bodyPr wrap="square" lIns="0" tIns="76200" rIns="76200" bIns="0" rtlCol="0" anchor="ctr"/>
          <a:lstStyle/>
          <a:p>
            <a:pPr algn="r" indent="0" marL="0">
              <a:buNone/>
            </a:pPr>
            <a:r>
              <a:rPr lang="en-US" sz="1200" dirty="0">
                <a:solidFill>
                  <a:srgbClr val="1F2124"/>
                </a:solidFill>
                <a:latin typeface="Inter" pitchFamily="34" charset="0"/>
                <a:ea typeface="Inter" pitchFamily="34" charset="-122"/>
                <a:cs typeface="Inter" pitchFamily="34" charset="-120"/>
              </a:rPr>
              <a:t>1.000</a:t>
            </a:r>
            <a:endParaRPr lang="en-US" sz="1200" dirty="0"/>
          </a:p>
        </p:txBody>
      </p:sp>
      <p:sp>
        <p:nvSpPr>
          <p:cNvPr id="15" name="Text 12"/>
          <p:cNvSpPr txBox="1"/>
          <p:nvPr/>
        </p:nvSpPr>
        <p:spPr>
          <a:xfrm>
            <a:off x="5257800" y="2121408"/>
            <a:ext cx="914400" cy="475488"/>
          </a:xfrm>
          <a:prstGeom prst="rect">
            <a:avLst/>
          </a:prstGeom>
          <a:solidFill>
            <a:srgbClr val="FFFFFF"/>
          </a:solidFill>
          <a:ln/>
        </p:spPr>
        <p:txBody>
          <a:bodyPr wrap="square" lIns="0" tIns="76200" rIns="76200" bIns="0" rtlCol="0" anchor="ctr"/>
          <a:lstStyle/>
          <a:p>
            <a:pPr algn="r" indent="0" marL="0">
              <a:buNone/>
            </a:pPr>
            <a:r>
              <a:rPr lang="en-US" sz="1200" dirty="0">
                <a:solidFill>
                  <a:srgbClr val="1F2124"/>
                </a:solidFill>
                <a:latin typeface="Inter" pitchFamily="34" charset="0"/>
                <a:ea typeface="Inter" pitchFamily="34" charset="-122"/>
                <a:cs typeface="Inter" pitchFamily="34" charset="-120"/>
              </a:rPr>
              <a:t>0,1x</a:t>
            </a:r>
            <a:endParaRPr lang="en-US" sz="1200" dirty="0"/>
          </a:p>
        </p:txBody>
      </p:sp>
      <p:sp>
        <p:nvSpPr>
          <p:cNvPr id="16" name="Text 13"/>
          <p:cNvSpPr txBox="1"/>
          <p:nvPr/>
        </p:nvSpPr>
        <p:spPr>
          <a:xfrm>
            <a:off x="6172200" y="2121408"/>
            <a:ext cx="1691640" cy="475488"/>
          </a:xfrm>
          <a:prstGeom prst="rect">
            <a:avLst/>
          </a:prstGeom>
          <a:solidFill>
            <a:srgbClr val="FFFFFF"/>
          </a:solidFill>
          <a:ln/>
        </p:spPr>
        <p:txBody>
          <a:bodyPr wrap="square" lIns="0" tIns="76200" rIns="76200" bIns="0" rtlCol="0" anchor="ctr"/>
          <a:lstStyle/>
          <a:p>
            <a:pPr algn="l" indent="0" marL="0">
              <a:buNone/>
            </a:pPr>
            <a:r>
              <a:rPr lang="en-US" sz="1200" dirty="0">
                <a:solidFill>
                  <a:srgbClr val="1F2124"/>
                </a:solidFill>
                <a:latin typeface="Inter" pitchFamily="34" charset="0"/>
                <a:ea typeface="Inter" pitchFamily="34" charset="-122"/>
                <a:cs typeface="Inter" pitchFamily="34" charset="-120"/>
              </a:rPr>
              <a:t>E + 2,00%</a:t>
            </a:r>
            <a:endParaRPr lang="en-US" sz="1200" dirty="0"/>
          </a:p>
        </p:txBody>
      </p:sp>
      <p:sp>
        <p:nvSpPr>
          <p:cNvPr id="17" name="Text 14"/>
          <p:cNvSpPr txBox="1"/>
          <p:nvPr/>
        </p:nvSpPr>
        <p:spPr>
          <a:xfrm>
            <a:off x="7863840" y="2121408"/>
            <a:ext cx="2697480" cy="475488"/>
          </a:xfrm>
          <a:prstGeom prst="rect">
            <a:avLst/>
          </a:prstGeom>
          <a:solidFill>
            <a:srgbClr val="FFFFFF"/>
          </a:solidFill>
          <a:ln/>
        </p:spPr>
        <p:txBody>
          <a:bodyPr wrap="square" lIns="0" tIns="76200" rIns="76200" bIns="0" rtlCol="0" anchor="ctr"/>
          <a:lstStyle/>
          <a:p>
            <a:pPr algn="l" indent="0" marL="0">
              <a:buNone/>
            </a:pPr>
            <a:r>
              <a:rPr lang="en-US" sz="1200" dirty="0">
                <a:solidFill>
                  <a:srgbClr val="1F2124"/>
                </a:solidFill>
                <a:latin typeface="Inter" pitchFamily="34" charset="0"/>
                <a:ea typeface="Inter" pitchFamily="34" charset="-122"/>
                <a:cs typeface="Inter" pitchFamily="34" charset="-120"/>
              </a:rPr>
              <a:t>No dispuesta; 0,75% sin usar</a:t>
            </a:r>
            <a:endParaRPr lang="en-US" sz="1200" dirty="0"/>
          </a:p>
        </p:txBody>
      </p:sp>
      <p:sp>
        <p:nvSpPr>
          <p:cNvPr id="18" name="Text 15"/>
          <p:cNvSpPr txBox="1"/>
          <p:nvPr/>
        </p:nvSpPr>
        <p:spPr>
          <a:xfrm>
            <a:off x="10561320" y="2121408"/>
            <a:ext cx="1033272" cy="475488"/>
          </a:xfrm>
          <a:prstGeom prst="rect">
            <a:avLst/>
          </a:prstGeom>
          <a:solidFill>
            <a:srgbClr val="FFFFFF"/>
          </a:solidFill>
          <a:ln/>
        </p:spPr>
        <p:txBody>
          <a:bodyPr wrap="square" lIns="0" tIns="76200" rIns="76200" bIns="0" rtlCol="0" anchor="ctr"/>
          <a:lstStyle/>
          <a:p>
            <a:pPr algn="r" indent="0" marL="0">
              <a:buNone/>
            </a:pPr>
            <a:r>
              <a:rPr lang="en-US" sz="1200" dirty="0">
                <a:solidFill>
                  <a:srgbClr val="1F2124"/>
                </a:solidFill>
                <a:latin typeface="Inter" pitchFamily="34" charset="0"/>
                <a:ea typeface="Inter" pitchFamily="34" charset="-122"/>
                <a:cs typeface="Inter" pitchFamily="34" charset="-120"/>
              </a:rPr>
              <a:t>1,00%</a:t>
            </a:r>
            <a:endParaRPr lang="en-US" sz="1200" dirty="0"/>
          </a:p>
        </p:txBody>
      </p:sp>
      <p:sp>
        <p:nvSpPr>
          <p:cNvPr id="19" name="Text 16"/>
          <p:cNvSpPr txBox="1"/>
          <p:nvPr/>
        </p:nvSpPr>
        <p:spPr>
          <a:xfrm>
            <a:off x="1143000" y="2596896"/>
            <a:ext cx="2240280" cy="475488"/>
          </a:xfrm>
          <a:prstGeom prst="rect">
            <a:avLst/>
          </a:prstGeom>
          <a:solidFill>
            <a:srgbClr val="F3F3F2"/>
          </a:solidFill>
          <a:ln/>
        </p:spPr>
        <p:txBody>
          <a:bodyPr wrap="square" lIns="0" tIns="76200" rIns="76200" bIns="0" rtlCol="0" anchor="ctr"/>
          <a:lstStyle/>
          <a:p>
            <a:pPr algn="l" indent="0" marL="0">
              <a:buNone/>
            </a:pPr>
            <a:r>
              <a:rPr lang="en-US" sz="1200" b="1" dirty="0">
                <a:solidFill>
                  <a:srgbClr val="1F2124"/>
                </a:solidFill>
                <a:latin typeface="Inter" pitchFamily="34" charset="0"/>
                <a:ea typeface="Inter" pitchFamily="34" charset="-122"/>
                <a:cs typeface="Inter" pitchFamily="34" charset="-120"/>
              </a:rPr>
              <a:t>Term Loan A</a:t>
            </a:r>
            <a:endParaRPr lang="en-US" sz="1200" dirty="0"/>
          </a:p>
        </p:txBody>
      </p:sp>
      <p:sp>
        <p:nvSpPr>
          <p:cNvPr id="20" name="Text 17"/>
          <p:cNvSpPr txBox="1"/>
          <p:nvPr/>
        </p:nvSpPr>
        <p:spPr>
          <a:xfrm>
            <a:off x="3383280" y="2596896"/>
            <a:ext cx="914400" cy="475488"/>
          </a:xfrm>
          <a:prstGeom prst="rect">
            <a:avLst/>
          </a:prstGeom>
          <a:solidFill>
            <a:srgbClr val="F3F3F2"/>
          </a:solidFill>
          <a:ln/>
        </p:spPr>
        <p:txBody>
          <a:bodyPr wrap="square" lIns="0" tIns="76200" rIns="76200" bIns="0" rtlCol="0" anchor="ctr"/>
          <a:lstStyle/>
          <a:p>
            <a:pPr algn="l" indent="0" marL="0">
              <a:buNone/>
            </a:pPr>
            <a:r>
              <a:rPr lang="en-US" sz="1200" dirty="0">
                <a:solidFill>
                  <a:srgbClr val="1F2124"/>
                </a:solidFill>
                <a:latin typeface="Inter" pitchFamily="34" charset="0"/>
                <a:ea typeface="Inter" pitchFamily="34" charset="-122"/>
                <a:cs typeface="Inter" pitchFamily="34" charset="-120"/>
              </a:rPr>
              <a:t>BidCo</a:t>
            </a:r>
            <a:endParaRPr lang="en-US" sz="1200" dirty="0"/>
          </a:p>
        </p:txBody>
      </p:sp>
      <p:sp>
        <p:nvSpPr>
          <p:cNvPr id="21" name="Text 18"/>
          <p:cNvSpPr txBox="1"/>
          <p:nvPr/>
        </p:nvSpPr>
        <p:spPr>
          <a:xfrm>
            <a:off x="4297680" y="2596896"/>
            <a:ext cx="960120" cy="475488"/>
          </a:xfrm>
          <a:prstGeom prst="rect">
            <a:avLst/>
          </a:prstGeom>
          <a:solidFill>
            <a:srgbClr val="F3F3F2"/>
          </a:solidFill>
          <a:ln/>
        </p:spPr>
        <p:txBody>
          <a:bodyPr wrap="square" lIns="0" tIns="76200" rIns="76200" bIns="0" rtlCol="0" anchor="ctr"/>
          <a:lstStyle/>
          <a:p>
            <a:pPr algn="r" indent="0" marL="0">
              <a:buNone/>
            </a:pPr>
            <a:r>
              <a:rPr lang="en-US" sz="1200" dirty="0">
                <a:solidFill>
                  <a:srgbClr val="1F2124"/>
                </a:solidFill>
                <a:latin typeface="Inter" pitchFamily="34" charset="0"/>
                <a:ea typeface="Inter" pitchFamily="34" charset="-122"/>
                <a:cs typeface="Inter" pitchFamily="34" charset="-120"/>
              </a:rPr>
              <a:t>18.866</a:t>
            </a:r>
            <a:endParaRPr lang="en-US" sz="1200" dirty="0"/>
          </a:p>
        </p:txBody>
      </p:sp>
      <p:sp>
        <p:nvSpPr>
          <p:cNvPr id="22" name="Text 19"/>
          <p:cNvSpPr txBox="1"/>
          <p:nvPr/>
        </p:nvSpPr>
        <p:spPr>
          <a:xfrm>
            <a:off x="5257800" y="2596896"/>
            <a:ext cx="914400" cy="475488"/>
          </a:xfrm>
          <a:prstGeom prst="rect">
            <a:avLst/>
          </a:prstGeom>
          <a:solidFill>
            <a:srgbClr val="F3F3F2"/>
          </a:solidFill>
          <a:ln/>
        </p:spPr>
        <p:txBody>
          <a:bodyPr wrap="square" lIns="0" tIns="76200" rIns="76200" bIns="0" rtlCol="0" anchor="ctr"/>
          <a:lstStyle/>
          <a:p>
            <a:pPr algn="r" indent="0" marL="0">
              <a:buNone/>
            </a:pPr>
            <a:r>
              <a:rPr lang="en-US" sz="1200" dirty="0">
                <a:solidFill>
                  <a:srgbClr val="1F2124"/>
                </a:solidFill>
                <a:latin typeface="Inter" pitchFamily="34" charset="0"/>
                <a:ea typeface="Inter" pitchFamily="34" charset="-122"/>
                <a:cs typeface="Inter" pitchFamily="34" charset="-120"/>
              </a:rPr>
              <a:t>2,0x</a:t>
            </a:r>
            <a:endParaRPr lang="en-US" sz="1200" dirty="0"/>
          </a:p>
        </p:txBody>
      </p:sp>
      <p:sp>
        <p:nvSpPr>
          <p:cNvPr id="23" name="Text 20"/>
          <p:cNvSpPr txBox="1"/>
          <p:nvPr/>
        </p:nvSpPr>
        <p:spPr>
          <a:xfrm>
            <a:off x="6172200" y="2596896"/>
            <a:ext cx="1691640" cy="475488"/>
          </a:xfrm>
          <a:prstGeom prst="rect">
            <a:avLst/>
          </a:prstGeom>
          <a:solidFill>
            <a:srgbClr val="F3F3F2"/>
          </a:solidFill>
          <a:ln/>
        </p:spPr>
        <p:txBody>
          <a:bodyPr wrap="square" lIns="0" tIns="76200" rIns="76200" bIns="0" rtlCol="0" anchor="ctr"/>
          <a:lstStyle/>
          <a:p>
            <a:pPr algn="l" indent="0" marL="0">
              <a:buNone/>
            </a:pPr>
            <a:r>
              <a:rPr lang="en-US" sz="1200" dirty="0">
                <a:solidFill>
                  <a:srgbClr val="1F2124"/>
                </a:solidFill>
                <a:latin typeface="Inter" pitchFamily="34" charset="0"/>
                <a:ea typeface="Inter" pitchFamily="34" charset="-122"/>
                <a:cs typeface="Inter" pitchFamily="34" charset="-120"/>
              </a:rPr>
              <a:t>E + 2,25% (5,60%)</a:t>
            </a:r>
            <a:endParaRPr lang="en-US" sz="1200" dirty="0"/>
          </a:p>
        </p:txBody>
      </p:sp>
      <p:sp>
        <p:nvSpPr>
          <p:cNvPr id="24" name="Text 21"/>
          <p:cNvSpPr txBox="1"/>
          <p:nvPr/>
        </p:nvSpPr>
        <p:spPr>
          <a:xfrm>
            <a:off x="7863840" y="2596896"/>
            <a:ext cx="2697480" cy="475488"/>
          </a:xfrm>
          <a:prstGeom prst="rect">
            <a:avLst/>
          </a:prstGeom>
          <a:solidFill>
            <a:srgbClr val="F3F3F2"/>
          </a:solidFill>
          <a:ln/>
        </p:spPr>
        <p:txBody>
          <a:bodyPr wrap="square" lIns="0" tIns="76200" rIns="76200" bIns="0" rtlCol="0" anchor="ctr"/>
          <a:lstStyle/>
          <a:p>
            <a:pPr algn="l" indent="0" marL="0">
              <a:buNone/>
            </a:pPr>
            <a:r>
              <a:rPr lang="en-US" sz="1200" dirty="0">
                <a:solidFill>
                  <a:srgbClr val="1F2124"/>
                </a:solidFill>
                <a:latin typeface="Inter" pitchFamily="34" charset="0"/>
                <a:ea typeface="Inter" pitchFamily="34" charset="-122"/>
                <a:cs typeface="Inter" pitchFamily="34" charset="-120"/>
              </a:rPr>
              <a:t>7 años: 5/10/10/15/20/20/20%</a:t>
            </a:r>
            <a:endParaRPr lang="en-US" sz="1200" dirty="0"/>
          </a:p>
        </p:txBody>
      </p:sp>
      <p:sp>
        <p:nvSpPr>
          <p:cNvPr id="25" name="Text 22"/>
          <p:cNvSpPr txBox="1"/>
          <p:nvPr/>
        </p:nvSpPr>
        <p:spPr>
          <a:xfrm>
            <a:off x="10561320" y="2596896"/>
            <a:ext cx="1033272" cy="475488"/>
          </a:xfrm>
          <a:prstGeom prst="rect">
            <a:avLst/>
          </a:prstGeom>
          <a:solidFill>
            <a:srgbClr val="F3F3F2"/>
          </a:solidFill>
          <a:ln/>
        </p:spPr>
        <p:txBody>
          <a:bodyPr wrap="square" lIns="0" tIns="76200" rIns="76200" bIns="0" rtlCol="0" anchor="ctr"/>
          <a:lstStyle/>
          <a:p>
            <a:pPr algn="r" indent="0" marL="0">
              <a:buNone/>
            </a:pPr>
            <a:r>
              <a:rPr lang="en-US" sz="1200" dirty="0">
                <a:solidFill>
                  <a:srgbClr val="1F2124"/>
                </a:solidFill>
                <a:latin typeface="Inter" pitchFamily="34" charset="0"/>
                <a:ea typeface="Inter" pitchFamily="34" charset="-122"/>
                <a:cs typeface="Inter" pitchFamily="34" charset="-120"/>
              </a:rPr>
              <a:t>1,25%</a:t>
            </a:r>
            <a:endParaRPr lang="en-US" sz="1200" dirty="0"/>
          </a:p>
        </p:txBody>
      </p:sp>
      <p:sp>
        <p:nvSpPr>
          <p:cNvPr id="26" name="Text 23"/>
          <p:cNvSpPr txBox="1"/>
          <p:nvPr/>
        </p:nvSpPr>
        <p:spPr>
          <a:xfrm>
            <a:off x="1143000" y="3072384"/>
            <a:ext cx="2240280" cy="475488"/>
          </a:xfrm>
          <a:prstGeom prst="rect">
            <a:avLst/>
          </a:prstGeom>
          <a:solidFill>
            <a:srgbClr val="FFFFFF"/>
          </a:solidFill>
          <a:ln/>
        </p:spPr>
        <p:txBody>
          <a:bodyPr wrap="square" lIns="0" tIns="76200" rIns="76200" bIns="0" rtlCol="0" anchor="ctr"/>
          <a:lstStyle/>
          <a:p>
            <a:pPr algn="l" indent="0" marL="0">
              <a:buNone/>
            </a:pPr>
            <a:r>
              <a:rPr lang="en-US" sz="1200" b="1" dirty="0">
                <a:solidFill>
                  <a:srgbClr val="1F2124"/>
                </a:solidFill>
                <a:latin typeface="Inter" pitchFamily="34" charset="0"/>
                <a:ea typeface="Inter" pitchFamily="34" charset="-122"/>
                <a:cs typeface="Inter" pitchFamily="34" charset="-120"/>
              </a:rPr>
              <a:t>Term Loan B</a:t>
            </a:r>
            <a:endParaRPr lang="en-US" sz="1200" dirty="0"/>
          </a:p>
        </p:txBody>
      </p:sp>
      <p:sp>
        <p:nvSpPr>
          <p:cNvPr id="27" name="Text 24"/>
          <p:cNvSpPr txBox="1"/>
          <p:nvPr/>
        </p:nvSpPr>
        <p:spPr>
          <a:xfrm>
            <a:off x="3383280" y="3072384"/>
            <a:ext cx="914400" cy="475488"/>
          </a:xfrm>
          <a:prstGeom prst="rect">
            <a:avLst/>
          </a:prstGeom>
          <a:solidFill>
            <a:srgbClr val="FFFFFF"/>
          </a:solidFill>
          <a:ln/>
        </p:spPr>
        <p:txBody>
          <a:bodyPr wrap="square" lIns="0" tIns="76200" rIns="76200" bIns="0" rtlCol="0" anchor="ctr"/>
          <a:lstStyle/>
          <a:p>
            <a:pPr algn="l" indent="0" marL="0">
              <a:buNone/>
            </a:pPr>
            <a:r>
              <a:rPr lang="en-US" sz="1200" dirty="0">
                <a:solidFill>
                  <a:srgbClr val="1F2124"/>
                </a:solidFill>
                <a:latin typeface="Inter" pitchFamily="34" charset="0"/>
                <a:ea typeface="Inter" pitchFamily="34" charset="-122"/>
                <a:cs typeface="Inter" pitchFamily="34" charset="-120"/>
              </a:rPr>
              <a:t>BidCo</a:t>
            </a:r>
            <a:endParaRPr lang="en-US" sz="1200" dirty="0"/>
          </a:p>
        </p:txBody>
      </p:sp>
      <p:sp>
        <p:nvSpPr>
          <p:cNvPr id="28" name="Text 25"/>
          <p:cNvSpPr txBox="1"/>
          <p:nvPr/>
        </p:nvSpPr>
        <p:spPr>
          <a:xfrm>
            <a:off x="4297680" y="3072384"/>
            <a:ext cx="960120" cy="475488"/>
          </a:xfrm>
          <a:prstGeom prst="rect">
            <a:avLst/>
          </a:prstGeom>
          <a:solidFill>
            <a:srgbClr val="FFFFFF"/>
          </a:solidFill>
          <a:ln/>
        </p:spPr>
        <p:txBody>
          <a:bodyPr wrap="square" lIns="0" tIns="76200" rIns="76200" bIns="0" rtlCol="0" anchor="ctr"/>
          <a:lstStyle/>
          <a:p>
            <a:pPr algn="r" indent="0" marL="0">
              <a:buNone/>
            </a:pPr>
            <a:r>
              <a:rPr lang="en-US" sz="1200" dirty="0">
                <a:solidFill>
                  <a:srgbClr val="1F2124"/>
                </a:solidFill>
                <a:latin typeface="Inter" pitchFamily="34" charset="0"/>
                <a:ea typeface="Inter" pitchFamily="34" charset="-122"/>
                <a:cs typeface="Inter" pitchFamily="34" charset="-120"/>
              </a:rPr>
              <a:t>33.016</a:t>
            </a:r>
            <a:endParaRPr lang="en-US" sz="1200" dirty="0"/>
          </a:p>
        </p:txBody>
      </p:sp>
      <p:sp>
        <p:nvSpPr>
          <p:cNvPr id="29" name="Text 26"/>
          <p:cNvSpPr txBox="1"/>
          <p:nvPr/>
        </p:nvSpPr>
        <p:spPr>
          <a:xfrm>
            <a:off x="5257800" y="3072384"/>
            <a:ext cx="914400" cy="475488"/>
          </a:xfrm>
          <a:prstGeom prst="rect">
            <a:avLst/>
          </a:prstGeom>
          <a:solidFill>
            <a:srgbClr val="FFFFFF"/>
          </a:solidFill>
          <a:ln/>
        </p:spPr>
        <p:txBody>
          <a:bodyPr wrap="square" lIns="0" tIns="76200" rIns="76200" bIns="0" rtlCol="0" anchor="ctr"/>
          <a:lstStyle/>
          <a:p>
            <a:pPr algn="r" indent="0" marL="0">
              <a:buNone/>
            </a:pPr>
            <a:r>
              <a:rPr lang="en-US" sz="1200" dirty="0">
                <a:solidFill>
                  <a:srgbClr val="1F2124"/>
                </a:solidFill>
                <a:latin typeface="Inter" pitchFamily="34" charset="0"/>
                <a:ea typeface="Inter" pitchFamily="34" charset="-122"/>
                <a:cs typeface="Inter" pitchFamily="34" charset="-120"/>
              </a:rPr>
              <a:t>3,5x</a:t>
            </a:r>
            <a:endParaRPr lang="en-US" sz="1200" dirty="0"/>
          </a:p>
        </p:txBody>
      </p:sp>
      <p:sp>
        <p:nvSpPr>
          <p:cNvPr id="30" name="Text 27"/>
          <p:cNvSpPr txBox="1"/>
          <p:nvPr/>
        </p:nvSpPr>
        <p:spPr>
          <a:xfrm>
            <a:off x="6172200" y="3072384"/>
            <a:ext cx="1691640" cy="475488"/>
          </a:xfrm>
          <a:prstGeom prst="rect">
            <a:avLst/>
          </a:prstGeom>
          <a:solidFill>
            <a:srgbClr val="FFFFFF"/>
          </a:solidFill>
          <a:ln/>
        </p:spPr>
        <p:txBody>
          <a:bodyPr wrap="square" lIns="0" tIns="76200" rIns="76200" bIns="0" rtlCol="0" anchor="ctr"/>
          <a:lstStyle/>
          <a:p>
            <a:pPr algn="l" indent="0" marL="0">
              <a:buNone/>
            </a:pPr>
            <a:r>
              <a:rPr lang="en-US" sz="1200" dirty="0">
                <a:solidFill>
                  <a:srgbClr val="1F2124"/>
                </a:solidFill>
                <a:latin typeface="Inter" pitchFamily="34" charset="0"/>
                <a:ea typeface="Inter" pitchFamily="34" charset="-122"/>
                <a:cs typeface="Inter" pitchFamily="34" charset="-120"/>
              </a:rPr>
              <a:t>E + 3,25% (6,60%)</a:t>
            </a:r>
            <a:endParaRPr lang="en-US" sz="1200" dirty="0"/>
          </a:p>
        </p:txBody>
      </p:sp>
      <p:sp>
        <p:nvSpPr>
          <p:cNvPr id="31" name="Text 28"/>
          <p:cNvSpPr txBox="1"/>
          <p:nvPr/>
        </p:nvSpPr>
        <p:spPr>
          <a:xfrm>
            <a:off x="7863840" y="3072384"/>
            <a:ext cx="2697480" cy="475488"/>
          </a:xfrm>
          <a:prstGeom prst="rect">
            <a:avLst/>
          </a:prstGeom>
          <a:solidFill>
            <a:srgbClr val="FFFFFF"/>
          </a:solidFill>
          <a:ln/>
        </p:spPr>
        <p:txBody>
          <a:bodyPr wrap="square" lIns="0" tIns="76200" rIns="76200" bIns="0" rtlCol="0" anchor="ctr"/>
          <a:lstStyle/>
          <a:p>
            <a:pPr algn="l" indent="0" marL="0">
              <a:buNone/>
            </a:pPr>
            <a:r>
              <a:rPr lang="en-US" sz="1200" dirty="0">
                <a:solidFill>
                  <a:srgbClr val="1F2124"/>
                </a:solidFill>
                <a:latin typeface="Inter" pitchFamily="34" charset="0"/>
                <a:ea typeface="Inter" pitchFamily="34" charset="-122"/>
                <a:cs typeface="Inter" pitchFamily="34" charset="-120"/>
              </a:rPr>
              <a:t>Bullet 7 años; cash sweep 85%</a:t>
            </a:r>
            <a:endParaRPr lang="en-US" sz="1200" dirty="0"/>
          </a:p>
        </p:txBody>
      </p:sp>
      <p:sp>
        <p:nvSpPr>
          <p:cNvPr id="32" name="Text 29"/>
          <p:cNvSpPr txBox="1"/>
          <p:nvPr/>
        </p:nvSpPr>
        <p:spPr>
          <a:xfrm>
            <a:off x="10561320" y="3072384"/>
            <a:ext cx="1033272" cy="475488"/>
          </a:xfrm>
          <a:prstGeom prst="rect">
            <a:avLst/>
          </a:prstGeom>
          <a:solidFill>
            <a:srgbClr val="FFFFFF"/>
          </a:solidFill>
          <a:ln/>
        </p:spPr>
        <p:txBody>
          <a:bodyPr wrap="square" lIns="0" tIns="76200" rIns="76200" bIns="0" rtlCol="0" anchor="ctr"/>
          <a:lstStyle/>
          <a:p>
            <a:pPr algn="r" indent="0" marL="0">
              <a:buNone/>
            </a:pPr>
            <a:r>
              <a:rPr lang="en-US" sz="1200" dirty="0">
                <a:solidFill>
                  <a:srgbClr val="1F2124"/>
                </a:solidFill>
                <a:latin typeface="Inter" pitchFamily="34" charset="0"/>
                <a:ea typeface="Inter" pitchFamily="34" charset="-122"/>
                <a:cs typeface="Inter" pitchFamily="34" charset="-120"/>
              </a:rPr>
              <a:t>1,75%</a:t>
            </a:r>
            <a:endParaRPr lang="en-US" sz="1200" dirty="0"/>
          </a:p>
        </p:txBody>
      </p:sp>
      <p:sp>
        <p:nvSpPr>
          <p:cNvPr id="33" name="Text 30"/>
          <p:cNvSpPr txBox="1"/>
          <p:nvPr/>
        </p:nvSpPr>
        <p:spPr>
          <a:xfrm>
            <a:off x="1143000" y="3547872"/>
            <a:ext cx="2240280" cy="475488"/>
          </a:xfrm>
          <a:prstGeom prst="rect">
            <a:avLst/>
          </a:prstGeom>
          <a:solidFill>
            <a:srgbClr val="F3F3F2"/>
          </a:solidFill>
          <a:ln/>
        </p:spPr>
        <p:txBody>
          <a:bodyPr wrap="square" lIns="0" tIns="76200" rIns="76200" bIns="0" rtlCol="0" anchor="ctr"/>
          <a:lstStyle/>
          <a:p>
            <a:pPr algn="l" indent="0" marL="0">
              <a:buNone/>
            </a:pPr>
            <a:r>
              <a:rPr lang="en-US" sz="1200" b="1" dirty="0">
                <a:solidFill>
                  <a:srgbClr val="1F2124"/>
                </a:solidFill>
                <a:latin typeface="Inter" pitchFamily="34" charset="0"/>
                <a:ea typeface="Inter" pitchFamily="34" charset="-122"/>
                <a:cs typeface="Inter" pitchFamily="34" charset="-120"/>
              </a:rPr>
              <a:t>Mezzanine</a:t>
            </a:r>
            <a:endParaRPr lang="en-US" sz="1200" dirty="0"/>
          </a:p>
        </p:txBody>
      </p:sp>
      <p:sp>
        <p:nvSpPr>
          <p:cNvPr id="34" name="Text 31"/>
          <p:cNvSpPr txBox="1"/>
          <p:nvPr/>
        </p:nvSpPr>
        <p:spPr>
          <a:xfrm>
            <a:off x="3383280" y="3547872"/>
            <a:ext cx="914400" cy="475488"/>
          </a:xfrm>
          <a:prstGeom prst="rect">
            <a:avLst/>
          </a:prstGeom>
          <a:solidFill>
            <a:srgbClr val="F3F3F2"/>
          </a:solidFill>
          <a:ln/>
        </p:spPr>
        <p:txBody>
          <a:bodyPr wrap="square" lIns="0" tIns="76200" rIns="76200" bIns="0" rtlCol="0" anchor="ctr"/>
          <a:lstStyle/>
          <a:p>
            <a:pPr algn="l" indent="0" marL="0">
              <a:buNone/>
            </a:pPr>
            <a:r>
              <a:rPr lang="en-US" sz="1200" dirty="0">
                <a:solidFill>
                  <a:srgbClr val="1F2124"/>
                </a:solidFill>
                <a:latin typeface="Inter" pitchFamily="34" charset="0"/>
                <a:ea typeface="Inter" pitchFamily="34" charset="-122"/>
                <a:cs typeface="Inter" pitchFamily="34" charset="-120"/>
              </a:rPr>
              <a:t>MidCo</a:t>
            </a:r>
            <a:endParaRPr lang="en-US" sz="1200" dirty="0"/>
          </a:p>
        </p:txBody>
      </p:sp>
      <p:sp>
        <p:nvSpPr>
          <p:cNvPr id="35" name="Text 32"/>
          <p:cNvSpPr txBox="1"/>
          <p:nvPr/>
        </p:nvSpPr>
        <p:spPr>
          <a:xfrm>
            <a:off x="4297680" y="3547872"/>
            <a:ext cx="960120" cy="475488"/>
          </a:xfrm>
          <a:prstGeom prst="rect">
            <a:avLst/>
          </a:prstGeom>
          <a:solidFill>
            <a:srgbClr val="F3F3F2"/>
          </a:solidFill>
          <a:ln/>
        </p:spPr>
        <p:txBody>
          <a:bodyPr wrap="square" lIns="0" tIns="76200" rIns="76200" bIns="0" rtlCol="0" anchor="ctr"/>
          <a:lstStyle/>
          <a:p>
            <a:pPr algn="r" indent="0" marL="0">
              <a:buNone/>
            </a:pPr>
            <a:r>
              <a:rPr lang="en-US" sz="1200" dirty="0">
                <a:solidFill>
                  <a:srgbClr val="1F2124"/>
                </a:solidFill>
                <a:latin typeface="Inter" pitchFamily="34" charset="0"/>
                <a:ea typeface="Inter" pitchFamily="34" charset="-122"/>
                <a:cs typeface="Inter" pitchFamily="34" charset="-120"/>
              </a:rPr>
              <a:t>14.150</a:t>
            </a:r>
            <a:endParaRPr lang="en-US" sz="1200" dirty="0"/>
          </a:p>
        </p:txBody>
      </p:sp>
      <p:sp>
        <p:nvSpPr>
          <p:cNvPr id="36" name="Text 33"/>
          <p:cNvSpPr txBox="1"/>
          <p:nvPr/>
        </p:nvSpPr>
        <p:spPr>
          <a:xfrm>
            <a:off x="5257800" y="3547872"/>
            <a:ext cx="914400" cy="475488"/>
          </a:xfrm>
          <a:prstGeom prst="rect">
            <a:avLst/>
          </a:prstGeom>
          <a:solidFill>
            <a:srgbClr val="F3F3F2"/>
          </a:solidFill>
          <a:ln/>
        </p:spPr>
        <p:txBody>
          <a:bodyPr wrap="square" lIns="0" tIns="76200" rIns="76200" bIns="0" rtlCol="0" anchor="ctr"/>
          <a:lstStyle/>
          <a:p>
            <a:pPr algn="r" indent="0" marL="0">
              <a:buNone/>
            </a:pPr>
            <a:r>
              <a:rPr lang="en-US" sz="1200" dirty="0">
                <a:solidFill>
                  <a:srgbClr val="1F2124"/>
                </a:solidFill>
                <a:latin typeface="Inter" pitchFamily="34" charset="0"/>
                <a:ea typeface="Inter" pitchFamily="34" charset="-122"/>
                <a:cs typeface="Inter" pitchFamily="34" charset="-120"/>
              </a:rPr>
              <a:t>1,5x</a:t>
            </a:r>
            <a:endParaRPr lang="en-US" sz="1200" dirty="0"/>
          </a:p>
        </p:txBody>
      </p:sp>
      <p:sp>
        <p:nvSpPr>
          <p:cNvPr id="37" name="Text 34"/>
          <p:cNvSpPr txBox="1"/>
          <p:nvPr/>
        </p:nvSpPr>
        <p:spPr>
          <a:xfrm>
            <a:off x="6172200" y="3547872"/>
            <a:ext cx="1691640" cy="475488"/>
          </a:xfrm>
          <a:prstGeom prst="rect">
            <a:avLst/>
          </a:prstGeom>
          <a:solidFill>
            <a:srgbClr val="F3F3F2"/>
          </a:solidFill>
          <a:ln/>
        </p:spPr>
        <p:txBody>
          <a:bodyPr wrap="square" lIns="0" tIns="76200" rIns="76200" bIns="0" rtlCol="0" anchor="ctr"/>
          <a:lstStyle/>
          <a:p>
            <a:pPr algn="l" indent="0" marL="0">
              <a:buNone/>
            </a:pPr>
            <a:r>
              <a:rPr lang="en-US" sz="1200" dirty="0">
                <a:solidFill>
                  <a:srgbClr val="1F2124"/>
                </a:solidFill>
                <a:latin typeface="Inter" pitchFamily="34" charset="0"/>
                <a:ea typeface="Inter" pitchFamily="34" charset="-122"/>
                <a:cs typeface="Inter" pitchFamily="34" charset="-120"/>
              </a:rPr>
              <a:t>10,5% PIK</a:t>
            </a:r>
            <a:endParaRPr lang="en-US" sz="1200" dirty="0"/>
          </a:p>
        </p:txBody>
      </p:sp>
      <p:sp>
        <p:nvSpPr>
          <p:cNvPr id="38" name="Text 35"/>
          <p:cNvSpPr txBox="1"/>
          <p:nvPr/>
        </p:nvSpPr>
        <p:spPr>
          <a:xfrm>
            <a:off x="7863840" y="3547872"/>
            <a:ext cx="2697480" cy="475488"/>
          </a:xfrm>
          <a:prstGeom prst="rect">
            <a:avLst/>
          </a:prstGeom>
          <a:solidFill>
            <a:srgbClr val="F3F3F2"/>
          </a:solidFill>
          <a:ln/>
        </p:spPr>
        <p:txBody>
          <a:bodyPr wrap="square" lIns="0" tIns="76200" rIns="76200" bIns="0" rtlCol="0" anchor="ctr"/>
          <a:lstStyle/>
          <a:p>
            <a:pPr algn="l" indent="0" marL="0">
              <a:buNone/>
            </a:pPr>
            <a:r>
              <a:rPr lang="en-US" sz="1200" dirty="0">
                <a:solidFill>
                  <a:srgbClr val="1F2124"/>
                </a:solidFill>
                <a:latin typeface="Inter" pitchFamily="34" charset="0"/>
                <a:ea typeface="Inter" pitchFamily="34" charset="-122"/>
                <a:cs typeface="Inter" pitchFamily="34" charset="-120"/>
              </a:rPr>
              <a:t>Bullet 7,5 años</a:t>
            </a:r>
            <a:endParaRPr lang="en-US" sz="1200" dirty="0"/>
          </a:p>
        </p:txBody>
      </p:sp>
      <p:sp>
        <p:nvSpPr>
          <p:cNvPr id="39" name="Text 36"/>
          <p:cNvSpPr txBox="1"/>
          <p:nvPr/>
        </p:nvSpPr>
        <p:spPr>
          <a:xfrm>
            <a:off x="10561320" y="3547872"/>
            <a:ext cx="1033272" cy="475488"/>
          </a:xfrm>
          <a:prstGeom prst="rect">
            <a:avLst/>
          </a:prstGeom>
          <a:solidFill>
            <a:srgbClr val="F3F3F2"/>
          </a:solidFill>
          <a:ln/>
        </p:spPr>
        <p:txBody>
          <a:bodyPr wrap="square" lIns="0" tIns="76200" rIns="76200" bIns="0" rtlCol="0" anchor="ctr"/>
          <a:lstStyle/>
          <a:p>
            <a:pPr algn="r" indent="0" marL="0">
              <a:buNone/>
            </a:pPr>
            <a:r>
              <a:rPr lang="en-US" sz="1200" dirty="0">
                <a:solidFill>
                  <a:srgbClr val="1F2124"/>
                </a:solidFill>
                <a:latin typeface="Inter" pitchFamily="34" charset="0"/>
                <a:ea typeface="Inter" pitchFamily="34" charset="-122"/>
                <a:cs typeface="Inter" pitchFamily="34" charset="-120"/>
              </a:rPr>
              <a:t>2,25%</a:t>
            </a:r>
            <a:endParaRPr lang="en-US" sz="1200" dirty="0"/>
          </a:p>
        </p:txBody>
      </p:sp>
      <p:sp>
        <p:nvSpPr>
          <p:cNvPr id="40" name="Text 37"/>
          <p:cNvSpPr txBox="1"/>
          <p:nvPr/>
        </p:nvSpPr>
        <p:spPr>
          <a:xfrm>
            <a:off x="1143000" y="4023360"/>
            <a:ext cx="2240280" cy="475488"/>
          </a:xfrm>
          <a:prstGeom prst="rect">
            <a:avLst/>
          </a:prstGeom>
          <a:solidFill>
            <a:srgbClr val="FFFFFF"/>
          </a:solidFill>
          <a:ln/>
        </p:spPr>
        <p:txBody>
          <a:bodyPr wrap="square" lIns="0" tIns="76200" rIns="76200" bIns="0" rtlCol="0" anchor="ctr"/>
          <a:lstStyle/>
          <a:p>
            <a:pPr algn="l" indent="0" marL="0">
              <a:buNone/>
            </a:pPr>
            <a:r>
              <a:rPr lang="en-US" sz="1200" b="1" dirty="0">
                <a:solidFill>
                  <a:srgbClr val="1F2124"/>
                </a:solidFill>
                <a:latin typeface="Inter" pitchFamily="34" charset="0"/>
                <a:ea typeface="Inter" pitchFamily="34" charset="-122"/>
                <a:cs typeface="Inter" pitchFamily="34" charset="-120"/>
              </a:rPr>
              <a:t>Nota de Sandra Ortega</a:t>
            </a:r>
            <a:endParaRPr lang="en-US" sz="1200" dirty="0"/>
          </a:p>
        </p:txBody>
      </p:sp>
      <p:sp>
        <p:nvSpPr>
          <p:cNvPr id="41" name="Text 38"/>
          <p:cNvSpPr txBox="1"/>
          <p:nvPr/>
        </p:nvSpPr>
        <p:spPr>
          <a:xfrm>
            <a:off x="3383280" y="4023360"/>
            <a:ext cx="914400" cy="475488"/>
          </a:xfrm>
          <a:prstGeom prst="rect">
            <a:avLst/>
          </a:prstGeom>
          <a:solidFill>
            <a:srgbClr val="FFFFFF"/>
          </a:solidFill>
          <a:ln/>
        </p:spPr>
        <p:txBody>
          <a:bodyPr wrap="square" lIns="0" tIns="76200" rIns="76200" bIns="0" rtlCol="0" anchor="ctr"/>
          <a:lstStyle/>
          <a:p>
            <a:pPr algn="l" indent="0" marL="0">
              <a:buNone/>
            </a:pPr>
            <a:r>
              <a:rPr lang="en-US" sz="1200" dirty="0">
                <a:solidFill>
                  <a:srgbClr val="1F2124"/>
                </a:solidFill>
                <a:latin typeface="Inter" pitchFamily="34" charset="0"/>
                <a:ea typeface="Inter" pitchFamily="34" charset="-122"/>
                <a:cs typeface="Inter" pitchFamily="34" charset="-120"/>
              </a:rPr>
              <a:t>TopCo</a:t>
            </a:r>
            <a:endParaRPr lang="en-US" sz="1200" dirty="0"/>
          </a:p>
        </p:txBody>
      </p:sp>
      <p:sp>
        <p:nvSpPr>
          <p:cNvPr id="42" name="Text 39"/>
          <p:cNvSpPr txBox="1"/>
          <p:nvPr/>
        </p:nvSpPr>
        <p:spPr>
          <a:xfrm>
            <a:off x="4297680" y="4023360"/>
            <a:ext cx="960120" cy="475488"/>
          </a:xfrm>
          <a:prstGeom prst="rect">
            <a:avLst/>
          </a:prstGeom>
          <a:solidFill>
            <a:srgbClr val="FFFFFF"/>
          </a:solidFill>
          <a:ln/>
        </p:spPr>
        <p:txBody>
          <a:bodyPr wrap="square" lIns="0" tIns="76200" rIns="76200" bIns="0" rtlCol="0" anchor="ctr"/>
          <a:lstStyle/>
          <a:p>
            <a:pPr algn="r" indent="0" marL="0">
              <a:buNone/>
            </a:pPr>
            <a:r>
              <a:rPr lang="en-US" sz="1200" dirty="0">
                <a:solidFill>
                  <a:srgbClr val="1F2124"/>
                </a:solidFill>
                <a:latin typeface="Inter" pitchFamily="34" charset="0"/>
                <a:ea typeface="Inter" pitchFamily="34" charset="-122"/>
                <a:cs typeface="Inter" pitchFamily="34" charset="-120"/>
              </a:rPr>
              <a:t>10.925</a:t>
            </a:r>
            <a:endParaRPr lang="en-US" sz="1200" dirty="0"/>
          </a:p>
        </p:txBody>
      </p:sp>
      <p:sp>
        <p:nvSpPr>
          <p:cNvPr id="43" name="Text 40"/>
          <p:cNvSpPr txBox="1"/>
          <p:nvPr/>
        </p:nvSpPr>
        <p:spPr>
          <a:xfrm>
            <a:off x="5257800" y="4023360"/>
            <a:ext cx="914400" cy="475488"/>
          </a:xfrm>
          <a:prstGeom prst="rect">
            <a:avLst/>
          </a:prstGeom>
          <a:solidFill>
            <a:srgbClr val="FFFFFF"/>
          </a:solidFill>
          <a:ln/>
        </p:spPr>
        <p:txBody>
          <a:bodyPr wrap="square" lIns="0" tIns="76200" rIns="76200" bIns="0" rtlCol="0" anchor="ctr"/>
          <a:lstStyle/>
          <a:p>
            <a:pPr algn="r" indent="0" marL="0">
              <a:buNone/>
            </a:pPr>
            <a:r>
              <a:rPr lang="en-US" sz="1200" dirty="0">
                <a:solidFill>
                  <a:srgbClr val="1F2124"/>
                </a:solidFill>
                <a:latin typeface="Inter" pitchFamily="34" charset="0"/>
                <a:ea typeface="Inter" pitchFamily="34" charset="-122"/>
                <a:cs typeface="Inter" pitchFamily="34" charset="-120"/>
              </a:rPr>
              <a:t>1,2x</a:t>
            </a:r>
            <a:endParaRPr lang="en-US" sz="1200" dirty="0"/>
          </a:p>
        </p:txBody>
      </p:sp>
      <p:sp>
        <p:nvSpPr>
          <p:cNvPr id="44" name="Text 41"/>
          <p:cNvSpPr txBox="1"/>
          <p:nvPr/>
        </p:nvSpPr>
        <p:spPr>
          <a:xfrm>
            <a:off x="6172200" y="4023360"/>
            <a:ext cx="1691640" cy="475488"/>
          </a:xfrm>
          <a:prstGeom prst="rect">
            <a:avLst/>
          </a:prstGeom>
          <a:solidFill>
            <a:srgbClr val="FFFFFF"/>
          </a:solidFill>
          <a:ln/>
        </p:spPr>
        <p:txBody>
          <a:bodyPr wrap="square" lIns="0" tIns="76200" rIns="76200" bIns="0" rtlCol="0" anchor="ctr"/>
          <a:lstStyle/>
          <a:p>
            <a:pPr algn="l" indent="0" marL="0">
              <a:buNone/>
            </a:pPr>
            <a:r>
              <a:rPr lang="en-US" sz="1200" dirty="0">
                <a:solidFill>
                  <a:srgbClr val="1F2124"/>
                </a:solidFill>
                <a:latin typeface="Inter" pitchFamily="34" charset="0"/>
                <a:ea typeface="Inter" pitchFamily="34" charset="-122"/>
                <a:cs typeface="Inter" pitchFamily="34" charset="-120"/>
              </a:rPr>
              <a:t>5,0% en caja</a:t>
            </a:r>
            <a:endParaRPr lang="en-US" sz="1200" dirty="0"/>
          </a:p>
        </p:txBody>
      </p:sp>
      <p:sp>
        <p:nvSpPr>
          <p:cNvPr id="45" name="Text 42"/>
          <p:cNvSpPr txBox="1"/>
          <p:nvPr/>
        </p:nvSpPr>
        <p:spPr>
          <a:xfrm>
            <a:off x="7863840" y="4023360"/>
            <a:ext cx="2697480" cy="475488"/>
          </a:xfrm>
          <a:prstGeom prst="rect">
            <a:avLst/>
          </a:prstGeom>
          <a:solidFill>
            <a:srgbClr val="FFFFFF"/>
          </a:solidFill>
          <a:ln/>
        </p:spPr>
        <p:txBody>
          <a:bodyPr wrap="square" lIns="0" tIns="76200" rIns="76200" bIns="0" rtlCol="0" anchor="ctr"/>
          <a:lstStyle/>
          <a:p>
            <a:pPr algn="l" indent="0" marL="0">
              <a:buNone/>
            </a:pPr>
            <a:r>
              <a:rPr lang="en-US" sz="1200" dirty="0">
                <a:solidFill>
                  <a:srgbClr val="1F2124"/>
                </a:solidFill>
                <a:latin typeface="Inter" pitchFamily="34" charset="0"/>
                <a:ea typeface="Inter" pitchFamily="34" charset="-122"/>
                <a:cs typeface="Inter" pitchFamily="34" charset="-120"/>
              </a:rPr>
              <a:t>Bullet 8 años</a:t>
            </a:r>
            <a:endParaRPr lang="en-US" sz="1200" dirty="0"/>
          </a:p>
        </p:txBody>
      </p:sp>
      <p:sp>
        <p:nvSpPr>
          <p:cNvPr id="46" name="Text 43"/>
          <p:cNvSpPr txBox="1"/>
          <p:nvPr/>
        </p:nvSpPr>
        <p:spPr>
          <a:xfrm>
            <a:off x="10561320" y="4023360"/>
            <a:ext cx="1033272" cy="475488"/>
          </a:xfrm>
          <a:prstGeom prst="rect">
            <a:avLst/>
          </a:prstGeom>
          <a:solidFill>
            <a:srgbClr val="FFFFFF"/>
          </a:solidFill>
          <a:ln/>
        </p:spPr>
        <p:txBody>
          <a:bodyPr wrap="square" lIns="0" tIns="76200" rIns="76200" bIns="0" rtlCol="0" anchor="ctr"/>
          <a:lstStyle/>
          <a:p>
            <a:pPr algn="r" indent="0" marL="0">
              <a:buNone/>
            </a:pPr>
            <a:r>
              <a:rPr lang="en-US" sz="1200" dirty="0">
                <a:solidFill>
                  <a:srgbClr val="1F2124"/>
                </a:solidFill>
                <a:latin typeface="Inter" pitchFamily="34" charset="0"/>
                <a:ea typeface="Inter" pitchFamily="34" charset="-122"/>
                <a:cs typeface="Inter" pitchFamily="34" charset="-120"/>
              </a:rPr>
              <a:t>—</a:t>
            </a:r>
            <a:endParaRPr lang="en-US" sz="1200" dirty="0"/>
          </a:p>
        </p:txBody>
      </p:sp>
      <p:sp>
        <p:nvSpPr>
          <p:cNvPr id="47" name="Text 44"/>
          <p:cNvSpPr txBox="1"/>
          <p:nvPr/>
        </p:nvSpPr>
        <p:spPr>
          <a:xfrm>
            <a:off x="1143000" y="4498848"/>
            <a:ext cx="2240280" cy="475488"/>
          </a:xfrm>
          <a:prstGeom prst="rect">
            <a:avLst/>
          </a:prstGeom>
          <a:solidFill>
            <a:srgbClr val="E8E8E6"/>
          </a:solidFill>
          <a:ln/>
        </p:spPr>
        <p:txBody>
          <a:bodyPr wrap="square" lIns="0" tIns="76200" rIns="76200" bIns="0" rtlCol="0" anchor="ctr"/>
          <a:lstStyle/>
          <a:p>
            <a:pPr algn="l" indent="0" marL="0">
              <a:buNone/>
            </a:pPr>
            <a:r>
              <a:rPr lang="en-US" sz="1200" b="1" dirty="0">
                <a:solidFill>
                  <a:srgbClr val="1F2124"/>
                </a:solidFill>
                <a:latin typeface="Inter" pitchFamily="34" charset="0"/>
                <a:ea typeface="Inter" pitchFamily="34" charset="-122"/>
                <a:cs typeface="Inter" pitchFamily="34" charset="-120"/>
              </a:rPr>
              <a:t>Total dispuesto</a:t>
            </a:r>
            <a:endParaRPr lang="en-US" sz="1200" dirty="0"/>
          </a:p>
        </p:txBody>
      </p:sp>
      <p:sp>
        <p:nvSpPr>
          <p:cNvPr id="48" name="Text 45"/>
          <p:cNvSpPr txBox="1"/>
          <p:nvPr/>
        </p:nvSpPr>
        <p:spPr>
          <a:xfrm>
            <a:off x="3383280" y="4498848"/>
            <a:ext cx="914400" cy="475488"/>
          </a:xfrm>
          <a:prstGeom prst="rect">
            <a:avLst/>
          </a:prstGeom>
          <a:solidFill>
            <a:srgbClr val="E8E8E6"/>
          </a:solidFill>
          <a:ln/>
        </p:spPr>
        <p:txBody>
          <a:bodyPr wrap="square" lIns="0" tIns="76200" rIns="76200" bIns="0" rtlCol="0" anchor="ctr"/>
          <a:lstStyle/>
          <a:p>
            <a:pPr algn="l" indent="0" marL="0">
              <a:buNone/>
            </a:pPr>
            <a:endParaRPr lang="en-US" sz="1200" dirty="0"/>
          </a:p>
        </p:txBody>
      </p:sp>
      <p:sp>
        <p:nvSpPr>
          <p:cNvPr id="49" name="Text 46"/>
          <p:cNvSpPr txBox="1"/>
          <p:nvPr/>
        </p:nvSpPr>
        <p:spPr>
          <a:xfrm>
            <a:off x="4297680" y="4498848"/>
            <a:ext cx="960120" cy="475488"/>
          </a:xfrm>
          <a:prstGeom prst="rect">
            <a:avLst/>
          </a:prstGeom>
          <a:solidFill>
            <a:srgbClr val="E8E8E6"/>
          </a:solidFill>
          <a:ln/>
        </p:spPr>
        <p:txBody>
          <a:bodyPr wrap="square" lIns="0" tIns="76200" rIns="76200" bIns="0" rtlCol="0" anchor="ctr"/>
          <a:lstStyle/>
          <a:p>
            <a:pPr algn="r" indent="0" marL="0">
              <a:buNone/>
            </a:pPr>
            <a:r>
              <a:rPr lang="en-US" sz="1200" b="1" dirty="0">
                <a:solidFill>
                  <a:srgbClr val="1F2124"/>
                </a:solidFill>
                <a:latin typeface="Inter" pitchFamily="34" charset="0"/>
                <a:ea typeface="Inter" pitchFamily="34" charset="-122"/>
                <a:cs typeface="Inter" pitchFamily="34" charset="-120"/>
              </a:rPr>
              <a:t>76.956</a:t>
            </a:r>
            <a:endParaRPr lang="en-US" sz="1200" dirty="0"/>
          </a:p>
        </p:txBody>
      </p:sp>
      <p:sp>
        <p:nvSpPr>
          <p:cNvPr id="50" name="Text 47"/>
          <p:cNvSpPr txBox="1"/>
          <p:nvPr/>
        </p:nvSpPr>
        <p:spPr>
          <a:xfrm>
            <a:off x="5257800" y="4498848"/>
            <a:ext cx="914400" cy="475488"/>
          </a:xfrm>
          <a:prstGeom prst="rect">
            <a:avLst/>
          </a:prstGeom>
          <a:solidFill>
            <a:srgbClr val="E8E8E6"/>
          </a:solidFill>
          <a:ln/>
        </p:spPr>
        <p:txBody>
          <a:bodyPr wrap="square" lIns="0" tIns="76200" rIns="76200" bIns="0" rtlCol="0" anchor="ctr"/>
          <a:lstStyle/>
          <a:p>
            <a:pPr algn="r" indent="0" marL="0">
              <a:buNone/>
            </a:pPr>
            <a:r>
              <a:rPr lang="en-US" sz="1200" b="1" dirty="0">
                <a:solidFill>
                  <a:srgbClr val="1F2124"/>
                </a:solidFill>
                <a:latin typeface="Inter" pitchFamily="34" charset="0"/>
                <a:ea typeface="Inter" pitchFamily="34" charset="-122"/>
                <a:cs typeface="Inter" pitchFamily="34" charset="-120"/>
              </a:rPr>
              <a:t>8,2x</a:t>
            </a:r>
            <a:endParaRPr lang="en-US" sz="1200" dirty="0"/>
          </a:p>
        </p:txBody>
      </p:sp>
      <p:sp>
        <p:nvSpPr>
          <p:cNvPr id="51" name="Text 48"/>
          <p:cNvSpPr txBox="1"/>
          <p:nvPr/>
        </p:nvSpPr>
        <p:spPr>
          <a:xfrm>
            <a:off x="6172200" y="4498848"/>
            <a:ext cx="1691640" cy="475488"/>
          </a:xfrm>
          <a:prstGeom prst="rect">
            <a:avLst/>
          </a:prstGeom>
          <a:solidFill>
            <a:srgbClr val="E8E8E6"/>
          </a:solidFill>
          <a:ln/>
        </p:spPr>
        <p:txBody>
          <a:bodyPr wrap="square" lIns="0" tIns="76200" rIns="76200" bIns="0" rtlCol="0" anchor="ctr"/>
          <a:lstStyle/>
          <a:p>
            <a:pPr algn="l" indent="0" marL="0">
              <a:buNone/>
            </a:pPr>
            <a:r>
              <a:rPr lang="en-US" sz="1200" b="1" dirty="0">
                <a:solidFill>
                  <a:srgbClr val="1F2124"/>
                </a:solidFill>
                <a:latin typeface="Inter" pitchFamily="34" charset="0"/>
                <a:ea typeface="Inter" pitchFamily="34" charset="-122"/>
                <a:cs typeface="Inter" pitchFamily="34" charset="-120"/>
              </a:rPr>
              <a:t>6,85% medio</a:t>
            </a:r>
            <a:endParaRPr lang="en-US" sz="1200" dirty="0"/>
          </a:p>
        </p:txBody>
      </p:sp>
      <p:sp>
        <p:nvSpPr>
          <p:cNvPr id="52" name="Text 49"/>
          <p:cNvSpPr txBox="1"/>
          <p:nvPr/>
        </p:nvSpPr>
        <p:spPr>
          <a:xfrm>
            <a:off x="7863840" y="4498848"/>
            <a:ext cx="2697480" cy="475488"/>
          </a:xfrm>
          <a:prstGeom prst="rect">
            <a:avLst/>
          </a:prstGeom>
          <a:solidFill>
            <a:srgbClr val="E8E8E6"/>
          </a:solidFill>
          <a:ln/>
        </p:spPr>
        <p:txBody>
          <a:bodyPr wrap="square" lIns="0" tIns="76200" rIns="76200" bIns="0" rtlCol="0" anchor="ctr"/>
          <a:lstStyle/>
          <a:p>
            <a:pPr algn="l" indent="0" marL="0">
              <a:buNone/>
            </a:pPr>
            <a:endParaRPr lang="en-US" sz="1200" dirty="0"/>
          </a:p>
        </p:txBody>
      </p:sp>
      <p:sp>
        <p:nvSpPr>
          <p:cNvPr id="53" name="Text 50"/>
          <p:cNvSpPr txBox="1"/>
          <p:nvPr/>
        </p:nvSpPr>
        <p:spPr>
          <a:xfrm>
            <a:off x="10561320" y="4498848"/>
            <a:ext cx="1033272" cy="475488"/>
          </a:xfrm>
          <a:prstGeom prst="rect">
            <a:avLst/>
          </a:prstGeom>
          <a:solidFill>
            <a:srgbClr val="E8E8E6"/>
          </a:solidFill>
          <a:ln/>
        </p:spPr>
        <p:txBody>
          <a:bodyPr wrap="square" lIns="0" tIns="76200" rIns="76200" bIns="0" rtlCol="0" anchor="ctr"/>
          <a:lstStyle/>
          <a:p>
            <a:pPr algn="r" indent="0" marL="0">
              <a:buNone/>
            </a:pPr>
            <a:r>
              <a:rPr lang="en-US" sz="1200" b="1" dirty="0">
                <a:solidFill>
                  <a:srgbClr val="1F2124"/>
                </a:solidFill>
                <a:latin typeface="Inter" pitchFamily="34" charset="0"/>
                <a:ea typeface="Inter" pitchFamily="34" charset="-122"/>
                <a:cs typeface="Inter" pitchFamily="34" charset="-120"/>
              </a:rPr>
              <a:t>€1.142m</a:t>
            </a:r>
            <a:endParaRPr lang="en-US" sz="1200" dirty="0"/>
          </a:p>
        </p:txBody>
      </p:sp>
      <p:sp>
        <p:nvSpPr>
          <p:cNvPr id="54" name="Shape 51"/>
          <p:cNvSpPr/>
          <p:nvPr/>
        </p:nvSpPr>
        <p:spPr>
          <a:xfrm>
            <a:off x="777240" y="2194560"/>
            <a:ext cx="0" cy="2331720"/>
          </a:xfrm>
          <a:prstGeom prst="line">
            <a:avLst/>
          </a:prstGeom>
          <a:noFill/>
          <a:ln w="25400">
            <a:solidFill>
              <a:srgbClr val="1F4B3F"/>
            </a:solidFill>
            <a:prstDash val="solid"/>
            <a:tailEnd type="triangle"/>
          </a:ln>
        </p:spPr>
      </p:sp>
      <p:sp>
        <p:nvSpPr>
          <p:cNvPr id="55" name="Text 52"/>
          <p:cNvSpPr txBox="1"/>
          <p:nvPr/>
        </p:nvSpPr>
        <p:spPr>
          <a:xfrm rot="16200000">
            <a:off x="228600" y="3108960"/>
            <a:ext cx="1097280" cy="548640"/>
          </a:xfrm>
          <a:prstGeom prst="rect">
            <a:avLst/>
          </a:prstGeom>
          <a:noFill/>
          <a:ln/>
        </p:spPr>
        <p:txBody>
          <a:bodyPr wrap="square" lIns="0" tIns="0" rIns="0" bIns="0" rtlCol="0" anchor="t"/>
          <a:lstStyle/>
          <a:p>
            <a:pPr algn="ctr" indent="0" marL="0">
              <a:buNone/>
            </a:pPr>
            <a:r>
              <a:rPr lang="en-US" sz="950" b="1" dirty="0">
                <a:solidFill>
                  <a:srgbClr val="1F4B3F"/>
                </a:solidFill>
                <a:latin typeface="Inter" pitchFamily="34" charset="0"/>
                <a:ea typeface="Inter" pitchFamily="34" charset="-122"/>
                <a:cs typeface="Inter" pitchFamily="34" charset="-120"/>
              </a:rPr>
              <a:t>Prioridad de cobro</a:t>
            </a:r>
            <a:endParaRPr lang="en-US" sz="950" dirty="0"/>
          </a:p>
        </p:txBody>
      </p:sp>
      <p:sp>
        <p:nvSpPr>
          <p:cNvPr id="56" name="Shape 53"/>
          <p:cNvSpPr/>
          <p:nvPr/>
        </p:nvSpPr>
        <p:spPr>
          <a:xfrm>
            <a:off x="548640" y="5166360"/>
            <a:ext cx="3593592" cy="960120"/>
          </a:xfrm>
          <a:prstGeom prst="rect">
            <a:avLst>
              <a:gd name="adj" fmla="val 5714"/>
            </a:avLst>
          </a:prstGeom>
          <a:solidFill>
            <a:srgbClr val="F3F3F2"/>
          </a:solidFill>
          <a:ln/>
        </p:spPr>
      </p:sp>
      <p:sp>
        <p:nvSpPr>
          <p:cNvPr id="57" name="Text 54"/>
          <p:cNvSpPr txBox="1"/>
          <p:nvPr/>
        </p:nvSpPr>
        <p:spPr>
          <a:xfrm>
            <a:off x="731520" y="5239512"/>
            <a:ext cx="3200400" cy="256032"/>
          </a:xfrm>
          <a:prstGeom prst="rect">
            <a:avLst/>
          </a:prstGeom>
          <a:noFill/>
          <a:ln/>
        </p:spPr>
        <p:txBody>
          <a:bodyPr wrap="square" lIns="0" tIns="0" rIns="0" bIns="0" rtlCol="0" anchor="t"/>
          <a:lstStyle/>
          <a:p>
            <a:pPr indent="0" marL="0">
              <a:buNone/>
            </a:pPr>
            <a:r>
              <a:rPr lang="en-US" sz="1300" b="1" dirty="0">
                <a:solidFill>
                  <a:srgbClr val="1A1D21"/>
                </a:solidFill>
                <a:latin typeface="Inter" pitchFamily="34" charset="0"/>
                <a:ea typeface="Inter" pitchFamily="34" charset="-122"/>
                <a:cs typeface="Inter" pitchFamily="34" charset="-120"/>
              </a:rPr>
              <a:t>Senior 5,5x</a:t>
            </a:r>
            <a:endParaRPr lang="en-US" sz="1300" dirty="0"/>
          </a:p>
        </p:txBody>
      </p:sp>
      <p:sp>
        <p:nvSpPr>
          <p:cNvPr id="58" name="Text 55"/>
          <p:cNvSpPr txBox="1"/>
          <p:nvPr/>
        </p:nvSpPr>
        <p:spPr>
          <a:xfrm>
            <a:off x="731520" y="5513832"/>
            <a:ext cx="3291840" cy="594360"/>
          </a:xfrm>
          <a:prstGeom prst="rect">
            <a:avLst/>
          </a:prstGeom>
          <a:noFill/>
          <a:ln/>
        </p:spPr>
        <p:txBody>
          <a:bodyPr wrap="square" lIns="0" tIns="0" rIns="0" bIns="0" rtlCol="0" anchor="t"/>
          <a:lstStyle/>
          <a:p>
            <a:pPr indent="0" marL="0">
              <a:buNone/>
            </a:pPr>
            <a:r>
              <a:rPr lang="en-US" sz="1050" dirty="0">
                <a:solidFill>
                  <a:srgbClr val="1F2124"/>
                </a:solidFill>
                <a:latin typeface="Inter" pitchFamily="34" charset="0"/>
                <a:ea typeface="Inter" pitchFamily="34" charset="-122"/>
                <a:cs typeface="Inter" pitchFamily="34" charset="-120"/>
              </a:rPr>
              <a:t>TLA amortizable para bancos y TLB bullet para inversores institucionales; el sweep del 85% acelera el pago.</a:t>
            </a:r>
            <a:endParaRPr lang="en-US" sz="1050" dirty="0"/>
          </a:p>
        </p:txBody>
      </p:sp>
      <p:sp>
        <p:nvSpPr>
          <p:cNvPr id="59" name="Shape 56"/>
          <p:cNvSpPr/>
          <p:nvPr/>
        </p:nvSpPr>
        <p:spPr>
          <a:xfrm>
            <a:off x="4297680" y="5166360"/>
            <a:ext cx="3593592" cy="960120"/>
          </a:xfrm>
          <a:prstGeom prst="rect">
            <a:avLst>
              <a:gd name="adj" fmla="val 5714"/>
            </a:avLst>
          </a:prstGeom>
          <a:solidFill>
            <a:srgbClr val="F3F3F2"/>
          </a:solidFill>
          <a:ln/>
        </p:spPr>
      </p:sp>
      <p:sp>
        <p:nvSpPr>
          <p:cNvPr id="60" name="Text 57"/>
          <p:cNvSpPr txBox="1"/>
          <p:nvPr/>
        </p:nvSpPr>
        <p:spPr>
          <a:xfrm>
            <a:off x="4480560" y="5239512"/>
            <a:ext cx="3200400" cy="256032"/>
          </a:xfrm>
          <a:prstGeom prst="rect">
            <a:avLst/>
          </a:prstGeom>
          <a:noFill/>
          <a:ln/>
        </p:spPr>
        <p:txBody>
          <a:bodyPr wrap="square" lIns="0" tIns="0" rIns="0" bIns="0" rtlCol="0" anchor="t"/>
          <a:lstStyle/>
          <a:p>
            <a:pPr indent="0" marL="0">
              <a:buNone/>
            </a:pPr>
            <a:r>
              <a:rPr lang="en-US" sz="1300" b="1" dirty="0">
                <a:solidFill>
                  <a:srgbClr val="1A1D21"/>
                </a:solidFill>
                <a:latin typeface="Inter" pitchFamily="34" charset="0"/>
                <a:ea typeface="Inter" pitchFamily="34" charset="-122"/>
                <a:cs typeface="Inter" pitchFamily="34" charset="-120"/>
              </a:rPr>
              <a:t>Subordinada 2,7x</a:t>
            </a:r>
            <a:endParaRPr lang="en-US" sz="1300" dirty="0"/>
          </a:p>
        </p:txBody>
      </p:sp>
      <p:sp>
        <p:nvSpPr>
          <p:cNvPr id="61" name="Text 58"/>
          <p:cNvSpPr txBox="1"/>
          <p:nvPr/>
        </p:nvSpPr>
        <p:spPr>
          <a:xfrm>
            <a:off x="4480560" y="5513832"/>
            <a:ext cx="3291840" cy="594360"/>
          </a:xfrm>
          <a:prstGeom prst="rect">
            <a:avLst/>
          </a:prstGeom>
          <a:noFill/>
          <a:ln/>
        </p:spPr>
        <p:txBody>
          <a:bodyPr wrap="square" lIns="0" tIns="0" rIns="0" bIns="0" rtlCol="0" anchor="t"/>
          <a:lstStyle/>
          <a:p>
            <a:pPr indent="0" marL="0">
              <a:buNone/>
            </a:pPr>
            <a:r>
              <a:rPr lang="en-US" sz="1050" dirty="0">
                <a:solidFill>
                  <a:srgbClr val="1F2124"/>
                </a:solidFill>
                <a:latin typeface="Inter" pitchFamily="34" charset="0"/>
                <a:ea typeface="Inter" pitchFamily="34" charset="-122"/>
                <a:cs typeface="Inter" pitchFamily="34" charset="-120"/>
              </a:rPr>
              <a:t>Mezzanine PIK: no consume caja durante el LBO. Nota de Sandra: la deuda más barata tras la senior.</a:t>
            </a:r>
            <a:endParaRPr lang="en-US" sz="1050" dirty="0"/>
          </a:p>
        </p:txBody>
      </p:sp>
      <p:sp>
        <p:nvSpPr>
          <p:cNvPr id="62" name="Shape 59"/>
          <p:cNvSpPr/>
          <p:nvPr/>
        </p:nvSpPr>
        <p:spPr>
          <a:xfrm>
            <a:off x="8046720" y="5166360"/>
            <a:ext cx="3593592" cy="960120"/>
          </a:xfrm>
          <a:prstGeom prst="rect">
            <a:avLst>
              <a:gd name="adj" fmla="val 5714"/>
            </a:avLst>
          </a:prstGeom>
          <a:solidFill>
            <a:srgbClr val="F3F3F2"/>
          </a:solidFill>
          <a:ln/>
        </p:spPr>
      </p:sp>
      <p:sp>
        <p:nvSpPr>
          <p:cNvPr id="63" name="Text 60"/>
          <p:cNvSpPr txBox="1"/>
          <p:nvPr/>
        </p:nvSpPr>
        <p:spPr>
          <a:xfrm>
            <a:off x="8229600" y="5239512"/>
            <a:ext cx="3200400" cy="256032"/>
          </a:xfrm>
          <a:prstGeom prst="rect">
            <a:avLst/>
          </a:prstGeom>
          <a:noFill/>
          <a:ln/>
        </p:spPr>
        <p:txBody>
          <a:bodyPr wrap="square" lIns="0" tIns="0" rIns="0" bIns="0" rtlCol="0" anchor="t"/>
          <a:lstStyle/>
          <a:p>
            <a:pPr indent="0" marL="0">
              <a:buNone/>
            </a:pPr>
            <a:r>
              <a:rPr lang="en-US" sz="1300" b="1" dirty="0">
                <a:solidFill>
                  <a:srgbClr val="1A1D21"/>
                </a:solidFill>
                <a:latin typeface="Inter" pitchFamily="34" charset="0"/>
                <a:ea typeface="Inter" pitchFamily="34" charset="-122"/>
                <a:cs typeface="Inter" pitchFamily="34" charset="-120"/>
              </a:rPr>
              <a:t>Euribor swap 3,35%</a:t>
            </a:r>
            <a:endParaRPr lang="en-US" sz="1300" dirty="0"/>
          </a:p>
        </p:txBody>
      </p:sp>
      <p:sp>
        <p:nvSpPr>
          <p:cNvPr id="64" name="Text 61"/>
          <p:cNvSpPr txBox="1"/>
          <p:nvPr/>
        </p:nvSpPr>
        <p:spPr>
          <a:xfrm>
            <a:off x="8229600" y="5513832"/>
            <a:ext cx="3291840" cy="594360"/>
          </a:xfrm>
          <a:prstGeom prst="rect">
            <a:avLst/>
          </a:prstGeom>
          <a:noFill/>
          <a:ln/>
        </p:spPr>
        <p:txBody>
          <a:bodyPr wrap="square" lIns="0" tIns="0" rIns="0" bIns="0" rtlCol="0" anchor="t"/>
          <a:lstStyle/>
          <a:p>
            <a:pPr indent="0" marL="0">
              <a:buNone/>
            </a:pPr>
            <a:r>
              <a:rPr lang="en-US" sz="1050" dirty="0">
                <a:solidFill>
                  <a:srgbClr val="1F2124"/>
                </a:solidFill>
                <a:latin typeface="Inter" pitchFamily="34" charset="0"/>
                <a:ea typeface="Inter" pitchFamily="34" charset="-122"/>
                <a:cs typeface="Inter" pitchFamily="34" charset="-120"/>
              </a:rPr>
              <a:t>Coste medio inicial del 6,85%. Comisiones de €1.142m amortizadas en 7 años a efectos fiscales.</a:t>
            </a:r>
            <a:endParaRPr lang="en-US" sz="1050" dirty="0"/>
          </a:p>
        </p:txBody>
      </p:sp>
      <p:sp>
        <p:nvSpPr>
          <p:cNvPr id="65" name="Text 62"/>
          <p:cNvSpPr txBox="1"/>
          <p:nvPr/>
        </p:nvSpPr>
        <p:spPr>
          <a:xfrm>
            <a:off x="548640" y="6327648"/>
            <a:ext cx="7863840" cy="228600"/>
          </a:xfrm>
          <a:prstGeom prst="rect">
            <a:avLst/>
          </a:prstGeom>
          <a:noFill/>
          <a:ln/>
        </p:spPr>
        <p:txBody>
          <a:bodyPr wrap="square" lIns="0" tIns="0" rIns="0" bIns="0" rtlCol="0" anchor="t"/>
          <a:lstStyle/>
          <a:p>
            <a:pPr indent="0" marL="0">
              <a:buNone/>
            </a:pPr>
            <a:r>
              <a:rPr lang="en-US" sz="900" dirty="0">
                <a:solidFill>
                  <a:srgbClr val="6E7378"/>
                </a:solidFill>
                <a:latin typeface="Inter" pitchFamily="34" charset="0"/>
                <a:ea typeface="Inter" pitchFamily="34" charset="-122"/>
                <a:cs typeface="Inter" pitchFamily="34" charset="-120"/>
              </a:rPr>
              <a:t>Fuente: modelo LBO definitivo (LBO Summary D24:I30; Debt &amp; Covenants D6:J16). E = Euribor swap 3,35%. PIK: interés capitalizado.</a:t>
            </a:r>
            <a:endParaRPr lang="en-US" sz="900" dirty="0"/>
          </a:p>
        </p:txBody>
      </p:sp>
      <p:sp>
        <p:nvSpPr>
          <p:cNvPr id="66" name="Text 63"/>
          <p:cNvSpPr txBox="1"/>
          <p:nvPr/>
        </p:nvSpPr>
        <p:spPr>
          <a:xfrm>
            <a:off x="8595360" y="6327648"/>
            <a:ext cx="3044952" cy="228600"/>
          </a:xfrm>
          <a:prstGeom prst="rect">
            <a:avLst/>
          </a:prstGeom>
          <a:noFill/>
          <a:ln/>
        </p:spPr>
        <p:txBody>
          <a:bodyPr wrap="square" lIns="0" tIns="0" rIns="0" bIns="0" rtlCol="0" anchor="t"/>
          <a:lstStyle/>
          <a:p>
            <a:pPr algn="r" indent="0" marL="0">
              <a:buNone/>
            </a:pPr>
            <a:r>
              <a:rPr lang="en-US" sz="900" dirty="0">
                <a:solidFill>
                  <a:srgbClr val="6E7378"/>
                </a:solidFill>
                <a:latin typeface="Inter" pitchFamily="34" charset="0"/>
                <a:ea typeface="Inter" pitchFamily="34" charset="-122"/>
                <a:cs typeface="Inter" pitchFamily="34" charset="-120"/>
              </a:rPr>
              <a:t>Project Galicia  ·  Estrictamente confidencial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47472"/>
            <a:ext cx="8229600" cy="228600"/>
          </a:xfrm>
          <a:prstGeom prst="rect">
            <a:avLst/>
          </a:prstGeom>
          <a:noFill/>
          <a:ln/>
        </p:spPr>
        <p:txBody>
          <a:bodyPr wrap="square" lIns="0" tIns="0" rIns="0" bIns="0" rtlCol="0" anchor="t"/>
          <a:lstStyle/>
          <a:p>
            <a:pPr indent="0" marL="0">
              <a:buNone/>
            </a:pPr>
            <a:r>
              <a:rPr lang="en-US" sz="1100" b="1" spc="200" kern="0" dirty="0">
                <a:solidFill>
                  <a:srgbClr val="1F4B3F"/>
                </a:solidFill>
                <a:latin typeface="Inter" pitchFamily="34" charset="0"/>
                <a:ea typeface="Inter" pitchFamily="34" charset="-122"/>
                <a:cs typeface="Inter" pitchFamily="34" charset="-120"/>
              </a:rPr>
              <a:t>03  ESTRUCTURA DE LA DEUDA</a:t>
            </a:r>
            <a:endParaRPr lang="en-US" sz="1100" dirty="0"/>
          </a:p>
        </p:txBody>
      </p:sp>
      <p:pic>
        <p:nvPicPr>
          <p:cNvPr id="3" name="Image 0" descr="/tmp/claude-0/-home-claude/8d7de6a3-f167-5c95-8bc2-67944307bfd8/scratchpad/canva/img/HLP_monograma.png">    </p:cNvPr>
          <p:cNvPicPr>
            <a:picLocks noChangeAspect="1"/>
          </p:cNvPicPr>
          <p:nvPr/>
        </p:nvPicPr>
        <p:blipFill>
          <a:blip r:embed="rId1"/>
          <a:stretch>
            <a:fillRect/>
          </a:stretch>
        </p:blipFill>
        <p:spPr>
          <a:xfrm>
            <a:off x="11228832" y="310896"/>
            <a:ext cx="411480" cy="411480"/>
          </a:xfrm>
          <a:prstGeom prst="rect">
            <a:avLst/>
          </a:prstGeom>
        </p:spPr>
      </p:pic>
      <p:sp>
        <p:nvSpPr>
          <p:cNvPr id="4" name="Text 1"/>
          <p:cNvSpPr txBox="1"/>
          <p:nvPr/>
        </p:nvSpPr>
        <p:spPr>
          <a:xfrm>
            <a:off x="548640" y="603504"/>
            <a:ext cx="10515600" cy="822960"/>
          </a:xfrm>
          <a:prstGeom prst="rect">
            <a:avLst/>
          </a:prstGeom>
          <a:noFill/>
          <a:ln/>
        </p:spPr>
        <p:txBody>
          <a:bodyPr wrap="square" lIns="0" tIns="0" rIns="0" bIns="0" rtlCol="0" anchor="t"/>
          <a:lstStyle/>
          <a:p>
            <a:pPr indent="0" marL="0">
              <a:lnSpc>
                <a:spcPct val="95000"/>
              </a:lnSpc>
              <a:buNone/>
            </a:pPr>
            <a:r>
              <a:rPr lang="en-US" sz="2500" dirty="0">
                <a:solidFill>
                  <a:srgbClr val="1A1D21"/>
                </a:solidFill>
                <a:latin typeface="Lora" pitchFamily="34" charset="0"/>
                <a:ea typeface="Lora" pitchFamily="34" charset="-122"/>
                <a:cs typeface="Lora" pitchFamily="34" charset="-120"/>
              </a:rPr>
              <a:t>La caja de Inditex paga la deuda con holgura: el apalancamiento baja de 8,1x a 3,6x en 2032</a:t>
            </a:r>
            <a:endParaRPr lang="en-US" sz="2500" dirty="0"/>
          </a:p>
        </p:txBody>
      </p:sp>
      <p:pic>
        <p:nvPicPr>
          <p:cNvPr id="5" name="Image 1" descr="/tmp/claude-0/-home-claude/8d7de6a3-f167-5c95-8bc2-67944307bfd8/scratchpad/canva/img/c7_debt.png">    </p:cNvPr>
          <p:cNvPicPr>
            <a:picLocks noChangeAspect="1"/>
          </p:cNvPicPr>
          <p:nvPr/>
        </p:nvPicPr>
        <p:blipFill>
          <a:blip r:embed="rId2"/>
          <a:stretch>
            <a:fillRect/>
          </a:stretch>
        </p:blipFill>
        <p:spPr>
          <a:xfrm>
            <a:off x="548640" y="1508760"/>
            <a:ext cx="6675120" cy="3611880"/>
          </a:xfrm>
          <a:prstGeom prst="rect">
            <a:avLst/>
          </a:prstGeom>
        </p:spPr>
      </p:pic>
      <p:pic>
        <p:nvPicPr>
          <p:cNvPr id="6" name="Image 2" descr="/tmp/claude-0/-home-claude/8d7de6a3-f167-5c95-8bc2-67944307bfd8/scratchpad/canva/img/c8_dscr.png">    </p:cNvPr>
          <p:cNvPicPr>
            <a:picLocks noChangeAspect="1"/>
          </p:cNvPicPr>
          <p:nvPr/>
        </p:nvPicPr>
        <p:blipFill>
          <a:blip r:embed="rId3"/>
          <a:stretch>
            <a:fillRect/>
          </a:stretch>
        </p:blipFill>
        <p:spPr>
          <a:xfrm>
            <a:off x="7452360" y="1508760"/>
            <a:ext cx="4187952" cy="2743200"/>
          </a:xfrm>
          <a:prstGeom prst="rect">
            <a:avLst/>
          </a:prstGeom>
        </p:spPr>
      </p:pic>
      <p:sp>
        <p:nvSpPr>
          <p:cNvPr id="7" name="Text 2"/>
          <p:cNvSpPr txBox="1"/>
          <p:nvPr/>
        </p:nvSpPr>
        <p:spPr>
          <a:xfrm>
            <a:off x="548640" y="5074920"/>
            <a:ext cx="6675120" cy="228600"/>
          </a:xfrm>
          <a:prstGeom prst="rect">
            <a:avLst/>
          </a:prstGeom>
          <a:noFill/>
          <a:ln/>
        </p:spPr>
        <p:txBody>
          <a:bodyPr wrap="square" lIns="0" tIns="0" rIns="0" bIns="0" rtlCol="0" anchor="t"/>
          <a:lstStyle/>
          <a:p>
            <a:pPr indent="0" marL="0">
              <a:buNone/>
            </a:pPr>
            <a:r>
              <a:rPr lang="en-US" sz="1050" dirty="0">
                <a:solidFill>
                  <a:srgbClr val="6E7378"/>
                </a:solidFill>
                <a:latin typeface="Inter" pitchFamily="34" charset="0"/>
                <a:ea typeface="Inter" pitchFamily="34" charset="-122"/>
                <a:cs typeface="Inter" pitchFamily="34" charset="-120"/>
              </a:rPr>
              <a:t>Deuda bruta por tramo al cierre de cada año (€m) y deuda neta / EBITDA</a:t>
            </a:r>
            <a:endParaRPr lang="en-US" sz="1050" dirty="0"/>
          </a:p>
        </p:txBody>
      </p:sp>
      <p:sp>
        <p:nvSpPr>
          <p:cNvPr id="8" name="Shape 3"/>
          <p:cNvSpPr/>
          <p:nvPr/>
        </p:nvSpPr>
        <p:spPr>
          <a:xfrm>
            <a:off x="548640" y="5376672"/>
            <a:ext cx="2651760" cy="777240"/>
          </a:xfrm>
          <a:prstGeom prst="rect">
            <a:avLst>
              <a:gd name="adj" fmla="val 7059"/>
            </a:avLst>
          </a:prstGeom>
          <a:solidFill>
            <a:srgbClr val="1A1D21"/>
          </a:solidFill>
          <a:ln/>
        </p:spPr>
      </p:sp>
      <p:sp>
        <p:nvSpPr>
          <p:cNvPr id="9" name="Text 4"/>
          <p:cNvSpPr txBox="1"/>
          <p:nvPr/>
        </p:nvSpPr>
        <p:spPr>
          <a:xfrm>
            <a:off x="713232" y="5440680"/>
            <a:ext cx="1325880" cy="365760"/>
          </a:xfrm>
          <a:prstGeom prst="rect">
            <a:avLst/>
          </a:prstGeom>
          <a:noFill/>
          <a:ln/>
        </p:spPr>
        <p:txBody>
          <a:bodyPr wrap="square" lIns="0" tIns="0" rIns="0" bIns="0" rtlCol="0" anchor="ctr"/>
          <a:lstStyle/>
          <a:p>
            <a:pPr indent="0" marL="0">
              <a:buNone/>
            </a:pPr>
            <a:r>
              <a:rPr lang="en-US" sz="1500" b="1" dirty="0">
                <a:solidFill>
                  <a:srgbClr val="FFFFFF"/>
                </a:solidFill>
                <a:latin typeface="Inter" pitchFamily="34" charset="0"/>
                <a:ea typeface="Inter" pitchFamily="34" charset="-122"/>
                <a:cs typeface="Inter" pitchFamily="34" charset="-120"/>
              </a:rPr>
              <a:t>1,44x</a:t>
            </a:r>
            <a:endParaRPr lang="en-US" sz="1500" dirty="0"/>
          </a:p>
        </p:txBody>
      </p:sp>
      <p:sp>
        <p:nvSpPr>
          <p:cNvPr id="10" name="Text 5"/>
          <p:cNvSpPr txBox="1"/>
          <p:nvPr/>
        </p:nvSpPr>
        <p:spPr>
          <a:xfrm>
            <a:off x="2011680" y="5458968"/>
            <a:ext cx="1143000" cy="347472"/>
          </a:xfrm>
          <a:prstGeom prst="rect">
            <a:avLst/>
          </a:prstGeom>
          <a:noFill/>
          <a:ln/>
        </p:spPr>
        <p:txBody>
          <a:bodyPr wrap="square" lIns="0" tIns="0" rIns="0" bIns="0" rtlCol="0" anchor="t"/>
          <a:lstStyle/>
          <a:p>
            <a:pPr indent="0" marL="0">
              <a:buNone/>
            </a:pPr>
            <a:r>
              <a:rPr lang="en-US" sz="1000" b="1" dirty="0">
                <a:solidFill>
                  <a:srgbClr val="FFFFFF"/>
                </a:solidFill>
                <a:latin typeface="Inter" pitchFamily="34" charset="0"/>
                <a:ea typeface="Inter" pitchFamily="34" charset="-122"/>
                <a:cs typeface="Inter" pitchFamily="34" charset="-120"/>
              </a:rPr>
              <a:t>DSCR mínimo (2027)</a:t>
            </a:r>
            <a:endParaRPr lang="en-US" sz="1000" dirty="0"/>
          </a:p>
        </p:txBody>
      </p:sp>
      <p:sp>
        <p:nvSpPr>
          <p:cNvPr id="11" name="Text 6"/>
          <p:cNvSpPr txBox="1"/>
          <p:nvPr/>
        </p:nvSpPr>
        <p:spPr>
          <a:xfrm>
            <a:off x="713232" y="5852160"/>
            <a:ext cx="2377440" cy="256032"/>
          </a:xfrm>
          <a:prstGeom prst="rect">
            <a:avLst/>
          </a:prstGeom>
          <a:noFill/>
          <a:ln/>
        </p:spPr>
        <p:txBody>
          <a:bodyPr wrap="square" lIns="0" tIns="0" rIns="0" bIns="0" rtlCol="0" anchor="t"/>
          <a:lstStyle/>
          <a:p>
            <a:pPr indent="0" marL="0">
              <a:buNone/>
            </a:pPr>
            <a:r>
              <a:rPr lang="en-US" sz="1000" dirty="0">
                <a:solidFill>
                  <a:srgbClr val="BFC4CA"/>
                </a:solidFill>
                <a:latin typeface="Inter" pitchFamily="34" charset="0"/>
                <a:ea typeface="Inter" pitchFamily="34" charset="-122"/>
                <a:cs typeface="Inter" pitchFamily="34" charset="-120"/>
              </a:rPr>
              <a:t>Covenant: 1,25x</a:t>
            </a:r>
            <a:endParaRPr lang="en-US" sz="1000" dirty="0"/>
          </a:p>
        </p:txBody>
      </p:sp>
      <p:sp>
        <p:nvSpPr>
          <p:cNvPr id="12" name="Shape 7"/>
          <p:cNvSpPr/>
          <p:nvPr/>
        </p:nvSpPr>
        <p:spPr>
          <a:xfrm>
            <a:off x="3346704" y="5376672"/>
            <a:ext cx="2651760" cy="777240"/>
          </a:xfrm>
          <a:prstGeom prst="rect">
            <a:avLst>
              <a:gd name="adj" fmla="val 7059"/>
            </a:avLst>
          </a:prstGeom>
          <a:solidFill>
            <a:srgbClr val="F3F3F2"/>
          </a:solidFill>
          <a:ln/>
        </p:spPr>
      </p:sp>
      <p:sp>
        <p:nvSpPr>
          <p:cNvPr id="13" name="Text 8"/>
          <p:cNvSpPr txBox="1"/>
          <p:nvPr/>
        </p:nvSpPr>
        <p:spPr>
          <a:xfrm>
            <a:off x="3511296" y="5440680"/>
            <a:ext cx="1325880" cy="365760"/>
          </a:xfrm>
          <a:prstGeom prst="rect">
            <a:avLst/>
          </a:prstGeom>
          <a:noFill/>
          <a:ln/>
        </p:spPr>
        <p:txBody>
          <a:bodyPr wrap="square" lIns="0" tIns="0" rIns="0" bIns="0" rtlCol="0" anchor="ctr"/>
          <a:lstStyle/>
          <a:p>
            <a:pPr indent="0" marL="0">
              <a:buNone/>
            </a:pPr>
            <a:r>
              <a:rPr lang="en-US" sz="1500" b="1" dirty="0">
                <a:solidFill>
                  <a:srgbClr val="1A1D21"/>
                </a:solidFill>
                <a:latin typeface="Inter" pitchFamily="34" charset="0"/>
                <a:ea typeface="Inter" pitchFamily="34" charset="-122"/>
                <a:cs typeface="Inter" pitchFamily="34" charset="-120"/>
              </a:rPr>
              <a:t>2,7x → 7,5x</a:t>
            </a:r>
            <a:endParaRPr lang="en-US" sz="1500" dirty="0"/>
          </a:p>
        </p:txBody>
      </p:sp>
      <p:sp>
        <p:nvSpPr>
          <p:cNvPr id="14" name="Text 9"/>
          <p:cNvSpPr txBox="1"/>
          <p:nvPr/>
        </p:nvSpPr>
        <p:spPr>
          <a:xfrm>
            <a:off x="4809744" y="5458968"/>
            <a:ext cx="1143000" cy="347472"/>
          </a:xfrm>
          <a:prstGeom prst="rect">
            <a:avLst/>
          </a:prstGeom>
          <a:noFill/>
          <a:ln/>
        </p:spPr>
        <p:txBody>
          <a:bodyPr wrap="square" lIns="0" tIns="0" rIns="0" bIns="0" rtlCol="0" anchor="t"/>
          <a:lstStyle/>
          <a:p>
            <a:pPr indent="0" marL="0">
              <a:buNone/>
            </a:pPr>
            <a:r>
              <a:rPr lang="en-US" sz="1000" b="1" dirty="0">
                <a:solidFill>
                  <a:srgbClr val="1F2124"/>
                </a:solidFill>
                <a:latin typeface="Inter" pitchFamily="34" charset="0"/>
                <a:ea typeface="Inter" pitchFamily="34" charset="-122"/>
                <a:cs typeface="Inter" pitchFamily="34" charset="-120"/>
              </a:rPr>
              <a:t>Cobertura de intereses</a:t>
            </a:r>
            <a:endParaRPr lang="en-US" sz="1000" dirty="0"/>
          </a:p>
        </p:txBody>
      </p:sp>
      <p:sp>
        <p:nvSpPr>
          <p:cNvPr id="15" name="Text 10"/>
          <p:cNvSpPr txBox="1"/>
          <p:nvPr/>
        </p:nvSpPr>
        <p:spPr>
          <a:xfrm>
            <a:off x="3511296" y="5852160"/>
            <a:ext cx="2377440" cy="256032"/>
          </a:xfrm>
          <a:prstGeom prst="rect">
            <a:avLst/>
          </a:prstGeom>
          <a:noFill/>
          <a:ln/>
        </p:spPr>
        <p:txBody>
          <a:bodyPr wrap="square" lIns="0" tIns="0" rIns="0" bIns="0" rtlCol="0" anchor="t"/>
          <a:lstStyle/>
          <a:p>
            <a:pPr indent="0" marL="0">
              <a:buNone/>
            </a:pPr>
            <a:r>
              <a:rPr lang="en-US" sz="1000" dirty="0">
                <a:solidFill>
                  <a:srgbClr val="6E7378"/>
                </a:solidFill>
                <a:latin typeface="Inter" pitchFamily="34" charset="0"/>
                <a:ea typeface="Inter" pitchFamily="34" charset="-122"/>
                <a:cs typeface="Inter" pitchFamily="34" charset="-120"/>
              </a:rPr>
              <a:t>EBITDA / intereses en caja</a:t>
            </a:r>
            <a:endParaRPr lang="en-US" sz="1000" dirty="0"/>
          </a:p>
        </p:txBody>
      </p:sp>
      <p:sp>
        <p:nvSpPr>
          <p:cNvPr id="16" name="Shape 11"/>
          <p:cNvSpPr/>
          <p:nvPr/>
        </p:nvSpPr>
        <p:spPr>
          <a:xfrm>
            <a:off x="6144768" y="5376672"/>
            <a:ext cx="2651760" cy="777240"/>
          </a:xfrm>
          <a:prstGeom prst="rect">
            <a:avLst>
              <a:gd name="adj" fmla="val 7059"/>
            </a:avLst>
          </a:prstGeom>
          <a:solidFill>
            <a:srgbClr val="F3F3F2"/>
          </a:solidFill>
          <a:ln/>
        </p:spPr>
      </p:sp>
      <p:sp>
        <p:nvSpPr>
          <p:cNvPr id="17" name="Text 12"/>
          <p:cNvSpPr txBox="1"/>
          <p:nvPr/>
        </p:nvSpPr>
        <p:spPr>
          <a:xfrm>
            <a:off x="6309360" y="5440680"/>
            <a:ext cx="1325880" cy="365760"/>
          </a:xfrm>
          <a:prstGeom prst="rect">
            <a:avLst/>
          </a:prstGeom>
          <a:noFill/>
          <a:ln/>
        </p:spPr>
        <p:txBody>
          <a:bodyPr wrap="square" lIns="0" tIns="0" rIns="0" bIns="0" rtlCol="0" anchor="ctr"/>
          <a:lstStyle/>
          <a:p>
            <a:pPr indent="0" marL="0">
              <a:buNone/>
            </a:pPr>
            <a:r>
              <a:rPr lang="en-US" sz="1500" b="1" dirty="0">
                <a:solidFill>
                  <a:srgbClr val="1A1D21"/>
                </a:solidFill>
                <a:latin typeface="Inter" pitchFamily="34" charset="0"/>
                <a:ea typeface="Inter" pitchFamily="34" charset="-122"/>
                <a:cs typeface="Inter" pitchFamily="34" charset="-120"/>
              </a:rPr>
              <a:t>€0</a:t>
            </a:r>
            <a:endParaRPr lang="en-US" sz="1500" dirty="0"/>
          </a:p>
        </p:txBody>
      </p:sp>
      <p:sp>
        <p:nvSpPr>
          <p:cNvPr id="18" name="Text 13"/>
          <p:cNvSpPr txBox="1"/>
          <p:nvPr/>
        </p:nvSpPr>
        <p:spPr>
          <a:xfrm>
            <a:off x="7607808" y="5458968"/>
            <a:ext cx="1143000" cy="347472"/>
          </a:xfrm>
          <a:prstGeom prst="rect">
            <a:avLst/>
          </a:prstGeom>
          <a:noFill/>
          <a:ln/>
        </p:spPr>
        <p:txBody>
          <a:bodyPr wrap="square" lIns="0" tIns="0" rIns="0" bIns="0" rtlCol="0" anchor="t"/>
          <a:lstStyle/>
          <a:p>
            <a:pPr indent="0" marL="0">
              <a:buNone/>
            </a:pPr>
            <a:r>
              <a:rPr lang="en-US" sz="1000" b="1" dirty="0">
                <a:solidFill>
                  <a:srgbClr val="1F2124"/>
                </a:solidFill>
                <a:latin typeface="Inter" pitchFamily="34" charset="0"/>
                <a:ea typeface="Inter" pitchFamily="34" charset="-122"/>
                <a:cs typeface="Inter" pitchFamily="34" charset="-120"/>
              </a:rPr>
              <a:t>TLA pendiente en 2032</a:t>
            </a:r>
            <a:endParaRPr lang="en-US" sz="1000" dirty="0"/>
          </a:p>
        </p:txBody>
      </p:sp>
      <p:sp>
        <p:nvSpPr>
          <p:cNvPr id="19" name="Text 14"/>
          <p:cNvSpPr txBox="1"/>
          <p:nvPr/>
        </p:nvSpPr>
        <p:spPr>
          <a:xfrm>
            <a:off x="6309360" y="5852160"/>
            <a:ext cx="2377440" cy="256032"/>
          </a:xfrm>
          <a:prstGeom prst="rect">
            <a:avLst/>
          </a:prstGeom>
          <a:noFill/>
          <a:ln/>
        </p:spPr>
        <p:txBody>
          <a:bodyPr wrap="square" lIns="0" tIns="0" rIns="0" bIns="0" rtlCol="0" anchor="t"/>
          <a:lstStyle/>
          <a:p>
            <a:pPr indent="0" marL="0">
              <a:buNone/>
            </a:pPr>
            <a:r>
              <a:rPr lang="en-US" sz="1000" dirty="0">
                <a:solidFill>
                  <a:srgbClr val="6E7378"/>
                </a:solidFill>
                <a:latin typeface="Inter" pitchFamily="34" charset="0"/>
                <a:ea typeface="Inter" pitchFamily="34" charset="-122"/>
                <a:cs typeface="Inter" pitchFamily="34" charset="-120"/>
              </a:rPr>
              <a:t>TLB de €33.016m a €15.071m</a:t>
            </a:r>
            <a:endParaRPr lang="en-US" sz="1000" dirty="0"/>
          </a:p>
        </p:txBody>
      </p:sp>
      <p:sp>
        <p:nvSpPr>
          <p:cNvPr id="20" name="Shape 15"/>
          <p:cNvSpPr/>
          <p:nvPr/>
        </p:nvSpPr>
        <p:spPr>
          <a:xfrm>
            <a:off x="8942832" y="5376672"/>
            <a:ext cx="2651760" cy="777240"/>
          </a:xfrm>
          <a:prstGeom prst="rect">
            <a:avLst>
              <a:gd name="adj" fmla="val 7059"/>
            </a:avLst>
          </a:prstGeom>
          <a:solidFill>
            <a:srgbClr val="F3F3F2"/>
          </a:solidFill>
          <a:ln/>
        </p:spPr>
      </p:sp>
      <p:sp>
        <p:nvSpPr>
          <p:cNvPr id="21" name="Text 16"/>
          <p:cNvSpPr txBox="1"/>
          <p:nvPr/>
        </p:nvSpPr>
        <p:spPr>
          <a:xfrm>
            <a:off x="9107424" y="5440680"/>
            <a:ext cx="1325880" cy="365760"/>
          </a:xfrm>
          <a:prstGeom prst="rect">
            <a:avLst/>
          </a:prstGeom>
          <a:noFill/>
          <a:ln/>
        </p:spPr>
        <p:txBody>
          <a:bodyPr wrap="square" lIns="0" tIns="0" rIns="0" bIns="0" rtlCol="0" anchor="ctr"/>
          <a:lstStyle/>
          <a:p>
            <a:pPr indent="0" marL="0">
              <a:buNone/>
            </a:pPr>
            <a:r>
              <a:rPr lang="en-US" sz="1500" b="1" dirty="0">
                <a:solidFill>
                  <a:srgbClr val="1A1D21"/>
                </a:solidFill>
                <a:latin typeface="Inter" pitchFamily="34" charset="0"/>
                <a:ea typeface="Inter" pitchFamily="34" charset="-122"/>
                <a:cs typeface="Inter" pitchFamily="34" charset="-120"/>
              </a:rPr>
              <a:t>€6.374m</a:t>
            </a:r>
            <a:endParaRPr lang="en-US" sz="1500" dirty="0"/>
          </a:p>
        </p:txBody>
      </p:sp>
      <p:sp>
        <p:nvSpPr>
          <p:cNvPr id="22" name="Text 17"/>
          <p:cNvSpPr txBox="1"/>
          <p:nvPr/>
        </p:nvSpPr>
        <p:spPr>
          <a:xfrm>
            <a:off x="10405872" y="5458968"/>
            <a:ext cx="1143000" cy="347472"/>
          </a:xfrm>
          <a:prstGeom prst="rect">
            <a:avLst/>
          </a:prstGeom>
          <a:noFill/>
          <a:ln/>
        </p:spPr>
        <p:txBody>
          <a:bodyPr wrap="square" lIns="0" tIns="0" rIns="0" bIns="0" rtlCol="0" anchor="t"/>
          <a:lstStyle/>
          <a:p>
            <a:pPr indent="0" marL="0">
              <a:buNone/>
            </a:pPr>
            <a:r>
              <a:rPr lang="en-US" sz="1000" b="1" dirty="0">
                <a:solidFill>
                  <a:srgbClr val="1F2124"/>
                </a:solidFill>
                <a:latin typeface="Inter" pitchFamily="34" charset="0"/>
                <a:ea typeface="Inter" pitchFamily="34" charset="-122"/>
                <a:cs typeface="Inter" pitchFamily="34" charset="-120"/>
              </a:rPr>
              <a:t>Ahorro fiscal 2026–32</a:t>
            </a:r>
            <a:endParaRPr lang="en-US" sz="1000" dirty="0"/>
          </a:p>
        </p:txBody>
      </p:sp>
      <p:sp>
        <p:nvSpPr>
          <p:cNvPr id="23" name="Text 18"/>
          <p:cNvSpPr txBox="1"/>
          <p:nvPr/>
        </p:nvSpPr>
        <p:spPr>
          <a:xfrm>
            <a:off x="9107424" y="5852160"/>
            <a:ext cx="2377440" cy="256032"/>
          </a:xfrm>
          <a:prstGeom prst="rect">
            <a:avLst/>
          </a:prstGeom>
          <a:noFill/>
          <a:ln/>
        </p:spPr>
        <p:txBody>
          <a:bodyPr wrap="square" lIns="0" tIns="0" rIns="0" bIns="0" rtlCol="0" anchor="t"/>
          <a:lstStyle/>
          <a:p>
            <a:pPr indent="0" marL="0">
              <a:buNone/>
            </a:pPr>
            <a:r>
              <a:rPr lang="en-US" sz="1000" dirty="0">
                <a:solidFill>
                  <a:srgbClr val="6E7378"/>
                </a:solidFill>
                <a:latin typeface="Inter" pitchFamily="34" charset="0"/>
                <a:ea typeface="Inter" pitchFamily="34" charset="-122"/>
                <a:cs typeface="Inter" pitchFamily="34" charset="-120"/>
              </a:rPr>
              <a:t>Pese al tope del 30% del EBITDA</a:t>
            </a:r>
            <a:endParaRPr lang="en-US" sz="1000" dirty="0"/>
          </a:p>
        </p:txBody>
      </p:sp>
      <p:sp>
        <p:nvSpPr>
          <p:cNvPr id="24" name="Shape 19"/>
          <p:cNvSpPr/>
          <p:nvPr/>
        </p:nvSpPr>
        <p:spPr>
          <a:xfrm>
            <a:off x="7452360" y="4343400"/>
            <a:ext cx="4187952" cy="868680"/>
          </a:xfrm>
          <a:prstGeom prst="rect">
            <a:avLst>
              <a:gd name="adj" fmla="val 6316"/>
            </a:avLst>
          </a:prstGeom>
          <a:solidFill>
            <a:srgbClr val="F3F3F2"/>
          </a:solidFill>
          <a:ln/>
        </p:spPr>
      </p:sp>
      <p:sp>
        <p:nvSpPr>
          <p:cNvPr id="25" name="Text 20"/>
          <p:cNvSpPr txBox="1"/>
          <p:nvPr/>
        </p:nvSpPr>
        <p:spPr>
          <a:xfrm>
            <a:off x="7635240" y="4416552"/>
            <a:ext cx="3886200" cy="731520"/>
          </a:xfrm>
          <a:prstGeom prst="rect">
            <a:avLst/>
          </a:prstGeom>
          <a:noFill/>
          <a:ln/>
        </p:spPr>
        <p:txBody>
          <a:bodyPr wrap="square" lIns="0" tIns="0" rIns="0" bIns="0" rtlCol="0" anchor="t"/>
          <a:lstStyle/>
          <a:p>
            <a:pPr indent="0" marL="0">
              <a:buNone/>
            </a:pPr>
            <a:r>
              <a:rPr lang="en-US" sz="1100" dirty="0">
                <a:solidFill>
                  <a:srgbClr val="1F2124"/>
                </a:solidFill>
                <a:latin typeface="Inter" pitchFamily="34" charset="0"/>
                <a:ea typeface="Inter" pitchFamily="34" charset="-122"/>
                <a:cs typeface="Inter" pitchFamily="34" charset="-120"/>
              </a:rPr>
              <a:t>La mezzanine crece por el PIK de €14.150m a €28.463m: se paga en la salida, sin consumir caja durante el LBO.</a:t>
            </a:r>
            <a:endParaRPr lang="en-US" sz="1100" dirty="0"/>
          </a:p>
        </p:txBody>
      </p:sp>
      <p:sp>
        <p:nvSpPr>
          <p:cNvPr id="26" name="Text 21"/>
          <p:cNvSpPr txBox="1"/>
          <p:nvPr/>
        </p:nvSpPr>
        <p:spPr>
          <a:xfrm>
            <a:off x="548640" y="6327648"/>
            <a:ext cx="7863840" cy="228600"/>
          </a:xfrm>
          <a:prstGeom prst="rect">
            <a:avLst/>
          </a:prstGeom>
          <a:noFill/>
          <a:ln/>
        </p:spPr>
        <p:txBody>
          <a:bodyPr wrap="square" lIns="0" tIns="0" rIns="0" bIns="0" rtlCol="0" anchor="t"/>
          <a:lstStyle/>
          <a:p>
            <a:pPr indent="0" marL="0">
              <a:buNone/>
            </a:pPr>
            <a:r>
              <a:rPr lang="en-US" sz="900" dirty="0">
                <a:solidFill>
                  <a:srgbClr val="6E7378"/>
                </a:solidFill>
                <a:latin typeface="Inter" pitchFamily="34" charset="0"/>
                <a:ea typeface="Inter" pitchFamily="34" charset="-122"/>
                <a:cs typeface="Inter" pitchFamily="34" charset="-120"/>
              </a:rPr>
              <a:t>Fuente: modelo LBO definitivo (Debt &amp; Covenants filas 20–109; Tax &amp; WACC fila 39). DSCR = CFADS / servicio de la deuda.</a:t>
            </a:r>
            <a:endParaRPr lang="en-US" sz="900" dirty="0"/>
          </a:p>
        </p:txBody>
      </p:sp>
      <p:sp>
        <p:nvSpPr>
          <p:cNvPr id="27" name="Text 22"/>
          <p:cNvSpPr txBox="1"/>
          <p:nvPr/>
        </p:nvSpPr>
        <p:spPr>
          <a:xfrm>
            <a:off x="8595360" y="6327648"/>
            <a:ext cx="3044952" cy="228600"/>
          </a:xfrm>
          <a:prstGeom prst="rect">
            <a:avLst/>
          </a:prstGeom>
          <a:noFill/>
          <a:ln/>
        </p:spPr>
        <p:txBody>
          <a:bodyPr wrap="square" lIns="0" tIns="0" rIns="0" bIns="0" rtlCol="0" anchor="t"/>
          <a:lstStyle/>
          <a:p>
            <a:pPr algn="r" indent="0" marL="0">
              <a:buNone/>
            </a:pPr>
            <a:r>
              <a:rPr lang="en-US" sz="900" dirty="0">
                <a:solidFill>
                  <a:srgbClr val="6E7378"/>
                </a:solidFill>
                <a:latin typeface="Inter" pitchFamily="34" charset="0"/>
                <a:ea typeface="Inter" pitchFamily="34" charset="-122"/>
                <a:cs typeface="Inter" pitchFamily="34" charset="-120"/>
              </a:rPr>
              <a:t>Project Galicia  ·  Estrictamente confidencial  ·  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47472"/>
            <a:ext cx="8229600" cy="228600"/>
          </a:xfrm>
          <a:prstGeom prst="rect">
            <a:avLst/>
          </a:prstGeom>
          <a:noFill/>
          <a:ln/>
        </p:spPr>
        <p:txBody>
          <a:bodyPr wrap="square" lIns="0" tIns="0" rIns="0" bIns="0" rtlCol="0" anchor="t"/>
          <a:lstStyle/>
          <a:p>
            <a:pPr indent="0" marL="0">
              <a:buNone/>
            </a:pPr>
            <a:r>
              <a:rPr lang="en-US" sz="1100" b="1" spc="200" kern="0" dirty="0">
                <a:solidFill>
                  <a:srgbClr val="1F4B3F"/>
                </a:solidFill>
                <a:latin typeface="Inter" pitchFamily="34" charset="0"/>
                <a:ea typeface="Inter" pitchFamily="34" charset="-122"/>
                <a:cs typeface="Inter" pitchFamily="34" charset="-120"/>
              </a:rPr>
              <a:t>04  FINANCIADORES</a:t>
            </a:r>
            <a:endParaRPr lang="en-US" sz="1100" dirty="0"/>
          </a:p>
        </p:txBody>
      </p:sp>
      <p:pic>
        <p:nvPicPr>
          <p:cNvPr id="3" name="Image 0" descr="/tmp/claude-0/-home-claude/8d7de6a3-f167-5c95-8bc2-67944307bfd8/scratchpad/canva/img/HLP_monograma.png">    </p:cNvPr>
          <p:cNvPicPr>
            <a:picLocks noChangeAspect="1"/>
          </p:cNvPicPr>
          <p:nvPr/>
        </p:nvPicPr>
        <p:blipFill>
          <a:blip r:embed="rId1"/>
          <a:stretch>
            <a:fillRect/>
          </a:stretch>
        </p:blipFill>
        <p:spPr>
          <a:xfrm>
            <a:off x="11228832" y="310896"/>
            <a:ext cx="411480" cy="411480"/>
          </a:xfrm>
          <a:prstGeom prst="rect">
            <a:avLst/>
          </a:prstGeom>
        </p:spPr>
      </p:pic>
      <p:sp>
        <p:nvSpPr>
          <p:cNvPr id="4" name="Text 1"/>
          <p:cNvSpPr txBox="1"/>
          <p:nvPr/>
        </p:nvSpPr>
        <p:spPr>
          <a:xfrm>
            <a:off x="548640" y="603504"/>
            <a:ext cx="10515600" cy="822960"/>
          </a:xfrm>
          <a:prstGeom prst="rect">
            <a:avLst/>
          </a:prstGeom>
          <a:noFill/>
          <a:ln/>
        </p:spPr>
        <p:txBody>
          <a:bodyPr wrap="square" lIns="0" tIns="0" rIns="0" bIns="0" rtlCol="0" anchor="t"/>
          <a:lstStyle/>
          <a:p>
            <a:pPr indent="0" marL="0">
              <a:lnSpc>
                <a:spcPct val="95000"/>
              </a:lnSpc>
              <a:buNone/>
            </a:pPr>
            <a:r>
              <a:rPr lang="en-US" sz="2500" dirty="0">
                <a:solidFill>
                  <a:srgbClr val="1A1D21"/>
                </a:solidFill>
                <a:latin typeface="Lora" pitchFamily="34" charset="0"/>
                <a:ea typeface="Lora" pitchFamily="34" charset="-122"/>
                <a:cs typeface="Lora" pitchFamily="34" charset="-120"/>
              </a:rPr>
              <a:t>Diez bancos aseguran €62.840m antes de la OPA y 24 más entran en la sindicación</a:t>
            </a:r>
            <a:endParaRPr lang="en-US" sz="2500" dirty="0"/>
          </a:p>
        </p:txBody>
      </p:sp>
      <p:sp>
        <p:nvSpPr>
          <p:cNvPr id="5" name="Shape 2"/>
          <p:cNvSpPr/>
          <p:nvPr/>
        </p:nvSpPr>
        <p:spPr>
          <a:xfrm>
            <a:off x="548640" y="1600200"/>
            <a:ext cx="2606040" cy="4526280"/>
          </a:xfrm>
          <a:prstGeom prst="rect">
            <a:avLst>
              <a:gd name="adj" fmla="val 2105"/>
            </a:avLst>
          </a:prstGeom>
          <a:solidFill>
            <a:srgbClr val="1A1D21"/>
          </a:solidFill>
          <a:ln/>
        </p:spPr>
      </p:sp>
      <p:sp>
        <p:nvSpPr>
          <p:cNvPr id="6" name="Text 3"/>
          <p:cNvSpPr txBox="1"/>
          <p:nvPr/>
        </p:nvSpPr>
        <p:spPr>
          <a:xfrm>
            <a:off x="731520" y="1755648"/>
            <a:ext cx="2286000" cy="274320"/>
          </a:xfrm>
          <a:prstGeom prst="rect">
            <a:avLst/>
          </a:prstGeom>
          <a:noFill/>
          <a:ln/>
        </p:spPr>
        <p:txBody>
          <a:bodyPr wrap="square" lIns="0" tIns="0" rIns="0" bIns="0" rtlCol="0" anchor="t"/>
          <a:lstStyle/>
          <a:p>
            <a:pPr indent="0" marL="0">
              <a:buNone/>
            </a:pPr>
            <a:r>
              <a:rPr lang="en-US" sz="1400" b="1" dirty="0">
                <a:solidFill>
                  <a:srgbClr val="A8C9B8"/>
                </a:solidFill>
                <a:latin typeface="Inter" pitchFamily="34" charset="0"/>
                <a:ea typeface="Inter" pitchFamily="34" charset="-122"/>
                <a:cs typeface="Inter" pitchFamily="34" charset="-120"/>
              </a:rPr>
              <a:t>Certain funds</a:t>
            </a:r>
            <a:endParaRPr lang="en-US" sz="1400" dirty="0"/>
          </a:p>
        </p:txBody>
      </p:sp>
      <p:sp>
        <p:nvSpPr>
          <p:cNvPr id="7" name="Text 4"/>
          <p:cNvSpPr txBox="1"/>
          <p:nvPr/>
        </p:nvSpPr>
        <p:spPr>
          <a:xfrm>
            <a:off x="731520" y="2103120"/>
            <a:ext cx="2286000" cy="1463040"/>
          </a:xfrm>
          <a:prstGeom prst="rect">
            <a:avLst/>
          </a:prstGeom>
          <a:noFill/>
          <a:ln/>
        </p:spPr>
        <p:txBody>
          <a:bodyPr wrap="square" lIns="0" tIns="0" rIns="0" bIns="0" rtlCol="0" anchor="t"/>
          <a:lstStyle/>
          <a:p>
            <a:pPr indent="0" marL="0">
              <a:buNone/>
            </a:pPr>
            <a:r>
              <a:rPr lang="en-US" sz="1150" dirty="0">
                <a:solidFill>
                  <a:srgbClr val="D9D9D6"/>
                </a:solidFill>
                <a:latin typeface="Inter" pitchFamily="34" charset="0"/>
                <a:ea typeface="Inter" pitchFamily="34" charset="-122"/>
                <a:cs typeface="Inter" pitchFamily="34" charset="-120"/>
              </a:rPr>
              <a:t>La CNMV exige que la financiación de una OPA esté comprometida antes de anunciarla. Los aseguradores firman por todo el importe.</a:t>
            </a:r>
            <a:endParaRPr lang="en-US" sz="1150" dirty="0"/>
          </a:p>
        </p:txBody>
      </p:sp>
      <p:sp>
        <p:nvSpPr>
          <p:cNvPr id="8" name="Text 5"/>
          <p:cNvSpPr txBox="1"/>
          <p:nvPr/>
        </p:nvSpPr>
        <p:spPr>
          <a:xfrm>
            <a:off x="731520" y="3657600"/>
            <a:ext cx="2286000" cy="274320"/>
          </a:xfrm>
          <a:prstGeom prst="rect">
            <a:avLst/>
          </a:prstGeom>
          <a:noFill/>
          <a:ln/>
        </p:spPr>
        <p:txBody>
          <a:bodyPr wrap="square" lIns="0" tIns="0" rIns="0" bIns="0" rtlCol="0" anchor="t"/>
          <a:lstStyle/>
          <a:p>
            <a:pPr indent="0" marL="0">
              <a:buNone/>
            </a:pPr>
            <a:r>
              <a:rPr lang="en-US" sz="1200" b="1" dirty="0">
                <a:solidFill>
                  <a:srgbClr val="FFFFFF"/>
                </a:solidFill>
                <a:latin typeface="Inter" pitchFamily="34" charset="0"/>
                <a:ea typeface="Inter" pitchFamily="34" charset="-122"/>
                <a:cs typeface="Inter" pitchFamily="34" charset="-120"/>
              </a:rPr>
              <a:t>Importe asegurado</a:t>
            </a:r>
            <a:endParaRPr lang="en-US" sz="1200" dirty="0"/>
          </a:p>
        </p:txBody>
      </p:sp>
      <p:sp>
        <p:nvSpPr>
          <p:cNvPr id="9" name="Text 6"/>
          <p:cNvSpPr txBox="1"/>
          <p:nvPr/>
        </p:nvSpPr>
        <p:spPr>
          <a:xfrm>
            <a:off x="731520" y="3977640"/>
            <a:ext cx="2286000" cy="1737360"/>
          </a:xfrm>
          <a:prstGeom prst="rect">
            <a:avLst/>
          </a:prstGeom>
          <a:noFill/>
          <a:ln/>
        </p:spPr>
        <p:txBody>
          <a:bodyPr wrap="square" lIns="0" tIns="0" rIns="0" bIns="0" rtlCol="0" anchor="t"/>
          <a:lstStyle/>
          <a:p>
            <a:pPr indent="0" marL="0">
              <a:lnSpc>
                <a:spcPct val="115000"/>
              </a:lnSpc>
              <a:buNone/>
            </a:pPr>
            <a:r>
              <a:rPr lang="en-US" sz="1200" dirty="0">
                <a:solidFill>
                  <a:srgbClr val="D9D9D6"/>
                </a:solidFill>
                <a:latin typeface="Inter" pitchFamily="34" charset="0"/>
                <a:ea typeface="Inter" pitchFamily="34" charset="-122"/>
                <a:cs typeface="Inter" pitchFamily="34" charset="-120"/>
              </a:rPr>
              <a:t>TLA  18.866</a:t>
            </a:r>
            <a:endParaRPr lang="en-US" sz="1200" dirty="0"/>
          </a:p>
          <a:p>
            <a:pPr indent="0" marL="0">
              <a:lnSpc>
                <a:spcPct val="115000"/>
              </a:lnSpc>
              <a:buNone/>
            </a:pPr>
            <a:r>
              <a:rPr lang="en-US" sz="1200" dirty="0">
                <a:solidFill>
                  <a:srgbClr val="D9D9D6"/>
                </a:solidFill>
                <a:latin typeface="Inter" pitchFamily="34" charset="0"/>
                <a:ea typeface="Inter" pitchFamily="34" charset="-122"/>
                <a:cs typeface="Inter" pitchFamily="34" charset="-120"/>
              </a:rPr>
              <a:t>TLB  33.016</a:t>
            </a:r>
            <a:endParaRPr lang="en-US" sz="1200" dirty="0"/>
          </a:p>
          <a:p>
            <a:pPr indent="0" marL="0">
              <a:lnSpc>
                <a:spcPct val="115000"/>
              </a:lnSpc>
              <a:buNone/>
            </a:pPr>
            <a:r>
              <a:rPr lang="en-US" sz="1200" dirty="0">
                <a:solidFill>
                  <a:srgbClr val="D9D9D6"/>
                </a:solidFill>
                <a:latin typeface="Inter" pitchFamily="34" charset="0"/>
                <a:ea typeface="Inter" pitchFamily="34" charset="-122"/>
                <a:cs typeface="Inter" pitchFamily="34" charset="-120"/>
              </a:rPr>
              <a:t>RCF  1.000</a:t>
            </a:r>
            <a:endParaRPr lang="en-US" sz="1200" dirty="0"/>
          </a:p>
          <a:p>
            <a:pPr indent="0" marL="0">
              <a:lnSpc>
                <a:spcPct val="115000"/>
              </a:lnSpc>
              <a:buNone/>
            </a:pPr>
            <a:r>
              <a:rPr lang="en-US" sz="1200" dirty="0">
                <a:solidFill>
                  <a:srgbClr val="D9D9D6"/>
                </a:solidFill>
                <a:latin typeface="Inter" pitchFamily="34" charset="0"/>
                <a:ea typeface="Inter" pitchFamily="34" charset="-122"/>
                <a:cs typeface="Inter" pitchFamily="34" charset="-120"/>
              </a:rPr>
              <a:t>Puente de caja  9.958</a:t>
            </a:r>
            <a:endParaRPr lang="en-US" sz="1200" dirty="0"/>
          </a:p>
          <a:p>
            <a:pPr indent="0" marL="0">
              <a:lnSpc>
                <a:spcPct val="115000"/>
              </a:lnSpc>
              <a:buNone/>
            </a:pPr>
            <a:r>
              <a:rPr lang="en-US" sz="1200" b="1" dirty="0">
                <a:solidFill>
                  <a:srgbClr val="A8C9B8"/>
                </a:solidFill>
                <a:latin typeface="Inter" pitchFamily="34" charset="0"/>
                <a:ea typeface="Inter" pitchFamily="34" charset="-122"/>
                <a:cs typeface="Inter" pitchFamily="34" charset="-120"/>
              </a:rPr>
              <a:t>Total  €62.840m</a:t>
            </a:r>
            <a:endParaRPr lang="en-US" sz="1200" dirty="0"/>
          </a:p>
        </p:txBody>
      </p:sp>
      <p:sp>
        <p:nvSpPr>
          <p:cNvPr id="10" name="Text 7"/>
          <p:cNvSpPr txBox="1"/>
          <p:nvPr/>
        </p:nvSpPr>
        <p:spPr>
          <a:xfrm>
            <a:off x="3429000" y="1600200"/>
            <a:ext cx="8229600" cy="228600"/>
          </a:xfrm>
          <a:prstGeom prst="rect">
            <a:avLst/>
          </a:prstGeom>
          <a:noFill/>
          <a:ln/>
        </p:spPr>
        <p:txBody>
          <a:bodyPr wrap="square" lIns="0" tIns="0" rIns="0" bIns="0" rtlCol="0" anchor="t"/>
          <a:lstStyle/>
          <a:p>
            <a:pPr indent="0" marL="0">
              <a:buNone/>
            </a:pPr>
            <a:r>
              <a:rPr lang="en-US" sz="1100" b="1" spc="100" kern="0" dirty="0">
                <a:solidFill>
                  <a:srgbClr val="1F4B3F"/>
                </a:solidFill>
                <a:latin typeface="Inter" pitchFamily="34" charset="0"/>
                <a:ea typeface="Inter" pitchFamily="34" charset="-122"/>
                <a:cs typeface="Inter" pitchFamily="34" charset="-120"/>
              </a:rPr>
              <a:t>GLOBAL COORDINATORS · 15% cada uno · €9.426m</a:t>
            </a:r>
            <a:endParaRPr lang="en-US" sz="1100" dirty="0"/>
          </a:p>
        </p:txBody>
      </p:sp>
      <p:sp>
        <p:nvSpPr>
          <p:cNvPr id="11" name="Shape 8"/>
          <p:cNvSpPr/>
          <p:nvPr/>
        </p:nvSpPr>
        <p:spPr>
          <a:xfrm>
            <a:off x="3429000" y="1874520"/>
            <a:ext cx="1965960" cy="713232"/>
          </a:xfrm>
          <a:prstGeom prst="rect">
            <a:avLst>
              <a:gd name="adj" fmla="val 6410"/>
            </a:avLst>
          </a:prstGeom>
          <a:solidFill>
            <a:srgbClr val="1A1D21"/>
          </a:solidFill>
          <a:ln w="12700">
            <a:solidFill>
              <a:srgbClr val="1A1D21"/>
            </a:solidFill>
            <a:prstDash val="solid"/>
          </a:ln>
        </p:spPr>
      </p:sp>
      <p:sp>
        <p:nvSpPr>
          <p:cNvPr id="12" name="Text 9"/>
          <p:cNvSpPr txBox="1"/>
          <p:nvPr/>
        </p:nvSpPr>
        <p:spPr>
          <a:xfrm>
            <a:off x="3456432" y="1874520"/>
            <a:ext cx="19110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J.P. Morgan</a:t>
            </a:r>
            <a:endParaRPr lang="en-US" sz="1300" dirty="0"/>
          </a:p>
        </p:txBody>
      </p:sp>
      <p:sp>
        <p:nvSpPr>
          <p:cNvPr id="13" name="Shape 10"/>
          <p:cNvSpPr/>
          <p:nvPr/>
        </p:nvSpPr>
        <p:spPr>
          <a:xfrm>
            <a:off x="5504688" y="1874520"/>
            <a:ext cx="1965960" cy="713232"/>
          </a:xfrm>
          <a:prstGeom prst="rect">
            <a:avLst>
              <a:gd name="adj" fmla="val 6410"/>
            </a:avLst>
          </a:prstGeom>
          <a:solidFill>
            <a:srgbClr val="1A1D21"/>
          </a:solidFill>
          <a:ln w="12700">
            <a:solidFill>
              <a:srgbClr val="1A1D21"/>
            </a:solidFill>
            <a:prstDash val="solid"/>
          </a:ln>
        </p:spPr>
      </p:sp>
      <p:sp>
        <p:nvSpPr>
          <p:cNvPr id="14" name="Text 11"/>
          <p:cNvSpPr txBox="1"/>
          <p:nvPr/>
        </p:nvSpPr>
        <p:spPr>
          <a:xfrm>
            <a:off x="5532120" y="1874520"/>
            <a:ext cx="19110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Goldman Sachs</a:t>
            </a:r>
            <a:endParaRPr lang="en-US" sz="1300" dirty="0"/>
          </a:p>
        </p:txBody>
      </p:sp>
      <p:sp>
        <p:nvSpPr>
          <p:cNvPr id="15" name="Shape 12"/>
          <p:cNvSpPr/>
          <p:nvPr/>
        </p:nvSpPr>
        <p:spPr>
          <a:xfrm>
            <a:off x="7580376" y="1874520"/>
            <a:ext cx="1965960" cy="713232"/>
          </a:xfrm>
          <a:prstGeom prst="rect">
            <a:avLst>
              <a:gd name="adj" fmla="val 6410"/>
            </a:avLst>
          </a:prstGeom>
          <a:solidFill>
            <a:srgbClr val="1A1D21"/>
          </a:solidFill>
          <a:ln w="12700">
            <a:solidFill>
              <a:srgbClr val="1A1D21"/>
            </a:solidFill>
            <a:prstDash val="solid"/>
          </a:ln>
        </p:spPr>
      </p:sp>
      <p:sp>
        <p:nvSpPr>
          <p:cNvPr id="16" name="Text 13"/>
          <p:cNvSpPr txBox="1"/>
          <p:nvPr/>
        </p:nvSpPr>
        <p:spPr>
          <a:xfrm>
            <a:off x="7607808" y="1874520"/>
            <a:ext cx="19110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BNP Paribas</a:t>
            </a:r>
            <a:endParaRPr lang="en-US" sz="1300" dirty="0"/>
          </a:p>
        </p:txBody>
      </p:sp>
      <p:sp>
        <p:nvSpPr>
          <p:cNvPr id="17" name="Shape 14"/>
          <p:cNvSpPr/>
          <p:nvPr/>
        </p:nvSpPr>
        <p:spPr>
          <a:xfrm>
            <a:off x="9656064" y="1874520"/>
            <a:ext cx="1965960" cy="713232"/>
          </a:xfrm>
          <a:prstGeom prst="rect">
            <a:avLst>
              <a:gd name="adj" fmla="val 6410"/>
            </a:avLst>
          </a:prstGeom>
          <a:solidFill>
            <a:srgbClr val="1A1D21"/>
          </a:solidFill>
          <a:ln w="12700">
            <a:solidFill>
              <a:srgbClr val="1A1D21"/>
            </a:solidFill>
            <a:prstDash val="solid"/>
          </a:ln>
        </p:spPr>
      </p:sp>
      <p:sp>
        <p:nvSpPr>
          <p:cNvPr id="18" name="Text 15"/>
          <p:cNvSpPr txBox="1"/>
          <p:nvPr/>
        </p:nvSpPr>
        <p:spPr>
          <a:xfrm>
            <a:off x="9701784" y="1929384"/>
            <a:ext cx="1874520" cy="392278"/>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Banco Santander</a:t>
            </a:r>
            <a:endParaRPr lang="en-US" sz="1400" dirty="0"/>
          </a:p>
        </p:txBody>
      </p:sp>
      <p:sp>
        <p:nvSpPr>
          <p:cNvPr id="19" name="Text 16"/>
          <p:cNvSpPr txBox="1"/>
          <p:nvPr/>
        </p:nvSpPr>
        <p:spPr>
          <a:xfrm>
            <a:off x="9701784" y="2266798"/>
            <a:ext cx="1874520" cy="285293"/>
          </a:xfrm>
          <a:prstGeom prst="rect">
            <a:avLst/>
          </a:prstGeom>
          <a:noFill/>
          <a:ln/>
        </p:spPr>
        <p:txBody>
          <a:bodyPr wrap="square" lIns="0" tIns="0" rIns="0" bIns="0" rtlCol="0" anchor="t"/>
          <a:lstStyle/>
          <a:p>
            <a:pPr algn="ctr" indent="0" marL="0">
              <a:buNone/>
            </a:pPr>
            <a:r>
              <a:rPr lang="en-US" sz="1050" dirty="0">
                <a:solidFill>
                  <a:srgbClr val="BFC4CA"/>
                </a:solidFill>
                <a:latin typeface="Inter" pitchFamily="34" charset="0"/>
                <a:ea typeface="Inter" pitchFamily="34" charset="-122"/>
                <a:cs typeface="Inter" pitchFamily="34" charset="-120"/>
              </a:rPr>
              <a:t>también agente</a:t>
            </a:r>
            <a:endParaRPr lang="en-US" sz="1050" dirty="0"/>
          </a:p>
        </p:txBody>
      </p:sp>
      <p:sp>
        <p:nvSpPr>
          <p:cNvPr id="20" name="Text 17"/>
          <p:cNvSpPr txBox="1"/>
          <p:nvPr/>
        </p:nvSpPr>
        <p:spPr>
          <a:xfrm>
            <a:off x="3429000" y="2743200"/>
            <a:ext cx="8229600" cy="228600"/>
          </a:xfrm>
          <a:prstGeom prst="rect">
            <a:avLst/>
          </a:prstGeom>
          <a:noFill/>
          <a:ln/>
        </p:spPr>
        <p:txBody>
          <a:bodyPr wrap="square" lIns="0" tIns="0" rIns="0" bIns="0" rtlCol="0" anchor="t"/>
          <a:lstStyle/>
          <a:p>
            <a:pPr indent="0" marL="0">
              <a:buNone/>
            </a:pPr>
            <a:r>
              <a:rPr lang="en-US" sz="1100" b="1" spc="100" kern="0" dirty="0">
                <a:solidFill>
                  <a:srgbClr val="1F4B3F"/>
                </a:solidFill>
                <a:latin typeface="Inter" pitchFamily="34" charset="0"/>
                <a:ea typeface="Inter" pitchFamily="34" charset="-122"/>
                <a:cs typeface="Inter" pitchFamily="34" charset="-120"/>
              </a:rPr>
              <a:t>MANDATED LEAD ARRANGERS · 6,67% cada uno · €4.189m</a:t>
            </a:r>
            <a:endParaRPr lang="en-US" sz="1100" dirty="0"/>
          </a:p>
        </p:txBody>
      </p:sp>
      <p:sp>
        <p:nvSpPr>
          <p:cNvPr id="21" name="Shape 18"/>
          <p:cNvSpPr/>
          <p:nvPr/>
        </p:nvSpPr>
        <p:spPr>
          <a:xfrm>
            <a:off x="3429000" y="3017520"/>
            <a:ext cx="1307592" cy="566928"/>
          </a:xfrm>
          <a:prstGeom prst="rect">
            <a:avLst>
              <a:gd name="adj" fmla="val 8065"/>
            </a:avLst>
          </a:prstGeom>
          <a:solidFill>
            <a:srgbClr val="FFFFFF"/>
          </a:solidFill>
          <a:ln w="12700">
            <a:solidFill>
              <a:srgbClr val="D9D9D6"/>
            </a:solidFill>
            <a:prstDash val="solid"/>
          </a:ln>
        </p:spPr>
      </p:sp>
      <p:sp>
        <p:nvSpPr>
          <p:cNvPr id="22" name="Text 19"/>
          <p:cNvSpPr txBox="1"/>
          <p:nvPr/>
        </p:nvSpPr>
        <p:spPr>
          <a:xfrm>
            <a:off x="3456432" y="3017520"/>
            <a:ext cx="1252728" cy="56692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Bank of America</a:t>
            </a:r>
            <a:endParaRPr lang="en-US" sz="1100" dirty="0"/>
          </a:p>
        </p:txBody>
      </p:sp>
      <p:sp>
        <p:nvSpPr>
          <p:cNvPr id="23" name="Shape 20"/>
          <p:cNvSpPr/>
          <p:nvPr/>
        </p:nvSpPr>
        <p:spPr>
          <a:xfrm>
            <a:off x="4809744" y="3017520"/>
            <a:ext cx="1307592" cy="566928"/>
          </a:xfrm>
          <a:prstGeom prst="rect">
            <a:avLst>
              <a:gd name="adj" fmla="val 8065"/>
            </a:avLst>
          </a:prstGeom>
          <a:solidFill>
            <a:srgbClr val="FFFFFF"/>
          </a:solidFill>
          <a:ln w="12700">
            <a:solidFill>
              <a:srgbClr val="D9D9D6"/>
            </a:solidFill>
            <a:prstDash val="solid"/>
          </a:ln>
        </p:spPr>
      </p:sp>
      <p:sp>
        <p:nvSpPr>
          <p:cNvPr id="24" name="Text 21"/>
          <p:cNvSpPr txBox="1"/>
          <p:nvPr/>
        </p:nvSpPr>
        <p:spPr>
          <a:xfrm>
            <a:off x="4837176" y="3017520"/>
            <a:ext cx="1252728" cy="56692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BBVA</a:t>
            </a:r>
            <a:endParaRPr lang="en-US" sz="1100" dirty="0"/>
          </a:p>
        </p:txBody>
      </p:sp>
      <p:sp>
        <p:nvSpPr>
          <p:cNvPr id="25" name="Shape 22"/>
          <p:cNvSpPr/>
          <p:nvPr/>
        </p:nvSpPr>
        <p:spPr>
          <a:xfrm>
            <a:off x="6190488" y="3017520"/>
            <a:ext cx="1307592" cy="566928"/>
          </a:xfrm>
          <a:prstGeom prst="rect">
            <a:avLst>
              <a:gd name="adj" fmla="val 8065"/>
            </a:avLst>
          </a:prstGeom>
          <a:solidFill>
            <a:srgbClr val="FFFFFF"/>
          </a:solidFill>
          <a:ln w="12700">
            <a:solidFill>
              <a:srgbClr val="D9D9D6"/>
            </a:solidFill>
            <a:prstDash val="solid"/>
          </a:ln>
        </p:spPr>
      </p:sp>
      <p:sp>
        <p:nvSpPr>
          <p:cNvPr id="26" name="Text 23"/>
          <p:cNvSpPr txBox="1"/>
          <p:nvPr/>
        </p:nvSpPr>
        <p:spPr>
          <a:xfrm>
            <a:off x="6217920" y="3017520"/>
            <a:ext cx="1252728" cy="56692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CaixaBank</a:t>
            </a:r>
            <a:endParaRPr lang="en-US" sz="1100" dirty="0"/>
          </a:p>
        </p:txBody>
      </p:sp>
      <p:sp>
        <p:nvSpPr>
          <p:cNvPr id="27" name="Shape 24"/>
          <p:cNvSpPr/>
          <p:nvPr/>
        </p:nvSpPr>
        <p:spPr>
          <a:xfrm>
            <a:off x="7571232" y="3017520"/>
            <a:ext cx="1307592" cy="566928"/>
          </a:xfrm>
          <a:prstGeom prst="rect">
            <a:avLst>
              <a:gd name="adj" fmla="val 8065"/>
            </a:avLst>
          </a:prstGeom>
          <a:solidFill>
            <a:srgbClr val="FFFFFF"/>
          </a:solidFill>
          <a:ln w="12700">
            <a:solidFill>
              <a:srgbClr val="D9D9D6"/>
            </a:solidFill>
            <a:prstDash val="solid"/>
          </a:ln>
        </p:spPr>
      </p:sp>
      <p:sp>
        <p:nvSpPr>
          <p:cNvPr id="28" name="Text 25"/>
          <p:cNvSpPr txBox="1"/>
          <p:nvPr/>
        </p:nvSpPr>
        <p:spPr>
          <a:xfrm>
            <a:off x="7598664" y="3017520"/>
            <a:ext cx="1252728" cy="56692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HSBC</a:t>
            </a:r>
            <a:endParaRPr lang="en-US" sz="1100" dirty="0"/>
          </a:p>
        </p:txBody>
      </p:sp>
      <p:sp>
        <p:nvSpPr>
          <p:cNvPr id="29" name="Shape 26"/>
          <p:cNvSpPr/>
          <p:nvPr/>
        </p:nvSpPr>
        <p:spPr>
          <a:xfrm>
            <a:off x="8951976" y="3017520"/>
            <a:ext cx="1307592" cy="566928"/>
          </a:xfrm>
          <a:prstGeom prst="rect">
            <a:avLst>
              <a:gd name="adj" fmla="val 8065"/>
            </a:avLst>
          </a:prstGeom>
          <a:solidFill>
            <a:srgbClr val="FFFFFF"/>
          </a:solidFill>
          <a:ln w="12700">
            <a:solidFill>
              <a:srgbClr val="D9D9D6"/>
            </a:solidFill>
            <a:prstDash val="solid"/>
          </a:ln>
        </p:spPr>
      </p:sp>
      <p:sp>
        <p:nvSpPr>
          <p:cNvPr id="30" name="Text 27"/>
          <p:cNvSpPr txBox="1"/>
          <p:nvPr/>
        </p:nvSpPr>
        <p:spPr>
          <a:xfrm>
            <a:off x="8979408" y="3017520"/>
            <a:ext cx="1252728" cy="56692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UBS</a:t>
            </a:r>
            <a:endParaRPr lang="en-US" sz="1100" dirty="0"/>
          </a:p>
        </p:txBody>
      </p:sp>
      <p:sp>
        <p:nvSpPr>
          <p:cNvPr id="31" name="Shape 28"/>
          <p:cNvSpPr/>
          <p:nvPr/>
        </p:nvSpPr>
        <p:spPr>
          <a:xfrm>
            <a:off x="10332720" y="3017520"/>
            <a:ext cx="1307592" cy="566928"/>
          </a:xfrm>
          <a:prstGeom prst="rect">
            <a:avLst>
              <a:gd name="adj" fmla="val 8065"/>
            </a:avLst>
          </a:prstGeom>
          <a:solidFill>
            <a:srgbClr val="FFFFFF"/>
          </a:solidFill>
          <a:ln w="12700">
            <a:solidFill>
              <a:srgbClr val="D9D9D6"/>
            </a:solidFill>
            <a:prstDash val="solid"/>
          </a:ln>
        </p:spPr>
      </p:sp>
      <p:sp>
        <p:nvSpPr>
          <p:cNvPr id="32" name="Text 29"/>
          <p:cNvSpPr txBox="1"/>
          <p:nvPr/>
        </p:nvSpPr>
        <p:spPr>
          <a:xfrm>
            <a:off x="10360152" y="3017520"/>
            <a:ext cx="1252728" cy="56692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Société Générale</a:t>
            </a:r>
            <a:endParaRPr lang="en-US" sz="1100" dirty="0"/>
          </a:p>
        </p:txBody>
      </p:sp>
      <p:sp>
        <p:nvSpPr>
          <p:cNvPr id="33" name="Text 30"/>
          <p:cNvSpPr txBox="1"/>
          <p:nvPr/>
        </p:nvSpPr>
        <p:spPr>
          <a:xfrm>
            <a:off x="3429000" y="3749040"/>
            <a:ext cx="8229600" cy="228600"/>
          </a:xfrm>
          <a:prstGeom prst="rect">
            <a:avLst/>
          </a:prstGeom>
          <a:noFill/>
          <a:ln/>
        </p:spPr>
        <p:txBody>
          <a:bodyPr wrap="square" lIns="0" tIns="0" rIns="0" bIns="0" rtlCol="0" anchor="t"/>
          <a:lstStyle/>
          <a:p>
            <a:pPr indent="0" marL="0">
              <a:buNone/>
            </a:pPr>
            <a:r>
              <a:rPr lang="en-US" sz="1100" b="1" spc="100" kern="0" dirty="0">
                <a:solidFill>
                  <a:srgbClr val="1F4B3F"/>
                </a:solidFill>
                <a:latin typeface="Inter" pitchFamily="34" charset="0"/>
                <a:ea typeface="Inter" pitchFamily="34" charset="-122"/>
                <a:cs typeface="Inter" pitchFamily="34" charset="-120"/>
              </a:rPr>
              <a:t>SINDICACIÓN DEL TLA · 24 bancos · €9.680m</a:t>
            </a:r>
            <a:endParaRPr lang="en-US" sz="1100" dirty="0"/>
          </a:p>
        </p:txBody>
      </p:sp>
      <p:sp>
        <p:nvSpPr>
          <p:cNvPr id="34" name="Text 31"/>
          <p:cNvSpPr txBox="1"/>
          <p:nvPr/>
        </p:nvSpPr>
        <p:spPr>
          <a:xfrm>
            <a:off x="3429000" y="4041648"/>
            <a:ext cx="548640" cy="457200"/>
          </a:xfrm>
          <a:prstGeom prst="rect">
            <a:avLst/>
          </a:prstGeom>
          <a:noFill/>
          <a:ln/>
        </p:spPr>
        <p:txBody>
          <a:bodyPr wrap="square" lIns="0" tIns="0" rIns="0" bIns="0" rtlCol="0" anchor="ctr"/>
          <a:lstStyle/>
          <a:p>
            <a:pPr indent="0" marL="0">
              <a:buNone/>
            </a:pPr>
            <a:r>
              <a:rPr lang="en-US" sz="1100" b="1" dirty="0">
                <a:solidFill>
                  <a:srgbClr val="1A1D21"/>
                </a:solidFill>
                <a:latin typeface="Inter" pitchFamily="34" charset="0"/>
                <a:ea typeface="Inter" pitchFamily="34" charset="-122"/>
                <a:cs typeface="Inter" pitchFamily="34" charset="-120"/>
              </a:rPr>
              <a:t>€600m</a:t>
            </a:r>
            <a:endParaRPr lang="en-US" sz="1100" dirty="0"/>
          </a:p>
        </p:txBody>
      </p:sp>
      <p:sp>
        <p:nvSpPr>
          <p:cNvPr id="35" name="Shape 32"/>
          <p:cNvSpPr/>
          <p:nvPr/>
        </p:nvSpPr>
        <p:spPr>
          <a:xfrm>
            <a:off x="3977640" y="4041648"/>
            <a:ext cx="914400" cy="457200"/>
          </a:xfrm>
          <a:prstGeom prst="rect">
            <a:avLst>
              <a:gd name="adj" fmla="val 10000"/>
            </a:avLst>
          </a:prstGeom>
          <a:solidFill>
            <a:srgbClr val="FFFFFF"/>
          </a:solidFill>
          <a:ln w="12700">
            <a:solidFill>
              <a:srgbClr val="D9D9D6"/>
            </a:solidFill>
            <a:prstDash val="solid"/>
          </a:ln>
        </p:spPr>
      </p:sp>
      <p:sp>
        <p:nvSpPr>
          <p:cNvPr id="36" name="Text 33"/>
          <p:cNvSpPr txBox="1"/>
          <p:nvPr/>
        </p:nvSpPr>
        <p:spPr>
          <a:xfrm>
            <a:off x="4005072" y="4041648"/>
            <a:ext cx="859536" cy="457200"/>
          </a:xfrm>
          <a:prstGeom prst="rect">
            <a:avLst/>
          </a:prstGeom>
          <a:noFill/>
          <a:ln/>
        </p:spPr>
        <p:txBody>
          <a:bodyPr wrap="square" lIns="0" tIns="0" rIns="0" bIns="0" rtlCol="0" anchor="ctr"/>
          <a:lstStyle/>
          <a:p>
            <a:pPr algn="ctr" indent="0" marL="0">
              <a:buNone/>
            </a:pPr>
            <a:r>
              <a:rPr lang="en-US" sz="950" dirty="0">
                <a:solidFill>
                  <a:srgbClr val="1A1D21"/>
                </a:solidFill>
                <a:latin typeface="Inter" pitchFamily="34" charset="0"/>
                <a:ea typeface="Inter" pitchFamily="34" charset="-122"/>
                <a:cs typeface="Inter" pitchFamily="34" charset="-120"/>
              </a:rPr>
              <a:t>Crédit Agricole</a:t>
            </a:r>
            <a:endParaRPr lang="en-US" sz="950" dirty="0"/>
          </a:p>
        </p:txBody>
      </p:sp>
      <p:sp>
        <p:nvSpPr>
          <p:cNvPr id="37" name="Shape 34"/>
          <p:cNvSpPr/>
          <p:nvPr/>
        </p:nvSpPr>
        <p:spPr>
          <a:xfrm>
            <a:off x="4937760" y="4041648"/>
            <a:ext cx="914400" cy="457200"/>
          </a:xfrm>
          <a:prstGeom prst="rect">
            <a:avLst>
              <a:gd name="adj" fmla="val 10000"/>
            </a:avLst>
          </a:prstGeom>
          <a:solidFill>
            <a:srgbClr val="FFFFFF"/>
          </a:solidFill>
          <a:ln w="12700">
            <a:solidFill>
              <a:srgbClr val="D9D9D6"/>
            </a:solidFill>
            <a:prstDash val="solid"/>
          </a:ln>
        </p:spPr>
      </p:sp>
      <p:sp>
        <p:nvSpPr>
          <p:cNvPr id="38" name="Text 35"/>
          <p:cNvSpPr txBox="1"/>
          <p:nvPr/>
        </p:nvSpPr>
        <p:spPr>
          <a:xfrm>
            <a:off x="4965192" y="4041648"/>
            <a:ext cx="859536" cy="457200"/>
          </a:xfrm>
          <a:prstGeom prst="rect">
            <a:avLst/>
          </a:prstGeom>
          <a:noFill/>
          <a:ln/>
        </p:spPr>
        <p:txBody>
          <a:bodyPr wrap="square" lIns="0" tIns="0" rIns="0" bIns="0" rtlCol="0" anchor="ctr"/>
          <a:lstStyle/>
          <a:p>
            <a:pPr algn="ctr" indent="0" marL="0">
              <a:buNone/>
            </a:pPr>
            <a:r>
              <a:rPr lang="en-US" sz="1000" dirty="0">
                <a:solidFill>
                  <a:srgbClr val="1A1D21"/>
                </a:solidFill>
                <a:latin typeface="Inter" pitchFamily="34" charset="0"/>
                <a:ea typeface="Inter" pitchFamily="34" charset="-122"/>
                <a:cs typeface="Inter" pitchFamily="34" charset="-120"/>
              </a:rPr>
              <a:t>Natixis</a:t>
            </a:r>
            <a:endParaRPr lang="en-US" sz="1000" dirty="0"/>
          </a:p>
        </p:txBody>
      </p:sp>
      <p:sp>
        <p:nvSpPr>
          <p:cNvPr id="39" name="Shape 36"/>
          <p:cNvSpPr/>
          <p:nvPr/>
        </p:nvSpPr>
        <p:spPr>
          <a:xfrm>
            <a:off x="5897880" y="4041648"/>
            <a:ext cx="914400" cy="457200"/>
          </a:xfrm>
          <a:prstGeom prst="rect">
            <a:avLst>
              <a:gd name="adj" fmla="val 10000"/>
            </a:avLst>
          </a:prstGeom>
          <a:solidFill>
            <a:srgbClr val="FFFFFF"/>
          </a:solidFill>
          <a:ln w="12700">
            <a:solidFill>
              <a:srgbClr val="D9D9D6"/>
            </a:solidFill>
            <a:prstDash val="solid"/>
          </a:ln>
        </p:spPr>
      </p:sp>
      <p:sp>
        <p:nvSpPr>
          <p:cNvPr id="40" name="Text 37"/>
          <p:cNvSpPr txBox="1"/>
          <p:nvPr/>
        </p:nvSpPr>
        <p:spPr>
          <a:xfrm>
            <a:off x="5925312" y="4041648"/>
            <a:ext cx="859536" cy="457200"/>
          </a:xfrm>
          <a:prstGeom prst="rect">
            <a:avLst/>
          </a:prstGeom>
          <a:noFill/>
          <a:ln/>
        </p:spPr>
        <p:txBody>
          <a:bodyPr wrap="square" lIns="0" tIns="0" rIns="0" bIns="0" rtlCol="0" anchor="ctr"/>
          <a:lstStyle/>
          <a:p>
            <a:pPr algn="ctr" indent="0" marL="0">
              <a:buNone/>
            </a:pPr>
            <a:r>
              <a:rPr lang="en-US" sz="1000" dirty="0">
                <a:solidFill>
                  <a:srgbClr val="1A1D21"/>
                </a:solidFill>
                <a:latin typeface="Inter" pitchFamily="34" charset="0"/>
                <a:ea typeface="Inter" pitchFamily="34" charset="-122"/>
                <a:cs typeface="Inter" pitchFamily="34" charset="-120"/>
              </a:rPr>
              <a:t>UniCredit</a:t>
            </a:r>
            <a:endParaRPr lang="en-US" sz="1000" dirty="0"/>
          </a:p>
        </p:txBody>
      </p:sp>
      <p:sp>
        <p:nvSpPr>
          <p:cNvPr id="41" name="Shape 38"/>
          <p:cNvSpPr/>
          <p:nvPr/>
        </p:nvSpPr>
        <p:spPr>
          <a:xfrm>
            <a:off x="6858000" y="4041648"/>
            <a:ext cx="914400" cy="457200"/>
          </a:xfrm>
          <a:prstGeom prst="rect">
            <a:avLst>
              <a:gd name="adj" fmla="val 10000"/>
            </a:avLst>
          </a:prstGeom>
          <a:solidFill>
            <a:srgbClr val="FFFFFF"/>
          </a:solidFill>
          <a:ln w="12700">
            <a:solidFill>
              <a:srgbClr val="D9D9D6"/>
            </a:solidFill>
            <a:prstDash val="solid"/>
          </a:ln>
        </p:spPr>
      </p:sp>
      <p:sp>
        <p:nvSpPr>
          <p:cNvPr id="42" name="Text 39"/>
          <p:cNvSpPr txBox="1"/>
          <p:nvPr/>
        </p:nvSpPr>
        <p:spPr>
          <a:xfrm>
            <a:off x="6885432" y="4041648"/>
            <a:ext cx="859536" cy="457200"/>
          </a:xfrm>
          <a:prstGeom prst="rect">
            <a:avLst/>
          </a:prstGeom>
          <a:noFill/>
          <a:ln/>
        </p:spPr>
        <p:txBody>
          <a:bodyPr wrap="square" lIns="0" tIns="0" rIns="0" bIns="0" rtlCol="0" anchor="ctr"/>
          <a:lstStyle/>
          <a:p>
            <a:pPr algn="ctr" indent="0" marL="0">
              <a:buNone/>
            </a:pPr>
            <a:r>
              <a:rPr lang="en-US" sz="950" dirty="0">
                <a:solidFill>
                  <a:srgbClr val="1A1D21"/>
                </a:solidFill>
                <a:latin typeface="Inter" pitchFamily="34" charset="0"/>
                <a:ea typeface="Inter" pitchFamily="34" charset="-122"/>
                <a:cs typeface="Inter" pitchFamily="34" charset="-120"/>
              </a:rPr>
              <a:t>Intesa Sanpaolo</a:t>
            </a:r>
            <a:endParaRPr lang="en-US" sz="950" dirty="0"/>
          </a:p>
        </p:txBody>
      </p:sp>
      <p:sp>
        <p:nvSpPr>
          <p:cNvPr id="43" name="Shape 40"/>
          <p:cNvSpPr/>
          <p:nvPr/>
        </p:nvSpPr>
        <p:spPr>
          <a:xfrm>
            <a:off x="7818120" y="4041648"/>
            <a:ext cx="914400" cy="457200"/>
          </a:xfrm>
          <a:prstGeom prst="rect">
            <a:avLst>
              <a:gd name="adj" fmla="val 10000"/>
            </a:avLst>
          </a:prstGeom>
          <a:solidFill>
            <a:srgbClr val="FFFFFF"/>
          </a:solidFill>
          <a:ln w="12700">
            <a:solidFill>
              <a:srgbClr val="D9D9D6"/>
            </a:solidFill>
            <a:prstDash val="solid"/>
          </a:ln>
        </p:spPr>
      </p:sp>
      <p:sp>
        <p:nvSpPr>
          <p:cNvPr id="44" name="Text 41"/>
          <p:cNvSpPr txBox="1"/>
          <p:nvPr/>
        </p:nvSpPr>
        <p:spPr>
          <a:xfrm>
            <a:off x="7845552" y="4041648"/>
            <a:ext cx="859536" cy="457200"/>
          </a:xfrm>
          <a:prstGeom prst="rect">
            <a:avLst/>
          </a:prstGeom>
          <a:noFill/>
          <a:ln/>
        </p:spPr>
        <p:txBody>
          <a:bodyPr wrap="square" lIns="0" tIns="0" rIns="0" bIns="0" rtlCol="0" anchor="ctr"/>
          <a:lstStyle/>
          <a:p>
            <a:pPr algn="ctr" indent="0" marL="0">
              <a:buNone/>
            </a:pPr>
            <a:r>
              <a:rPr lang="en-US" sz="1000" dirty="0">
                <a:solidFill>
                  <a:srgbClr val="1A1D21"/>
                </a:solidFill>
                <a:latin typeface="Inter" pitchFamily="34" charset="0"/>
                <a:ea typeface="Inter" pitchFamily="34" charset="-122"/>
                <a:cs typeface="Inter" pitchFamily="34" charset="-120"/>
              </a:rPr>
              <a:t>ING</a:t>
            </a:r>
            <a:endParaRPr lang="en-US" sz="1000" dirty="0"/>
          </a:p>
        </p:txBody>
      </p:sp>
      <p:sp>
        <p:nvSpPr>
          <p:cNvPr id="45" name="Shape 42"/>
          <p:cNvSpPr/>
          <p:nvPr/>
        </p:nvSpPr>
        <p:spPr>
          <a:xfrm>
            <a:off x="8778240" y="4041648"/>
            <a:ext cx="914400" cy="457200"/>
          </a:xfrm>
          <a:prstGeom prst="rect">
            <a:avLst>
              <a:gd name="adj" fmla="val 10000"/>
            </a:avLst>
          </a:prstGeom>
          <a:solidFill>
            <a:srgbClr val="FFFFFF"/>
          </a:solidFill>
          <a:ln w="12700">
            <a:solidFill>
              <a:srgbClr val="D9D9D6"/>
            </a:solidFill>
            <a:prstDash val="solid"/>
          </a:ln>
        </p:spPr>
      </p:sp>
      <p:sp>
        <p:nvSpPr>
          <p:cNvPr id="46" name="Text 43"/>
          <p:cNvSpPr txBox="1"/>
          <p:nvPr/>
        </p:nvSpPr>
        <p:spPr>
          <a:xfrm>
            <a:off x="8805672" y="4041648"/>
            <a:ext cx="859536" cy="457200"/>
          </a:xfrm>
          <a:prstGeom prst="rect">
            <a:avLst/>
          </a:prstGeom>
          <a:noFill/>
          <a:ln/>
        </p:spPr>
        <p:txBody>
          <a:bodyPr wrap="square" lIns="0" tIns="0" rIns="0" bIns="0" rtlCol="0" anchor="ctr"/>
          <a:lstStyle/>
          <a:p>
            <a:pPr algn="ctr" indent="0" marL="0">
              <a:buNone/>
            </a:pPr>
            <a:r>
              <a:rPr lang="en-US" sz="1000" dirty="0">
                <a:solidFill>
                  <a:srgbClr val="1A1D21"/>
                </a:solidFill>
                <a:latin typeface="Inter" pitchFamily="34" charset="0"/>
                <a:ea typeface="Inter" pitchFamily="34" charset="-122"/>
                <a:cs typeface="Inter" pitchFamily="34" charset="-120"/>
              </a:rPr>
              <a:t>MUFG</a:t>
            </a:r>
            <a:endParaRPr lang="en-US" sz="1000" dirty="0"/>
          </a:p>
        </p:txBody>
      </p:sp>
      <p:sp>
        <p:nvSpPr>
          <p:cNvPr id="47" name="Shape 44"/>
          <p:cNvSpPr/>
          <p:nvPr/>
        </p:nvSpPr>
        <p:spPr>
          <a:xfrm>
            <a:off x="9738360" y="4041648"/>
            <a:ext cx="914400" cy="457200"/>
          </a:xfrm>
          <a:prstGeom prst="rect">
            <a:avLst>
              <a:gd name="adj" fmla="val 10000"/>
            </a:avLst>
          </a:prstGeom>
          <a:solidFill>
            <a:srgbClr val="FFFFFF"/>
          </a:solidFill>
          <a:ln w="12700">
            <a:solidFill>
              <a:srgbClr val="D9D9D6"/>
            </a:solidFill>
            <a:prstDash val="solid"/>
          </a:ln>
        </p:spPr>
      </p:sp>
      <p:sp>
        <p:nvSpPr>
          <p:cNvPr id="48" name="Text 45"/>
          <p:cNvSpPr txBox="1"/>
          <p:nvPr/>
        </p:nvSpPr>
        <p:spPr>
          <a:xfrm>
            <a:off x="9765792" y="4041648"/>
            <a:ext cx="859536" cy="457200"/>
          </a:xfrm>
          <a:prstGeom prst="rect">
            <a:avLst/>
          </a:prstGeom>
          <a:noFill/>
          <a:ln/>
        </p:spPr>
        <p:txBody>
          <a:bodyPr wrap="square" lIns="0" tIns="0" rIns="0" bIns="0" rtlCol="0" anchor="ctr"/>
          <a:lstStyle/>
          <a:p>
            <a:pPr algn="ctr" indent="0" marL="0">
              <a:buNone/>
            </a:pPr>
            <a:r>
              <a:rPr lang="en-US" sz="1000" dirty="0">
                <a:solidFill>
                  <a:srgbClr val="1A1D21"/>
                </a:solidFill>
                <a:latin typeface="Inter" pitchFamily="34" charset="0"/>
                <a:ea typeface="Inter" pitchFamily="34" charset="-122"/>
                <a:cs typeface="Inter" pitchFamily="34" charset="-120"/>
              </a:rPr>
              <a:t>SMBC</a:t>
            </a:r>
            <a:endParaRPr lang="en-US" sz="1000" dirty="0"/>
          </a:p>
        </p:txBody>
      </p:sp>
      <p:sp>
        <p:nvSpPr>
          <p:cNvPr id="49" name="Shape 46"/>
          <p:cNvSpPr/>
          <p:nvPr/>
        </p:nvSpPr>
        <p:spPr>
          <a:xfrm>
            <a:off x="10698480" y="4041648"/>
            <a:ext cx="914400" cy="457200"/>
          </a:xfrm>
          <a:prstGeom prst="rect">
            <a:avLst>
              <a:gd name="adj" fmla="val 10000"/>
            </a:avLst>
          </a:prstGeom>
          <a:solidFill>
            <a:srgbClr val="FFFFFF"/>
          </a:solidFill>
          <a:ln w="12700">
            <a:solidFill>
              <a:srgbClr val="D9D9D6"/>
            </a:solidFill>
            <a:prstDash val="solid"/>
          </a:ln>
        </p:spPr>
      </p:sp>
      <p:sp>
        <p:nvSpPr>
          <p:cNvPr id="50" name="Text 47"/>
          <p:cNvSpPr txBox="1"/>
          <p:nvPr/>
        </p:nvSpPr>
        <p:spPr>
          <a:xfrm>
            <a:off x="10725912" y="4041648"/>
            <a:ext cx="859536" cy="457200"/>
          </a:xfrm>
          <a:prstGeom prst="rect">
            <a:avLst/>
          </a:prstGeom>
          <a:noFill/>
          <a:ln/>
        </p:spPr>
        <p:txBody>
          <a:bodyPr wrap="square" lIns="0" tIns="0" rIns="0" bIns="0" rtlCol="0" anchor="ctr"/>
          <a:lstStyle/>
          <a:p>
            <a:pPr algn="ctr" indent="0" marL="0">
              <a:buNone/>
            </a:pPr>
            <a:r>
              <a:rPr lang="en-US" sz="1000" dirty="0">
                <a:solidFill>
                  <a:srgbClr val="1A1D21"/>
                </a:solidFill>
                <a:latin typeface="Inter" pitchFamily="34" charset="0"/>
                <a:ea typeface="Inter" pitchFamily="34" charset="-122"/>
                <a:cs typeface="Inter" pitchFamily="34" charset="-120"/>
              </a:rPr>
              <a:t>Mizuho</a:t>
            </a:r>
            <a:endParaRPr lang="en-US" sz="1000" dirty="0"/>
          </a:p>
        </p:txBody>
      </p:sp>
      <p:sp>
        <p:nvSpPr>
          <p:cNvPr id="51" name="Text 48"/>
          <p:cNvSpPr txBox="1"/>
          <p:nvPr/>
        </p:nvSpPr>
        <p:spPr>
          <a:xfrm>
            <a:off x="3429000" y="4590288"/>
            <a:ext cx="548640" cy="457200"/>
          </a:xfrm>
          <a:prstGeom prst="rect">
            <a:avLst/>
          </a:prstGeom>
          <a:noFill/>
          <a:ln/>
        </p:spPr>
        <p:txBody>
          <a:bodyPr wrap="square" lIns="0" tIns="0" rIns="0" bIns="0" rtlCol="0" anchor="ctr"/>
          <a:lstStyle/>
          <a:p>
            <a:pPr indent="0" marL="0">
              <a:buNone/>
            </a:pPr>
            <a:r>
              <a:rPr lang="en-US" sz="1100" b="1" dirty="0">
                <a:solidFill>
                  <a:srgbClr val="1A1D21"/>
                </a:solidFill>
                <a:latin typeface="Inter" pitchFamily="34" charset="0"/>
                <a:ea typeface="Inter" pitchFamily="34" charset="-122"/>
                <a:cs typeface="Inter" pitchFamily="34" charset="-120"/>
              </a:rPr>
              <a:t>€375m</a:t>
            </a:r>
            <a:endParaRPr lang="en-US" sz="1100" dirty="0"/>
          </a:p>
        </p:txBody>
      </p:sp>
      <p:sp>
        <p:nvSpPr>
          <p:cNvPr id="52" name="Shape 49"/>
          <p:cNvSpPr/>
          <p:nvPr/>
        </p:nvSpPr>
        <p:spPr>
          <a:xfrm>
            <a:off x="3977640" y="4590288"/>
            <a:ext cx="914400" cy="457200"/>
          </a:xfrm>
          <a:prstGeom prst="rect">
            <a:avLst>
              <a:gd name="adj" fmla="val 10000"/>
            </a:avLst>
          </a:prstGeom>
          <a:solidFill>
            <a:srgbClr val="FFFFFF"/>
          </a:solidFill>
          <a:ln w="12700">
            <a:solidFill>
              <a:srgbClr val="D9D9D6"/>
            </a:solidFill>
            <a:prstDash val="solid"/>
          </a:ln>
        </p:spPr>
      </p:sp>
      <p:sp>
        <p:nvSpPr>
          <p:cNvPr id="53" name="Text 50"/>
          <p:cNvSpPr txBox="1"/>
          <p:nvPr/>
        </p:nvSpPr>
        <p:spPr>
          <a:xfrm>
            <a:off x="4005072" y="4590288"/>
            <a:ext cx="859536" cy="457200"/>
          </a:xfrm>
          <a:prstGeom prst="rect">
            <a:avLst/>
          </a:prstGeom>
          <a:noFill/>
          <a:ln/>
        </p:spPr>
        <p:txBody>
          <a:bodyPr wrap="square" lIns="0" tIns="0" rIns="0" bIns="0" rtlCol="0" anchor="ctr"/>
          <a:lstStyle/>
          <a:p>
            <a:pPr algn="ctr" indent="0" marL="0">
              <a:buNone/>
            </a:pPr>
            <a:r>
              <a:rPr lang="en-US" sz="1000" dirty="0">
                <a:solidFill>
                  <a:srgbClr val="1A1D21"/>
                </a:solidFill>
                <a:latin typeface="Inter" pitchFamily="34" charset="0"/>
                <a:ea typeface="Inter" pitchFamily="34" charset="-122"/>
                <a:cs typeface="Inter" pitchFamily="34" charset="-120"/>
              </a:rPr>
              <a:t>Sabadell</a:t>
            </a:r>
            <a:endParaRPr lang="en-US" sz="1000" dirty="0"/>
          </a:p>
        </p:txBody>
      </p:sp>
      <p:sp>
        <p:nvSpPr>
          <p:cNvPr id="54" name="Shape 51"/>
          <p:cNvSpPr/>
          <p:nvPr/>
        </p:nvSpPr>
        <p:spPr>
          <a:xfrm>
            <a:off x="4937760" y="4590288"/>
            <a:ext cx="914400" cy="457200"/>
          </a:xfrm>
          <a:prstGeom prst="rect">
            <a:avLst>
              <a:gd name="adj" fmla="val 10000"/>
            </a:avLst>
          </a:prstGeom>
          <a:solidFill>
            <a:srgbClr val="FFFFFF"/>
          </a:solidFill>
          <a:ln w="12700">
            <a:solidFill>
              <a:srgbClr val="D9D9D6"/>
            </a:solidFill>
            <a:prstDash val="solid"/>
          </a:ln>
        </p:spPr>
      </p:sp>
      <p:sp>
        <p:nvSpPr>
          <p:cNvPr id="55" name="Text 52"/>
          <p:cNvSpPr txBox="1"/>
          <p:nvPr/>
        </p:nvSpPr>
        <p:spPr>
          <a:xfrm>
            <a:off x="4965192" y="4590288"/>
            <a:ext cx="859536" cy="457200"/>
          </a:xfrm>
          <a:prstGeom prst="rect">
            <a:avLst/>
          </a:prstGeom>
          <a:noFill/>
          <a:ln/>
        </p:spPr>
        <p:txBody>
          <a:bodyPr wrap="square" lIns="0" tIns="0" rIns="0" bIns="0" rtlCol="0" anchor="ctr"/>
          <a:lstStyle/>
          <a:p>
            <a:pPr algn="ctr" indent="0" marL="0">
              <a:buNone/>
            </a:pPr>
            <a:r>
              <a:rPr lang="en-US" sz="950" dirty="0">
                <a:solidFill>
                  <a:srgbClr val="1A1D21"/>
                </a:solidFill>
                <a:latin typeface="Inter" pitchFamily="34" charset="0"/>
                <a:ea typeface="Inter" pitchFamily="34" charset="-122"/>
                <a:cs typeface="Inter" pitchFamily="34" charset="-120"/>
              </a:rPr>
              <a:t>Commerzbank</a:t>
            </a:r>
            <a:endParaRPr lang="en-US" sz="950" dirty="0"/>
          </a:p>
        </p:txBody>
      </p:sp>
      <p:sp>
        <p:nvSpPr>
          <p:cNvPr id="56" name="Shape 53"/>
          <p:cNvSpPr/>
          <p:nvPr/>
        </p:nvSpPr>
        <p:spPr>
          <a:xfrm>
            <a:off x="5897880" y="4590288"/>
            <a:ext cx="914400" cy="457200"/>
          </a:xfrm>
          <a:prstGeom prst="rect">
            <a:avLst>
              <a:gd name="adj" fmla="val 10000"/>
            </a:avLst>
          </a:prstGeom>
          <a:solidFill>
            <a:srgbClr val="FFFFFF"/>
          </a:solidFill>
          <a:ln w="12700">
            <a:solidFill>
              <a:srgbClr val="D9D9D6"/>
            </a:solidFill>
            <a:prstDash val="solid"/>
          </a:ln>
        </p:spPr>
      </p:sp>
      <p:sp>
        <p:nvSpPr>
          <p:cNvPr id="57" name="Text 54"/>
          <p:cNvSpPr txBox="1"/>
          <p:nvPr/>
        </p:nvSpPr>
        <p:spPr>
          <a:xfrm>
            <a:off x="5925312" y="4590288"/>
            <a:ext cx="859536" cy="457200"/>
          </a:xfrm>
          <a:prstGeom prst="rect">
            <a:avLst/>
          </a:prstGeom>
          <a:noFill/>
          <a:ln/>
        </p:spPr>
        <p:txBody>
          <a:bodyPr wrap="square" lIns="0" tIns="0" rIns="0" bIns="0" rtlCol="0" anchor="ctr"/>
          <a:lstStyle/>
          <a:p>
            <a:pPr algn="ctr" indent="0" marL="0">
              <a:buNone/>
            </a:pPr>
            <a:r>
              <a:rPr lang="en-US" sz="1000" dirty="0">
                <a:solidFill>
                  <a:srgbClr val="1A1D21"/>
                </a:solidFill>
                <a:latin typeface="Inter" pitchFamily="34" charset="0"/>
                <a:ea typeface="Inter" pitchFamily="34" charset="-122"/>
                <a:cs typeface="Inter" pitchFamily="34" charset="-120"/>
              </a:rPr>
              <a:t>ABN AMRO</a:t>
            </a:r>
            <a:endParaRPr lang="en-US" sz="1000" dirty="0"/>
          </a:p>
        </p:txBody>
      </p:sp>
      <p:sp>
        <p:nvSpPr>
          <p:cNvPr id="58" name="Shape 55"/>
          <p:cNvSpPr/>
          <p:nvPr/>
        </p:nvSpPr>
        <p:spPr>
          <a:xfrm>
            <a:off x="6858000" y="4590288"/>
            <a:ext cx="914400" cy="457200"/>
          </a:xfrm>
          <a:prstGeom prst="rect">
            <a:avLst>
              <a:gd name="adj" fmla="val 10000"/>
            </a:avLst>
          </a:prstGeom>
          <a:solidFill>
            <a:srgbClr val="FFFFFF"/>
          </a:solidFill>
          <a:ln w="12700">
            <a:solidFill>
              <a:srgbClr val="D9D9D6"/>
            </a:solidFill>
            <a:prstDash val="solid"/>
          </a:ln>
        </p:spPr>
      </p:sp>
      <p:sp>
        <p:nvSpPr>
          <p:cNvPr id="59" name="Text 56"/>
          <p:cNvSpPr txBox="1"/>
          <p:nvPr/>
        </p:nvSpPr>
        <p:spPr>
          <a:xfrm>
            <a:off x="6885432" y="4590288"/>
            <a:ext cx="859536" cy="457200"/>
          </a:xfrm>
          <a:prstGeom prst="rect">
            <a:avLst/>
          </a:prstGeom>
          <a:noFill/>
          <a:ln/>
        </p:spPr>
        <p:txBody>
          <a:bodyPr wrap="square" lIns="0" tIns="0" rIns="0" bIns="0" rtlCol="0" anchor="ctr"/>
          <a:lstStyle/>
          <a:p>
            <a:pPr algn="ctr" indent="0" marL="0">
              <a:buNone/>
            </a:pPr>
            <a:r>
              <a:rPr lang="en-US" sz="1000" dirty="0">
                <a:solidFill>
                  <a:srgbClr val="1A1D21"/>
                </a:solidFill>
                <a:latin typeface="Inter" pitchFamily="34" charset="0"/>
                <a:ea typeface="Inter" pitchFamily="34" charset="-122"/>
                <a:cs typeface="Inter" pitchFamily="34" charset="-120"/>
              </a:rPr>
              <a:t>Rabobank</a:t>
            </a:r>
            <a:endParaRPr lang="en-US" sz="1000" dirty="0"/>
          </a:p>
        </p:txBody>
      </p:sp>
      <p:sp>
        <p:nvSpPr>
          <p:cNvPr id="60" name="Shape 57"/>
          <p:cNvSpPr/>
          <p:nvPr/>
        </p:nvSpPr>
        <p:spPr>
          <a:xfrm>
            <a:off x="7818120" y="4590288"/>
            <a:ext cx="914400" cy="457200"/>
          </a:xfrm>
          <a:prstGeom prst="rect">
            <a:avLst>
              <a:gd name="adj" fmla="val 10000"/>
            </a:avLst>
          </a:prstGeom>
          <a:solidFill>
            <a:srgbClr val="FFFFFF"/>
          </a:solidFill>
          <a:ln w="12700">
            <a:solidFill>
              <a:srgbClr val="D9D9D6"/>
            </a:solidFill>
            <a:prstDash val="solid"/>
          </a:ln>
        </p:spPr>
      </p:sp>
      <p:sp>
        <p:nvSpPr>
          <p:cNvPr id="61" name="Text 58"/>
          <p:cNvSpPr txBox="1"/>
          <p:nvPr/>
        </p:nvSpPr>
        <p:spPr>
          <a:xfrm>
            <a:off x="7845552" y="4590288"/>
            <a:ext cx="859536" cy="457200"/>
          </a:xfrm>
          <a:prstGeom prst="rect">
            <a:avLst/>
          </a:prstGeom>
          <a:noFill/>
          <a:ln/>
        </p:spPr>
        <p:txBody>
          <a:bodyPr wrap="square" lIns="0" tIns="0" rIns="0" bIns="0" rtlCol="0" anchor="ctr"/>
          <a:lstStyle/>
          <a:p>
            <a:pPr algn="ctr" indent="0" marL="0">
              <a:buNone/>
            </a:pPr>
            <a:r>
              <a:rPr lang="en-US" sz="1000" dirty="0">
                <a:solidFill>
                  <a:srgbClr val="1A1D21"/>
                </a:solidFill>
                <a:latin typeface="Inter" pitchFamily="34" charset="0"/>
                <a:ea typeface="Inter" pitchFamily="34" charset="-122"/>
                <a:cs typeface="Inter" pitchFamily="34" charset="-120"/>
              </a:rPr>
              <a:t>Lloyds</a:t>
            </a:r>
            <a:endParaRPr lang="en-US" sz="1000" dirty="0"/>
          </a:p>
        </p:txBody>
      </p:sp>
      <p:sp>
        <p:nvSpPr>
          <p:cNvPr id="62" name="Shape 59"/>
          <p:cNvSpPr/>
          <p:nvPr/>
        </p:nvSpPr>
        <p:spPr>
          <a:xfrm>
            <a:off x="8778240" y="4590288"/>
            <a:ext cx="914400" cy="457200"/>
          </a:xfrm>
          <a:prstGeom prst="rect">
            <a:avLst>
              <a:gd name="adj" fmla="val 10000"/>
            </a:avLst>
          </a:prstGeom>
          <a:solidFill>
            <a:srgbClr val="FFFFFF"/>
          </a:solidFill>
          <a:ln w="12700">
            <a:solidFill>
              <a:srgbClr val="D9D9D6"/>
            </a:solidFill>
            <a:prstDash val="solid"/>
          </a:ln>
        </p:spPr>
      </p:sp>
      <p:sp>
        <p:nvSpPr>
          <p:cNvPr id="63" name="Text 60"/>
          <p:cNvSpPr txBox="1"/>
          <p:nvPr/>
        </p:nvSpPr>
        <p:spPr>
          <a:xfrm>
            <a:off x="8805672" y="4590288"/>
            <a:ext cx="859536" cy="457200"/>
          </a:xfrm>
          <a:prstGeom prst="rect">
            <a:avLst/>
          </a:prstGeom>
          <a:noFill/>
          <a:ln/>
        </p:spPr>
        <p:txBody>
          <a:bodyPr wrap="square" lIns="0" tIns="0" rIns="0" bIns="0" rtlCol="0" anchor="ctr"/>
          <a:lstStyle/>
          <a:p>
            <a:pPr algn="ctr" indent="0" marL="0">
              <a:buNone/>
            </a:pPr>
            <a:r>
              <a:rPr lang="en-US" sz="1000" dirty="0">
                <a:solidFill>
                  <a:srgbClr val="1A1D21"/>
                </a:solidFill>
                <a:latin typeface="Inter" pitchFamily="34" charset="0"/>
                <a:ea typeface="Inter" pitchFamily="34" charset="-122"/>
                <a:cs typeface="Inter" pitchFamily="34" charset="-120"/>
              </a:rPr>
              <a:t>NatWest</a:t>
            </a:r>
            <a:endParaRPr lang="en-US" sz="1000" dirty="0"/>
          </a:p>
        </p:txBody>
      </p:sp>
      <p:sp>
        <p:nvSpPr>
          <p:cNvPr id="64" name="Shape 61"/>
          <p:cNvSpPr/>
          <p:nvPr/>
        </p:nvSpPr>
        <p:spPr>
          <a:xfrm>
            <a:off x="9738360" y="4590288"/>
            <a:ext cx="914400" cy="457200"/>
          </a:xfrm>
          <a:prstGeom prst="rect">
            <a:avLst>
              <a:gd name="adj" fmla="val 10000"/>
            </a:avLst>
          </a:prstGeom>
          <a:solidFill>
            <a:srgbClr val="FFFFFF"/>
          </a:solidFill>
          <a:ln w="12700">
            <a:solidFill>
              <a:srgbClr val="D9D9D6"/>
            </a:solidFill>
            <a:prstDash val="solid"/>
          </a:ln>
        </p:spPr>
      </p:sp>
      <p:sp>
        <p:nvSpPr>
          <p:cNvPr id="65" name="Text 62"/>
          <p:cNvSpPr txBox="1"/>
          <p:nvPr/>
        </p:nvSpPr>
        <p:spPr>
          <a:xfrm>
            <a:off x="9765792" y="4590288"/>
            <a:ext cx="859536" cy="457200"/>
          </a:xfrm>
          <a:prstGeom prst="rect">
            <a:avLst/>
          </a:prstGeom>
          <a:noFill/>
          <a:ln/>
        </p:spPr>
        <p:txBody>
          <a:bodyPr wrap="square" lIns="0" tIns="0" rIns="0" bIns="0" rtlCol="0" anchor="ctr"/>
          <a:lstStyle/>
          <a:p>
            <a:pPr algn="ctr" indent="0" marL="0">
              <a:buNone/>
            </a:pPr>
            <a:r>
              <a:rPr lang="en-US" sz="1000" dirty="0">
                <a:solidFill>
                  <a:srgbClr val="1A1D21"/>
                </a:solidFill>
                <a:latin typeface="Inter" pitchFamily="34" charset="0"/>
                <a:ea typeface="Inter" pitchFamily="34" charset="-122"/>
                <a:cs typeface="Inter" pitchFamily="34" charset="-120"/>
              </a:rPr>
              <a:t>ICBC</a:t>
            </a:r>
            <a:endParaRPr lang="en-US" sz="1000" dirty="0"/>
          </a:p>
        </p:txBody>
      </p:sp>
      <p:sp>
        <p:nvSpPr>
          <p:cNvPr id="66" name="Shape 63"/>
          <p:cNvSpPr/>
          <p:nvPr/>
        </p:nvSpPr>
        <p:spPr>
          <a:xfrm>
            <a:off x="10698480" y="4590288"/>
            <a:ext cx="914400" cy="457200"/>
          </a:xfrm>
          <a:prstGeom prst="rect">
            <a:avLst>
              <a:gd name="adj" fmla="val 10000"/>
            </a:avLst>
          </a:prstGeom>
          <a:solidFill>
            <a:srgbClr val="FFFFFF"/>
          </a:solidFill>
          <a:ln w="12700">
            <a:solidFill>
              <a:srgbClr val="D9D9D6"/>
            </a:solidFill>
            <a:prstDash val="solid"/>
          </a:ln>
        </p:spPr>
      </p:sp>
      <p:sp>
        <p:nvSpPr>
          <p:cNvPr id="67" name="Text 64"/>
          <p:cNvSpPr txBox="1"/>
          <p:nvPr/>
        </p:nvSpPr>
        <p:spPr>
          <a:xfrm>
            <a:off x="10725912" y="4590288"/>
            <a:ext cx="859536" cy="457200"/>
          </a:xfrm>
          <a:prstGeom prst="rect">
            <a:avLst/>
          </a:prstGeom>
          <a:noFill/>
          <a:ln/>
        </p:spPr>
        <p:txBody>
          <a:bodyPr wrap="square" lIns="0" tIns="0" rIns="0" bIns="0" rtlCol="0" anchor="ctr"/>
          <a:lstStyle/>
          <a:p>
            <a:pPr algn="ctr" indent="0" marL="0">
              <a:buNone/>
            </a:pPr>
            <a:r>
              <a:rPr lang="en-US" sz="1000" dirty="0">
                <a:solidFill>
                  <a:srgbClr val="1A1D21"/>
                </a:solidFill>
                <a:latin typeface="Inter" pitchFamily="34" charset="0"/>
                <a:ea typeface="Inter" pitchFamily="34" charset="-122"/>
                <a:cs typeface="Inter" pitchFamily="34" charset="-120"/>
              </a:rPr>
              <a:t>CIC</a:t>
            </a:r>
            <a:endParaRPr lang="en-US" sz="1000" dirty="0"/>
          </a:p>
        </p:txBody>
      </p:sp>
      <p:sp>
        <p:nvSpPr>
          <p:cNvPr id="68" name="Text 65"/>
          <p:cNvSpPr txBox="1"/>
          <p:nvPr/>
        </p:nvSpPr>
        <p:spPr>
          <a:xfrm>
            <a:off x="3429000" y="5138928"/>
            <a:ext cx="548640" cy="457200"/>
          </a:xfrm>
          <a:prstGeom prst="rect">
            <a:avLst/>
          </a:prstGeom>
          <a:noFill/>
          <a:ln/>
        </p:spPr>
        <p:txBody>
          <a:bodyPr wrap="square" lIns="0" tIns="0" rIns="0" bIns="0" rtlCol="0" anchor="ctr"/>
          <a:lstStyle/>
          <a:p>
            <a:pPr indent="0" marL="0">
              <a:buNone/>
            </a:pPr>
            <a:r>
              <a:rPr lang="en-US" sz="1100" b="1" dirty="0">
                <a:solidFill>
                  <a:srgbClr val="1A1D21"/>
                </a:solidFill>
                <a:latin typeface="Inter" pitchFamily="34" charset="0"/>
                <a:ea typeface="Inter" pitchFamily="34" charset="-122"/>
                <a:cs typeface="Inter" pitchFamily="34" charset="-120"/>
              </a:rPr>
              <a:t>€235m</a:t>
            </a:r>
            <a:endParaRPr lang="en-US" sz="1100" dirty="0"/>
          </a:p>
        </p:txBody>
      </p:sp>
      <p:sp>
        <p:nvSpPr>
          <p:cNvPr id="69" name="Shape 66"/>
          <p:cNvSpPr/>
          <p:nvPr/>
        </p:nvSpPr>
        <p:spPr>
          <a:xfrm>
            <a:off x="3977640" y="5138928"/>
            <a:ext cx="914400" cy="457200"/>
          </a:xfrm>
          <a:prstGeom prst="rect">
            <a:avLst>
              <a:gd name="adj" fmla="val 10000"/>
            </a:avLst>
          </a:prstGeom>
          <a:solidFill>
            <a:srgbClr val="FFFFFF"/>
          </a:solidFill>
          <a:ln w="12700">
            <a:solidFill>
              <a:srgbClr val="D9D9D6"/>
            </a:solidFill>
            <a:prstDash val="solid"/>
          </a:ln>
        </p:spPr>
      </p:sp>
      <p:sp>
        <p:nvSpPr>
          <p:cNvPr id="70" name="Text 67"/>
          <p:cNvSpPr txBox="1"/>
          <p:nvPr/>
        </p:nvSpPr>
        <p:spPr>
          <a:xfrm>
            <a:off x="4005072" y="5138928"/>
            <a:ext cx="859536" cy="457200"/>
          </a:xfrm>
          <a:prstGeom prst="rect">
            <a:avLst/>
          </a:prstGeom>
          <a:noFill/>
          <a:ln/>
        </p:spPr>
        <p:txBody>
          <a:bodyPr wrap="square" lIns="0" tIns="0" rIns="0" bIns="0" rtlCol="0" anchor="ctr"/>
          <a:lstStyle/>
          <a:p>
            <a:pPr algn="ctr" indent="0" marL="0">
              <a:buNone/>
            </a:pPr>
            <a:r>
              <a:rPr lang="en-US" sz="1000" dirty="0">
                <a:solidFill>
                  <a:srgbClr val="1A1D21"/>
                </a:solidFill>
                <a:latin typeface="Inter" pitchFamily="34" charset="0"/>
                <a:ea typeface="Inter" pitchFamily="34" charset="-122"/>
                <a:cs typeface="Inter" pitchFamily="34" charset="-120"/>
              </a:rPr>
              <a:t>Bankinter</a:t>
            </a:r>
            <a:endParaRPr lang="en-US" sz="1000" dirty="0"/>
          </a:p>
        </p:txBody>
      </p:sp>
      <p:sp>
        <p:nvSpPr>
          <p:cNvPr id="71" name="Shape 68"/>
          <p:cNvSpPr/>
          <p:nvPr/>
        </p:nvSpPr>
        <p:spPr>
          <a:xfrm>
            <a:off x="4937760" y="5138928"/>
            <a:ext cx="914400" cy="457200"/>
          </a:xfrm>
          <a:prstGeom prst="rect">
            <a:avLst>
              <a:gd name="adj" fmla="val 10000"/>
            </a:avLst>
          </a:prstGeom>
          <a:solidFill>
            <a:srgbClr val="FFFFFF"/>
          </a:solidFill>
          <a:ln w="12700">
            <a:solidFill>
              <a:srgbClr val="D9D9D6"/>
            </a:solidFill>
            <a:prstDash val="solid"/>
          </a:ln>
        </p:spPr>
      </p:sp>
      <p:sp>
        <p:nvSpPr>
          <p:cNvPr id="72" name="Text 69"/>
          <p:cNvSpPr txBox="1"/>
          <p:nvPr/>
        </p:nvSpPr>
        <p:spPr>
          <a:xfrm>
            <a:off x="4965192" y="5138928"/>
            <a:ext cx="859536" cy="457200"/>
          </a:xfrm>
          <a:prstGeom prst="rect">
            <a:avLst/>
          </a:prstGeom>
          <a:noFill/>
          <a:ln/>
        </p:spPr>
        <p:txBody>
          <a:bodyPr wrap="square" lIns="0" tIns="0" rIns="0" bIns="0" rtlCol="0" anchor="ctr"/>
          <a:lstStyle/>
          <a:p>
            <a:pPr algn="ctr" indent="0" marL="0">
              <a:buNone/>
            </a:pPr>
            <a:r>
              <a:rPr lang="en-US" sz="1000" dirty="0">
                <a:solidFill>
                  <a:srgbClr val="1A1D21"/>
                </a:solidFill>
                <a:latin typeface="Inter" pitchFamily="34" charset="0"/>
                <a:ea typeface="Inter" pitchFamily="34" charset="-122"/>
                <a:cs typeface="Inter" pitchFamily="34" charset="-120"/>
              </a:rPr>
              <a:t>Abanca</a:t>
            </a:r>
            <a:endParaRPr lang="en-US" sz="1000" dirty="0"/>
          </a:p>
        </p:txBody>
      </p:sp>
      <p:sp>
        <p:nvSpPr>
          <p:cNvPr id="73" name="Shape 70"/>
          <p:cNvSpPr/>
          <p:nvPr/>
        </p:nvSpPr>
        <p:spPr>
          <a:xfrm>
            <a:off x="5897880" y="5138928"/>
            <a:ext cx="914400" cy="457200"/>
          </a:xfrm>
          <a:prstGeom prst="rect">
            <a:avLst>
              <a:gd name="adj" fmla="val 10000"/>
            </a:avLst>
          </a:prstGeom>
          <a:solidFill>
            <a:srgbClr val="FFFFFF"/>
          </a:solidFill>
          <a:ln w="12700">
            <a:solidFill>
              <a:srgbClr val="D9D9D6"/>
            </a:solidFill>
            <a:prstDash val="solid"/>
          </a:ln>
        </p:spPr>
      </p:sp>
      <p:sp>
        <p:nvSpPr>
          <p:cNvPr id="74" name="Text 71"/>
          <p:cNvSpPr txBox="1"/>
          <p:nvPr/>
        </p:nvSpPr>
        <p:spPr>
          <a:xfrm>
            <a:off x="5925312" y="5138928"/>
            <a:ext cx="859536" cy="457200"/>
          </a:xfrm>
          <a:prstGeom prst="rect">
            <a:avLst/>
          </a:prstGeom>
          <a:noFill/>
          <a:ln/>
        </p:spPr>
        <p:txBody>
          <a:bodyPr wrap="square" lIns="0" tIns="0" rIns="0" bIns="0" rtlCol="0" anchor="ctr"/>
          <a:lstStyle/>
          <a:p>
            <a:pPr algn="ctr" indent="0" marL="0">
              <a:buNone/>
            </a:pPr>
            <a:r>
              <a:rPr lang="en-US" sz="1000" dirty="0">
                <a:solidFill>
                  <a:srgbClr val="1A1D21"/>
                </a:solidFill>
                <a:latin typeface="Inter" pitchFamily="34" charset="0"/>
                <a:ea typeface="Inter" pitchFamily="34" charset="-122"/>
                <a:cs typeface="Inter" pitchFamily="34" charset="-120"/>
              </a:rPr>
              <a:t>Helaba</a:t>
            </a:r>
            <a:endParaRPr lang="en-US" sz="1000" dirty="0"/>
          </a:p>
        </p:txBody>
      </p:sp>
      <p:sp>
        <p:nvSpPr>
          <p:cNvPr id="75" name="Shape 72"/>
          <p:cNvSpPr/>
          <p:nvPr/>
        </p:nvSpPr>
        <p:spPr>
          <a:xfrm>
            <a:off x="6858000" y="5138928"/>
            <a:ext cx="914400" cy="457200"/>
          </a:xfrm>
          <a:prstGeom prst="rect">
            <a:avLst>
              <a:gd name="adj" fmla="val 10000"/>
            </a:avLst>
          </a:prstGeom>
          <a:solidFill>
            <a:srgbClr val="FFFFFF"/>
          </a:solidFill>
          <a:ln w="12700">
            <a:solidFill>
              <a:srgbClr val="D9D9D6"/>
            </a:solidFill>
            <a:prstDash val="solid"/>
          </a:ln>
        </p:spPr>
      </p:sp>
      <p:sp>
        <p:nvSpPr>
          <p:cNvPr id="76" name="Text 73"/>
          <p:cNvSpPr txBox="1"/>
          <p:nvPr/>
        </p:nvSpPr>
        <p:spPr>
          <a:xfrm>
            <a:off x="6885432" y="5138928"/>
            <a:ext cx="859536" cy="457200"/>
          </a:xfrm>
          <a:prstGeom prst="rect">
            <a:avLst/>
          </a:prstGeom>
          <a:noFill/>
          <a:ln/>
        </p:spPr>
        <p:txBody>
          <a:bodyPr wrap="square" lIns="0" tIns="0" rIns="0" bIns="0" rtlCol="0" anchor="ctr"/>
          <a:lstStyle/>
          <a:p>
            <a:pPr algn="ctr" indent="0" marL="0">
              <a:buNone/>
            </a:pPr>
            <a:r>
              <a:rPr lang="en-US" sz="1000" dirty="0">
                <a:solidFill>
                  <a:srgbClr val="1A1D21"/>
                </a:solidFill>
                <a:latin typeface="Inter" pitchFamily="34" charset="0"/>
                <a:ea typeface="Inter" pitchFamily="34" charset="-122"/>
                <a:cs typeface="Inter" pitchFamily="34" charset="-120"/>
              </a:rPr>
              <a:t>SEB</a:t>
            </a:r>
            <a:endParaRPr lang="en-US" sz="1000" dirty="0"/>
          </a:p>
        </p:txBody>
      </p:sp>
      <p:sp>
        <p:nvSpPr>
          <p:cNvPr id="77" name="Shape 74"/>
          <p:cNvSpPr/>
          <p:nvPr/>
        </p:nvSpPr>
        <p:spPr>
          <a:xfrm>
            <a:off x="7818120" y="5138928"/>
            <a:ext cx="914400" cy="457200"/>
          </a:xfrm>
          <a:prstGeom prst="rect">
            <a:avLst>
              <a:gd name="adj" fmla="val 10000"/>
            </a:avLst>
          </a:prstGeom>
          <a:solidFill>
            <a:srgbClr val="FFFFFF"/>
          </a:solidFill>
          <a:ln w="12700">
            <a:solidFill>
              <a:srgbClr val="D9D9D6"/>
            </a:solidFill>
            <a:prstDash val="solid"/>
          </a:ln>
        </p:spPr>
      </p:sp>
      <p:sp>
        <p:nvSpPr>
          <p:cNvPr id="78" name="Text 75"/>
          <p:cNvSpPr txBox="1"/>
          <p:nvPr/>
        </p:nvSpPr>
        <p:spPr>
          <a:xfrm>
            <a:off x="7845552" y="5138928"/>
            <a:ext cx="859536" cy="457200"/>
          </a:xfrm>
          <a:prstGeom prst="rect">
            <a:avLst/>
          </a:prstGeom>
          <a:noFill/>
          <a:ln/>
        </p:spPr>
        <p:txBody>
          <a:bodyPr wrap="square" lIns="0" tIns="0" rIns="0" bIns="0" rtlCol="0" anchor="ctr"/>
          <a:lstStyle/>
          <a:p>
            <a:pPr algn="ctr" indent="0" marL="0">
              <a:buNone/>
            </a:pPr>
            <a:r>
              <a:rPr lang="en-US" sz="1000" dirty="0">
                <a:solidFill>
                  <a:srgbClr val="1A1D21"/>
                </a:solidFill>
                <a:latin typeface="Inter" pitchFamily="34" charset="0"/>
                <a:ea typeface="Inter" pitchFamily="34" charset="-122"/>
                <a:cs typeface="Inter" pitchFamily="34" charset="-120"/>
              </a:rPr>
              <a:t>Mediobanca</a:t>
            </a:r>
            <a:endParaRPr lang="en-US" sz="1000" dirty="0"/>
          </a:p>
        </p:txBody>
      </p:sp>
      <p:sp>
        <p:nvSpPr>
          <p:cNvPr id="79" name="Shape 76"/>
          <p:cNvSpPr/>
          <p:nvPr/>
        </p:nvSpPr>
        <p:spPr>
          <a:xfrm>
            <a:off x="8778240" y="5138928"/>
            <a:ext cx="914400" cy="457200"/>
          </a:xfrm>
          <a:prstGeom prst="rect">
            <a:avLst>
              <a:gd name="adj" fmla="val 10000"/>
            </a:avLst>
          </a:prstGeom>
          <a:solidFill>
            <a:srgbClr val="FFFFFF"/>
          </a:solidFill>
          <a:ln w="12700">
            <a:solidFill>
              <a:srgbClr val="D9D9D6"/>
            </a:solidFill>
            <a:prstDash val="solid"/>
          </a:ln>
        </p:spPr>
      </p:sp>
      <p:sp>
        <p:nvSpPr>
          <p:cNvPr id="80" name="Text 77"/>
          <p:cNvSpPr txBox="1"/>
          <p:nvPr/>
        </p:nvSpPr>
        <p:spPr>
          <a:xfrm>
            <a:off x="8805672" y="5138928"/>
            <a:ext cx="859536" cy="457200"/>
          </a:xfrm>
          <a:prstGeom prst="rect">
            <a:avLst/>
          </a:prstGeom>
          <a:noFill/>
          <a:ln/>
        </p:spPr>
        <p:txBody>
          <a:bodyPr wrap="square" lIns="0" tIns="0" rIns="0" bIns="0" rtlCol="0" anchor="ctr"/>
          <a:lstStyle/>
          <a:p>
            <a:pPr algn="ctr" indent="0" marL="0">
              <a:buNone/>
            </a:pPr>
            <a:r>
              <a:rPr lang="en-US" sz="950" dirty="0">
                <a:solidFill>
                  <a:srgbClr val="1A1D21"/>
                </a:solidFill>
                <a:latin typeface="Inter" pitchFamily="34" charset="0"/>
                <a:ea typeface="Inter" pitchFamily="34" charset="-122"/>
                <a:cs typeface="Inter" pitchFamily="34" charset="-120"/>
              </a:rPr>
              <a:t>Banque Postale</a:t>
            </a:r>
            <a:endParaRPr lang="en-US" sz="950" dirty="0"/>
          </a:p>
        </p:txBody>
      </p:sp>
      <p:sp>
        <p:nvSpPr>
          <p:cNvPr id="81" name="Shape 78"/>
          <p:cNvSpPr/>
          <p:nvPr/>
        </p:nvSpPr>
        <p:spPr>
          <a:xfrm>
            <a:off x="9738360" y="5138928"/>
            <a:ext cx="914400" cy="457200"/>
          </a:xfrm>
          <a:prstGeom prst="rect">
            <a:avLst>
              <a:gd name="adj" fmla="val 10000"/>
            </a:avLst>
          </a:prstGeom>
          <a:solidFill>
            <a:srgbClr val="FFFFFF"/>
          </a:solidFill>
          <a:ln w="12700">
            <a:solidFill>
              <a:srgbClr val="D9D9D6"/>
            </a:solidFill>
            <a:prstDash val="solid"/>
          </a:ln>
        </p:spPr>
      </p:sp>
      <p:sp>
        <p:nvSpPr>
          <p:cNvPr id="82" name="Text 79"/>
          <p:cNvSpPr txBox="1"/>
          <p:nvPr/>
        </p:nvSpPr>
        <p:spPr>
          <a:xfrm>
            <a:off x="9765792" y="5138928"/>
            <a:ext cx="859536" cy="457200"/>
          </a:xfrm>
          <a:prstGeom prst="rect">
            <a:avLst/>
          </a:prstGeom>
          <a:noFill/>
          <a:ln/>
        </p:spPr>
        <p:txBody>
          <a:bodyPr wrap="square" lIns="0" tIns="0" rIns="0" bIns="0" rtlCol="0" anchor="ctr"/>
          <a:lstStyle/>
          <a:p>
            <a:pPr algn="ctr" indent="0" marL="0">
              <a:buNone/>
            </a:pPr>
            <a:r>
              <a:rPr lang="en-US" sz="950" dirty="0">
                <a:solidFill>
                  <a:srgbClr val="1A1D21"/>
                </a:solidFill>
                <a:latin typeface="Inter" pitchFamily="34" charset="0"/>
                <a:ea typeface="Inter" pitchFamily="34" charset="-122"/>
                <a:cs typeface="Inter" pitchFamily="34" charset="-120"/>
              </a:rPr>
              <a:t>Bank of Ireland</a:t>
            </a:r>
            <a:endParaRPr lang="en-US" sz="950" dirty="0"/>
          </a:p>
        </p:txBody>
      </p:sp>
      <p:sp>
        <p:nvSpPr>
          <p:cNvPr id="83" name="Shape 80"/>
          <p:cNvSpPr/>
          <p:nvPr/>
        </p:nvSpPr>
        <p:spPr>
          <a:xfrm>
            <a:off x="10698480" y="5138928"/>
            <a:ext cx="914400" cy="457200"/>
          </a:xfrm>
          <a:prstGeom prst="rect">
            <a:avLst>
              <a:gd name="adj" fmla="val 10000"/>
            </a:avLst>
          </a:prstGeom>
          <a:solidFill>
            <a:srgbClr val="FFFFFF"/>
          </a:solidFill>
          <a:ln w="12700">
            <a:solidFill>
              <a:srgbClr val="D9D9D6"/>
            </a:solidFill>
            <a:prstDash val="solid"/>
          </a:ln>
        </p:spPr>
      </p:sp>
      <p:sp>
        <p:nvSpPr>
          <p:cNvPr id="84" name="Text 81"/>
          <p:cNvSpPr txBox="1"/>
          <p:nvPr/>
        </p:nvSpPr>
        <p:spPr>
          <a:xfrm>
            <a:off x="10725912" y="5138928"/>
            <a:ext cx="859536" cy="457200"/>
          </a:xfrm>
          <a:prstGeom prst="rect">
            <a:avLst/>
          </a:prstGeom>
          <a:noFill/>
          <a:ln/>
        </p:spPr>
        <p:txBody>
          <a:bodyPr wrap="square" lIns="0" tIns="0" rIns="0" bIns="0" rtlCol="0" anchor="ctr"/>
          <a:lstStyle/>
          <a:p>
            <a:pPr algn="ctr" indent="0" marL="0">
              <a:buNone/>
            </a:pPr>
            <a:r>
              <a:rPr lang="en-US" sz="1000" dirty="0">
                <a:solidFill>
                  <a:srgbClr val="1A1D21"/>
                </a:solidFill>
                <a:latin typeface="Inter" pitchFamily="34" charset="0"/>
                <a:ea typeface="Inter" pitchFamily="34" charset="-122"/>
                <a:cs typeface="Inter" pitchFamily="34" charset="-120"/>
              </a:rPr>
              <a:t>Investec</a:t>
            </a:r>
            <a:endParaRPr lang="en-US" sz="1000" dirty="0"/>
          </a:p>
        </p:txBody>
      </p:sp>
      <p:sp>
        <p:nvSpPr>
          <p:cNvPr id="85" name="Text 82"/>
          <p:cNvSpPr txBox="1"/>
          <p:nvPr/>
        </p:nvSpPr>
        <p:spPr>
          <a:xfrm>
            <a:off x="548640" y="6327648"/>
            <a:ext cx="7863840" cy="228600"/>
          </a:xfrm>
          <a:prstGeom prst="rect">
            <a:avLst/>
          </a:prstGeom>
          <a:noFill/>
          <a:ln/>
        </p:spPr>
        <p:txBody>
          <a:bodyPr wrap="square" lIns="0" tIns="0" rIns="0" bIns="0" rtlCol="0" anchor="t"/>
          <a:lstStyle/>
          <a:p>
            <a:pPr indent="0" marL="0">
              <a:buNone/>
            </a:pPr>
            <a:r>
              <a:rPr lang="en-US" sz="900" dirty="0">
                <a:solidFill>
                  <a:srgbClr val="6E7378"/>
                </a:solidFill>
                <a:latin typeface="Inter" pitchFamily="34" charset="0"/>
                <a:ea typeface="Inter" pitchFamily="34" charset="-122"/>
                <a:cs typeface="Inter" pitchFamily="34" charset="-120"/>
              </a:rPr>
              <a:t>Propuesta de Herrera Lázaro Pérez Partners sobre los importes del modelo LBO definitivo.</a:t>
            </a:r>
            <a:endParaRPr lang="en-US" sz="900" dirty="0"/>
          </a:p>
        </p:txBody>
      </p:sp>
      <p:sp>
        <p:nvSpPr>
          <p:cNvPr id="86" name="Text 83"/>
          <p:cNvSpPr txBox="1"/>
          <p:nvPr/>
        </p:nvSpPr>
        <p:spPr>
          <a:xfrm>
            <a:off x="8595360" y="6327648"/>
            <a:ext cx="3044952" cy="228600"/>
          </a:xfrm>
          <a:prstGeom prst="rect">
            <a:avLst/>
          </a:prstGeom>
          <a:noFill/>
          <a:ln/>
        </p:spPr>
        <p:txBody>
          <a:bodyPr wrap="square" lIns="0" tIns="0" rIns="0" bIns="0" rtlCol="0" anchor="t"/>
          <a:lstStyle/>
          <a:p>
            <a:pPr algn="r" indent="0" marL="0">
              <a:buNone/>
            </a:pPr>
            <a:r>
              <a:rPr lang="en-US" sz="900" dirty="0">
                <a:solidFill>
                  <a:srgbClr val="6E7378"/>
                </a:solidFill>
                <a:latin typeface="Inter" pitchFamily="34" charset="0"/>
                <a:ea typeface="Inter" pitchFamily="34" charset="-122"/>
                <a:cs typeface="Inter" pitchFamily="34" charset="-120"/>
              </a:rPr>
              <a:t>Project Galicia  ·  Estrictamente confidencial  ·  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47472"/>
            <a:ext cx="8229600" cy="228600"/>
          </a:xfrm>
          <a:prstGeom prst="rect">
            <a:avLst/>
          </a:prstGeom>
          <a:noFill/>
          <a:ln/>
        </p:spPr>
        <p:txBody>
          <a:bodyPr wrap="square" lIns="0" tIns="0" rIns="0" bIns="0" rtlCol="0" anchor="t"/>
          <a:lstStyle/>
          <a:p>
            <a:pPr indent="0" marL="0">
              <a:buNone/>
            </a:pPr>
            <a:r>
              <a:rPr lang="en-US" sz="1100" b="1" spc="200" kern="0" dirty="0">
                <a:solidFill>
                  <a:srgbClr val="1F4B3F"/>
                </a:solidFill>
                <a:latin typeface="Inter" pitchFamily="34" charset="0"/>
                <a:ea typeface="Inter" pitchFamily="34" charset="-122"/>
                <a:cs typeface="Inter" pitchFamily="34" charset="-120"/>
              </a:rPr>
              <a:t>04  FINANCIADORES</a:t>
            </a:r>
            <a:endParaRPr lang="en-US" sz="1100" dirty="0"/>
          </a:p>
        </p:txBody>
      </p:sp>
      <p:pic>
        <p:nvPicPr>
          <p:cNvPr id="3" name="Image 0" descr="/tmp/claude-0/-home-claude/8d7de6a3-f167-5c95-8bc2-67944307bfd8/scratchpad/canva/img/HLP_monograma.png">    </p:cNvPr>
          <p:cNvPicPr>
            <a:picLocks noChangeAspect="1"/>
          </p:cNvPicPr>
          <p:nvPr/>
        </p:nvPicPr>
        <p:blipFill>
          <a:blip r:embed="rId1"/>
          <a:stretch>
            <a:fillRect/>
          </a:stretch>
        </p:blipFill>
        <p:spPr>
          <a:xfrm>
            <a:off x="11228832" y="310896"/>
            <a:ext cx="411480" cy="411480"/>
          </a:xfrm>
          <a:prstGeom prst="rect">
            <a:avLst/>
          </a:prstGeom>
        </p:spPr>
      </p:pic>
      <p:sp>
        <p:nvSpPr>
          <p:cNvPr id="4" name="Text 1"/>
          <p:cNvSpPr txBox="1"/>
          <p:nvPr/>
        </p:nvSpPr>
        <p:spPr>
          <a:xfrm>
            <a:off x="548640" y="603504"/>
            <a:ext cx="10515600" cy="822960"/>
          </a:xfrm>
          <a:prstGeom prst="rect">
            <a:avLst/>
          </a:prstGeom>
          <a:noFill/>
          <a:ln/>
        </p:spPr>
        <p:txBody>
          <a:bodyPr wrap="square" lIns="0" tIns="0" rIns="0" bIns="0" rtlCol="0" anchor="t"/>
          <a:lstStyle/>
          <a:p>
            <a:pPr indent="0" marL="0">
              <a:lnSpc>
                <a:spcPct val="95000"/>
              </a:lnSpc>
              <a:buNone/>
            </a:pPr>
            <a:r>
              <a:rPr lang="en-US" sz="2500" dirty="0">
                <a:solidFill>
                  <a:srgbClr val="1A1D21"/>
                </a:solidFill>
                <a:latin typeface="Lora" pitchFamily="34" charset="0"/>
                <a:ea typeface="Lora" pitchFamily="34" charset="-122"/>
                <a:cs typeface="Lora" pitchFamily="34" charset="-120"/>
              </a:rPr>
              <a:t>El TLB va al mercado institucional y la mezzanine la pone un club de nueve fondos de crédito</a:t>
            </a:r>
            <a:endParaRPr lang="en-US" sz="2500" dirty="0"/>
          </a:p>
        </p:txBody>
      </p:sp>
      <p:sp>
        <p:nvSpPr>
          <p:cNvPr id="5" name="Text 2"/>
          <p:cNvSpPr txBox="1"/>
          <p:nvPr/>
        </p:nvSpPr>
        <p:spPr>
          <a:xfrm>
            <a:off x="548640" y="1572768"/>
            <a:ext cx="5486400" cy="228600"/>
          </a:xfrm>
          <a:prstGeom prst="rect">
            <a:avLst/>
          </a:prstGeom>
          <a:noFill/>
          <a:ln/>
        </p:spPr>
        <p:txBody>
          <a:bodyPr wrap="square" lIns="0" tIns="0" rIns="0" bIns="0" rtlCol="0" anchor="t"/>
          <a:lstStyle/>
          <a:p>
            <a:pPr indent="0" marL="0">
              <a:buNone/>
            </a:pPr>
            <a:r>
              <a:rPr lang="en-US" sz="1100" b="1" spc="100" kern="0" dirty="0">
                <a:solidFill>
                  <a:srgbClr val="1F4B3F"/>
                </a:solidFill>
                <a:latin typeface="Inter" pitchFamily="34" charset="0"/>
                <a:ea typeface="Inter" pitchFamily="34" charset="-122"/>
                <a:cs typeface="Inter" pitchFamily="34" charset="-120"/>
              </a:rPr>
              <a:t>TLB Y BONOS · €33.016m</a:t>
            </a:r>
            <a:endParaRPr lang="en-US" sz="1100" dirty="0"/>
          </a:p>
        </p:txBody>
      </p:sp>
      <p:sp>
        <p:nvSpPr>
          <p:cNvPr id="6" name="Shape 3"/>
          <p:cNvSpPr/>
          <p:nvPr/>
        </p:nvSpPr>
        <p:spPr>
          <a:xfrm>
            <a:off x="548640" y="1874520"/>
            <a:ext cx="2127027" cy="502920"/>
          </a:xfrm>
          <a:prstGeom prst="rect">
            <a:avLst/>
          </a:prstGeom>
          <a:solidFill>
            <a:srgbClr val="1A1D21"/>
          </a:solidFill>
          <a:ln/>
        </p:spPr>
      </p:sp>
      <p:sp>
        <p:nvSpPr>
          <p:cNvPr id="7" name="Text 4"/>
          <p:cNvSpPr txBox="1"/>
          <p:nvPr/>
        </p:nvSpPr>
        <p:spPr>
          <a:xfrm>
            <a:off x="640080" y="1874520"/>
            <a:ext cx="1989867" cy="502920"/>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TLB en euros · 12.000</a:t>
            </a:r>
            <a:endParaRPr lang="en-US" sz="1100" dirty="0"/>
          </a:p>
        </p:txBody>
      </p:sp>
      <p:sp>
        <p:nvSpPr>
          <p:cNvPr id="8" name="Shape 5"/>
          <p:cNvSpPr/>
          <p:nvPr/>
        </p:nvSpPr>
        <p:spPr>
          <a:xfrm>
            <a:off x="2675667" y="1874520"/>
            <a:ext cx="1595270" cy="502920"/>
          </a:xfrm>
          <a:prstGeom prst="rect">
            <a:avLst/>
          </a:prstGeom>
          <a:solidFill>
            <a:srgbClr val="7D848C"/>
          </a:solidFill>
          <a:ln/>
        </p:spPr>
      </p:sp>
      <p:sp>
        <p:nvSpPr>
          <p:cNvPr id="9" name="Text 6"/>
          <p:cNvSpPr txBox="1"/>
          <p:nvPr/>
        </p:nvSpPr>
        <p:spPr>
          <a:xfrm>
            <a:off x="2767107" y="1874520"/>
            <a:ext cx="1458110" cy="502920"/>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TLB en dólares · 9.000</a:t>
            </a:r>
            <a:endParaRPr lang="en-US" sz="1100" dirty="0"/>
          </a:p>
        </p:txBody>
      </p:sp>
      <p:sp>
        <p:nvSpPr>
          <p:cNvPr id="10" name="Shape 7"/>
          <p:cNvSpPr/>
          <p:nvPr/>
        </p:nvSpPr>
        <p:spPr>
          <a:xfrm>
            <a:off x="4270937" y="1874520"/>
            <a:ext cx="2129863" cy="502920"/>
          </a:xfrm>
          <a:prstGeom prst="rect">
            <a:avLst/>
          </a:prstGeom>
          <a:solidFill>
            <a:srgbClr val="3A3F45"/>
          </a:solidFill>
          <a:ln/>
        </p:spPr>
      </p:sp>
      <p:sp>
        <p:nvSpPr>
          <p:cNvPr id="11" name="Text 8"/>
          <p:cNvSpPr txBox="1"/>
          <p:nvPr/>
        </p:nvSpPr>
        <p:spPr>
          <a:xfrm>
            <a:off x="4362377" y="1874520"/>
            <a:ext cx="1992703" cy="502920"/>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Bonos high yield · 12.016</a:t>
            </a:r>
            <a:endParaRPr lang="en-US" sz="1100" dirty="0"/>
          </a:p>
        </p:txBody>
      </p:sp>
      <p:sp>
        <p:nvSpPr>
          <p:cNvPr id="12" name="Text 9"/>
          <p:cNvSpPr txBox="1"/>
          <p:nvPr/>
        </p:nvSpPr>
        <p:spPr>
          <a:xfrm>
            <a:off x="548640" y="2560320"/>
            <a:ext cx="2743200" cy="256032"/>
          </a:xfrm>
          <a:prstGeom prst="rect">
            <a:avLst/>
          </a:prstGeom>
          <a:noFill/>
          <a:ln/>
        </p:spPr>
        <p:txBody>
          <a:bodyPr wrap="square" lIns="0" tIns="0" rIns="0" bIns="0" rtlCol="0" anchor="t"/>
          <a:lstStyle/>
          <a:p>
            <a:pPr indent="0" marL="0">
              <a:buNone/>
            </a:pPr>
            <a:r>
              <a:rPr lang="en-US" sz="1250" b="1" dirty="0">
                <a:solidFill>
                  <a:srgbClr val="1A1D21"/>
                </a:solidFill>
                <a:latin typeface="Inter" pitchFamily="34" charset="0"/>
                <a:ea typeface="Inter" pitchFamily="34" charset="-122"/>
                <a:cs typeface="Inter" pitchFamily="34" charset="-120"/>
              </a:rPr>
              <a:t>CLOs y direct lenders</a:t>
            </a:r>
            <a:endParaRPr lang="en-US" sz="1250" dirty="0"/>
          </a:p>
        </p:txBody>
      </p:sp>
      <p:sp>
        <p:nvSpPr>
          <p:cNvPr id="13" name="Shape 10"/>
          <p:cNvSpPr/>
          <p:nvPr/>
        </p:nvSpPr>
        <p:spPr>
          <a:xfrm>
            <a:off x="548640" y="2880360"/>
            <a:ext cx="1371600" cy="475488"/>
          </a:xfrm>
          <a:prstGeom prst="rect">
            <a:avLst>
              <a:gd name="adj" fmla="val 9615"/>
            </a:avLst>
          </a:prstGeom>
          <a:solidFill>
            <a:srgbClr val="FFFFFF"/>
          </a:solidFill>
          <a:ln w="12700">
            <a:solidFill>
              <a:srgbClr val="D9D9D6"/>
            </a:solidFill>
            <a:prstDash val="solid"/>
          </a:ln>
        </p:spPr>
      </p:sp>
      <p:sp>
        <p:nvSpPr>
          <p:cNvPr id="14" name="Text 11"/>
          <p:cNvSpPr txBox="1"/>
          <p:nvPr/>
        </p:nvSpPr>
        <p:spPr>
          <a:xfrm>
            <a:off x="576072" y="2880360"/>
            <a:ext cx="1316736" cy="47548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Barings</a:t>
            </a:r>
            <a:endParaRPr lang="en-US" sz="1100" dirty="0"/>
          </a:p>
        </p:txBody>
      </p:sp>
      <p:sp>
        <p:nvSpPr>
          <p:cNvPr id="15" name="Shape 12"/>
          <p:cNvSpPr/>
          <p:nvPr/>
        </p:nvSpPr>
        <p:spPr>
          <a:xfrm>
            <a:off x="2011680" y="2880360"/>
            <a:ext cx="1371600" cy="475488"/>
          </a:xfrm>
          <a:prstGeom prst="rect">
            <a:avLst>
              <a:gd name="adj" fmla="val 9615"/>
            </a:avLst>
          </a:prstGeom>
          <a:solidFill>
            <a:srgbClr val="FFFFFF"/>
          </a:solidFill>
          <a:ln w="12700">
            <a:solidFill>
              <a:srgbClr val="D9D9D6"/>
            </a:solidFill>
            <a:prstDash val="solid"/>
          </a:ln>
        </p:spPr>
      </p:sp>
      <p:sp>
        <p:nvSpPr>
          <p:cNvPr id="16" name="Text 13"/>
          <p:cNvSpPr txBox="1"/>
          <p:nvPr/>
        </p:nvSpPr>
        <p:spPr>
          <a:xfrm>
            <a:off x="2039112" y="2880360"/>
            <a:ext cx="1316736" cy="47548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ICG</a:t>
            </a:r>
            <a:endParaRPr lang="en-US" sz="1100" dirty="0"/>
          </a:p>
        </p:txBody>
      </p:sp>
      <p:sp>
        <p:nvSpPr>
          <p:cNvPr id="17" name="Shape 14"/>
          <p:cNvSpPr/>
          <p:nvPr/>
        </p:nvSpPr>
        <p:spPr>
          <a:xfrm>
            <a:off x="3474720" y="2880360"/>
            <a:ext cx="1371600" cy="475488"/>
          </a:xfrm>
          <a:prstGeom prst="rect">
            <a:avLst>
              <a:gd name="adj" fmla="val 9615"/>
            </a:avLst>
          </a:prstGeom>
          <a:solidFill>
            <a:srgbClr val="FFFFFF"/>
          </a:solidFill>
          <a:ln w="12700">
            <a:solidFill>
              <a:srgbClr val="D9D9D6"/>
            </a:solidFill>
            <a:prstDash val="solid"/>
          </a:ln>
        </p:spPr>
      </p:sp>
      <p:sp>
        <p:nvSpPr>
          <p:cNvPr id="18" name="Text 15"/>
          <p:cNvSpPr txBox="1"/>
          <p:nvPr/>
        </p:nvSpPr>
        <p:spPr>
          <a:xfrm>
            <a:off x="3502152" y="2880360"/>
            <a:ext cx="1316736" cy="47548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Alcentra</a:t>
            </a:r>
            <a:endParaRPr lang="en-US" sz="1100" dirty="0"/>
          </a:p>
        </p:txBody>
      </p:sp>
      <p:sp>
        <p:nvSpPr>
          <p:cNvPr id="19" name="Shape 16"/>
          <p:cNvSpPr/>
          <p:nvPr/>
        </p:nvSpPr>
        <p:spPr>
          <a:xfrm>
            <a:off x="4937760" y="2880360"/>
            <a:ext cx="1371600" cy="475488"/>
          </a:xfrm>
          <a:prstGeom prst="rect">
            <a:avLst>
              <a:gd name="adj" fmla="val 9615"/>
            </a:avLst>
          </a:prstGeom>
          <a:solidFill>
            <a:srgbClr val="FFFFFF"/>
          </a:solidFill>
          <a:ln w="12700">
            <a:solidFill>
              <a:srgbClr val="D9D9D6"/>
            </a:solidFill>
            <a:prstDash val="solid"/>
          </a:ln>
        </p:spPr>
      </p:sp>
      <p:sp>
        <p:nvSpPr>
          <p:cNvPr id="20" name="Text 17"/>
          <p:cNvSpPr txBox="1"/>
          <p:nvPr/>
        </p:nvSpPr>
        <p:spPr>
          <a:xfrm>
            <a:off x="4965192" y="2880360"/>
            <a:ext cx="1316736" cy="47548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Carlyle</a:t>
            </a:r>
            <a:endParaRPr lang="en-US" sz="1100" dirty="0"/>
          </a:p>
        </p:txBody>
      </p:sp>
      <p:sp>
        <p:nvSpPr>
          <p:cNvPr id="21" name="Shape 18"/>
          <p:cNvSpPr/>
          <p:nvPr/>
        </p:nvSpPr>
        <p:spPr>
          <a:xfrm>
            <a:off x="548640" y="3447288"/>
            <a:ext cx="1371600" cy="475488"/>
          </a:xfrm>
          <a:prstGeom prst="rect">
            <a:avLst>
              <a:gd name="adj" fmla="val 9615"/>
            </a:avLst>
          </a:prstGeom>
          <a:solidFill>
            <a:srgbClr val="FFFFFF"/>
          </a:solidFill>
          <a:ln w="12700">
            <a:solidFill>
              <a:srgbClr val="D9D9D6"/>
            </a:solidFill>
            <a:prstDash val="solid"/>
          </a:ln>
        </p:spPr>
      </p:sp>
      <p:sp>
        <p:nvSpPr>
          <p:cNvPr id="22" name="Text 19"/>
          <p:cNvSpPr txBox="1"/>
          <p:nvPr/>
        </p:nvSpPr>
        <p:spPr>
          <a:xfrm>
            <a:off x="576072" y="3447288"/>
            <a:ext cx="1316736" cy="47548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Tikehau</a:t>
            </a:r>
            <a:endParaRPr lang="en-US" sz="1100" dirty="0"/>
          </a:p>
        </p:txBody>
      </p:sp>
      <p:sp>
        <p:nvSpPr>
          <p:cNvPr id="23" name="Shape 20"/>
          <p:cNvSpPr/>
          <p:nvPr/>
        </p:nvSpPr>
        <p:spPr>
          <a:xfrm>
            <a:off x="2011680" y="3447288"/>
            <a:ext cx="1371600" cy="475488"/>
          </a:xfrm>
          <a:prstGeom prst="rect">
            <a:avLst>
              <a:gd name="adj" fmla="val 9615"/>
            </a:avLst>
          </a:prstGeom>
          <a:solidFill>
            <a:srgbClr val="FFFFFF"/>
          </a:solidFill>
          <a:ln w="12700">
            <a:solidFill>
              <a:srgbClr val="D9D9D6"/>
            </a:solidFill>
            <a:prstDash val="solid"/>
          </a:ln>
        </p:spPr>
      </p:sp>
      <p:sp>
        <p:nvSpPr>
          <p:cNvPr id="24" name="Text 21"/>
          <p:cNvSpPr txBox="1"/>
          <p:nvPr/>
        </p:nvSpPr>
        <p:spPr>
          <a:xfrm>
            <a:off x="2039112" y="3447288"/>
            <a:ext cx="1316736" cy="47548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Hayfin</a:t>
            </a:r>
            <a:endParaRPr lang="en-US" sz="1100" dirty="0"/>
          </a:p>
        </p:txBody>
      </p:sp>
      <p:sp>
        <p:nvSpPr>
          <p:cNvPr id="25" name="Shape 22"/>
          <p:cNvSpPr/>
          <p:nvPr/>
        </p:nvSpPr>
        <p:spPr>
          <a:xfrm>
            <a:off x="3474720" y="3447288"/>
            <a:ext cx="1371600" cy="475488"/>
          </a:xfrm>
          <a:prstGeom prst="rect">
            <a:avLst>
              <a:gd name="adj" fmla="val 9615"/>
            </a:avLst>
          </a:prstGeom>
          <a:solidFill>
            <a:srgbClr val="FFFFFF"/>
          </a:solidFill>
          <a:ln w="12700">
            <a:solidFill>
              <a:srgbClr val="D9D9D6"/>
            </a:solidFill>
            <a:prstDash val="solid"/>
          </a:ln>
        </p:spPr>
      </p:sp>
      <p:sp>
        <p:nvSpPr>
          <p:cNvPr id="26" name="Text 23"/>
          <p:cNvSpPr txBox="1"/>
          <p:nvPr/>
        </p:nvSpPr>
        <p:spPr>
          <a:xfrm>
            <a:off x="3502152" y="3447288"/>
            <a:ext cx="1316736" cy="47548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Muzinich</a:t>
            </a:r>
            <a:endParaRPr lang="en-US" sz="1100" dirty="0"/>
          </a:p>
        </p:txBody>
      </p:sp>
      <p:sp>
        <p:nvSpPr>
          <p:cNvPr id="27" name="Shape 24"/>
          <p:cNvSpPr/>
          <p:nvPr/>
        </p:nvSpPr>
        <p:spPr>
          <a:xfrm>
            <a:off x="4937760" y="3447288"/>
            <a:ext cx="1371600" cy="475488"/>
          </a:xfrm>
          <a:prstGeom prst="rect">
            <a:avLst>
              <a:gd name="adj" fmla="val 9615"/>
            </a:avLst>
          </a:prstGeom>
          <a:solidFill>
            <a:srgbClr val="FFFFFF"/>
          </a:solidFill>
          <a:ln w="12700">
            <a:solidFill>
              <a:srgbClr val="D9D9D6"/>
            </a:solidFill>
            <a:prstDash val="solid"/>
          </a:ln>
        </p:spPr>
      </p:sp>
      <p:sp>
        <p:nvSpPr>
          <p:cNvPr id="28" name="Text 25"/>
          <p:cNvSpPr txBox="1"/>
          <p:nvPr/>
        </p:nvSpPr>
        <p:spPr>
          <a:xfrm>
            <a:off x="4965192" y="3447288"/>
            <a:ext cx="1316736" cy="47548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Pemberton</a:t>
            </a:r>
            <a:endParaRPr lang="en-US" sz="1100" dirty="0"/>
          </a:p>
        </p:txBody>
      </p:sp>
      <p:sp>
        <p:nvSpPr>
          <p:cNvPr id="29" name="Shape 26"/>
          <p:cNvSpPr/>
          <p:nvPr/>
        </p:nvSpPr>
        <p:spPr>
          <a:xfrm>
            <a:off x="548640" y="4014216"/>
            <a:ext cx="1371600" cy="475488"/>
          </a:xfrm>
          <a:prstGeom prst="rect">
            <a:avLst>
              <a:gd name="adj" fmla="val 9615"/>
            </a:avLst>
          </a:prstGeom>
          <a:solidFill>
            <a:srgbClr val="FFFFFF"/>
          </a:solidFill>
          <a:ln w="12700">
            <a:solidFill>
              <a:srgbClr val="D9D9D6"/>
            </a:solidFill>
            <a:prstDash val="solid"/>
          </a:ln>
        </p:spPr>
      </p:sp>
      <p:sp>
        <p:nvSpPr>
          <p:cNvPr id="30" name="Text 27"/>
          <p:cNvSpPr txBox="1"/>
          <p:nvPr/>
        </p:nvSpPr>
        <p:spPr>
          <a:xfrm>
            <a:off x="576072" y="4014216"/>
            <a:ext cx="1316736" cy="47548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Kartesia</a:t>
            </a:r>
            <a:endParaRPr lang="en-US" sz="1100" dirty="0"/>
          </a:p>
        </p:txBody>
      </p:sp>
      <p:sp>
        <p:nvSpPr>
          <p:cNvPr id="31" name="Shape 28"/>
          <p:cNvSpPr/>
          <p:nvPr/>
        </p:nvSpPr>
        <p:spPr>
          <a:xfrm>
            <a:off x="2011680" y="4014216"/>
            <a:ext cx="1371600" cy="475488"/>
          </a:xfrm>
          <a:prstGeom prst="rect">
            <a:avLst>
              <a:gd name="adj" fmla="val 9615"/>
            </a:avLst>
          </a:prstGeom>
          <a:solidFill>
            <a:srgbClr val="FFFFFF"/>
          </a:solidFill>
          <a:ln w="12700">
            <a:solidFill>
              <a:srgbClr val="D9D9D6"/>
            </a:solidFill>
            <a:prstDash val="solid"/>
          </a:ln>
        </p:spPr>
      </p:sp>
      <p:sp>
        <p:nvSpPr>
          <p:cNvPr id="32" name="Text 29"/>
          <p:cNvSpPr txBox="1"/>
          <p:nvPr/>
        </p:nvSpPr>
        <p:spPr>
          <a:xfrm>
            <a:off x="2039112" y="4014216"/>
            <a:ext cx="1316736" cy="47548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Ares</a:t>
            </a:r>
            <a:endParaRPr lang="en-US" sz="1100" dirty="0"/>
          </a:p>
        </p:txBody>
      </p:sp>
      <p:sp>
        <p:nvSpPr>
          <p:cNvPr id="33" name="Shape 30"/>
          <p:cNvSpPr/>
          <p:nvPr/>
        </p:nvSpPr>
        <p:spPr>
          <a:xfrm>
            <a:off x="3474720" y="4014216"/>
            <a:ext cx="1371600" cy="475488"/>
          </a:xfrm>
          <a:prstGeom prst="rect">
            <a:avLst>
              <a:gd name="adj" fmla="val 9615"/>
            </a:avLst>
          </a:prstGeom>
          <a:solidFill>
            <a:srgbClr val="FFFFFF"/>
          </a:solidFill>
          <a:ln w="12700">
            <a:solidFill>
              <a:srgbClr val="D9D9D6"/>
            </a:solidFill>
            <a:prstDash val="solid"/>
          </a:ln>
        </p:spPr>
      </p:sp>
      <p:sp>
        <p:nvSpPr>
          <p:cNvPr id="34" name="Text 31"/>
          <p:cNvSpPr txBox="1"/>
          <p:nvPr/>
        </p:nvSpPr>
        <p:spPr>
          <a:xfrm>
            <a:off x="3502152" y="4014216"/>
            <a:ext cx="1316736" cy="47548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Crescent</a:t>
            </a:r>
            <a:endParaRPr lang="en-US" sz="1100" dirty="0"/>
          </a:p>
        </p:txBody>
      </p:sp>
      <p:sp>
        <p:nvSpPr>
          <p:cNvPr id="35" name="Text 32"/>
          <p:cNvSpPr txBox="1"/>
          <p:nvPr/>
        </p:nvSpPr>
        <p:spPr>
          <a:xfrm>
            <a:off x="548640" y="4663440"/>
            <a:ext cx="5486400" cy="256032"/>
          </a:xfrm>
          <a:prstGeom prst="rect">
            <a:avLst/>
          </a:prstGeom>
          <a:noFill/>
          <a:ln/>
        </p:spPr>
        <p:txBody>
          <a:bodyPr wrap="square" lIns="0" tIns="0" rIns="0" bIns="0" rtlCol="0" anchor="t"/>
          <a:lstStyle/>
          <a:p>
            <a:pPr indent="0" marL="0">
              <a:buNone/>
            </a:pPr>
            <a:r>
              <a:rPr lang="en-US" sz="1250" b="1" dirty="0">
                <a:solidFill>
                  <a:srgbClr val="1A1D21"/>
                </a:solidFill>
                <a:latin typeface="Inter" pitchFamily="34" charset="0"/>
                <a:ea typeface="Inter" pitchFamily="34" charset="-122"/>
                <a:cs typeface="Inter" pitchFamily="34" charset="-120"/>
              </a:rPr>
              <a:t>Gestoras, aseguradoras y fondos de pensiones</a:t>
            </a:r>
            <a:endParaRPr lang="en-US" sz="1250" dirty="0"/>
          </a:p>
        </p:txBody>
      </p:sp>
      <p:sp>
        <p:nvSpPr>
          <p:cNvPr id="36" name="Shape 33"/>
          <p:cNvSpPr/>
          <p:nvPr/>
        </p:nvSpPr>
        <p:spPr>
          <a:xfrm>
            <a:off x="548640" y="4983480"/>
            <a:ext cx="1371600" cy="475488"/>
          </a:xfrm>
          <a:prstGeom prst="rect">
            <a:avLst>
              <a:gd name="adj" fmla="val 9615"/>
            </a:avLst>
          </a:prstGeom>
          <a:solidFill>
            <a:srgbClr val="FFFFFF"/>
          </a:solidFill>
          <a:ln w="12700">
            <a:solidFill>
              <a:srgbClr val="D9D9D6"/>
            </a:solidFill>
            <a:prstDash val="solid"/>
          </a:ln>
        </p:spPr>
      </p:sp>
      <p:sp>
        <p:nvSpPr>
          <p:cNvPr id="37" name="Text 34"/>
          <p:cNvSpPr txBox="1"/>
          <p:nvPr/>
        </p:nvSpPr>
        <p:spPr>
          <a:xfrm>
            <a:off x="576072" y="4983480"/>
            <a:ext cx="1316736" cy="47548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BlackRock</a:t>
            </a:r>
            <a:endParaRPr lang="en-US" sz="1100" dirty="0"/>
          </a:p>
        </p:txBody>
      </p:sp>
      <p:sp>
        <p:nvSpPr>
          <p:cNvPr id="38" name="Shape 35"/>
          <p:cNvSpPr/>
          <p:nvPr/>
        </p:nvSpPr>
        <p:spPr>
          <a:xfrm>
            <a:off x="2011680" y="4983480"/>
            <a:ext cx="1371600" cy="475488"/>
          </a:xfrm>
          <a:prstGeom prst="rect">
            <a:avLst>
              <a:gd name="adj" fmla="val 9615"/>
            </a:avLst>
          </a:prstGeom>
          <a:solidFill>
            <a:srgbClr val="FFFFFF"/>
          </a:solidFill>
          <a:ln w="12700">
            <a:solidFill>
              <a:srgbClr val="D9D9D6"/>
            </a:solidFill>
            <a:prstDash val="solid"/>
          </a:ln>
        </p:spPr>
      </p:sp>
      <p:sp>
        <p:nvSpPr>
          <p:cNvPr id="39" name="Text 36"/>
          <p:cNvSpPr txBox="1"/>
          <p:nvPr/>
        </p:nvSpPr>
        <p:spPr>
          <a:xfrm>
            <a:off x="2039112" y="4983480"/>
            <a:ext cx="1316736" cy="47548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Amundi</a:t>
            </a:r>
            <a:endParaRPr lang="en-US" sz="1100" dirty="0"/>
          </a:p>
        </p:txBody>
      </p:sp>
      <p:sp>
        <p:nvSpPr>
          <p:cNvPr id="40" name="Shape 37"/>
          <p:cNvSpPr/>
          <p:nvPr/>
        </p:nvSpPr>
        <p:spPr>
          <a:xfrm>
            <a:off x="3474720" y="4983480"/>
            <a:ext cx="1371600" cy="475488"/>
          </a:xfrm>
          <a:prstGeom prst="rect">
            <a:avLst>
              <a:gd name="adj" fmla="val 9615"/>
            </a:avLst>
          </a:prstGeom>
          <a:solidFill>
            <a:srgbClr val="FFFFFF"/>
          </a:solidFill>
          <a:ln w="12700">
            <a:solidFill>
              <a:srgbClr val="D9D9D6"/>
            </a:solidFill>
            <a:prstDash val="solid"/>
          </a:ln>
        </p:spPr>
      </p:sp>
      <p:sp>
        <p:nvSpPr>
          <p:cNvPr id="41" name="Text 38"/>
          <p:cNvSpPr txBox="1"/>
          <p:nvPr/>
        </p:nvSpPr>
        <p:spPr>
          <a:xfrm>
            <a:off x="3502152" y="4983480"/>
            <a:ext cx="1316736" cy="47548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Schroders</a:t>
            </a:r>
            <a:endParaRPr lang="en-US" sz="1100" dirty="0"/>
          </a:p>
        </p:txBody>
      </p:sp>
      <p:sp>
        <p:nvSpPr>
          <p:cNvPr id="42" name="Shape 39"/>
          <p:cNvSpPr/>
          <p:nvPr/>
        </p:nvSpPr>
        <p:spPr>
          <a:xfrm>
            <a:off x="4937760" y="4983480"/>
            <a:ext cx="1371600" cy="475488"/>
          </a:xfrm>
          <a:prstGeom prst="rect">
            <a:avLst>
              <a:gd name="adj" fmla="val 9615"/>
            </a:avLst>
          </a:prstGeom>
          <a:solidFill>
            <a:srgbClr val="FFFFFF"/>
          </a:solidFill>
          <a:ln w="12700">
            <a:solidFill>
              <a:srgbClr val="D9D9D6"/>
            </a:solidFill>
            <a:prstDash val="solid"/>
          </a:ln>
        </p:spPr>
      </p:sp>
      <p:sp>
        <p:nvSpPr>
          <p:cNvPr id="43" name="Text 40"/>
          <p:cNvSpPr txBox="1"/>
          <p:nvPr/>
        </p:nvSpPr>
        <p:spPr>
          <a:xfrm>
            <a:off x="4965192" y="4983480"/>
            <a:ext cx="1316736" cy="47548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Aviva</a:t>
            </a:r>
            <a:endParaRPr lang="en-US" sz="1100" dirty="0"/>
          </a:p>
        </p:txBody>
      </p:sp>
      <p:sp>
        <p:nvSpPr>
          <p:cNvPr id="44" name="Shape 41"/>
          <p:cNvSpPr/>
          <p:nvPr/>
        </p:nvSpPr>
        <p:spPr>
          <a:xfrm>
            <a:off x="548640" y="5550408"/>
            <a:ext cx="1371600" cy="475488"/>
          </a:xfrm>
          <a:prstGeom prst="rect">
            <a:avLst>
              <a:gd name="adj" fmla="val 9615"/>
            </a:avLst>
          </a:prstGeom>
          <a:solidFill>
            <a:srgbClr val="FFFFFF"/>
          </a:solidFill>
          <a:ln w="12700">
            <a:solidFill>
              <a:srgbClr val="D9D9D6"/>
            </a:solidFill>
            <a:prstDash val="solid"/>
          </a:ln>
        </p:spPr>
      </p:sp>
      <p:sp>
        <p:nvSpPr>
          <p:cNvPr id="45" name="Text 42"/>
          <p:cNvSpPr txBox="1"/>
          <p:nvPr/>
        </p:nvSpPr>
        <p:spPr>
          <a:xfrm>
            <a:off x="576072" y="5550408"/>
            <a:ext cx="1316736" cy="47548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MEAG</a:t>
            </a:r>
            <a:endParaRPr lang="en-US" sz="1100" dirty="0"/>
          </a:p>
        </p:txBody>
      </p:sp>
      <p:sp>
        <p:nvSpPr>
          <p:cNvPr id="46" name="Shape 43"/>
          <p:cNvSpPr/>
          <p:nvPr/>
        </p:nvSpPr>
        <p:spPr>
          <a:xfrm>
            <a:off x="2011680" y="5550408"/>
            <a:ext cx="1371600" cy="475488"/>
          </a:xfrm>
          <a:prstGeom prst="rect">
            <a:avLst>
              <a:gd name="adj" fmla="val 9615"/>
            </a:avLst>
          </a:prstGeom>
          <a:solidFill>
            <a:srgbClr val="FFFFFF"/>
          </a:solidFill>
          <a:ln w="12700">
            <a:solidFill>
              <a:srgbClr val="D9D9D6"/>
            </a:solidFill>
            <a:prstDash val="solid"/>
          </a:ln>
        </p:spPr>
      </p:sp>
      <p:sp>
        <p:nvSpPr>
          <p:cNvPr id="47" name="Text 44"/>
          <p:cNvSpPr txBox="1"/>
          <p:nvPr/>
        </p:nvSpPr>
        <p:spPr>
          <a:xfrm>
            <a:off x="2039112" y="5550408"/>
            <a:ext cx="1316736" cy="47548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CDPQ</a:t>
            </a:r>
            <a:endParaRPr lang="en-US" sz="1100" dirty="0"/>
          </a:p>
        </p:txBody>
      </p:sp>
      <p:sp>
        <p:nvSpPr>
          <p:cNvPr id="48" name="Shape 45"/>
          <p:cNvSpPr/>
          <p:nvPr/>
        </p:nvSpPr>
        <p:spPr>
          <a:xfrm>
            <a:off x="3474720" y="5550408"/>
            <a:ext cx="1371600" cy="475488"/>
          </a:xfrm>
          <a:prstGeom prst="rect">
            <a:avLst>
              <a:gd name="adj" fmla="val 9615"/>
            </a:avLst>
          </a:prstGeom>
          <a:solidFill>
            <a:srgbClr val="FFFFFF"/>
          </a:solidFill>
          <a:ln w="12700">
            <a:solidFill>
              <a:srgbClr val="D9D9D6"/>
            </a:solidFill>
            <a:prstDash val="solid"/>
          </a:ln>
        </p:spPr>
      </p:sp>
      <p:sp>
        <p:nvSpPr>
          <p:cNvPr id="49" name="Text 46"/>
          <p:cNvSpPr txBox="1"/>
          <p:nvPr/>
        </p:nvSpPr>
        <p:spPr>
          <a:xfrm>
            <a:off x="3502152" y="5550408"/>
            <a:ext cx="1316736" cy="47548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CPP</a:t>
            </a:r>
            <a:endParaRPr lang="en-US" sz="1100" dirty="0"/>
          </a:p>
        </p:txBody>
      </p:sp>
      <p:sp>
        <p:nvSpPr>
          <p:cNvPr id="50" name="Text 47"/>
          <p:cNvSpPr txBox="1"/>
          <p:nvPr/>
        </p:nvSpPr>
        <p:spPr>
          <a:xfrm>
            <a:off x="6766560" y="1572768"/>
            <a:ext cx="4846320" cy="228600"/>
          </a:xfrm>
          <a:prstGeom prst="rect">
            <a:avLst/>
          </a:prstGeom>
          <a:noFill/>
          <a:ln/>
        </p:spPr>
        <p:txBody>
          <a:bodyPr wrap="square" lIns="0" tIns="0" rIns="0" bIns="0" rtlCol="0" anchor="t"/>
          <a:lstStyle/>
          <a:p>
            <a:pPr indent="0" marL="0">
              <a:buNone/>
            </a:pPr>
            <a:r>
              <a:rPr lang="en-US" sz="1100" b="1" spc="100" kern="0" dirty="0">
                <a:solidFill>
                  <a:srgbClr val="1F4B3F"/>
                </a:solidFill>
                <a:latin typeface="Inter" pitchFamily="34" charset="0"/>
                <a:ea typeface="Inter" pitchFamily="34" charset="-122"/>
                <a:cs typeface="Inter" pitchFamily="34" charset="-120"/>
              </a:rPr>
              <a:t>MEZZANINE · €14.150m · 10,5% PIK</a:t>
            </a:r>
            <a:endParaRPr lang="en-US" sz="1100" dirty="0"/>
          </a:p>
        </p:txBody>
      </p:sp>
      <p:sp>
        <p:nvSpPr>
          <p:cNvPr id="51" name="Text 48"/>
          <p:cNvSpPr txBox="1"/>
          <p:nvPr/>
        </p:nvSpPr>
        <p:spPr>
          <a:xfrm>
            <a:off x="6766560" y="1874520"/>
            <a:ext cx="1783080" cy="292608"/>
          </a:xfrm>
          <a:prstGeom prst="rect">
            <a:avLst/>
          </a:prstGeom>
          <a:noFill/>
          <a:ln/>
        </p:spPr>
        <p:txBody>
          <a:bodyPr wrap="square" lIns="0" tIns="0" rIns="0" bIns="0" rtlCol="0" anchor="ctr"/>
          <a:lstStyle/>
          <a:p>
            <a:pPr indent="0" marL="0">
              <a:buNone/>
            </a:pPr>
            <a:r>
              <a:rPr lang="en-US" sz="1150" b="1" dirty="0">
                <a:solidFill>
                  <a:srgbClr val="1F2124"/>
                </a:solidFill>
                <a:latin typeface="Inter" pitchFamily="34" charset="0"/>
                <a:ea typeface="Inter" pitchFamily="34" charset="-122"/>
                <a:cs typeface="Inter" pitchFamily="34" charset="-120"/>
              </a:rPr>
              <a:t>Apollo</a:t>
            </a:r>
            <a:endParaRPr lang="en-US" sz="1150" dirty="0"/>
          </a:p>
        </p:txBody>
      </p:sp>
      <p:sp>
        <p:nvSpPr>
          <p:cNvPr id="52" name="Shape 49"/>
          <p:cNvSpPr/>
          <p:nvPr/>
        </p:nvSpPr>
        <p:spPr>
          <a:xfrm>
            <a:off x="8595360" y="1929384"/>
            <a:ext cx="2194560" cy="201168"/>
          </a:xfrm>
          <a:prstGeom prst="rect">
            <a:avLst/>
          </a:prstGeom>
          <a:solidFill>
            <a:srgbClr val="1F4B3F"/>
          </a:solidFill>
          <a:ln/>
        </p:spPr>
      </p:sp>
      <p:sp>
        <p:nvSpPr>
          <p:cNvPr id="53" name="Text 50"/>
          <p:cNvSpPr txBox="1"/>
          <p:nvPr/>
        </p:nvSpPr>
        <p:spPr>
          <a:xfrm>
            <a:off x="10835640" y="1874520"/>
            <a:ext cx="731520" cy="292608"/>
          </a:xfrm>
          <a:prstGeom prst="rect">
            <a:avLst/>
          </a:prstGeom>
          <a:noFill/>
          <a:ln/>
        </p:spPr>
        <p:txBody>
          <a:bodyPr wrap="square" lIns="0" tIns="0" rIns="0" bIns="0" rtlCol="0" anchor="ctr"/>
          <a:lstStyle/>
          <a:p>
            <a:pPr indent="0" marL="0">
              <a:buNone/>
            </a:pPr>
            <a:r>
              <a:rPr lang="en-US" sz="1100" dirty="0">
                <a:solidFill>
                  <a:srgbClr val="1F2124"/>
                </a:solidFill>
                <a:latin typeface="Inter" pitchFamily="34" charset="0"/>
                <a:ea typeface="Inter" pitchFamily="34" charset="-122"/>
                <a:cs typeface="Inter" pitchFamily="34" charset="-120"/>
              </a:rPr>
              <a:t>2.000</a:t>
            </a:r>
            <a:endParaRPr lang="en-US" sz="1100" dirty="0"/>
          </a:p>
        </p:txBody>
      </p:sp>
      <p:sp>
        <p:nvSpPr>
          <p:cNvPr id="54" name="Text 51"/>
          <p:cNvSpPr txBox="1"/>
          <p:nvPr/>
        </p:nvSpPr>
        <p:spPr>
          <a:xfrm>
            <a:off x="6766560" y="2212848"/>
            <a:ext cx="1783080" cy="292608"/>
          </a:xfrm>
          <a:prstGeom prst="rect">
            <a:avLst/>
          </a:prstGeom>
          <a:noFill/>
          <a:ln/>
        </p:spPr>
        <p:txBody>
          <a:bodyPr wrap="square" lIns="0" tIns="0" rIns="0" bIns="0" rtlCol="0" anchor="ctr"/>
          <a:lstStyle/>
          <a:p>
            <a:pPr indent="0" marL="0">
              <a:buNone/>
            </a:pPr>
            <a:r>
              <a:rPr lang="en-US" sz="1150" b="1" dirty="0">
                <a:solidFill>
                  <a:srgbClr val="1F2124"/>
                </a:solidFill>
                <a:latin typeface="Inter" pitchFamily="34" charset="0"/>
                <a:ea typeface="Inter" pitchFamily="34" charset="-122"/>
                <a:cs typeface="Inter" pitchFamily="34" charset="-120"/>
              </a:rPr>
              <a:t>Blackstone Credit</a:t>
            </a:r>
            <a:endParaRPr lang="en-US" sz="1150" dirty="0"/>
          </a:p>
        </p:txBody>
      </p:sp>
      <p:sp>
        <p:nvSpPr>
          <p:cNvPr id="55" name="Shape 52"/>
          <p:cNvSpPr/>
          <p:nvPr/>
        </p:nvSpPr>
        <p:spPr>
          <a:xfrm>
            <a:off x="8595360" y="2267712"/>
            <a:ext cx="2194560" cy="201168"/>
          </a:xfrm>
          <a:prstGeom prst="rect">
            <a:avLst/>
          </a:prstGeom>
          <a:solidFill>
            <a:srgbClr val="1F4B3F"/>
          </a:solidFill>
          <a:ln/>
        </p:spPr>
      </p:sp>
      <p:sp>
        <p:nvSpPr>
          <p:cNvPr id="56" name="Text 53"/>
          <p:cNvSpPr txBox="1"/>
          <p:nvPr/>
        </p:nvSpPr>
        <p:spPr>
          <a:xfrm>
            <a:off x="10835640" y="2212848"/>
            <a:ext cx="731520" cy="292608"/>
          </a:xfrm>
          <a:prstGeom prst="rect">
            <a:avLst/>
          </a:prstGeom>
          <a:noFill/>
          <a:ln/>
        </p:spPr>
        <p:txBody>
          <a:bodyPr wrap="square" lIns="0" tIns="0" rIns="0" bIns="0" rtlCol="0" anchor="ctr"/>
          <a:lstStyle/>
          <a:p>
            <a:pPr indent="0" marL="0">
              <a:buNone/>
            </a:pPr>
            <a:r>
              <a:rPr lang="en-US" sz="1100" dirty="0">
                <a:solidFill>
                  <a:srgbClr val="1F2124"/>
                </a:solidFill>
                <a:latin typeface="Inter" pitchFamily="34" charset="0"/>
                <a:ea typeface="Inter" pitchFamily="34" charset="-122"/>
                <a:cs typeface="Inter" pitchFamily="34" charset="-120"/>
              </a:rPr>
              <a:t>2.000</a:t>
            </a:r>
            <a:endParaRPr lang="en-US" sz="1100" dirty="0"/>
          </a:p>
        </p:txBody>
      </p:sp>
      <p:sp>
        <p:nvSpPr>
          <p:cNvPr id="57" name="Text 54"/>
          <p:cNvSpPr txBox="1"/>
          <p:nvPr/>
        </p:nvSpPr>
        <p:spPr>
          <a:xfrm>
            <a:off x="6766560" y="2551176"/>
            <a:ext cx="1783080" cy="292608"/>
          </a:xfrm>
          <a:prstGeom prst="rect">
            <a:avLst/>
          </a:prstGeom>
          <a:noFill/>
          <a:ln/>
        </p:spPr>
        <p:txBody>
          <a:bodyPr wrap="square" lIns="0" tIns="0" rIns="0" bIns="0" rtlCol="0" anchor="ctr"/>
          <a:lstStyle/>
          <a:p>
            <a:pPr indent="0" marL="0">
              <a:buNone/>
            </a:pPr>
            <a:r>
              <a:rPr lang="en-US" sz="1150" b="1" dirty="0">
                <a:solidFill>
                  <a:srgbClr val="1F2124"/>
                </a:solidFill>
                <a:latin typeface="Inter" pitchFamily="34" charset="0"/>
                <a:ea typeface="Inter" pitchFamily="34" charset="-122"/>
                <a:cs typeface="Inter" pitchFamily="34" charset="-120"/>
              </a:rPr>
              <a:t>HPS</a:t>
            </a:r>
            <a:endParaRPr lang="en-US" sz="1150" dirty="0"/>
          </a:p>
        </p:txBody>
      </p:sp>
      <p:sp>
        <p:nvSpPr>
          <p:cNvPr id="58" name="Shape 55"/>
          <p:cNvSpPr/>
          <p:nvPr/>
        </p:nvSpPr>
        <p:spPr>
          <a:xfrm>
            <a:off x="8595360" y="2606040"/>
            <a:ext cx="2194560" cy="201168"/>
          </a:xfrm>
          <a:prstGeom prst="rect">
            <a:avLst/>
          </a:prstGeom>
          <a:solidFill>
            <a:srgbClr val="1F4B3F"/>
          </a:solidFill>
          <a:ln/>
        </p:spPr>
      </p:sp>
      <p:sp>
        <p:nvSpPr>
          <p:cNvPr id="59" name="Text 56"/>
          <p:cNvSpPr txBox="1"/>
          <p:nvPr/>
        </p:nvSpPr>
        <p:spPr>
          <a:xfrm>
            <a:off x="10835640" y="2551176"/>
            <a:ext cx="731520" cy="292608"/>
          </a:xfrm>
          <a:prstGeom prst="rect">
            <a:avLst/>
          </a:prstGeom>
          <a:noFill/>
          <a:ln/>
        </p:spPr>
        <p:txBody>
          <a:bodyPr wrap="square" lIns="0" tIns="0" rIns="0" bIns="0" rtlCol="0" anchor="ctr"/>
          <a:lstStyle/>
          <a:p>
            <a:pPr indent="0" marL="0">
              <a:buNone/>
            </a:pPr>
            <a:r>
              <a:rPr lang="en-US" sz="1100" dirty="0">
                <a:solidFill>
                  <a:srgbClr val="1F2124"/>
                </a:solidFill>
                <a:latin typeface="Inter" pitchFamily="34" charset="0"/>
                <a:ea typeface="Inter" pitchFamily="34" charset="-122"/>
                <a:cs typeface="Inter" pitchFamily="34" charset="-120"/>
              </a:rPr>
              <a:t>2.000</a:t>
            </a:r>
            <a:endParaRPr lang="en-US" sz="1100" dirty="0"/>
          </a:p>
        </p:txBody>
      </p:sp>
      <p:sp>
        <p:nvSpPr>
          <p:cNvPr id="60" name="Text 57"/>
          <p:cNvSpPr txBox="1"/>
          <p:nvPr/>
        </p:nvSpPr>
        <p:spPr>
          <a:xfrm>
            <a:off x="6766560" y="2889504"/>
            <a:ext cx="1783080" cy="292608"/>
          </a:xfrm>
          <a:prstGeom prst="rect">
            <a:avLst/>
          </a:prstGeom>
          <a:noFill/>
          <a:ln/>
        </p:spPr>
        <p:txBody>
          <a:bodyPr wrap="square" lIns="0" tIns="0" rIns="0" bIns="0" rtlCol="0" anchor="ctr"/>
          <a:lstStyle/>
          <a:p>
            <a:pPr indent="0" marL="0">
              <a:buNone/>
            </a:pPr>
            <a:r>
              <a:rPr lang="en-US" sz="1150" b="1" dirty="0">
                <a:solidFill>
                  <a:srgbClr val="1F2124"/>
                </a:solidFill>
                <a:latin typeface="Inter" pitchFamily="34" charset="0"/>
                <a:ea typeface="Inter" pitchFamily="34" charset="-122"/>
                <a:cs typeface="Inter" pitchFamily="34" charset="-120"/>
              </a:rPr>
              <a:t>Ares</a:t>
            </a:r>
            <a:endParaRPr lang="en-US" sz="1150" dirty="0"/>
          </a:p>
        </p:txBody>
      </p:sp>
      <p:sp>
        <p:nvSpPr>
          <p:cNvPr id="61" name="Shape 58"/>
          <p:cNvSpPr/>
          <p:nvPr/>
        </p:nvSpPr>
        <p:spPr>
          <a:xfrm>
            <a:off x="8595360" y="2944368"/>
            <a:ext cx="1920240" cy="201168"/>
          </a:xfrm>
          <a:prstGeom prst="rect">
            <a:avLst/>
          </a:prstGeom>
          <a:solidFill>
            <a:srgbClr val="1F4B3F"/>
          </a:solidFill>
          <a:ln/>
        </p:spPr>
      </p:sp>
      <p:sp>
        <p:nvSpPr>
          <p:cNvPr id="62" name="Text 59"/>
          <p:cNvSpPr txBox="1"/>
          <p:nvPr/>
        </p:nvSpPr>
        <p:spPr>
          <a:xfrm>
            <a:off x="10561320" y="2889504"/>
            <a:ext cx="731520" cy="292608"/>
          </a:xfrm>
          <a:prstGeom prst="rect">
            <a:avLst/>
          </a:prstGeom>
          <a:noFill/>
          <a:ln/>
        </p:spPr>
        <p:txBody>
          <a:bodyPr wrap="square" lIns="0" tIns="0" rIns="0" bIns="0" rtlCol="0" anchor="ctr"/>
          <a:lstStyle/>
          <a:p>
            <a:pPr indent="0" marL="0">
              <a:buNone/>
            </a:pPr>
            <a:r>
              <a:rPr lang="en-US" sz="1100" dirty="0">
                <a:solidFill>
                  <a:srgbClr val="1F2124"/>
                </a:solidFill>
                <a:latin typeface="Inter" pitchFamily="34" charset="0"/>
                <a:ea typeface="Inter" pitchFamily="34" charset="-122"/>
                <a:cs typeface="Inter" pitchFamily="34" charset="-120"/>
              </a:rPr>
              <a:t>1.750</a:t>
            </a:r>
            <a:endParaRPr lang="en-US" sz="1100" dirty="0"/>
          </a:p>
        </p:txBody>
      </p:sp>
      <p:sp>
        <p:nvSpPr>
          <p:cNvPr id="63" name="Text 60"/>
          <p:cNvSpPr txBox="1"/>
          <p:nvPr/>
        </p:nvSpPr>
        <p:spPr>
          <a:xfrm>
            <a:off x="6766560" y="3227832"/>
            <a:ext cx="1783080" cy="292608"/>
          </a:xfrm>
          <a:prstGeom prst="rect">
            <a:avLst/>
          </a:prstGeom>
          <a:noFill/>
          <a:ln/>
        </p:spPr>
        <p:txBody>
          <a:bodyPr wrap="square" lIns="0" tIns="0" rIns="0" bIns="0" rtlCol="0" anchor="ctr"/>
          <a:lstStyle/>
          <a:p>
            <a:pPr indent="0" marL="0">
              <a:buNone/>
            </a:pPr>
            <a:r>
              <a:rPr lang="en-US" sz="1150" b="1" dirty="0">
                <a:solidFill>
                  <a:srgbClr val="1F2124"/>
                </a:solidFill>
                <a:latin typeface="Inter" pitchFamily="34" charset="0"/>
                <a:ea typeface="Inter" pitchFamily="34" charset="-122"/>
                <a:cs typeface="Inter" pitchFamily="34" charset="-120"/>
              </a:rPr>
              <a:t>Oaktree</a:t>
            </a:r>
            <a:endParaRPr lang="en-US" sz="1150" dirty="0"/>
          </a:p>
        </p:txBody>
      </p:sp>
      <p:sp>
        <p:nvSpPr>
          <p:cNvPr id="64" name="Shape 61"/>
          <p:cNvSpPr/>
          <p:nvPr/>
        </p:nvSpPr>
        <p:spPr>
          <a:xfrm>
            <a:off x="8595360" y="3282696"/>
            <a:ext cx="1645920" cy="201168"/>
          </a:xfrm>
          <a:prstGeom prst="rect">
            <a:avLst/>
          </a:prstGeom>
          <a:solidFill>
            <a:srgbClr val="1F4B3F"/>
          </a:solidFill>
          <a:ln/>
        </p:spPr>
      </p:sp>
      <p:sp>
        <p:nvSpPr>
          <p:cNvPr id="65" name="Text 62"/>
          <p:cNvSpPr txBox="1"/>
          <p:nvPr/>
        </p:nvSpPr>
        <p:spPr>
          <a:xfrm>
            <a:off x="10287000" y="3227832"/>
            <a:ext cx="731520" cy="292608"/>
          </a:xfrm>
          <a:prstGeom prst="rect">
            <a:avLst/>
          </a:prstGeom>
          <a:noFill/>
          <a:ln/>
        </p:spPr>
        <p:txBody>
          <a:bodyPr wrap="square" lIns="0" tIns="0" rIns="0" bIns="0" rtlCol="0" anchor="ctr"/>
          <a:lstStyle/>
          <a:p>
            <a:pPr indent="0" marL="0">
              <a:buNone/>
            </a:pPr>
            <a:r>
              <a:rPr lang="en-US" sz="1100" dirty="0">
                <a:solidFill>
                  <a:srgbClr val="1F2124"/>
                </a:solidFill>
                <a:latin typeface="Inter" pitchFamily="34" charset="0"/>
                <a:ea typeface="Inter" pitchFamily="34" charset="-122"/>
                <a:cs typeface="Inter" pitchFamily="34" charset="-120"/>
              </a:rPr>
              <a:t>1.500</a:t>
            </a:r>
            <a:endParaRPr lang="en-US" sz="1100" dirty="0"/>
          </a:p>
        </p:txBody>
      </p:sp>
      <p:sp>
        <p:nvSpPr>
          <p:cNvPr id="66" name="Text 63"/>
          <p:cNvSpPr txBox="1"/>
          <p:nvPr/>
        </p:nvSpPr>
        <p:spPr>
          <a:xfrm>
            <a:off x="6766560" y="3566160"/>
            <a:ext cx="1783080" cy="292608"/>
          </a:xfrm>
          <a:prstGeom prst="rect">
            <a:avLst/>
          </a:prstGeom>
          <a:noFill/>
          <a:ln/>
        </p:spPr>
        <p:txBody>
          <a:bodyPr wrap="square" lIns="0" tIns="0" rIns="0" bIns="0" rtlCol="0" anchor="ctr"/>
          <a:lstStyle/>
          <a:p>
            <a:pPr indent="0" marL="0">
              <a:buNone/>
            </a:pPr>
            <a:r>
              <a:rPr lang="en-US" sz="1150" b="1" dirty="0">
                <a:solidFill>
                  <a:srgbClr val="1F2124"/>
                </a:solidFill>
                <a:latin typeface="Inter" pitchFamily="34" charset="0"/>
                <a:ea typeface="Inter" pitchFamily="34" charset="-122"/>
                <a:cs typeface="Inter" pitchFamily="34" charset="-120"/>
              </a:rPr>
              <a:t>Brookfield</a:t>
            </a:r>
            <a:endParaRPr lang="en-US" sz="1150" dirty="0"/>
          </a:p>
        </p:txBody>
      </p:sp>
      <p:sp>
        <p:nvSpPr>
          <p:cNvPr id="67" name="Shape 64"/>
          <p:cNvSpPr/>
          <p:nvPr/>
        </p:nvSpPr>
        <p:spPr>
          <a:xfrm>
            <a:off x="8595360" y="3621024"/>
            <a:ext cx="1645920" cy="201168"/>
          </a:xfrm>
          <a:prstGeom prst="rect">
            <a:avLst/>
          </a:prstGeom>
          <a:solidFill>
            <a:srgbClr val="1F4B3F"/>
          </a:solidFill>
          <a:ln/>
        </p:spPr>
      </p:sp>
      <p:sp>
        <p:nvSpPr>
          <p:cNvPr id="68" name="Text 65"/>
          <p:cNvSpPr txBox="1"/>
          <p:nvPr/>
        </p:nvSpPr>
        <p:spPr>
          <a:xfrm>
            <a:off x="10287000" y="3566160"/>
            <a:ext cx="731520" cy="292608"/>
          </a:xfrm>
          <a:prstGeom prst="rect">
            <a:avLst/>
          </a:prstGeom>
          <a:noFill/>
          <a:ln/>
        </p:spPr>
        <p:txBody>
          <a:bodyPr wrap="square" lIns="0" tIns="0" rIns="0" bIns="0" rtlCol="0" anchor="ctr"/>
          <a:lstStyle/>
          <a:p>
            <a:pPr indent="0" marL="0">
              <a:buNone/>
            </a:pPr>
            <a:r>
              <a:rPr lang="en-US" sz="1100" dirty="0">
                <a:solidFill>
                  <a:srgbClr val="1F2124"/>
                </a:solidFill>
                <a:latin typeface="Inter" pitchFamily="34" charset="0"/>
                <a:ea typeface="Inter" pitchFamily="34" charset="-122"/>
                <a:cs typeface="Inter" pitchFamily="34" charset="-120"/>
              </a:rPr>
              <a:t>1.500</a:t>
            </a:r>
            <a:endParaRPr lang="en-US" sz="1100" dirty="0"/>
          </a:p>
        </p:txBody>
      </p:sp>
      <p:sp>
        <p:nvSpPr>
          <p:cNvPr id="69" name="Text 66"/>
          <p:cNvSpPr txBox="1"/>
          <p:nvPr/>
        </p:nvSpPr>
        <p:spPr>
          <a:xfrm>
            <a:off x="6766560" y="3904488"/>
            <a:ext cx="1783080" cy="292608"/>
          </a:xfrm>
          <a:prstGeom prst="rect">
            <a:avLst/>
          </a:prstGeom>
          <a:noFill/>
          <a:ln/>
        </p:spPr>
        <p:txBody>
          <a:bodyPr wrap="square" lIns="0" tIns="0" rIns="0" bIns="0" rtlCol="0" anchor="ctr"/>
          <a:lstStyle/>
          <a:p>
            <a:pPr indent="0" marL="0">
              <a:buNone/>
            </a:pPr>
            <a:r>
              <a:rPr lang="en-US" sz="1150" b="1" dirty="0">
                <a:solidFill>
                  <a:srgbClr val="1F2124"/>
                </a:solidFill>
                <a:latin typeface="Inter" pitchFamily="34" charset="0"/>
                <a:ea typeface="Inter" pitchFamily="34" charset="-122"/>
                <a:cs typeface="Inter" pitchFamily="34" charset="-120"/>
              </a:rPr>
              <a:t>TPG Angelo Gordon</a:t>
            </a:r>
            <a:endParaRPr lang="en-US" sz="1150" dirty="0"/>
          </a:p>
        </p:txBody>
      </p:sp>
      <p:sp>
        <p:nvSpPr>
          <p:cNvPr id="70" name="Shape 67"/>
          <p:cNvSpPr/>
          <p:nvPr/>
        </p:nvSpPr>
        <p:spPr>
          <a:xfrm>
            <a:off x="8595360" y="3959352"/>
            <a:ext cx="1371600" cy="201168"/>
          </a:xfrm>
          <a:prstGeom prst="rect">
            <a:avLst/>
          </a:prstGeom>
          <a:solidFill>
            <a:srgbClr val="1F4B3F"/>
          </a:solidFill>
          <a:ln/>
        </p:spPr>
      </p:sp>
      <p:sp>
        <p:nvSpPr>
          <p:cNvPr id="71" name="Text 68"/>
          <p:cNvSpPr txBox="1"/>
          <p:nvPr/>
        </p:nvSpPr>
        <p:spPr>
          <a:xfrm>
            <a:off x="10012680" y="3904488"/>
            <a:ext cx="731520" cy="292608"/>
          </a:xfrm>
          <a:prstGeom prst="rect">
            <a:avLst/>
          </a:prstGeom>
          <a:noFill/>
          <a:ln/>
        </p:spPr>
        <p:txBody>
          <a:bodyPr wrap="square" lIns="0" tIns="0" rIns="0" bIns="0" rtlCol="0" anchor="ctr"/>
          <a:lstStyle/>
          <a:p>
            <a:pPr indent="0" marL="0">
              <a:buNone/>
            </a:pPr>
            <a:r>
              <a:rPr lang="en-US" sz="1100" dirty="0">
                <a:solidFill>
                  <a:srgbClr val="1F2124"/>
                </a:solidFill>
                <a:latin typeface="Inter" pitchFamily="34" charset="0"/>
                <a:ea typeface="Inter" pitchFamily="34" charset="-122"/>
                <a:cs typeface="Inter" pitchFamily="34" charset="-120"/>
              </a:rPr>
              <a:t>1.250</a:t>
            </a:r>
            <a:endParaRPr lang="en-US" sz="1100" dirty="0"/>
          </a:p>
        </p:txBody>
      </p:sp>
      <p:sp>
        <p:nvSpPr>
          <p:cNvPr id="72" name="Text 69"/>
          <p:cNvSpPr txBox="1"/>
          <p:nvPr/>
        </p:nvSpPr>
        <p:spPr>
          <a:xfrm>
            <a:off x="6766560" y="4242816"/>
            <a:ext cx="1783080" cy="292608"/>
          </a:xfrm>
          <a:prstGeom prst="rect">
            <a:avLst/>
          </a:prstGeom>
          <a:noFill/>
          <a:ln/>
        </p:spPr>
        <p:txBody>
          <a:bodyPr wrap="square" lIns="0" tIns="0" rIns="0" bIns="0" rtlCol="0" anchor="ctr"/>
          <a:lstStyle/>
          <a:p>
            <a:pPr indent="0" marL="0">
              <a:buNone/>
            </a:pPr>
            <a:r>
              <a:rPr lang="en-US" sz="1150" b="1" dirty="0">
                <a:solidFill>
                  <a:srgbClr val="1F2124"/>
                </a:solidFill>
                <a:latin typeface="Inter" pitchFamily="34" charset="0"/>
                <a:ea typeface="Inter" pitchFamily="34" charset="-122"/>
                <a:cs typeface="Inter" pitchFamily="34" charset="-120"/>
              </a:rPr>
              <a:t>King Street</a:t>
            </a:r>
            <a:endParaRPr lang="en-US" sz="1150" dirty="0"/>
          </a:p>
        </p:txBody>
      </p:sp>
      <p:sp>
        <p:nvSpPr>
          <p:cNvPr id="73" name="Shape 70"/>
          <p:cNvSpPr/>
          <p:nvPr/>
        </p:nvSpPr>
        <p:spPr>
          <a:xfrm>
            <a:off x="8595360" y="4297680"/>
            <a:ext cx="1179576" cy="201168"/>
          </a:xfrm>
          <a:prstGeom prst="rect">
            <a:avLst/>
          </a:prstGeom>
          <a:solidFill>
            <a:srgbClr val="1F4B3F"/>
          </a:solidFill>
          <a:ln/>
        </p:spPr>
      </p:sp>
      <p:sp>
        <p:nvSpPr>
          <p:cNvPr id="74" name="Text 71"/>
          <p:cNvSpPr txBox="1"/>
          <p:nvPr/>
        </p:nvSpPr>
        <p:spPr>
          <a:xfrm>
            <a:off x="9820656" y="4242816"/>
            <a:ext cx="731520" cy="292608"/>
          </a:xfrm>
          <a:prstGeom prst="rect">
            <a:avLst/>
          </a:prstGeom>
          <a:noFill/>
          <a:ln/>
        </p:spPr>
        <p:txBody>
          <a:bodyPr wrap="square" lIns="0" tIns="0" rIns="0" bIns="0" rtlCol="0" anchor="ctr"/>
          <a:lstStyle/>
          <a:p>
            <a:pPr indent="0" marL="0">
              <a:buNone/>
            </a:pPr>
            <a:r>
              <a:rPr lang="en-US" sz="1100" dirty="0">
                <a:solidFill>
                  <a:srgbClr val="1F2124"/>
                </a:solidFill>
                <a:latin typeface="Inter" pitchFamily="34" charset="0"/>
                <a:ea typeface="Inter" pitchFamily="34" charset="-122"/>
                <a:cs typeface="Inter" pitchFamily="34" charset="-120"/>
              </a:rPr>
              <a:t>1.075</a:t>
            </a:r>
            <a:endParaRPr lang="en-US" sz="1100" dirty="0"/>
          </a:p>
        </p:txBody>
      </p:sp>
      <p:sp>
        <p:nvSpPr>
          <p:cNvPr id="75" name="Text 72"/>
          <p:cNvSpPr txBox="1"/>
          <p:nvPr/>
        </p:nvSpPr>
        <p:spPr>
          <a:xfrm>
            <a:off x="6766560" y="4581144"/>
            <a:ext cx="1783080" cy="292608"/>
          </a:xfrm>
          <a:prstGeom prst="rect">
            <a:avLst/>
          </a:prstGeom>
          <a:noFill/>
          <a:ln/>
        </p:spPr>
        <p:txBody>
          <a:bodyPr wrap="square" lIns="0" tIns="0" rIns="0" bIns="0" rtlCol="0" anchor="ctr"/>
          <a:lstStyle/>
          <a:p>
            <a:pPr indent="0" marL="0">
              <a:buNone/>
            </a:pPr>
            <a:r>
              <a:rPr lang="en-US" sz="1150" b="1" dirty="0">
                <a:solidFill>
                  <a:srgbClr val="1F2124"/>
                </a:solidFill>
                <a:latin typeface="Inter" pitchFamily="34" charset="0"/>
                <a:ea typeface="Inter" pitchFamily="34" charset="-122"/>
                <a:cs typeface="Inter" pitchFamily="34" charset="-120"/>
              </a:rPr>
              <a:t>Magnetar</a:t>
            </a:r>
            <a:endParaRPr lang="en-US" sz="1150" dirty="0"/>
          </a:p>
        </p:txBody>
      </p:sp>
      <p:sp>
        <p:nvSpPr>
          <p:cNvPr id="76" name="Shape 73"/>
          <p:cNvSpPr/>
          <p:nvPr/>
        </p:nvSpPr>
        <p:spPr>
          <a:xfrm>
            <a:off x="8595360" y="4636008"/>
            <a:ext cx="1179576" cy="201168"/>
          </a:xfrm>
          <a:prstGeom prst="rect">
            <a:avLst/>
          </a:prstGeom>
          <a:solidFill>
            <a:srgbClr val="1F4B3F"/>
          </a:solidFill>
          <a:ln/>
        </p:spPr>
      </p:sp>
      <p:sp>
        <p:nvSpPr>
          <p:cNvPr id="77" name="Text 74"/>
          <p:cNvSpPr txBox="1"/>
          <p:nvPr/>
        </p:nvSpPr>
        <p:spPr>
          <a:xfrm>
            <a:off x="9820656" y="4581144"/>
            <a:ext cx="731520" cy="292608"/>
          </a:xfrm>
          <a:prstGeom prst="rect">
            <a:avLst/>
          </a:prstGeom>
          <a:noFill/>
          <a:ln/>
        </p:spPr>
        <p:txBody>
          <a:bodyPr wrap="square" lIns="0" tIns="0" rIns="0" bIns="0" rtlCol="0" anchor="ctr"/>
          <a:lstStyle/>
          <a:p>
            <a:pPr indent="0" marL="0">
              <a:buNone/>
            </a:pPr>
            <a:r>
              <a:rPr lang="en-US" sz="1100" dirty="0">
                <a:solidFill>
                  <a:srgbClr val="1F2124"/>
                </a:solidFill>
                <a:latin typeface="Inter" pitchFamily="34" charset="0"/>
                <a:ea typeface="Inter" pitchFamily="34" charset="-122"/>
                <a:cs typeface="Inter" pitchFamily="34" charset="-120"/>
              </a:rPr>
              <a:t>1.075</a:t>
            </a:r>
            <a:endParaRPr lang="en-US" sz="1100" dirty="0"/>
          </a:p>
        </p:txBody>
      </p:sp>
      <p:sp>
        <p:nvSpPr>
          <p:cNvPr id="78" name="Shape 75"/>
          <p:cNvSpPr/>
          <p:nvPr/>
        </p:nvSpPr>
        <p:spPr>
          <a:xfrm>
            <a:off x="6766560" y="5029200"/>
            <a:ext cx="4873752" cy="1097280"/>
          </a:xfrm>
          <a:prstGeom prst="rect">
            <a:avLst>
              <a:gd name="adj" fmla="val 5000"/>
            </a:avLst>
          </a:prstGeom>
          <a:solidFill>
            <a:srgbClr val="1A1D21"/>
          </a:solidFill>
          <a:ln/>
        </p:spPr>
      </p:sp>
      <p:sp>
        <p:nvSpPr>
          <p:cNvPr id="79" name="Text 76"/>
          <p:cNvSpPr txBox="1"/>
          <p:nvPr/>
        </p:nvSpPr>
        <p:spPr>
          <a:xfrm>
            <a:off x="6949440" y="5120640"/>
            <a:ext cx="4572000" cy="274320"/>
          </a:xfrm>
          <a:prstGeom prst="rect">
            <a:avLst/>
          </a:prstGeom>
          <a:noFill/>
          <a:ln/>
        </p:spPr>
        <p:txBody>
          <a:bodyPr wrap="square" lIns="0" tIns="0" rIns="0" bIns="0" rtlCol="0" anchor="t"/>
          <a:lstStyle/>
          <a:p>
            <a:pPr indent="0" marL="0">
              <a:buNone/>
            </a:pPr>
            <a:r>
              <a:rPr lang="en-US" sz="1300" b="1" dirty="0">
                <a:solidFill>
                  <a:srgbClr val="A8C9B8"/>
                </a:solidFill>
                <a:latin typeface="Inter" pitchFamily="34" charset="0"/>
                <a:ea typeface="Inter" pitchFamily="34" charset="-122"/>
                <a:cs typeface="Inter" pitchFamily="34" charset="-120"/>
              </a:rPr>
              <a:t>Nota de Sandra Ortega · €10.925m</a:t>
            </a:r>
            <a:endParaRPr lang="en-US" sz="1300" dirty="0"/>
          </a:p>
        </p:txBody>
      </p:sp>
      <p:sp>
        <p:nvSpPr>
          <p:cNvPr id="80" name="Text 77"/>
          <p:cNvSpPr txBox="1"/>
          <p:nvPr/>
        </p:nvSpPr>
        <p:spPr>
          <a:xfrm>
            <a:off x="6949440" y="5422392"/>
            <a:ext cx="4526280" cy="685800"/>
          </a:xfrm>
          <a:prstGeom prst="rect">
            <a:avLst/>
          </a:prstGeom>
          <a:noFill/>
          <a:ln/>
        </p:spPr>
        <p:txBody>
          <a:bodyPr wrap="square" lIns="0" tIns="0" rIns="0" bIns="0" rtlCol="0" anchor="t"/>
          <a:lstStyle/>
          <a:p>
            <a:pPr indent="0" marL="0">
              <a:buNone/>
            </a:pPr>
            <a:r>
              <a:rPr lang="en-US" sz="1100" dirty="0">
                <a:solidFill>
                  <a:srgbClr val="D9D9D6"/>
                </a:solidFill>
                <a:latin typeface="Inter" pitchFamily="34" charset="0"/>
                <a:ea typeface="Inter" pitchFamily="34" charset="-122"/>
                <a:cs typeface="Inter" pitchFamily="34" charset="-120"/>
              </a:rPr>
              <a:t>Vende todo su 5,05% y deja de ser accionista. Aplaza parte del cobro como préstamo a la TopCo: 5% anual en caja (≈€546m), a 8 años, detrás de toda la deuda.</a:t>
            </a:r>
            <a:endParaRPr lang="en-US" sz="1100" dirty="0"/>
          </a:p>
        </p:txBody>
      </p:sp>
      <p:sp>
        <p:nvSpPr>
          <p:cNvPr id="81" name="Text 78"/>
          <p:cNvSpPr txBox="1"/>
          <p:nvPr/>
        </p:nvSpPr>
        <p:spPr>
          <a:xfrm>
            <a:off x="548640" y="6327648"/>
            <a:ext cx="7863840" cy="228600"/>
          </a:xfrm>
          <a:prstGeom prst="rect">
            <a:avLst/>
          </a:prstGeom>
          <a:noFill/>
          <a:ln/>
        </p:spPr>
        <p:txBody>
          <a:bodyPr wrap="square" lIns="0" tIns="0" rIns="0" bIns="0" rtlCol="0" anchor="t"/>
          <a:lstStyle/>
          <a:p>
            <a:pPr indent="0" marL="0">
              <a:buNone/>
            </a:pPr>
            <a:r>
              <a:rPr lang="en-US" sz="900" dirty="0">
                <a:solidFill>
                  <a:srgbClr val="6E7378"/>
                </a:solidFill>
                <a:latin typeface="Inter" pitchFamily="34" charset="0"/>
                <a:ea typeface="Inter" pitchFamily="34" charset="-122"/>
                <a:cs typeface="Inter" pitchFamily="34" charset="-120"/>
              </a:rPr>
              <a:t>Propuesta de Herrera Lázaro Pérez Partners: reparto del TLB y tickets de la mezzanine sobre los importes del modelo.</a:t>
            </a:r>
            <a:endParaRPr lang="en-US" sz="900" dirty="0"/>
          </a:p>
        </p:txBody>
      </p:sp>
      <p:sp>
        <p:nvSpPr>
          <p:cNvPr id="82" name="Text 79"/>
          <p:cNvSpPr txBox="1"/>
          <p:nvPr/>
        </p:nvSpPr>
        <p:spPr>
          <a:xfrm>
            <a:off x="8595360" y="6327648"/>
            <a:ext cx="3044952" cy="228600"/>
          </a:xfrm>
          <a:prstGeom prst="rect">
            <a:avLst/>
          </a:prstGeom>
          <a:noFill/>
          <a:ln/>
        </p:spPr>
        <p:txBody>
          <a:bodyPr wrap="square" lIns="0" tIns="0" rIns="0" bIns="0" rtlCol="0" anchor="t"/>
          <a:lstStyle/>
          <a:p>
            <a:pPr algn="r" indent="0" marL="0">
              <a:buNone/>
            </a:pPr>
            <a:r>
              <a:rPr lang="en-US" sz="900" dirty="0">
                <a:solidFill>
                  <a:srgbClr val="6E7378"/>
                </a:solidFill>
                <a:latin typeface="Inter" pitchFamily="34" charset="0"/>
                <a:ea typeface="Inter" pitchFamily="34" charset="-122"/>
                <a:cs typeface="Inter" pitchFamily="34" charset="-120"/>
              </a:rPr>
              <a:t>Project Galicia  ·  Estrictamente confidencial  ·  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47472"/>
            <a:ext cx="8229600" cy="228600"/>
          </a:xfrm>
          <a:prstGeom prst="rect">
            <a:avLst/>
          </a:prstGeom>
          <a:noFill/>
          <a:ln/>
        </p:spPr>
        <p:txBody>
          <a:bodyPr wrap="square" lIns="0" tIns="0" rIns="0" bIns="0" rtlCol="0" anchor="t"/>
          <a:lstStyle/>
          <a:p>
            <a:pPr indent="0" marL="0">
              <a:buNone/>
            </a:pPr>
            <a:r>
              <a:rPr lang="en-US" sz="1100" b="1" spc="200" kern="0" dirty="0">
                <a:solidFill>
                  <a:srgbClr val="1F4B3F"/>
                </a:solidFill>
                <a:latin typeface="Inter" pitchFamily="34" charset="0"/>
                <a:ea typeface="Inter" pitchFamily="34" charset="-122"/>
                <a:cs typeface="Inter" pitchFamily="34" charset="-120"/>
              </a:rPr>
              <a:t>04  FINANCIADORES</a:t>
            </a:r>
            <a:endParaRPr lang="en-US" sz="1100" dirty="0"/>
          </a:p>
        </p:txBody>
      </p:sp>
      <p:pic>
        <p:nvPicPr>
          <p:cNvPr id="3" name="Image 0" descr="/tmp/claude-0/-home-claude/8d7de6a3-f167-5c95-8bc2-67944307bfd8/scratchpad/canva/img/HLP_monograma.png">    </p:cNvPr>
          <p:cNvPicPr>
            <a:picLocks noChangeAspect="1"/>
          </p:cNvPicPr>
          <p:nvPr/>
        </p:nvPicPr>
        <p:blipFill>
          <a:blip r:embed="rId1"/>
          <a:stretch>
            <a:fillRect/>
          </a:stretch>
        </p:blipFill>
        <p:spPr>
          <a:xfrm>
            <a:off x="11228832" y="310896"/>
            <a:ext cx="411480" cy="411480"/>
          </a:xfrm>
          <a:prstGeom prst="rect">
            <a:avLst/>
          </a:prstGeom>
        </p:spPr>
      </p:pic>
      <p:sp>
        <p:nvSpPr>
          <p:cNvPr id="4" name="Text 1"/>
          <p:cNvSpPr txBox="1"/>
          <p:nvPr/>
        </p:nvSpPr>
        <p:spPr>
          <a:xfrm>
            <a:off x="548640" y="603504"/>
            <a:ext cx="10515600" cy="822960"/>
          </a:xfrm>
          <a:prstGeom prst="rect">
            <a:avLst/>
          </a:prstGeom>
          <a:noFill/>
          <a:ln/>
        </p:spPr>
        <p:txBody>
          <a:bodyPr wrap="square" lIns="0" tIns="0" rIns="0" bIns="0" rtlCol="0" anchor="t"/>
          <a:lstStyle/>
          <a:p>
            <a:pPr indent="0" marL="0">
              <a:lnSpc>
                <a:spcPct val="95000"/>
              </a:lnSpc>
              <a:buNone/>
            </a:pPr>
            <a:r>
              <a:rPr lang="en-US" sz="2500" dirty="0">
                <a:solidFill>
                  <a:srgbClr val="1A1D21"/>
                </a:solidFill>
                <a:latin typeface="Lora" pitchFamily="34" charset="0"/>
                <a:ea typeface="Lora" pitchFamily="34" charset="-122"/>
                <a:cs typeface="Lora" pitchFamily="34" charset="-120"/>
              </a:rPr>
              <a:t>En la TopCo, Amancio Ortega es el mayor accionista y el consorcio aporta €64.693m con soberanos y fondos de pensiones</a:t>
            </a:r>
            <a:endParaRPr lang="en-US" sz="2500" dirty="0"/>
          </a:p>
        </p:txBody>
      </p:sp>
      <p:pic>
        <p:nvPicPr>
          <p:cNvPr id="5" name="Image 1" descr="/tmp/claude-0/-home-claude/8d7de6a3-f167-5c95-8bc2-67944307bfd8/scratchpad/canva/img/c9_topco.png">    </p:cNvPr>
          <p:cNvPicPr>
            <a:picLocks noChangeAspect="1"/>
          </p:cNvPicPr>
          <p:nvPr/>
        </p:nvPicPr>
        <p:blipFill>
          <a:blip r:embed="rId2"/>
          <a:stretch>
            <a:fillRect/>
          </a:stretch>
        </p:blipFill>
        <p:spPr>
          <a:xfrm>
            <a:off x="640080" y="1645920"/>
            <a:ext cx="2743200" cy="2743200"/>
          </a:xfrm>
          <a:prstGeom prst="rect">
            <a:avLst/>
          </a:prstGeom>
        </p:spPr>
      </p:pic>
      <p:sp>
        <p:nvSpPr>
          <p:cNvPr id="6" name="Shape 2"/>
          <p:cNvSpPr/>
          <p:nvPr/>
        </p:nvSpPr>
        <p:spPr>
          <a:xfrm>
            <a:off x="640080" y="4663440"/>
            <a:ext cx="182880" cy="182880"/>
          </a:xfrm>
          <a:prstGeom prst="rect">
            <a:avLst/>
          </a:prstGeom>
          <a:solidFill>
            <a:srgbClr val="1A1D21"/>
          </a:solidFill>
          <a:ln/>
        </p:spPr>
      </p:sp>
      <p:sp>
        <p:nvSpPr>
          <p:cNvPr id="7" name="Text 3"/>
          <p:cNvSpPr txBox="1"/>
          <p:nvPr/>
        </p:nvSpPr>
        <p:spPr>
          <a:xfrm>
            <a:off x="914400" y="4572000"/>
            <a:ext cx="1783080" cy="365760"/>
          </a:xfrm>
          <a:prstGeom prst="rect">
            <a:avLst/>
          </a:prstGeom>
          <a:noFill/>
          <a:ln/>
        </p:spPr>
        <p:txBody>
          <a:bodyPr wrap="square" lIns="0" tIns="0" rIns="0" bIns="0" rtlCol="0" anchor="ctr"/>
          <a:lstStyle/>
          <a:p>
            <a:pPr indent="0" marL="0">
              <a:buNone/>
            </a:pPr>
            <a:r>
              <a:rPr lang="en-US" sz="1200" b="1" dirty="0">
                <a:solidFill>
                  <a:srgbClr val="1F2124"/>
                </a:solidFill>
                <a:latin typeface="Inter" pitchFamily="34" charset="0"/>
                <a:ea typeface="Inter" pitchFamily="34" charset="-122"/>
                <a:cs typeface="Inter" pitchFamily="34" charset="-120"/>
              </a:rPr>
              <a:t>Amancio Ortega</a:t>
            </a:r>
            <a:endParaRPr lang="en-US" sz="1200" dirty="0"/>
          </a:p>
        </p:txBody>
      </p:sp>
      <p:sp>
        <p:nvSpPr>
          <p:cNvPr id="8" name="Text 4"/>
          <p:cNvSpPr txBox="1"/>
          <p:nvPr/>
        </p:nvSpPr>
        <p:spPr>
          <a:xfrm>
            <a:off x="2331720" y="4572000"/>
            <a:ext cx="1645920" cy="365760"/>
          </a:xfrm>
          <a:prstGeom prst="rect">
            <a:avLst/>
          </a:prstGeom>
          <a:noFill/>
          <a:ln/>
        </p:spPr>
        <p:txBody>
          <a:bodyPr wrap="square" lIns="0" tIns="0" rIns="0" bIns="0" rtlCol="0" anchor="ctr"/>
          <a:lstStyle/>
          <a:p>
            <a:pPr algn="r" indent="0" marL="0">
              <a:buNone/>
            </a:pPr>
            <a:r>
              <a:rPr lang="en-US" sz="1050" dirty="0">
                <a:solidFill>
                  <a:srgbClr val="1F2124"/>
                </a:solidFill>
                <a:latin typeface="Inter" pitchFamily="34" charset="0"/>
                <a:ea typeface="Inter" pitchFamily="34" charset="-122"/>
                <a:cs typeface="Inter" pitchFamily="34" charset="-120"/>
              </a:rPr>
              <a:t>43,4%  ·  €49.658m</a:t>
            </a:r>
            <a:endParaRPr lang="en-US" sz="1050" dirty="0"/>
          </a:p>
        </p:txBody>
      </p:sp>
      <p:sp>
        <p:nvSpPr>
          <p:cNvPr id="9" name="Shape 5"/>
          <p:cNvSpPr/>
          <p:nvPr/>
        </p:nvSpPr>
        <p:spPr>
          <a:xfrm>
            <a:off x="640080" y="5166360"/>
            <a:ext cx="182880" cy="182880"/>
          </a:xfrm>
          <a:prstGeom prst="rect">
            <a:avLst/>
          </a:prstGeom>
          <a:solidFill>
            <a:srgbClr val="1F4B3F"/>
          </a:solidFill>
          <a:ln/>
        </p:spPr>
      </p:sp>
      <p:sp>
        <p:nvSpPr>
          <p:cNvPr id="10" name="Text 6"/>
          <p:cNvSpPr txBox="1"/>
          <p:nvPr/>
        </p:nvSpPr>
        <p:spPr>
          <a:xfrm>
            <a:off x="914400" y="5074920"/>
            <a:ext cx="1783080" cy="365760"/>
          </a:xfrm>
          <a:prstGeom prst="rect">
            <a:avLst/>
          </a:prstGeom>
          <a:noFill/>
          <a:ln/>
        </p:spPr>
        <p:txBody>
          <a:bodyPr wrap="square" lIns="0" tIns="0" rIns="0" bIns="0" rtlCol="0" anchor="ctr"/>
          <a:lstStyle/>
          <a:p>
            <a:pPr indent="0" marL="0">
              <a:buNone/>
            </a:pPr>
            <a:r>
              <a:rPr lang="en-US" sz="1200" b="1" dirty="0">
                <a:solidFill>
                  <a:srgbClr val="1F2124"/>
                </a:solidFill>
                <a:latin typeface="Inter" pitchFamily="34" charset="0"/>
                <a:ea typeface="Inter" pitchFamily="34" charset="-122"/>
                <a:cs typeface="Inter" pitchFamily="34" charset="-120"/>
              </a:rPr>
              <a:t>Consorcio de PE (GP)</a:t>
            </a:r>
            <a:endParaRPr lang="en-US" sz="1200" dirty="0"/>
          </a:p>
        </p:txBody>
      </p:sp>
      <p:sp>
        <p:nvSpPr>
          <p:cNvPr id="11" name="Text 7"/>
          <p:cNvSpPr txBox="1"/>
          <p:nvPr/>
        </p:nvSpPr>
        <p:spPr>
          <a:xfrm>
            <a:off x="2331720" y="5074920"/>
            <a:ext cx="1645920" cy="365760"/>
          </a:xfrm>
          <a:prstGeom prst="rect">
            <a:avLst/>
          </a:prstGeom>
          <a:noFill/>
          <a:ln/>
        </p:spPr>
        <p:txBody>
          <a:bodyPr wrap="square" lIns="0" tIns="0" rIns="0" bIns="0" rtlCol="0" anchor="ctr"/>
          <a:lstStyle/>
          <a:p>
            <a:pPr algn="r" indent="0" marL="0">
              <a:buNone/>
            </a:pPr>
            <a:r>
              <a:rPr lang="en-US" sz="1050" dirty="0">
                <a:solidFill>
                  <a:srgbClr val="1F2124"/>
                </a:solidFill>
                <a:latin typeface="Inter" pitchFamily="34" charset="0"/>
                <a:ea typeface="Inter" pitchFamily="34" charset="-122"/>
                <a:cs typeface="Inter" pitchFamily="34" charset="-120"/>
              </a:rPr>
              <a:t>8,5%  ·  €9.704m</a:t>
            </a:r>
            <a:endParaRPr lang="en-US" sz="1050" dirty="0"/>
          </a:p>
        </p:txBody>
      </p:sp>
      <p:sp>
        <p:nvSpPr>
          <p:cNvPr id="12" name="Shape 8"/>
          <p:cNvSpPr/>
          <p:nvPr/>
        </p:nvSpPr>
        <p:spPr>
          <a:xfrm>
            <a:off x="640080" y="5669280"/>
            <a:ext cx="182880" cy="182880"/>
          </a:xfrm>
          <a:prstGeom prst="rect">
            <a:avLst/>
          </a:prstGeom>
          <a:solidFill>
            <a:srgbClr val="7D848C"/>
          </a:solidFill>
          <a:ln/>
        </p:spPr>
      </p:sp>
      <p:sp>
        <p:nvSpPr>
          <p:cNvPr id="13" name="Text 9"/>
          <p:cNvSpPr txBox="1"/>
          <p:nvPr/>
        </p:nvSpPr>
        <p:spPr>
          <a:xfrm>
            <a:off x="914400" y="5577840"/>
            <a:ext cx="1783080" cy="365760"/>
          </a:xfrm>
          <a:prstGeom prst="rect">
            <a:avLst/>
          </a:prstGeom>
          <a:noFill/>
          <a:ln/>
        </p:spPr>
        <p:txBody>
          <a:bodyPr wrap="square" lIns="0" tIns="0" rIns="0" bIns="0" rtlCol="0" anchor="ctr"/>
          <a:lstStyle/>
          <a:p>
            <a:pPr indent="0" marL="0">
              <a:buNone/>
            </a:pPr>
            <a:r>
              <a:rPr lang="en-US" sz="1200" b="1" dirty="0">
                <a:solidFill>
                  <a:srgbClr val="1F2124"/>
                </a:solidFill>
                <a:latin typeface="Inter" pitchFamily="34" charset="0"/>
                <a:ea typeface="Inter" pitchFamily="34" charset="-122"/>
                <a:cs typeface="Inter" pitchFamily="34" charset="-120"/>
              </a:rPr>
              <a:t>Co-inversores (LPs)</a:t>
            </a:r>
            <a:endParaRPr lang="en-US" sz="1200" dirty="0"/>
          </a:p>
        </p:txBody>
      </p:sp>
      <p:sp>
        <p:nvSpPr>
          <p:cNvPr id="14" name="Text 10"/>
          <p:cNvSpPr txBox="1"/>
          <p:nvPr/>
        </p:nvSpPr>
        <p:spPr>
          <a:xfrm>
            <a:off x="2331720" y="5577840"/>
            <a:ext cx="1645920" cy="365760"/>
          </a:xfrm>
          <a:prstGeom prst="rect">
            <a:avLst/>
          </a:prstGeom>
          <a:noFill/>
          <a:ln/>
        </p:spPr>
        <p:txBody>
          <a:bodyPr wrap="square" lIns="0" tIns="0" rIns="0" bIns="0" rtlCol="0" anchor="ctr"/>
          <a:lstStyle/>
          <a:p>
            <a:pPr algn="r" indent="0" marL="0">
              <a:buNone/>
            </a:pPr>
            <a:r>
              <a:rPr lang="en-US" sz="1050" dirty="0">
                <a:solidFill>
                  <a:srgbClr val="1F2124"/>
                </a:solidFill>
                <a:latin typeface="Inter" pitchFamily="34" charset="0"/>
                <a:ea typeface="Inter" pitchFamily="34" charset="-122"/>
                <a:cs typeface="Inter" pitchFamily="34" charset="-120"/>
              </a:rPr>
              <a:t>48,1%  ·  €54.989m</a:t>
            </a:r>
            <a:endParaRPr lang="en-US" sz="1050" dirty="0"/>
          </a:p>
        </p:txBody>
      </p:sp>
      <p:sp>
        <p:nvSpPr>
          <p:cNvPr id="15" name="Shape 11"/>
          <p:cNvSpPr/>
          <p:nvPr/>
        </p:nvSpPr>
        <p:spPr>
          <a:xfrm>
            <a:off x="4114800" y="1645920"/>
            <a:ext cx="3017520" cy="4434840"/>
          </a:xfrm>
          <a:prstGeom prst="rect">
            <a:avLst>
              <a:gd name="adj" fmla="val 1818"/>
            </a:avLst>
          </a:prstGeom>
          <a:solidFill>
            <a:srgbClr val="F3F3F2"/>
          </a:solidFill>
          <a:ln/>
        </p:spPr>
      </p:sp>
      <p:sp>
        <p:nvSpPr>
          <p:cNvPr id="16" name="Text 12"/>
          <p:cNvSpPr txBox="1"/>
          <p:nvPr/>
        </p:nvSpPr>
        <p:spPr>
          <a:xfrm>
            <a:off x="4297680" y="1783080"/>
            <a:ext cx="2743200" cy="274320"/>
          </a:xfrm>
          <a:prstGeom prst="rect">
            <a:avLst/>
          </a:prstGeom>
          <a:noFill/>
          <a:ln/>
        </p:spPr>
        <p:txBody>
          <a:bodyPr wrap="square" lIns="0" tIns="0" rIns="0" bIns="0" rtlCol="0" anchor="t"/>
          <a:lstStyle/>
          <a:p>
            <a:pPr indent="0" marL="0">
              <a:buNone/>
            </a:pPr>
            <a:r>
              <a:rPr lang="en-US" sz="1500" b="1" dirty="0">
                <a:solidFill>
                  <a:srgbClr val="1A1D21"/>
                </a:solidFill>
                <a:latin typeface="Inter" pitchFamily="34" charset="0"/>
                <a:ea typeface="Inter" pitchFamily="34" charset="-122"/>
                <a:cs typeface="Inter" pitchFamily="34" charset="-120"/>
              </a:rPr>
              <a:t>Consorcio de PE</a:t>
            </a:r>
            <a:endParaRPr lang="en-US" sz="1500" dirty="0"/>
          </a:p>
        </p:txBody>
      </p:sp>
      <p:sp>
        <p:nvSpPr>
          <p:cNvPr id="17" name="Shape 13"/>
          <p:cNvSpPr/>
          <p:nvPr/>
        </p:nvSpPr>
        <p:spPr>
          <a:xfrm>
            <a:off x="4297680" y="2148840"/>
            <a:ext cx="1554480" cy="347472"/>
          </a:xfrm>
          <a:prstGeom prst="rect">
            <a:avLst>
              <a:gd name="adj" fmla="val 13158"/>
            </a:avLst>
          </a:prstGeom>
          <a:solidFill>
            <a:srgbClr val="1F4B3F"/>
          </a:solidFill>
          <a:ln/>
        </p:spPr>
      </p:sp>
      <p:sp>
        <p:nvSpPr>
          <p:cNvPr id="18" name="Text 14"/>
          <p:cNvSpPr txBox="1"/>
          <p:nvPr/>
        </p:nvSpPr>
        <p:spPr>
          <a:xfrm>
            <a:off x="4297680" y="2148840"/>
            <a:ext cx="1554480"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Inter" pitchFamily="34" charset="0"/>
                <a:ea typeface="Inter" pitchFamily="34" charset="-122"/>
                <a:cs typeface="Inter" pitchFamily="34" charset="-120"/>
              </a:rPr>
              <a:t>Nuestro cliente</a:t>
            </a:r>
            <a:endParaRPr lang="en-US" sz="1150" dirty="0"/>
          </a:p>
        </p:txBody>
      </p:sp>
      <p:sp>
        <p:nvSpPr>
          <p:cNvPr id="19" name="Text 15"/>
          <p:cNvSpPr txBox="1"/>
          <p:nvPr/>
        </p:nvSpPr>
        <p:spPr>
          <a:xfrm>
            <a:off x="4297680" y="2651760"/>
            <a:ext cx="2651760" cy="1188720"/>
          </a:xfrm>
          <a:prstGeom prst="rect">
            <a:avLst/>
          </a:prstGeom>
          <a:noFill/>
          <a:ln/>
        </p:spPr>
        <p:txBody>
          <a:bodyPr wrap="square" lIns="0" tIns="0" rIns="0" bIns="0" rtlCol="0" anchor="t"/>
          <a:lstStyle/>
          <a:p>
            <a:pPr indent="0" marL="0">
              <a:buNone/>
            </a:pPr>
            <a:r>
              <a:rPr lang="en-US" sz="1200" dirty="0">
                <a:solidFill>
                  <a:srgbClr val="1F2124"/>
                </a:solidFill>
                <a:latin typeface="Inter" pitchFamily="34" charset="0"/>
                <a:ea typeface="Inter" pitchFamily="34" charset="-122"/>
                <a:cs typeface="Inter" pitchFamily="34" charset="-120"/>
              </a:rPr>
              <a:t>Club deal de varios fondos de PE: pone el 15% del cheque (€9.704m), lidera la operación, gestiona Inditex y cobra el carry.</a:t>
            </a:r>
            <a:endParaRPr lang="en-US" sz="1200" dirty="0"/>
          </a:p>
        </p:txBody>
      </p:sp>
      <p:sp>
        <p:nvSpPr>
          <p:cNvPr id="20" name="Text 16"/>
          <p:cNvSpPr txBox="1"/>
          <p:nvPr/>
        </p:nvSpPr>
        <p:spPr>
          <a:xfrm>
            <a:off x="4297680" y="3931920"/>
            <a:ext cx="2651760" cy="274320"/>
          </a:xfrm>
          <a:prstGeom prst="rect">
            <a:avLst/>
          </a:prstGeom>
          <a:noFill/>
          <a:ln/>
        </p:spPr>
        <p:txBody>
          <a:bodyPr wrap="square" lIns="0" tIns="0" rIns="0" bIns="0" rtlCol="0" anchor="t"/>
          <a:lstStyle/>
          <a:p>
            <a:pPr indent="0" marL="0">
              <a:buNone/>
            </a:pPr>
            <a:r>
              <a:rPr lang="en-US" sz="1300" b="1" dirty="0">
                <a:solidFill>
                  <a:srgbClr val="1A1D21"/>
                </a:solidFill>
                <a:latin typeface="Inter" pitchFamily="34" charset="0"/>
                <a:ea typeface="Inter" pitchFamily="34" charset="-122"/>
                <a:cs typeface="Inter" pitchFamily="34" charset="-120"/>
              </a:rPr>
              <a:t>Waterfall del consorcio</a:t>
            </a:r>
            <a:endParaRPr lang="en-US" sz="1300" dirty="0"/>
          </a:p>
        </p:txBody>
      </p:sp>
      <p:sp>
        <p:nvSpPr>
          <p:cNvPr id="21" name="Text 17"/>
          <p:cNvSpPr txBox="1"/>
          <p:nvPr/>
        </p:nvSpPr>
        <p:spPr>
          <a:xfrm>
            <a:off x="4297680" y="4251960"/>
            <a:ext cx="2697480" cy="1645920"/>
          </a:xfrm>
          <a:prstGeom prst="rect">
            <a:avLst/>
          </a:prstGeom>
          <a:noFill/>
          <a:ln/>
        </p:spPr>
        <p:txBody>
          <a:bodyPr wrap="square" lIns="0" tIns="0" rIns="0" bIns="0" rtlCol="0" anchor="t"/>
          <a:lstStyle/>
          <a:p>
            <a:pPr indent="0" marL="0">
              <a:lnSpc>
                <a:spcPct val="120000"/>
              </a:lnSpc>
              <a:buNone/>
            </a:pPr>
            <a:r>
              <a:rPr lang="en-US" sz="1200" dirty="0">
                <a:solidFill>
                  <a:srgbClr val="1F2124"/>
                </a:solidFill>
                <a:latin typeface="Inter" pitchFamily="34" charset="0"/>
                <a:ea typeface="Inter" pitchFamily="34" charset="-122"/>
                <a:cs typeface="Inter" pitchFamily="34" charset="-120"/>
              </a:rPr>
              <a:t>1. Los LPs recuperan su capital</a:t>
            </a:r>
            <a:endParaRPr lang="en-US" sz="1200" dirty="0"/>
          </a:p>
          <a:p>
            <a:pPr indent="0" marL="0">
              <a:lnSpc>
                <a:spcPct val="120000"/>
              </a:lnSpc>
              <a:buNone/>
            </a:pPr>
            <a:r>
              <a:rPr lang="en-US" sz="1200" dirty="0">
                <a:solidFill>
                  <a:srgbClr val="1F2124"/>
                </a:solidFill>
                <a:latin typeface="Inter" pitchFamily="34" charset="0"/>
                <a:ea typeface="Inter" pitchFamily="34" charset="-122"/>
                <a:cs typeface="Inter" pitchFamily="34" charset="-120"/>
              </a:rPr>
              <a:t>2. Hurdle del 8% anual compuesto</a:t>
            </a:r>
            <a:endParaRPr lang="en-US" sz="1200" dirty="0"/>
          </a:p>
          <a:p>
            <a:pPr indent="0" marL="0">
              <a:lnSpc>
                <a:spcPct val="120000"/>
              </a:lnSpc>
              <a:buNone/>
            </a:pPr>
            <a:r>
              <a:rPr lang="en-US" sz="1200" dirty="0">
                <a:solidFill>
                  <a:srgbClr val="1F2124"/>
                </a:solidFill>
                <a:latin typeface="Inter" pitchFamily="34" charset="0"/>
                <a:ea typeface="Inter" pitchFamily="34" charset="-122"/>
                <a:cs typeface="Inter" pitchFamily="34" charset="-120"/>
              </a:rPr>
              <a:t>3. Catch-up del 100% para el GP</a:t>
            </a:r>
            <a:endParaRPr lang="en-US" sz="1200" dirty="0"/>
          </a:p>
          <a:p>
            <a:pPr indent="0" marL="0">
              <a:lnSpc>
                <a:spcPct val="120000"/>
              </a:lnSpc>
              <a:buNone/>
            </a:pPr>
            <a:r>
              <a:rPr lang="en-US" sz="1200" dirty="0">
                <a:solidFill>
                  <a:srgbClr val="1F2124"/>
                </a:solidFill>
                <a:latin typeface="Inter" pitchFamily="34" charset="0"/>
                <a:ea typeface="Inter" pitchFamily="34" charset="-122"/>
                <a:cs typeface="Inter" pitchFamily="34" charset="-120"/>
              </a:rPr>
              <a:t>4. Reparto 80% LPs / 20% GP</a:t>
            </a:r>
            <a:endParaRPr lang="en-US" sz="1200" dirty="0"/>
          </a:p>
        </p:txBody>
      </p:sp>
      <p:sp>
        <p:nvSpPr>
          <p:cNvPr id="22" name="Text 18"/>
          <p:cNvSpPr txBox="1"/>
          <p:nvPr/>
        </p:nvSpPr>
        <p:spPr>
          <a:xfrm>
            <a:off x="7406640" y="1645920"/>
            <a:ext cx="4297680" cy="228600"/>
          </a:xfrm>
          <a:prstGeom prst="rect">
            <a:avLst/>
          </a:prstGeom>
          <a:noFill/>
          <a:ln/>
        </p:spPr>
        <p:txBody>
          <a:bodyPr wrap="square" lIns="0" tIns="0" rIns="0" bIns="0" rtlCol="0" anchor="t"/>
          <a:lstStyle/>
          <a:p>
            <a:pPr indent="0" marL="0">
              <a:buNone/>
            </a:pPr>
            <a:r>
              <a:rPr lang="en-US" sz="1100" b="1" spc="100" kern="0" dirty="0">
                <a:solidFill>
                  <a:srgbClr val="1F4B3F"/>
                </a:solidFill>
                <a:latin typeface="Inter" pitchFamily="34" charset="0"/>
                <a:ea typeface="Inter" pitchFamily="34" charset="-122"/>
                <a:cs typeface="Inter" pitchFamily="34" charset="-120"/>
              </a:rPr>
              <a:t>CO-INVERSORES (LPs) · 85% del cheque · €54.989m</a:t>
            </a:r>
            <a:endParaRPr lang="en-US" sz="1100" dirty="0"/>
          </a:p>
        </p:txBody>
      </p:sp>
      <p:sp>
        <p:nvSpPr>
          <p:cNvPr id="23" name="Text 19"/>
          <p:cNvSpPr txBox="1"/>
          <p:nvPr/>
        </p:nvSpPr>
        <p:spPr>
          <a:xfrm>
            <a:off x="7406640" y="1938528"/>
            <a:ext cx="1417320" cy="374904"/>
          </a:xfrm>
          <a:prstGeom prst="rect">
            <a:avLst/>
          </a:prstGeom>
          <a:solidFill>
            <a:srgbClr val="1A1D21"/>
          </a:solidFill>
          <a:ln/>
        </p:spPr>
        <p:txBody>
          <a:bodyPr wrap="square" lIns="0" tIns="76200" rIns="76200" bIns="0" rtlCol="0" anchor="ctr"/>
          <a:lstStyle/>
          <a:p>
            <a:pPr algn="l" indent="0" marL="0">
              <a:buNone/>
            </a:pPr>
            <a:r>
              <a:rPr lang="en-US" sz="1050" b="1" dirty="0">
                <a:solidFill>
                  <a:srgbClr val="FFFFFF"/>
                </a:solidFill>
                <a:latin typeface="Inter" pitchFamily="34" charset="0"/>
                <a:ea typeface="Inter" pitchFamily="34" charset="-122"/>
                <a:cs typeface="Inter" pitchFamily="34" charset="-120"/>
              </a:rPr>
              <a:t>Inversor</a:t>
            </a:r>
            <a:endParaRPr lang="en-US" sz="1050" dirty="0"/>
          </a:p>
        </p:txBody>
      </p:sp>
      <p:sp>
        <p:nvSpPr>
          <p:cNvPr id="24" name="Text 20"/>
          <p:cNvSpPr txBox="1"/>
          <p:nvPr/>
        </p:nvSpPr>
        <p:spPr>
          <a:xfrm>
            <a:off x="8823960" y="1938528"/>
            <a:ext cx="1600200" cy="374904"/>
          </a:xfrm>
          <a:prstGeom prst="rect">
            <a:avLst/>
          </a:prstGeom>
          <a:solidFill>
            <a:srgbClr val="1A1D21"/>
          </a:solidFill>
          <a:ln/>
        </p:spPr>
        <p:txBody>
          <a:bodyPr wrap="square" lIns="0" tIns="76200" rIns="76200" bIns="0" rtlCol="0" anchor="ctr"/>
          <a:lstStyle/>
          <a:p>
            <a:pPr algn="l" indent="0" marL="0">
              <a:buNone/>
            </a:pPr>
            <a:r>
              <a:rPr lang="en-US" sz="1050" b="1" dirty="0">
                <a:solidFill>
                  <a:srgbClr val="FFFFFF"/>
                </a:solidFill>
                <a:latin typeface="Inter" pitchFamily="34" charset="0"/>
                <a:ea typeface="Inter" pitchFamily="34" charset="-122"/>
                <a:cs typeface="Inter" pitchFamily="34" charset="-120"/>
              </a:rPr>
              <a:t>Tipo</a:t>
            </a:r>
            <a:endParaRPr lang="en-US" sz="1050" dirty="0"/>
          </a:p>
        </p:txBody>
      </p:sp>
      <p:sp>
        <p:nvSpPr>
          <p:cNvPr id="25" name="Text 21"/>
          <p:cNvSpPr txBox="1"/>
          <p:nvPr/>
        </p:nvSpPr>
        <p:spPr>
          <a:xfrm>
            <a:off x="10424160" y="1938528"/>
            <a:ext cx="804672" cy="374904"/>
          </a:xfrm>
          <a:prstGeom prst="rect">
            <a:avLst/>
          </a:prstGeom>
          <a:solidFill>
            <a:srgbClr val="1A1D21"/>
          </a:solidFill>
          <a:ln/>
        </p:spPr>
        <p:txBody>
          <a:bodyPr wrap="square" lIns="0" tIns="76200" rIns="76200" bIns="0" rtlCol="0" anchor="ctr"/>
          <a:lstStyle/>
          <a:p>
            <a:pPr algn="r" indent="0" marL="0">
              <a:buNone/>
            </a:pPr>
            <a:r>
              <a:rPr lang="en-US" sz="1050" b="1" dirty="0">
                <a:solidFill>
                  <a:srgbClr val="FFFFFF"/>
                </a:solidFill>
                <a:latin typeface="Inter" pitchFamily="34" charset="0"/>
                <a:ea typeface="Inter" pitchFamily="34" charset="-122"/>
                <a:cs typeface="Inter" pitchFamily="34" charset="-120"/>
              </a:rPr>
              <a:t>€m</a:t>
            </a:r>
            <a:endParaRPr lang="en-US" sz="1050" dirty="0"/>
          </a:p>
        </p:txBody>
      </p:sp>
      <p:sp>
        <p:nvSpPr>
          <p:cNvPr id="26" name="Text 22"/>
          <p:cNvSpPr txBox="1"/>
          <p:nvPr/>
        </p:nvSpPr>
        <p:spPr>
          <a:xfrm>
            <a:off x="11228832" y="1938528"/>
            <a:ext cx="411480" cy="374904"/>
          </a:xfrm>
          <a:prstGeom prst="rect">
            <a:avLst/>
          </a:prstGeom>
          <a:solidFill>
            <a:srgbClr val="1A1D21"/>
          </a:solidFill>
          <a:ln/>
        </p:spPr>
        <p:txBody>
          <a:bodyPr wrap="square" lIns="0" tIns="76200" rIns="76200" bIns="0" rtlCol="0" anchor="ctr"/>
          <a:lstStyle/>
          <a:p>
            <a:pPr algn="r" indent="0" marL="0">
              <a:buNone/>
            </a:pPr>
            <a:r>
              <a:rPr lang="en-US" sz="1050" b="1" dirty="0">
                <a:solidFill>
                  <a:srgbClr val="FFFFFF"/>
                </a:solidFill>
                <a:latin typeface="Inter" pitchFamily="34" charset="0"/>
                <a:ea typeface="Inter" pitchFamily="34" charset="-122"/>
                <a:cs typeface="Inter" pitchFamily="34" charset="-120"/>
              </a:rPr>
              <a:t>%</a:t>
            </a:r>
            <a:endParaRPr lang="en-US" sz="1050" dirty="0"/>
          </a:p>
        </p:txBody>
      </p:sp>
      <p:sp>
        <p:nvSpPr>
          <p:cNvPr id="27" name="Text 23"/>
          <p:cNvSpPr txBox="1"/>
          <p:nvPr/>
        </p:nvSpPr>
        <p:spPr>
          <a:xfrm>
            <a:off x="7406640" y="2313432"/>
            <a:ext cx="1417320" cy="374904"/>
          </a:xfrm>
          <a:prstGeom prst="rect">
            <a:avLst/>
          </a:prstGeom>
          <a:solidFill>
            <a:srgbClr val="FFFFFF"/>
          </a:solidFill>
          <a:ln/>
        </p:spPr>
        <p:txBody>
          <a:bodyPr wrap="square" lIns="0" tIns="76200" rIns="76200" bIns="0" rtlCol="0" anchor="ctr"/>
          <a:lstStyle/>
          <a:p>
            <a:pPr algn="l" indent="0" marL="0">
              <a:buNone/>
            </a:pPr>
            <a:r>
              <a:rPr lang="en-US" sz="1100" b="1" dirty="0">
                <a:solidFill>
                  <a:srgbClr val="1F2124"/>
                </a:solidFill>
                <a:latin typeface="Inter" pitchFamily="34" charset="0"/>
                <a:ea typeface="Inter" pitchFamily="34" charset="-122"/>
                <a:cs typeface="Inter" pitchFamily="34" charset="-120"/>
              </a:rPr>
              <a:t>GIC</a:t>
            </a:r>
            <a:endParaRPr lang="en-US" sz="1100" dirty="0"/>
          </a:p>
        </p:txBody>
      </p:sp>
      <p:sp>
        <p:nvSpPr>
          <p:cNvPr id="28" name="Text 24"/>
          <p:cNvSpPr txBox="1"/>
          <p:nvPr/>
        </p:nvSpPr>
        <p:spPr>
          <a:xfrm>
            <a:off x="8823960" y="2313432"/>
            <a:ext cx="1600200" cy="374904"/>
          </a:xfrm>
          <a:prstGeom prst="rect">
            <a:avLst/>
          </a:prstGeom>
          <a:solidFill>
            <a:srgbClr val="FFFFFF"/>
          </a:solidFill>
          <a:ln/>
        </p:spPr>
        <p:txBody>
          <a:bodyPr wrap="square" lIns="0" tIns="76200" rIns="76200" bIns="0" rtlCol="0" anchor="ctr"/>
          <a:lstStyle/>
          <a:p>
            <a:pPr algn="l" indent="0" marL="0">
              <a:buNone/>
            </a:pPr>
            <a:r>
              <a:rPr lang="en-US" sz="1100" dirty="0">
                <a:solidFill>
                  <a:srgbClr val="1F2124"/>
                </a:solidFill>
                <a:latin typeface="Inter" pitchFamily="34" charset="0"/>
                <a:ea typeface="Inter" pitchFamily="34" charset="-122"/>
                <a:cs typeface="Inter" pitchFamily="34" charset="-120"/>
              </a:rPr>
              <a:t>Soberano · Singapur</a:t>
            </a:r>
            <a:endParaRPr lang="en-US" sz="1100" dirty="0"/>
          </a:p>
        </p:txBody>
      </p:sp>
      <p:sp>
        <p:nvSpPr>
          <p:cNvPr id="29" name="Text 25"/>
          <p:cNvSpPr txBox="1"/>
          <p:nvPr/>
        </p:nvSpPr>
        <p:spPr>
          <a:xfrm>
            <a:off x="10424160" y="2313432"/>
            <a:ext cx="804672" cy="374904"/>
          </a:xfrm>
          <a:prstGeom prst="rect">
            <a:avLst/>
          </a:prstGeom>
          <a:solidFill>
            <a:srgbClr val="FFFFFF"/>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9.000</a:t>
            </a:r>
            <a:endParaRPr lang="en-US" sz="1100" dirty="0"/>
          </a:p>
        </p:txBody>
      </p:sp>
      <p:sp>
        <p:nvSpPr>
          <p:cNvPr id="30" name="Text 26"/>
          <p:cNvSpPr txBox="1"/>
          <p:nvPr/>
        </p:nvSpPr>
        <p:spPr>
          <a:xfrm>
            <a:off x="11228832" y="2313432"/>
            <a:ext cx="411480" cy="374904"/>
          </a:xfrm>
          <a:prstGeom prst="rect">
            <a:avLst/>
          </a:prstGeom>
          <a:solidFill>
            <a:srgbClr val="FFFFFF"/>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7,9</a:t>
            </a:r>
            <a:endParaRPr lang="en-US" sz="1100" dirty="0"/>
          </a:p>
        </p:txBody>
      </p:sp>
      <p:sp>
        <p:nvSpPr>
          <p:cNvPr id="31" name="Text 27"/>
          <p:cNvSpPr txBox="1"/>
          <p:nvPr/>
        </p:nvSpPr>
        <p:spPr>
          <a:xfrm>
            <a:off x="7406640" y="2688336"/>
            <a:ext cx="1417320" cy="374904"/>
          </a:xfrm>
          <a:prstGeom prst="rect">
            <a:avLst/>
          </a:prstGeom>
          <a:solidFill>
            <a:srgbClr val="F3F3F2"/>
          </a:solidFill>
          <a:ln/>
        </p:spPr>
        <p:txBody>
          <a:bodyPr wrap="square" lIns="0" tIns="76200" rIns="76200" bIns="0" rtlCol="0" anchor="ctr"/>
          <a:lstStyle/>
          <a:p>
            <a:pPr algn="l" indent="0" marL="0">
              <a:buNone/>
            </a:pPr>
            <a:r>
              <a:rPr lang="en-US" sz="1100" b="1" dirty="0">
                <a:solidFill>
                  <a:srgbClr val="1F2124"/>
                </a:solidFill>
                <a:latin typeface="Inter" pitchFamily="34" charset="0"/>
                <a:ea typeface="Inter" pitchFamily="34" charset="-122"/>
                <a:cs typeface="Inter" pitchFamily="34" charset="-120"/>
              </a:rPr>
              <a:t>ADIA</a:t>
            </a:r>
            <a:endParaRPr lang="en-US" sz="1100" dirty="0"/>
          </a:p>
        </p:txBody>
      </p:sp>
      <p:sp>
        <p:nvSpPr>
          <p:cNvPr id="32" name="Text 28"/>
          <p:cNvSpPr txBox="1"/>
          <p:nvPr/>
        </p:nvSpPr>
        <p:spPr>
          <a:xfrm>
            <a:off x="8823960" y="2688336"/>
            <a:ext cx="1600200" cy="374904"/>
          </a:xfrm>
          <a:prstGeom prst="rect">
            <a:avLst/>
          </a:prstGeom>
          <a:solidFill>
            <a:srgbClr val="F3F3F2"/>
          </a:solidFill>
          <a:ln/>
        </p:spPr>
        <p:txBody>
          <a:bodyPr wrap="square" lIns="0" tIns="76200" rIns="76200" bIns="0" rtlCol="0" anchor="ctr"/>
          <a:lstStyle/>
          <a:p>
            <a:pPr algn="l" indent="0" marL="0">
              <a:buNone/>
            </a:pPr>
            <a:r>
              <a:rPr lang="en-US" sz="1100" dirty="0">
                <a:solidFill>
                  <a:srgbClr val="1F2124"/>
                </a:solidFill>
                <a:latin typeface="Inter" pitchFamily="34" charset="0"/>
                <a:ea typeface="Inter" pitchFamily="34" charset="-122"/>
                <a:cs typeface="Inter" pitchFamily="34" charset="-120"/>
              </a:rPr>
              <a:t>Soberano · Abu Dabi</a:t>
            </a:r>
            <a:endParaRPr lang="en-US" sz="1100" dirty="0"/>
          </a:p>
        </p:txBody>
      </p:sp>
      <p:sp>
        <p:nvSpPr>
          <p:cNvPr id="33" name="Text 29"/>
          <p:cNvSpPr txBox="1"/>
          <p:nvPr/>
        </p:nvSpPr>
        <p:spPr>
          <a:xfrm>
            <a:off x="10424160" y="2688336"/>
            <a:ext cx="804672" cy="374904"/>
          </a:xfrm>
          <a:prstGeom prst="rect">
            <a:avLst/>
          </a:prstGeom>
          <a:solidFill>
            <a:srgbClr val="F3F3F2"/>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9.000</a:t>
            </a:r>
            <a:endParaRPr lang="en-US" sz="1100" dirty="0"/>
          </a:p>
        </p:txBody>
      </p:sp>
      <p:sp>
        <p:nvSpPr>
          <p:cNvPr id="34" name="Text 30"/>
          <p:cNvSpPr txBox="1"/>
          <p:nvPr/>
        </p:nvSpPr>
        <p:spPr>
          <a:xfrm>
            <a:off x="11228832" y="2688336"/>
            <a:ext cx="411480" cy="374904"/>
          </a:xfrm>
          <a:prstGeom prst="rect">
            <a:avLst/>
          </a:prstGeom>
          <a:solidFill>
            <a:srgbClr val="F3F3F2"/>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7,9</a:t>
            </a:r>
            <a:endParaRPr lang="en-US" sz="1100" dirty="0"/>
          </a:p>
        </p:txBody>
      </p:sp>
      <p:sp>
        <p:nvSpPr>
          <p:cNvPr id="35" name="Text 31"/>
          <p:cNvSpPr txBox="1"/>
          <p:nvPr/>
        </p:nvSpPr>
        <p:spPr>
          <a:xfrm>
            <a:off x="7406640" y="3063240"/>
            <a:ext cx="1417320" cy="374904"/>
          </a:xfrm>
          <a:prstGeom prst="rect">
            <a:avLst/>
          </a:prstGeom>
          <a:solidFill>
            <a:srgbClr val="FFFFFF"/>
          </a:solidFill>
          <a:ln/>
        </p:spPr>
        <p:txBody>
          <a:bodyPr wrap="square" lIns="0" tIns="76200" rIns="76200" bIns="0" rtlCol="0" anchor="ctr"/>
          <a:lstStyle/>
          <a:p>
            <a:pPr algn="l" indent="0" marL="0">
              <a:buNone/>
            </a:pPr>
            <a:r>
              <a:rPr lang="en-US" sz="1100" b="1" dirty="0">
                <a:solidFill>
                  <a:srgbClr val="1F2124"/>
                </a:solidFill>
                <a:latin typeface="Inter" pitchFamily="34" charset="0"/>
                <a:ea typeface="Inter" pitchFamily="34" charset="-122"/>
                <a:cs typeface="Inter" pitchFamily="34" charset="-120"/>
              </a:rPr>
              <a:t>QIA</a:t>
            </a:r>
            <a:endParaRPr lang="en-US" sz="1100" dirty="0"/>
          </a:p>
        </p:txBody>
      </p:sp>
      <p:sp>
        <p:nvSpPr>
          <p:cNvPr id="36" name="Text 32"/>
          <p:cNvSpPr txBox="1"/>
          <p:nvPr/>
        </p:nvSpPr>
        <p:spPr>
          <a:xfrm>
            <a:off x="8823960" y="3063240"/>
            <a:ext cx="1600200" cy="374904"/>
          </a:xfrm>
          <a:prstGeom prst="rect">
            <a:avLst/>
          </a:prstGeom>
          <a:solidFill>
            <a:srgbClr val="FFFFFF"/>
          </a:solidFill>
          <a:ln/>
        </p:spPr>
        <p:txBody>
          <a:bodyPr wrap="square" lIns="0" tIns="76200" rIns="76200" bIns="0" rtlCol="0" anchor="ctr"/>
          <a:lstStyle/>
          <a:p>
            <a:pPr algn="l" indent="0" marL="0">
              <a:buNone/>
            </a:pPr>
            <a:r>
              <a:rPr lang="en-US" sz="1100" dirty="0">
                <a:solidFill>
                  <a:srgbClr val="1F2124"/>
                </a:solidFill>
                <a:latin typeface="Inter" pitchFamily="34" charset="0"/>
                <a:ea typeface="Inter" pitchFamily="34" charset="-122"/>
                <a:cs typeface="Inter" pitchFamily="34" charset="-120"/>
              </a:rPr>
              <a:t>Soberano · Catar</a:t>
            </a:r>
            <a:endParaRPr lang="en-US" sz="1100" dirty="0"/>
          </a:p>
        </p:txBody>
      </p:sp>
      <p:sp>
        <p:nvSpPr>
          <p:cNvPr id="37" name="Text 33"/>
          <p:cNvSpPr txBox="1"/>
          <p:nvPr/>
        </p:nvSpPr>
        <p:spPr>
          <a:xfrm>
            <a:off x="10424160" y="3063240"/>
            <a:ext cx="804672" cy="374904"/>
          </a:xfrm>
          <a:prstGeom prst="rect">
            <a:avLst/>
          </a:prstGeom>
          <a:solidFill>
            <a:srgbClr val="FFFFFF"/>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7.000</a:t>
            </a:r>
            <a:endParaRPr lang="en-US" sz="1100" dirty="0"/>
          </a:p>
        </p:txBody>
      </p:sp>
      <p:sp>
        <p:nvSpPr>
          <p:cNvPr id="38" name="Text 34"/>
          <p:cNvSpPr txBox="1"/>
          <p:nvPr/>
        </p:nvSpPr>
        <p:spPr>
          <a:xfrm>
            <a:off x="11228832" y="3063240"/>
            <a:ext cx="411480" cy="374904"/>
          </a:xfrm>
          <a:prstGeom prst="rect">
            <a:avLst/>
          </a:prstGeom>
          <a:solidFill>
            <a:srgbClr val="FFFFFF"/>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6,1</a:t>
            </a:r>
            <a:endParaRPr lang="en-US" sz="1100" dirty="0"/>
          </a:p>
        </p:txBody>
      </p:sp>
      <p:sp>
        <p:nvSpPr>
          <p:cNvPr id="39" name="Text 35"/>
          <p:cNvSpPr txBox="1"/>
          <p:nvPr/>
        </p:nvSpPr>
        <p:spPr>
          <a:xfrm>
            <a:off x="7406640" y="3438144"/>
            <a:ext cx="1417320" cy="374904"/>
          </a:xfrm>
          <a:prstGeom prst="rect">
            <a:avLst/>
          </a:prstGeom>
          <a:solidFill>
            <a:srgbClr val="F3F3F2"/>
          </a:solidFill>
          <a:ln/>
        </p:spPr>
        <p:txBody>
          <a:bodyPr wrap="square" lIns="0" tIns="76200" rIns="76200" bIns="0" rtlCol="0" anchor="ctr"/>
          <a:lstStyle/>
          <a:p>
            <a:pPr algn="l" indent="0" marL="0">
              <a:buNone/>
            </a:pPr>
            <a:r>
              <a:rPr lang="en-US" sz="1100" b="1" dirty="0">
                <a:solidFill>
                  <a:srgbClr val="1F2124"/>
                </a:solidFill>
                <a:latin typeface="Inter" pitchFamily="34" charset="0"/>
                <a:ea typeface="Inter" pitchFamily="34" charset="-122"/>
                <a:cs typeface="Inter" pitchFamily="34" charset="-120"/>
              </a:rPr>
              <a:t>PIF</a:t>
            </a:r>
            <a:endParaRPr lang="en-US" sz="1100" dirty="0"/>
          </a:p>
        </p:txBody>
      </p:sp>
      <p:sp>
        <p:nvSpPr>
          <p:cNvPr id="40" name="Text 36"/>
          <p:cNvSpPr txBox="1"/>
          <p:nvPr/>
        </p:nvSpPr>
        <p:spPr>
          <a:xfrm>
            <a:off x="8823960" y="3438144"/>
            <a:ext cx="1600200" cy="374904"/>
          </a:xfrm>
          <a:prstGeom prst="rect">
            <a:avLst/>
          </a:prstGeom>
          <a:solidFill>
            <a:srgbClr val="F3F3F2"/>
          </a:solidFill>
          <a:ln/>
        </p:spPr>
        <p:txBody>
          <a:bodyPr wrap="square" lIns="0" tIns="76200" rIns="76200" bIns="0" rtlCol="0" anchor="ctr"/>
          <a:lstStyle/>
          <a:p>
            <a:pPr algn="l" indent="0" marL="0">
              <a:buNone/>
            </a:pPr>
            <a:r>
              <a:rPr lang="en-US" sz="1100" dirty="0">
                <a:solidFill>
                  <a:srgbClr val="1F2124"/>
                </a:solidFill>
                <a:latin typeface="Inter" pitchFamily="34" charset="0"/>
                <a:ea typeface="Inter" pitchFamily="34" charset="-122"/>
                <a:cs typeface="Inter" pitchFamily="34" charset="-120"/>
              </a:rPr>
              <a:t>Soberano · Arabia S.</a:t>
            </a:r>
            <a:endParaRPr lang="en-US" sz="1100" dirty="0"/>
          </a:p>
        </p:txBody>
      </p:sp>
      <p:sp>
        <p:nvSpPr>
          <p:cNvPr id="41" name="Text 37"/>
          <p:cNvSpPr txBox="1"/>
          <p:nvPr/>
        </p:nvSpPr>
        <p:spPr>
          <a:xfrm>
            <a:off x="10424160" y="3438144"/>
            <a:ext cx="804672" cy="374904"/>
          </a:xfrm>
          <a:prstGeom prst="rect">
            <a:avLst/>
          </a:prstGeom>
          <a:solidFill>
            <a:srgbClr val="F3F3F2"/>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7.000</a:t>
            </a:r>
            <a:endParaRPr lang="en-US" sz="1100" dirty="0"/>
          </a:p>
        </p:txBody>
      </p:sp>
      <p:sp>
        <p:nvSpPr>
          <p:cNvPr id="42" name="Text 38"/>
          <p:cNvSpPr txBox="1"/>
          <p:nvPr/>
        </p:nvSpPr>
        <p:spPr>
          <a:xfrm>
            <a:off x="11228832" y="3438144"/>
            <a:ext cx="411480" cy="374904"/>
          </a:xfrm>
          <a:prstGeom prst="rect">
            <a:avLst/>
          </a:prstGeom>
          <a:solidFill>
            <a:srgbClr val="F3F3F2"/>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6,1</a:t>
            </a:r>
            <a:endParaRPr lang="en-US" sz="1100" dirty="0"/>
          </a:p>
        </p:txBody>
      </p:sp>
      <p:sp>
        <p:nvSpPr>
          <p:cNvPr id="43" name="Text 39"/>
          <p:cNvSpPr txBox="1"/>
          <p:nvPr/>
        </p:nvSpPr>
        <p:spPr>
          <a:xfrm>
            <a:off x="7406640" y="3813048"/>
            <a:ext cx="1417320" cy="374904"/>
          </a:xfrm>
          <a:prstGeom prst="rect">
            <a:avLst/>
          </a:prstGeom>
          <a:solidFill>
            <a:srgbClr val="FFFFFF"/>
          </a:solidFill>
          <a:ln/>
        </p:spPr>
        <p:txBody>
          <a:bodyPr wrap="square" lIns="0" tIns="76200" rIns="76200" bIns="0" rtlCol="0" anchor="ctr"/>
          <a:lstStyle/>
          <a:p>
            <a:pPr algn="l" indent="0" marL="0">
              <a:buNone/>
            </a:pPr>
            <a:r>
              <a:rPr lang="en-US" sz="1100" b="1" dirty="0">
                <a:solidFill>
                  <a:srgbClr val="1F2124"/>
                </a:solidFill>
                <a:latin typeface="Inter" pitchFamily="34" charset="0"/>
                <a:ea typeface="Inter" pitchFamily="34" charset="-122"/>
                <a:cs typeface="Inter" pitchFamily="34" charset="-120"/>
              </a:rPr>
              <a:t>Mubadala</a:t>
            </a:r>
            <a:endParaRPr lang="en-US" sz="1100" dirty="0"/>
          </a:p>
        </p:txBody>
      </p:sp>
      <p:sp>
        <p:nvSpPr>
          <p:cNvPr id="44" name="Text 40"/>
          <p:cNvSpPr txBox="1"/>
          <p:nvPr/>
        </p:nvSpPr>
        <p:spPr>
          <a:xfrm>
            <a:off x="8823960" y="3813048"/>
            <a:ext cx="1600200" cy="374904"/>
          </a:xfrm>
          <a:prstGeom prst="rect">
            <a:avLst/>
          </a:prstGeom>
          <a:solidFill>
            <a:srgbClr val="FFFFFF"/>
          </a:solidFill>
          <a:ln/>
        </p:spPr>
        <p:txBody>
          <a:bodyPr wrap="square" lIns="0" tIns="76200" rIns="76200" bIns="0" rtlCol="0" anchor="ctr"/>
          <a:lstStyle/>
          <a:p>
            <a:pPr algn="l" indent="0" marL="0">
              <a:buNone/>
            </a:pPr>
            <a:r>
              <a:rPr lang="en-US" sz="1100" dirty="0">
                <a:solidFill>
                  <a:srgbClr val="1F2124"/>
                </a:solidFill>
                <a:latin typeface="Inter" pitchFamily="34" charset="0"/>
                <a:ea typeface="Inter" pitchFamily="34" charset="-122"/>
                <a:cs typeface="Inter" pitchFamily="34" charset="-120"/>
              </a:rPr>
              <a:t>Soberano · Abu Dabi</a:t>
            </a:r>
            <a:endParaRPr lang="en-US" sz="1100" dirty="0"/>
          </a:p>
        </p:txBody>
      </p:sp>
      <p:sp>
        <p:nvSpPr>
          <p:cNvPr id="45" name="Text 41"/>
          <p:cNvSpPr txBox="1"/>
          <p:nvPr/>
        </p:nvSpPr>
        <p:spPr>
          <a:xfrm>
            <a:off x="10424160" y="3813048"/>
            <a:ext cx="804672" cy="374904"/>
          </a:xfrm>
          <a:prstGeom prst="rect">
            <a:avLst/>
          </a:prstGeom>
          <a:solidFill>
            <a:srgbClr val="FFFFFF"/>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5.000</a:t>
            </a:r>
            <a:endParaRPr lang="en-US" sz="1100" dirty="0"/>
          </a:p>
        </p:txBody>
      </p:sp>
      <p:sp>
        <p:nvSpPr>
          <p:cNvPr id="46" name="Text 42"/>
          <p:cNvSpPr txBox="1"/>
          <p:nvPr/>
        </p:nvSpPr>
        <p:spPr>
          <a:xfrm>
            <a:off x="11228832" y="3813048"/>
            <a:ext cx="411480" cy="374904"/>
          </a:xfrm>
          <a:prstGeom prst="rect">
            <a:avLst/>
          </a:prstGeom>
          <a:solidFill>
            <a:srgbClr val="FFFFFF"/>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4,4</a:t>
            </a:r>
            <a:endParaRPr lang="en-US" sz="1100" dirty="0"/>
          </a:p>
        </p:txBody>
      </p:sp>
      <p:sp>
        <p:nvSpPr>
          <p:cNvPr id="47" name="Text 43"/>
          <p:cNvSpPr txBox="1"/>
          <p:nvPr/>
        </p:nvSpPr>
        <p:spPr>
          <a:xfrm>
            <a:off x="7406640" y="4187952"/>
            <a:ext cx="1417320" cy="374904"/>
          </a:xfrm>
          <a:prstGeom prst="rect">
            <a:avLst/>
          </a:prstGeom>
          <a:solidFill>
            <a:srgbClr val="F3F3F2"/>
          </a:solidFill>
          <a:ln/>
        </p:spPr>
        <p:txBody>
          <a:bodyPr wrap="square" lIns="0" tIns="76200" rIns="76200" bIns="0" rtlCol="0" anchor="ctr"/>
          <a:lstStyle/>
          <a:p>
            <a:pPr algn="l" indent="0" marL="0">
              <a:buNone/>
            </a:pPr>
            <a:r>
              <a:rPr lang="en-US" sz="1100" b="1" dirty="0">
                <a:solidFill>
                  <a:srgbClr val="1F2124"/>
                </a:solidFill>
                <a:latin typeface="Inter" pitchFamily="34" charset="0"/>
                <a:ea typeface="Inter" pitchFamily="34" charset="-122"/>
                <a:cs typeface="Inter" pitchFamily="34" charset="-120"/>
              </a:rPr>
              <a:t>CPP</a:t>
            </a:r>
            <a:endParaRPr lang="en-US" sz="1100" dirty="0"/>
          </a:p>
        </p:txBody>
      </p:sp>
      <p:sp>
        <p:nvSpPr>
          <p:cNvPr id="48" name="Text 44"/>
          <p:cNvSpPr txBox="1"/>
          <p:nvPr/>
        </p:nvSpPr>
        <p:spPr>
          <a:xfrm>
            <a:off x="8823960" y="4187952"/>
            <a:ext cx="1600200" cy="374904"/>
          </a:xfrm>
          <a:prstGeom prst="rect">
            <a:avLst/>
          </a:prstGeom>
          <a:solidFill>
            <a:srgbClr val="F3F3F2"/>
          </a:solidFill>
          <a:ln/>
        </p:spPr>
        <p:txBody>
          <a:bodyPr wrap="square" lIns="0" tIns="76200" rIns="76200" bIns="0" rtlCol="0" anchor="ctr"/>
          <a:lstStyle/>
          <a:p>
            <a:pPr algn="l" indent="0" marL="0">
              <a:buNone/>
            </a:pPr>
            <a:r>
              <a:rPr lang="en-US" sz="1100" dirty="0">
                <a:solidFill>
                  <a:srgbClr val="1F2124"/>
                </a:solidFill>
                <a:latin typeface="Inter" pitchFamily="34" charset="0"/>
                <a:ea typeface="Inter" pitchFamily="34" charset="-122"/>
                <a:cs typeface="Inter" pitchFamily="34" charset="-120"/>
              </a:rPr>
              <a:t>Pensiones · Canadá</a:t>
            </a:r>
            <a:endParaRPr lang="en-US" sz="1100" dirty="0"/>
          </a:p>
        </p:txBody>
      </p:sp>
      <p:sp>
        <p:nvSpPr>
          <p:cNvPr id="49" name="Text 45"/>
          <p:cNvSpPr txBox="1"/>
          <p:nvPr/>
        </p:nvSpPr>
        <p:spPr>
          <a:xfrm>
            <a:off x="10424160" y="4187952"/>
            <a:ext cx="804672" cy="374904"/>
          </a:xfrm>
          <a:prstGeom prst="rect">
            <a:avLst/>
          </a:prstGeom>
          <a:solidFill>
            <a:srgbClr val="F3F3F2"/>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5.000</a:t>
            </a:r>
            <a:endParaRPr lang="en-US" sz="1100" dirty="0"/>
          </a:p>
        </p:txBody>
      </p:sp>
      <p:sp>
        <p:nvSpPr>
          <p:cNvPr id="50" name="Text 46"/>
          <p:cNvSpPr txBox="1"/>
          <p:nvPr/>
        </p:nvSpPr>
        <p:spPr>
          <a:xfrm>
            <a:off x="11228832" y="4187952"/>
            <a:ext cx="411480" cy="374904"/>
          </a:xfrm>
          <a:prstGeom prst="rect">
            <a:avLst/>
          </a:prstGeom>
          <a:solidFill>
            <a:srgbClr val="F3F3F2"/>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4,4</a:t>
            </a:r>
            <a:endParaRPr lang="en-US" sz="1100" dirty="0"/>
          </a:p>
        </p:txBody>
      </p:sp>
      <p:sp>
        <p:nvSpPr>
          <p:cNvPr id="51" name="Text 47"/>
          <p:cNvSpPr txBox="1"/>
          <p:nvPr/>
        </p:nvSpPr>
        <p:spPr>
          <a:xfrm>
            <a:off x="7406640" y="4562856"/>
            <a:ext cx="1417320" cy="374904"/>
          </a:xfrm>
          <a:prstGeom prst="rect">
            <a:avLst/>
          </a:prstGeom>
          <a:solidFill>
            <a:srgbClr val="FFFFFF"/>
          </a:solidFill>
          <a:ln/>
        </p:spPr>
        <p:txBody>
          <a:bodyPr wrap="square" lIns="0" tIns="76200" rIns="76200" bIns="0" rtlCol="0" anchor="ctr"/>
          <a:lstStyle/>
          <a:p>
            <a:pPr algn="l" indent="0" marL="0">
              <a:buNone/>
            </a:pPr>
            <a:r>
              <a:rPr lang="en-US" sz="1100" b="1" dirty="0">
                <a:solidFill>
                  <a:srgbClr val="1F2124"/>
                </a:solidFill>
                <a:latin typeface="Inter" pitchFamily="34" charset="0"/>
                <a:ea typeface="Inter" pitchFamily="34" charset="-122"/>
                <a:cs typeface="Inter" pitchFamily="34" charset="-120"/>
              </a:rPr>
              <a:t>CDPQ</a:t>
            </a:r>
            <a:endParaRPr lang="en-US" sz="1100" dirty="0"/>
          </a:p>
        </p:txBody>
      </p:sp>
      <p:sp>
        <p:nvSpPr>
          <p:cNvPr id="52" name="Text 48"/>
          <p:cNvSpPr txBox="1"/>
          <p:nvPr/>
        </p:nvSpPr>
        <p:spPr>
          <a:xfrm>
            <a:off x="8823960" y="4562856"/>
            <a:ext cx="1600200" cy="374904"/>
          </a:xfrm>
          <a:prstGeom prst="rect">
            <a:avLst/>
          </a:prstGeom>
          <a:solidFill>
            <a:srgbClr val="FFFFFF"/>
          </a:solidFill>
          <a:ln/>
        </p:spPr>
        <p:txBody>
          <a:bodyPr wrap="square" lIns="0" tIns="76200" rIns="76200" bIns="0" rtlCol="0" anchor="ctr"/>
          <a:lstStyle/>
          <a:p>
            <a:pPr algn="l" indent="0" marL="0">
              <a:buNone/>
            </a:pPr>
            <a:r>
              <a:rPr lang="en-US" sz="1100" dirty="0">
                <a:solidFill>
                  <a:srgbClr val="1F2124"/>
                </a:solidFill>
                <a:latin typeface="Inter" pitchFamily="34" charset="0"/>
                <a:ea typeface="Inter" pitchFamily="34" charset="-122"/>
                <a:cs typeface="Inter" pitchFamily="34" charset="-120"/>
              </a:rPr>
              <a:t>Pensiones · Canadá</a:t>
            </a:r>
            <a:endParaRPr lang="en-US" sz="1100" dirty="0"/>
          </a:p>
        </p:txBody>
      </p:sp>
      <p:sp>
        <p:nvSpPr>
          <p:cNvPr id="53" name="Text 49"/>
          <p:cNvSpPr txBox="1"/>
          <p:nvPr/>
        </p:nvSpPr>
        <p:spPr>
          <a:xfrm>
            <a:off x="10424160" y="4562856"/>
            <a:ext cx="804672" cy="374904"/>
          </a:xfrm>
          <a:prstGeom prst="rect">
            <a:avLst/>
          </a:prstGeom>
          <a:solidFill>
            <a:srgbClr val="FFFFFF"/>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4.000</a:t>
            </a:r>
            <a:endParaRPr lang="en-US" sz="1100" dirty="0"/>
          </a:p>
        </p:txBody>
      </p:sp>
      <p:sp>
        <p:nvSpPr>
          <p:cNvPr id="54" name="Text 50"/>
          <p:cNvSpPr txBox="1"/>
          <p:nvPr/>
        </p:nvSpPr>
        <p:spPr>
          <a:xfrm>
            <a:off x="11228832" y="4562856"/>
            <a:ext cx="411480" cy="374904"/>
          </a:xfrm>
          <a:prstGeom prst="rect">
            <a:avLst/>
          </a:prstGeom>
          <a:solidFill>
            <a:srgbClr val="FFFFFF"/>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3,5</a:t>
            </a:r>
            <a:endParaRPr lang="en-US" sz="1100" dirty="0"/>
          </a:p>
        </p:txBody>
      </p:sp>
      <p:sp>
        <p:nvSpPr>
          <p:cNvPr id="55" name="Text 51"/>
          <p:cNvSpPr txBox="1"/>
          <p:nvPr/>
        </p:nvSpPr>
        <p:spPr>
          <a:xfrm>
            <a:off x="7406640" y="4937760"/>
            <a:ext cx="1417320" cy="374904"/>
          </a:xfrm>
          <a:prstGeom prst="rect">
            <a:avLst/>
          </a:prstGeom>
          <a:solidFill>
            <a:srgbClr val="F3F3F2"/>
          </a:solidFill>
          <a:ln/>
        </p:spPr>
        <p:txBody>
          <a:bodyPr wrap="square" lIns="0" tIns="76200" rIns="76200" bIns="0" rtlCol="0" anchor="ctr"/>
          <a:lstStyle/>
          <a:p>
            <a:pPr algn="l" indent="0" marL="0">
              <a:buNone/>
            </a:pPr>
            <a:r>
              <a:rPr lang="en-US" sz="1100" b="1" dirty="0">
                <a:solidFill>
                  <a:srgbClr val="1F2124"/>
                </a:solidFill>
                <a:latin typeface="Inter" pitchFamily="34" charset="0"/>
                <a:ea typeface="Inter" pitchFamily="34" charset="-122"/>
                <a:cs typeface="Inter" pitchFamily="34" charset="-120"/>
              </a:rPr>
              <a:t>OTPP</a:t>
            </a:r>
            <a:endParaRPr lang="en-US" sz="1100" dirty="0"/>
          </a:p>
        </p:txBody>
      </p:sp>
      <p:sp>
        <p:nvSpPr>
          <p:cNvPr id="56" name="Text 52"/>
          <p:cNvSpPr txBox="1"/>
          <p:nvPr/>
        </p:nvSpPr>
        <p:spPr>
          <a:xfrm>
            <a:off x="8823960" y="4937760"/>
            <a:ext cx="1600200" cy="374904"/>
          </a:xfrm>
          <a:prstGeom prst="rect">
            <a:avLst/>
          </a:prstGeom>
          <a:solidFill>
            <a:srgbClr val="F3F3F2"/>
          </a:solidFill>
          <a:ln/>
        </p:spPr>
        <p:txBody>
          <a:bodyPr wrap="square" lIns="0" tIns="76200" rIns="76200" bIns="0" rtlCol="0" anchor="ctr"/>
          <a:lstStyle/>
          <a:p>
            <a:pPr algn="l" indent="0" marL="0">
              <a:buNone/>
            </a:pPr>
            <a:r>
              <a:rPr lang="en-US" sz="1100" dirty="0">
                <a:solidFill>
                  <a:srgbClr val="1F2124"/>
                </a:solidFill>
                <a:latin typeface="Inter" pitchFamily="34" charset="0"/>
                <a:ea typeface="Inter" pitchFamily="34" charset="-122"/>
                <a:cs typeface="Inter" pitchFamily="34" charset="-120"/>
              </a:rPr>
              <a:t>Pensiones · Canadá</a:t>
            </a:r>
            <a:endParaRPr lang="en-US" sz="1100" dirty="0"/>
          </a:p>
        </p:txBody>
      </p:sp>
      <p:sp>
        <p:nvSpPr>
          <p:cNvPr id="57" name="Text 53"/>
          <p:cNvSpPr txBox="1"/>
          <p:nvPr/>
        </p:nvSpPr>
        <p:spPr>
          <a:xfrm>
            <a:off x="10424160" y="4937760"/>
            <a:ext cx="804672" cy="374904"/>
          </a:xfrm>
          <a:prstGeom prst="rect">
            <a:avLst/>
          </a:prstGeom>
          <a:solidFill>
            <a:srgbClr val="F3F3F2"/>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4.000</a:t>
            </a:r>
            <a:endParaRPr lang="en-US" sz="1100" dirty="0"/>
          </a:p>
        </p:txBody>
      </p:sp>
      <p:sp>
        <p:nvSpPr>
          <p:cNvPr id="58" name="Text 54"/>
          <p:cNvSpPr txBox="1"/>
          <p:nvPr/>
        </p:nvSpPr>
        <p:spPr>
          <a:xfrm>
            <a:off x="11228832" y="4937760"/>
            <a:ext cx="411480" cy="374904"/>
          </a:xfrm>
          <a:prstGeom prst="rect">
            <a:avLst/>
          </a:prstGeom>
          <a:solidFill>
            <a:srgbClr val="F3F3F2"/>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3,5</a:t>
            </a:r>
            <a:endParaRPr lang="en-US" sz="1100" dirty="0"/>
          </a:p>
        </p:txBody>
      </p:sp>
      <p:sp>
        <p:nvSpPr>
          <p:cNvPr id="59" name="Text 55"/>
          <p:cNvSpPr txBox="1"/>
          <p:nvPr/>
        </p:nvSpPr>
        <p:spPr>
          <a:xfrm>
            <a:off x="7406640" y="5312664"/>
            <a:ext cx="1417320" cy="374904"/>
          </a:xfrm>
          <a:prstGeom prst="rect">
            <a:avLst/>
          </a:prstGeom>
          <a:solidFill>
            <a:srgbClr val="FFFFFF"/>
          </a:solidFill>
          <a:ln/>
        </p:spPr>
        <p:txBody>
          <a:bodyPr wrap="square" lIns="0" tIns="76200" rIns="76200" bIns="0" rtlCol="0" anchor="ctr"/>
          <a:lstStyle/>
          <a:p>
            <a:pPr algn="l" indent="0" marL="0">
              <a:buNone/>
            </a:pPr>
            <a:r>
              <a:rPr lang="en-US" sz="1100" b="1" dirty="0">
                <a:solidFill>
                  <a:srgbClr val="1F2124"/>
                </a:solidFill>
                <a:latin typeface="Inter" pitchFamily="34" charset="0"/>
                <a:ea typeface="Inter" pitchFamily="34" charset="-122"/>
                <a:cs typeface="Inter" pitchFamily="34" charset="-120"/>
              </a:rPr>
              <a:t>APG</a:t>
            </a:r>
            <a:endParaRPr lang="en-US" sz="1100" dirty="0"/>
          </a:p>
        </p:txBody>
      </p:sp>
      <p:sp>
        <p:nvSpPr>
          <p:cNvPr id="60" name="Text 56"/>
          <p:cNvSpPr txBox="1"/>
          <p:nvPr/>
        </p:nvSpPr>
        <p:spPr>
          <a:xfrm>
            <a:off x="8823960" y="5312664"/>
            <a:ext cx="1600200" cy="374904"/>
          </a:xfrm>
          <a:prstGeom prst="rect">
            <a:avLst/>
          </a:prstGeom>
          <a:solidFill>
            <a:srgbClr val="FFFFFF"/>
          </a:solidFill>
          <a:ln/>
        </p:spPr>
        <p:txBody>
          <a:bodyPr wrap="square" lIns="0" tIns="76200" rIns="76200" bIns="0" rtlCol="0" anchor="ctr"/>
          <a:lstStyle/>
          <a:p>
            <a:pPr algn="l" indent="0" marL="0">
              <a:buNone/>
            </a:pPr>
            <a:r>
              <a:rPr lang="en-US" sz="1100" dirty="0">
                <a:solidFill>
                  <a:srgbClr val="1F2124"/>
                </a:solidFill>
                <a:latin typeface="Inter" pitchFamily="34" charset="0"/>
                <a:ea typeface="Inter" pitchFamily="34" charset="-122"/>
                <a:cs typeface="Inter" pitchFamily="34" charset="-120"/>
              </a:rPr>
              <a:t>Pensiones · P. Bajos</a:t>
            </a:r>
            <a:endParaRPr lang="en-US" sz="1100" dirty="0"/>
          </a:p>
        </p:txBody>
      </p:sp>
      <p:sp>
        <p:nvSpPr>
          <p:cNvPr id="61" name="Text 57"/>
          <p:cNvSpPr txBox="1"/>
          <p:nvPr/>
        </p:nvSpPr>
        <p:spPr>
          <a:xfrm>
            <a:off x="10424160" y="5312664"/>
            <a:ext cx="804672" cy="374904"/>
          </a:xfrm>
          <a:prstGeom prst="rect">
            <a:avLst/>
          </a:prstGeom>
          <a:solidFill>
            <a:srgbClr val="FFFFFF"/>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2.500</a:t>
            </a:r>
            <a:endParaRPr lang="en-US" sz="1100" dirty="0"/>
          </a:p>
        </p:txBody>
      </p:sp>
      <p:sp>
        <p:nvSpPr>
          <p:cNvPr id="62" name="Text 58"/>
          <p:cNvSpPr txBox="1"/>
          <p:nvPr/>
        </p:nvSpPr>
        <p:spPr>
          <a:xfrm>
            <a:off x="11228832" y="5312664"/>
            <a:ext cx="411480" cy="374904"/>
          </a:xfrm>
          <a:prstGeom prst="rect">
            <a:avLst/>
          </a:prstGeom>
          <a:solidFill>
            <a:srgbClr val="FFFFFF"/>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2,2</a:t>
            </a:r>
            <a:endParaRPr lang="en-US" sz="1100" dirty="0"/>
          </a:p>
        </p:txBody>
      </p:sp>
      <p:sp>
        <p:nvSpPr>
          <p:cNvPr id="63" name="Text 59"/>
          <p:cNvSpPr txBox="1"/>
          <p:nvPr/>
        </p:nvSpPr>
        <p:spPr>
          <a:xfrm>
            <a:off x="7406640" y="5687568"/>
            <a:ext cx="1417320" cy="374904"/>
          </a:xfrm>
          <a:prstGeom prst="rect">
            <a:avLst/>
          </a:prstGeom>
          <a:solidFill>
            <a:srgbClr val="F3F3F2"/>
          </a:solidFill>
          <a:ln/>
        </p:spPr>
        <p:txBody>
          <a:bodyPr wrap="square" lIns="0" tIns="76200" rIns="76200" bIns="0" rtlCol="0" anchor="ctr"/>
          <a:lstStyle/>
          <a:p>
            <a:pPr algn="l" indent="0" marL="0">
              <a:buNone/>
            </a:pPr>
            <a:r>
              <a:rPr lang="en-US" sz="1100" b="1" dirty="0">
                <a:solidFill>
                  <a:srgbClr val="1F2124"/>
                </a:solidFill>
                <a:latin typeface="Inter" pitchFamily="34" charset="0"/>
                <a:ea typeface="Inter" pitchFamily="34" charset="-122"/>
                <a:cs typeface="Inter" pitchFamily="34" charset="-120"/>
              </a:rPr>
              <a:t>Temasek</a:t>
            </a:r>
            <a:endParaRPr lang="en-US" sz="1100" dirty="0"/>
          </a:p>
        </p:txBody>
      </p:sp>
      <p:sp>
        <p:nvSpPr>
          <p:cNvPr id="64" name="Text 60"/>
          <p:cNvSpPr txBox="1"/>
          <p:nvPr/>
        </p:nvSpPr>
        <p:spPr>
          <a:xfrm>
            <a:off x="8823960" y="5687568"/>
            <a:ext cx="1600200" cy="374904"/>
          </a:xfrm>
          <a:prstGeom prst="rect">
            <a:avLst/>
          </a:prstGeom>
          <a:solidFill>
            <a:srgbClr val="F3F3F2"/>
          </a:solidFill>
          <a:ln/>
        </p:spPr>
        <p:txBody>
          <a:bodyPr wrap="square" lIns="0" tIns="76200" rIns="76200" bIns="0" rtlCol="0" anchor="ctr"/>
          <a:lstStyle/>
          <a:p>
            <a:pPr algn="l" indent="0" marL="0">
              <a:buNone/>
            </a:pPr>
            <a:r>
              <a:rPr lang="en-US" sz="1100" dirty="0">
                <a:solidFill>
                  <a:srgbClr val="1F2124"/>
                </a:solidFill>
                <a:latin typeface="Inter" pitchFamily="34" charset="0"/>
                <a:ea typeface="Inter" pitchFamily="34" charset="-122"/>
                <a:cs typeface="Inter" pitchFamily="34" charset="-120"/>
              </a:rPr>
              <a:t>Soberano · Singapur</a:t>
            </a:r>
            <a:endParaRPr lang="en-US" sz="1100" dirty="0"/>
          </a:p>
        </p:txBody>
      </p:sp>
      <p:sp>
        <p:nvSpPr>
          <p:cNvPr id="65" name="Text 61"/>
          <p:cNvSpPr txBox="1"/>
          <p:nvPr/>
        </p:nvSpPr>
        <p:spPr>
          <a:xfrm>
            <a:off x="10424160" y="5687568"/>
            <a:ext cx="804672" cy="374904"/>
          </a:xfrm>
          <a:prstGeom prst="rect">
            <a:avLst/>
          </a:prstGeom>
          <a:solidFill>
            <a:srgbClr val="F3F3F2"/>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2.489</a:t>
            </a:r>
            <a:endParaRPr lang="en-US" sz="1100" dirty="0"/>
          </a:p>
        </p:txBody>
      </p:sp>
      <p:sp>
        <p:nvSpPr>
          <p:cNvPr id="66" name="Text 62"/>
          <p:cNvSpPr txBox="1"/>
          <p:nvPr/>
        </p:nvSpPr>
        <p:spPr>
          <a:xfrm>
            <a:off x="11228832" y="5687568"/>
            <a:ext cx="411480" cy="374904"/>
          </a:xfrm>
          <a:prstGeom prst="rect">
            <a:avLst/>
          </a:prstGeom>
          <a:solidFill>
            <a:srgbClr val="F3F3F2"/>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2,2</a:t>
            </a:r>
            <a:endParaRPr lang="en-US" sz="1100" dirty="0"/>
          </a:p>
        </p:txBody>
      </p:sp>
      <p:sp>
        <p:nvSpPr>
          <p:cNvPr id="67" name="Text 63"/>
          <p:cNvSpPr txBox="1"/>
          <p:nvPr/>
        </p:nvSpPr>
        <p:spPr>
          <a:xfrm>
            <a:off x="548640" y="6327648"/>
            <a:ext cx="7863840" cy="228600"/>
          </a:xfrm>
          <a:prstGeom prst="rect">
            <a:avLst/>
          </a:prstGeom>
          <a:noFill/>
          <a:ln/>
        </p:spPr>
        <p:txBody>
          <a:bodyPr wrap="square" lIns="0" tIns="0" rIns="0" bIns="0" rtlCol="0" anchor="t"/>
          <a:lstStyle/>
          <a:p>
            <a:pPr indent="0" marL="0">
              <a:buNone/>
            </a:pPr>
            <a:r>
              <a:rPr lang="en-US" sz="900" dirty="0">
                <a:solidFill>
                  <a:srgbClr val="6E7378"/>
                </a:solidFill>
                <a:latin typeface="Inter" pitchFamily="34" charset="0"/>
                <a:ea typeface="Inter" pitchFamily="34" charset="-122"/>
                <a:cs typeface="Inter" pitchFamily="34" charset="-120"/>
              </a:rPr>
              <a:t>Fuente: modelo LBO definitivo (LBO Summary D42:L46). % sobre el equity de la TopCo; reparto entre LPs: propuesta.</a:t>
            </a:r>
            <a:endParaRPr lang="en-US" sz="900" dirty="0"/>
          </a:p>
        </p:txBody>
      </p:sp>
      <p:sp>
        <p:nvSpPr>
          <p:cNvPr id="68" name="Text 64"/>
          <p:cNvSpPr txBox="1"/>
          <p:nvPr/>
        </p:nvSpPr>
        <p:spPr>
          <a:xfrm>
            <a:off x="8595360" y="6327648"/>
            <a:ext cx="3044952" cy="228600"/>
          </a:xfrm>
          <a:prstGeom prst="rect">
            <a:avLst/>
          </a:prstGeom>
          <a:noFill/>
          <a:ln/>
        </p:spPr>
        <p:txBody>
          <a:bodyPr wrap="square" lIns="0" tIns="0" rIns="0" bIns="0" rtlCol="0" anchor="t"/>
          <a:lstStyle/>
          <a:p>
            <a:pPr algn="r" indent="0" marL="0">
              <a:buNone/>
            </a:pPr>
            <a:r>
              <a:rPr lang="en-US" sz="900" dirty="0">
                <a:solidFill>
                  <a:srgbClr val="6E7378"/>
                </a:solidFill>
                <a:latin typeface="Inter" pitchFamily="34" charset="0"/>
                <a:ea typeface="Inter" pitchFamily="34" charset="-122"/>
                <a:cs typeface="Inter" pitchFamily="34" charset="-120"/>
              </a:rPr>
              <a:t>Project Galicia  ·  Estrictamente confidencial  ·  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47472"/>
            <a:ext cx="8229600" cy="228600"/>
          </a:xfrm>
          <a:prstGeom prst="rect">
            <a:avLst/>
          </a:prstGeom>
          <a:noFill/>
          <a:ln/>
        </p:spPr>
        <p:txBody>
          <a:bodyPr wrap="square" lIns="0" tIns="0" rIns="0" bIns="0" rtlCol="0" anchor="t"/>
          <a:lstStyle/>
          <a:p>
            <a:pPr indent="0" marL="0">
              <a:buNone/>
            </a:pPr>
            <a:r>
              <a:rPr lang="en-US" sz="1100" b="1" spc="200" kern="0" dirty="0">
                <a:solidFill>
                  <a:srgbClr val="1F4B3F"/>
                </a:solidFill>
                <a:latin typeface="Inter" pitchFamily="34" charset="0"/>
                <a:ea typeface="Inter" pitchFamily="34" charset="-122"/>
                <a:cs typeface="Inter" pitchFamily="34" charset="-120"/>
              </a:rPr>
              <a:t>04  FINANCIADORES</a:t>
            </a:r>
            <a:endParaRPr lang="en-US" sz="1100" dirty="0"/>
          </a:p>
        </p:txBody>
      </p:sp>
      <p:pic>
        <p:nvPicPr>
          <p:cNvPr id="3" name="Image 0" descr="/tmp/claude-0/-home-claude/8d7de6a3-f167-5c95-8bc2-67944307bfd8/scratchpad/canva/img/HLP_monograma.png">    </p:cNvPr>
          <p:cNvPicPr>
            <a:picLocks noChangeAspect="1"/>
          </p:cNvPicPr>
          <p:nvPr/>
        </p:nvPicPr>
        <p:blipFill>
          <a:blip r:embed="rId1"/>
          <a:stretch>
            <a:fillRect/>
          </a:stretch>
        </p:blipFill>
        <p:spPr>
          <a:xfrm>
            <a:off x="11228832" y="310896"/>
            <a:ext cx="411480" cy="411480"/>
          </a:xfrm>
          <a:prstGeom prst="rect">
            <a:avLst/>
          </a:prstGeom>
        </p:spPr>
      </p:pic>
      <p:sp>
        <p:nvSpPr>
          <p:cNvPr id="4" name="Text 1"/>
          <p:cNvSpPr txBox="1"/>
          <p:nvPr/>
        </p:nvSpPr>
        <p:spPr>
          <a:xfrm>
            <a:off x="548640" y="603504"/>
            <a:ext cx="10515600" cy="822960"/>
          </a:xfrm>
          <a:prstGeom prst="rect">
            <a:avLst/>
          </a:prstGeom>
          <a:noFill/>
          <a:ln/>
        </p:spPr>
        <p:txBody>
          <a:bodyPr wrap="square" lIns="0" tIns="0" rIns="0" bIns="0" rtlCol="0" anchor="t"/>
          <a:lstStyle/>
          <a:p>
            <a:pPr indent="0" marL="0">
              <a:lnSpc>
                <a:spcPct val="95000"/>
              </a:lnSpc>
              <a:buNone/>
            </a:pPr>
            <a:r>
              <a:rPr lang="en-US" sz="2500" dirty="0">
                <a:solidFill>
                  <a:srgbClr val="1A1D21"/>
                </a:solidFill>
                <a:latin typeface="Lora" pitchFamily="34" charset="0"/>
                <a:ea typeface="Lora" pitchFamily="34" charset="-122"/>
                <a:cs typeface="Lora" pitchFamily="34" charset="-120"/>
              </a:rPr>
              <a:t>El valor se crea con el crecimiento del EBITDA y el pago de deuda: el equity se multiplica por 2,05x</a:t>
            </a:r>
            <a:endParaRPr lang="en-US" sz="2500" dirty="0"/>
          </a:p>
        </p:txBody>
      </p:sp>
      <p:pic>
        <p:nvPicPr>
          <p:cNvPr id="5" name="Image 1" descr="/tmp/claude-0/-home-claude/8d7de6a3-f167-5c95-8bc2-67944307bfd8/scratchpad/canva/img/c10_bridge.png">    </p:cNvPr>
          <p:cNvPicPr>
            <a:picLocks noChangeAspect="1"/>
          </p:cNvPicPr>
          <p:nvPr/>
        </p:nvPicPr>
        <p:blipFill>
          <a:blip r:embed="rId2"/>
          <a:stretch>
            <a:fillRect/>
          </a:stretch>
        </p:blipFill>
        <p:spPr>
          <a:xfrm>
            <a:off x="548640" y="1554480"/>
            <a:ext cx="6675120" cy="3593592"/>
          </a:xfrm>
          <a:prstGeom prst="rect">
            <a:avLst/>
          </a:prstGeom>
        </p:spPr>
      </p:pic>
      <p:sp>
        <p:nvSpPr>
          <p:cNvPr id="6" name="Text 2"/>
          <p:cNvSpPr txBox="1"/>
          <p:nvPr/>
        </p:nvSpPr>
        <p:spPr>
          <a:xfrm>
            <a:off x="548640" y="5212080"/>
            <a:ext cx="6675120" cy="274320"/>
          </a:xfrm>
          <a:prstGeom prst="rect">
            <a:avLst/>
          </a:prstGeom>
          <a:noFill/>
          <a:ln/>
        </p:spPr>
        <p:txBody>
          <a:bodyPr wrap="square" lIns="0" tIns="0" rIns="0" bIns="0" rtlCol="0" anchor="t"/>
          <a:lstStyle/>
          <a:p>
            <a:pPr indent="0" marL="0">
              <a:buNone/>
            </a:pPr>
            <a:r>
              <a:rPr lang="en-US" sz="1050" dirty="0">
                <a:solidFill>
                  <a:srgbClr val="6E7378"/>
                </a:solidFill>
                <a:latin typeface="Inter" pitchFamily="34" charset="0"/>
                <a:ea typeface="Inter" pitchFamily="34" charset="-122"/>
                <a:cs typeface="Inter" pitchFamily="34" charset="-120"/>
              </a:rPr>
              <a:t>Puente de valor del equity de la TopCo, cierre → salida en 2032 a 19,9x (€m)</a:t>
            </a:r>
            <a:endParaRPr lang="en-US" sz="1050" dirty="0"/>
          </a:p>
        </p:txBody>
      </p:sp>
      <p:sp>
        <p:nvSpPr>
          <p:cNvPr id="7" name="Text 3"/>
          <p:cNvSpPr txBox="1"/>
          <p:nvPr/>
        </p:nvSpPr>
        <p:spPr>
          <a:xfrm>
            <a:off x="7498080" y="1645920"/>
            <a:ext cx="1463040" cy="457200"/>
          </a:xfrm>
          <a:prstGeom prst="rect">
            <a:avLst/>
          </a:prstGeom>
          <a:solidFill>
            <a:srgbClr val="1A1D21"/>
          </a:solidFill>
          <a:ln/>
        </p:spPr>
        <p:txBody>
          <a:bodyPr wrap="square" lIns="0" tIns="76200" rIns="76200" bIns="0" rtlCol="0" anchor="ctr"/>
          <a:lstStyle/>
          <a:p>
            <a:pPr algn="l" indent="0" marL="0">
              <a:buNone/>
            </a:pPr>
            <a:r>
              <a:rPr lang="en-US" sz="1100" b="1" dirty="0">
                <a:solidFill>
                  <a:srgbClr val="FFFFFF"/>
                </a:solidFill>
                <a:latin typeface="Inter" pitchFamily="34" charset="0"/>
                <a:ea typeface="Inter" pitchFamily="34" charset="-122"/>
                <a:cs typeface="Inter" pitchFamily="34" charset="-120"/>
              </a:rPr>
              <a:t>Inversor</a:t>
            </a:r>
            <a:endParaRPr lang="en-US" sz="1100" dirty="0"/>
          </a:p>
        </p:txBody>
      </p:sp>
      <p:sp>
        <p:nvSpPr>
          <p:cNvPr id="8" name="Text 4"/>
          <p:cNvSpPr txBox="1"/>
          <p:nvPr/>
        </p:nvSpPr>
        <p:spPr>
          <a:xfrm>
            <a:off x="8961120" y="1645920"/>
            <a:ext cx="731520" cy="457200"/>
          </a:xfrm>
          <a:prstGeom prst="rect">
            <a:avLst/>
          </a:prstGeom>
          <a:solidFill>
            <a:srgbClr val="1A1D21"/>
          </a:solidFill>
          <a:ln/>
        </p:spPr>
        <p:txBody>
          <a:bodyPr wrap="square" lIns="0" tIns="76200" rIns="76200" bIns="0" rtlCol="0" anchor="ctr"/>
          <a:lstStyle/>
          <a:p>
            <a:pPr algn="r" indent="0" marL="0">
              <a:buNone/>
            </a:pPr>
            <a:r>
              <a:rPr lang="en-US" sz="1100" b="1" dirty="0">
                <a:solidFill>
                  <a:srgbClr val="FFFFFF"/>
                </a:solidFill>
                <a:latin typeface="Inter" pitchFamily="34" charset="0"/>
                <a:ea typeface="Inter" pitchFamily="34" charset="-122"/>
                <a:cs typeface="Inter" pitchFamily="34" charset="-120"/>
              </a:rPr>
              <a:t>Pone</a:t>
            </a:r>
            <a:endParaRPr lang="en-US" sz="1100" dirty="0"/>
          </a:p>
        </p:txBody>
      </p:sp>
      <p:sp>
        <p:nvSpPr>
          <p:cNvPr id="9" name="Text 5"/>
          <p:cNvSpPr txBox="1"/>
          <p:nvPr/>
        </p:nvSpPr>
        <p:spPr>
          <a:xfrm>
            <a:off x="9692640" y="1645920"/>
            <a:ext cx="777240" cy="457200"/>
          </a:xfrm>
          <a:prstGeom prst="rect">
            <a:avLst/>
          </a:prstGeom>
          <a:solidFill>
            <a:srgbClr val="1A1D21"/>
          </a:solidFill>
          <a:ln/>
        </p:spPr>
        <p:txBody>
          <a:bodyPr wrap="square" lIns="0" tIns="76200" rIns="76200" bIns="0" rtlCol="0" anchor="ctr"/>
          <a:lstStyle/>
          <a:p>
            <a:pPr algn="r" indent="0" marL="0">
              <a:buNone/>
            </a:pPr>
            <a:r>
              <a:rPr lang="en-US" sz="1100" b="1" dirty="0">
                <a:solidFill>
                  <a:srgbClr val="FFFFFF"/>
                </a:solidFill>
                <a:latin typeface="Inter" pitchFamily="34" charset="0"/>
                <a:ea typeface="Inter" pitchFamily="34" charset="-122"/>
                <a:cs typeface="Inter" pitchFamily="34" charset="-120"/>
              </a:rPr>
              <a:t>Recibe</a:t>
            </a:r>
            <a:endParaRPr lang="en-US" sz="1100" dirty="0"/>
          </a:p>
        </p:txBody>
      </p:sp>
      <p:sp>
        <p:nvSpPr>
          <p:cNvPr id="10" name="Text 6"/>
          <p:cNvSpPr txBox="1"/>
          <p:nvPr/>
        </p:nvSpPr>
        <p:spPr>
          <a:xfrm>
            <a:off x="10469880" y="1645920"/>
            <a:ext cx="594360" cy="457200"/>
          </a:xfrm>
          <a:prstGeom prst="rect">
            <a:avLst/>
          </a:prstGeom>
          <a:solidFill>
            <a:srgbClr val="1A1D21"/>
          </a:solidFill>
          <a:ln/>
        </p:spPr>
        <p:txBody>
          <a:bodyPr wrap="square" lIns="0" tIns="76200" rIns="76200" bIns="0" rtlCol="0" anchor="ctr"/>
          <a:lstStyle/>
          <a:p>
            <a:pPr algn="r" indent="0" marL="0">
              <a:buNone/>
            </a:pPr>
            <a:r>
              <a:rPr lang="en-US" sz="1100" b="1" dirty="0">
                <a:solidFill>
                  <a:srgbClr val="FFFFFF"/>
                </a:solidFill>
                <a:latin typeface="Inter" pitchFamily="34" charset="0"/>
                <a:ea typeface="Inter" pitchFamily="34" charset="-122"/>
                <a:cs typeface="Inter" pitchFamily="34" charset="-120"/>
              </a:rPr>
              <a:t>TIR</a:t>
            </a:r>
            <a:endParaRPr lang="en-US" sz="1100" dirty="0"/>
          </a:p>
        </p:txBody>
      </p:sp>
      <p:sp>
        <p:nvSpPr>
          <p:cNvPr id="11" name="Text 7"/>
          <p:cNvSpPr txBox="1"/>
          <p:nvPr/>
        </p:nvSpPr>
        <p:spPr>
          <a:xfrm>
            <a:off x="11064240" y="1645920"/>
            <a:ext cx="576072" cy="457200"/>
          </a:xfrm>
          <a:prstGeom prst="rect">
            <a:avLst/>
          </a:prstGeom>
          <a:solidFill>
            <a:srgbClr val="1A1D21"/>
          </a:solidFill>
          <a:ln/>
        </p:spPr>
        <p:txBody>
          <a:bodyPr wrap="square" lIns="0" tIns="76200" rIns="76200" bIns="0" rtlCol="0" anchor="ctr"/>
          <a:lstStyle/>
          <a:p>
            <a:pPr algn="r" indent="0" marL="0">
              <a:buNone/>
            </a:pPr>
            <a:r>
              <a:rPr lang="en-US" sz="1100" b="1" dirty="0">
                <a:solidFill>
                  <a:srgbClr val="FFFFFF"/>
                </a:solidFill>
                <a:latin typeface="Inter" pitchFamily="34" charset="0"/>
                <a:ea typeface="Inter" pitchFamily="34" charset="-122"/>
                <a:cs typeface="Inter" pitchFamily="34" charset="-120"/>
              </a:rPr>
              <a:t>MOIC</a:t>
            </a:r>
            <a:endParaRPr lang="en-US" sz="1100" dirty="0"/>
          </a:p>
        </p:txBody>
      </p:sp>
      <p:sp>
        <p:nvSpPr>
          <p:cNvPr id="12" name="Text 8"/>
          <p:cNvSpPr txBox="1"/>
          <p:nvPr/>
        </p:nvSpPr>
        <p:spPr>
          <a:xfrm>
            <a:off x="7498080" y="2103120"/>
            <a:ext cx="1463040" cy="457200"/>
          </a:xfrm>
          <a:prstGeom prst="rect">
            <a:avLst/>
          </a:prstGeom>
          <a:solidFill>
            <a:srgbClr val="FFFFFF"/>
          </a:solidFill>
          <a:ln/>
        </p:spPr>
        <p:txBody>
          <a:bodyPr wrap="square" lIns="0" tIns="76200" rIns="76200" bIns="0" rtlCol="0" anchor="ctr"/>
          <a:lstStyle/>
          <a:p>
            <a:pPr algn="l" indent="0" marL="0">
              <a:buNone/>
            </a:pPr>
            <a:r>
              <a:rPr lang="en-US" sz="1150" b="1" dirty="0">
                <a:solidFill>
                  <a:srgbClr val="1F2124"/>
                </a:solidFill>
                <a:latin typeface="Inter" pitchFamily="34" charset="0"/>
                <a:ea typeface="Inter" pitchFamily="34" charset="-122"/>
                <a:cs typeface="Inter" pitchFamily="34" charset="-120"/>
              </a:rPr>
              <a:t>Amancio Ortega</a:t>
            </a:r>
            <a:endParaRPr lang="en-US" sz="1150" dirty="0"/>
          </a:p>
        </p:txBody>
      </p:sp>
      <p:sp>
        <p:nvSpPr>
          <p:cNvPr id="13" name="Text 9"/>
          <p:cNvSpPr txBox="1"/>
          <p:nvPr/>
        </p:nvSpPr>
        <p:spPr>
          <a:xfrm>
            <a:off x="8961120" y="2103120"/>
            <a:ext cx="731520" cy="457200"/>
          </a:xfrm>
          <a:prstGeom prst="rect">
            <a:avLst/>
          </a:prstGeom>
          <a:solidFill>
            <a:srgbClr val="FFFFFF"/>
          </a:solidFill>
          <a:ln/>
        </p:spPr>
        <p:txBody>
          <a:bodyPr wrap="square" lIns="0" tIns="76200" rIns="76200" bIns="0" rtlCol="0" anchor="ctr"/>
          <a:lstStyle/>
          <a:p>
            <a:pPr algn="r" indent="0" marL="0">
              <a:buNone/>
            </a:pPr>
            <a:r>
              <a:rPr lang="en-US" sz="1150" dirty="0">
                <a:solidFill>
                  <a:srgbClr val="1F2124"/>
                </a:solidFill>
                <a:latin typeface="Inter" pitchFamily="34" charset="0"/>
                <a:ea typeface="Inter" pitchFamily="34" charset="-122"/>
                <a:cs typeface="Inter" pitchFamily="34" charset="-120"/>
              </a:rPr>
              <a:t>49.658</a:t>
            </a:r>
            <a:endParaRPr lang="en-US" sz="1150" dirty="0"/>
          </a:p>
        </p:txBody>
      </p:sp>
      <p:sp>
        <p:nvSpPr>
          <p:cNvPr id="14" name="Text 10"/>
          <p:cNvSpPr txBox="1"/>
          <p:nvPr/>
        </p:nvSpPr>
        <p:spPr>
          <a:xfrm>
            <a:off x="9692640" y="2103120"/>
            <a:ext cx="777240" cy="457200"/>
          </a:xfrm>
          <a:prstGeom prst="rect">
            <a:avLst/>
          </a:prstGeom>
          <a:solidFill>
            <a:srgbClr val="FFFFFF"/>
          </a:solidFill>
          <a:ln/>
        </p:spPr>
        <p:txBody>
          <a:bodyPr wrap="square" lIns="0" tIns="76200" rIns="76200" bIns="0" rtlCol="0" anchor="ctr"/>
          <a:lstStyle/>
          <a:p>
            <a:pPr algn="r" indent="0" marL="0">
              <a:buNone/>
            </a:pPr>
            <a:r>
              <a:rPr lang="en-US" sz="1150" dirty="0">
                <a:solidFill>
                  <a:srgbClr val="1F2124"/>
                </a:solidFill>
                <a:latin typeface="Inter" pitchFamily="34" charset="0"/>
                <a:ea typeface="Inter" pitchFamily="34" charset="-122"/>
                <a:cs typeface="Inter" pitchFamily="34" charset="-120"/>
              </a:rPr>
              <a:t>101.609</a:t>
            </a:r>
            <a:endParaRPr lang="en-US" sz="1150" dirty="0"/>
          </a:p>
        </p:txBody>
      </p:sp>
      <p:sp>
        <p:nvSpPr>
          <p:cNvPr id="15" name="Text 11"/>
          <p:cNvSpPr txBox="1"/>
          <p:nvPr/>
        </p:nvSpPr>
        <p:spPr>
          <a:xfrm>
            <a:off x="10469880" y="2103120"/>
            <a:ext cx="594360" cy="457200"/>
          </a:xfrm>
          <a:prstGeom prst="rect">
            <a:avLst/>
          </a:prstGeom>
          <a:solidFill>
            <a:srgbClr val="FFFFFF"/>
          </a:solidFill>
          <a:ln/>
        </p:spPr>
        <p:txBody>
          <a:bodyPr wrap="square" lIns="0" tIns="76200" rIns="76200" bIns="0" rtlCol="0" anchor="ctr"/>
          <a:lstStyle/>
          <a:p>
            <a:pPr algn="r" indent="0" marL="0">
              <a:buNone/>
            </a:pPr>
            <a:r>
              <a:rPr lang="en-US" sz="1150" dirty="0">
                <a:solidFill>
                  <a:srgbClr val="1F2124"/>
                </a:solidFill>
                <a:latin typeface="Inter" pitchFamily="34" charset="0"/>
                <a:ea typeface="Inter" pitchFamily="34" charset="-122"/>
                <a:cs typeface="Inter" pitchFamily="34" charset="-120"/>
              </a:rPr>
              <a:t>10,8%</a:t>
            </a:r>
            <a:endParaRPr lang="en-US" sz="1150" dirty="0"/>
          </a:p>
        </p:txBody>
      </p:sp>
      <p:sp>
        <p:nvSpPr>
          <p:cNvPr id="16" name="Text 12"/>
          <p:cNvSpPr txBox="1"/>
          <p:nvPr/>
        </p:nvSpPr>
        <p:spPr>
          <a:xfrm>
            <a:off x="11064240" y="2103120"/>
            <a:ext cx="576072" cy="457200"/>
          </a:xfrm>
          <a:prstGeom prst="rect">
            <a:avLst/>
          </a:prstGeom>
          <a:solidFill>
            <a:srgbClr val="FFFFFF"/>
          </a:solidFill>
          <a:ln/>
        </p:spPr>
        <p:txBody>
          <a:bodyPr wrap="square" lIns="0" tIns="76200" rIns="76200" bIns="0" rtlCol="0" anchor="ctr"/>
          <a:lstStyle/>
          <a:p>
            <a:pPr algn="r" indent="0" marL="0">
              <a:buNone/>
            </a:pPr>
            <a:r>
              <a:rPr lang="en-US" sz="1150" dirty="0">
                <a:solidFill>
                  <a:srgbClr val="1F2124"/>
                </a:solidFill>
                <a:latin typeface="Inter" pitchFamily="34" charset="0"/>
                <a:ea typeface="Inter" pitchFamily="34" charset="-122"/>
                <a:cs typeface="Inter" pitchFamily="34" charset="-120"/>
              </a:rPr>
              <a:t>2,05x</a:t>
            </a:r>
            <a:endParaRPr lang="en-US" sz="1150" dirty="0"/>
          </a:p>
        </p:txBody>
      </p:sp>
      <p:sp>
        <p:nvSpPr>
          <p:cNvPr id="17" name="Text 13"/>
          <p:cNvSpPr txBox="1"/>
          <p:nvPr/>
        </p:nvSpPr>
        <p:spPr>
          <a:xfrm>
            <a:off x="7498080" y="2560320"/>
            <a:ext cx="1463040" cy="457200"/>
          </a:xfrm>
          <a:prstGeom prst="rect">
            <a:avLst/>
          </a:prstGeom>
          <a:solidFill>
            <a:srgbClr val="F3F3F2"/>
          </a:solidFill>
          <a:ln/>
        </p:spPr>
        <p:txBody>
          <a:bodyPr wrap="square" lIns="0" tIns="76200" rIns="76200" bIns="0" rtlCol="0" anchor="ctr"/>
          <a:lstStyle/>
          <a:p>
            <a:pPr algn="l" indent="0" marL="0">
              <a:buNone/>
            </a:pPr>
            <a:r>
              <a:rPr lang="en-US" sz="1150" b="1" dirty="0">
                <a:solidFill>
                  <a:srgbClr val="1F2124"/>
                </a:solidFill>
                <a:latin typeface="Inter" pitchFamily="34" charset="0"/>
                <a:ea typeface="Inter" pitchFamily="34" charset="-122"/>
                <a:cs typeface="Inter" pitchFamily="34" charset="-120"/>
              </a:rPr>
              <a:t>Consorcio (bruto)</a:t>
            </a:r>
            <a:endParaRPr lang="en-US" sz="1150" dirty="0"/>
          </a:p>
        </p:txBody>
      </p:sp>
      <p:sp>
        <p:nvSpPr>
          <p:cNvPr id="18" name="Text 14"/>
          <p:cNvSpPr txBox="1"/>
          <p:nvPr/>
        </p:nvSpPr>
        <p:spPr>
          <a:xfrm>
            <a:off x="8961120" y="2560320"/>
            <a:ext cx="731520" cy="457200"/>
          </a:xfrm>
          <a:prstGeom prst="rect">
            <a:avLst/>
          </a:prstGeom>
          <a:solidFill>
            <a:srgbClr val="F3F3F2"/>
          </a:solidFill>
          <a:ln/>
        </p:spPr>
        <p:txBody>
          <a:bodyPr wrap="square" lIns="0" tIns="76200" rIns="76200" bIns="0" rtlCol="0" anchor="ctr"/>
          <a:lstStyle/>
          <a:p>
            <a:pPr algn="r" indent="0" marL="0">
              <a:buNone/>
            </a:pPr>
            <a:r>
              <a:rPr lang="en-US" sz="1150" dirty="0">
                <a:solidFill>
                  <a:srgbClr val="1F2124"/>
                </a:solidFill>
                <a:latin typeface="Inter" pitchFamily="34" charset="0"/>
                <a:ea typeface="Inter" pitchFamily="34" charset="-122"/>
                <a:cs typeface="Inter" pitchFamily="34" charset="-120"/>
              </a:rPr>
              <a:t>64.693</a:t>
            </a:r>
            <a:endParaRPr lang="en-US" sz="1150" dirty="0"/>
          </a:p>
        </p:txBody>
      </p:sp>
      <p:sp>
        <p:nvSpPr>
          <p:cNvPr id="19" name="Text 15"/>
          <p:cNvSpPr txBox="1"/>
          <p:nvPr/>
        </p:nvSpPr>
        <p:spPr>
          <a:xfrm>
            <a:off x="9692640" y="2560320"/>
            <a:ext cx="777240" cy="457200"/>
          </a:xfrm>
          <a:prstGeom prst="rect">
            <a:avLst/>
          </a:prstGeom>
          <a:solidFill>
            <a:srgbClr val="F3F3F2"/>
          </a:solidFill>
          <a:ln/>
        </p:spPr>
        <p:txBody>
          <a:bodyPr wrap="square" lIns="0" tIns="76200" rIns="76200" bIns="0" rtlCol="0" anchor="ctr"/>
          <a:lstStyle/>
          <a:p>
            <a:pPr algn="r" indent="0" marL="0">
              <a:buNone/>
            </a:pPr>
            <a:r>
              <a:rPr lang="en-US" sz="1150" dirty="0">
                <a:solidFill>
                  <a:srgbClr val="1F2124"/>
                </a:solidFill>
                <a:latin typeface="Inter" pitchFamily="34" charset="0"/>
                <a:ea typeface="Inter" pitchFamily="34" charset="-122"/>
                <a:cs typeface="Inter" pitchFamily="34" charset="-120"/>
              </a:rPr>
              <a:t>132.372</a:t>
            </a:r>
            <a:endParaRPr lang="en-US" sz="1150" dirty="0"/>
          </a:p>
        </p:txBody>
      </p:sp>
      <p:sp>
        <p:nvSpPr>
          <p:cNvPr id="20" name="Text 16"/>
          <p:cNvSpPr txBox="1"/>
          <p:nvPr/>
        </p:nvSpPr>
        <p:spPr>
          <a:xfrm>
            <a:off x="10469880" y="2560320"/>
            <a:ext cx="594360" cy="457200"/>
          </a:xfrm>
          <a:prstGeom prst="rect">
            <a:avLst/>
          </a:prstGeom>
          <a:solidFill>
            <a:srgbClr val="F3F3F2"/>
          </a:solidFill>
          <a:ln/>
        </p:spPr>
        <p:txBody>
          <a:bodyPr wrap="square" lIns="0" tIns="76200" rIns="76200" bIns="0" rtlCol="0" anchor="ctr"/>
          <a:lstStyle/>
          <a:p>
            <a:pPr algn="r" indent="0" marL="0">
              <a:buNone/>
            </a:pPr>
            <a:r>
              <a:rPr lang="en-US" sz="1150" dirty="0">
                <a:solidFill>
                  <a:srgbClr val="1F2124"/>
                </a:solidFill>
                <a:latin typeface="Inter" pitchFamily="34" charset="0"/>
                <a:ea typeface="Inter" pitchFamily="34" charset="-122"/>
                <a:cs typeface="Inter" pitchFamily="34" charset="-120"/>
              </a:rPr>
              <a:t>10,8%</a:t>
            </a:r>
            <a:endParaRPr lang="en-US" sz="1150" dirty="0"/>
          </a:p>
        </p:txBody>
      </p:sp>
      <p:sp>
        <p:nvSpPr>
          <p:cNvPr id="21" name="Text 17"/>
          <p:cNvSpPr txBox="1"/>
          <p:nvPr/>
        </p:nvSpPr>
        <p:spPr>
          <a:xfrm>
            <a:off x="11064240" y="2560320"/>
            <a:ext cx="576072" cy="457200"/>
          </a:xfrm>
          <a:prstGeom prst="rect">
            <a:avLst/>
          </a:prstGeom>
          <a:solidFill>
            <a:srgbClr val="F3F3F2"/>
          </a:solidFill>
          <a:ln/>
        </p:spPr>
        <p:txBody>
          <a:bodyPr wrap="square" lIns="0" tIns="76200" rIns="76200" bIns="0" rtlCol="0" anchor="ctr"/>
          <a:lstStyle/>
          <a:p>
            <a:pPr algn="r" indent="0" marL="0">
              <a:buNone/>
            </a:pPr>
            <a:r>
              <a:rPr lang="en-US" sz="1150" dirty="0">
                <a:solidFill>
                  <a:srgbClr val="1F2124"/>
                </a:solidFill>
                <a:latin typeface="Inter" pitchFamily="34" charset="0"/>
                <a:ea typeface="Inter" pitchFamily="34" charset="-122"/>
                <a:cs typeface="Inter" pitchFamily="34" charset="-120"/>
              </a:rPr>
              <a:t>2,05x</a:t>
            </a:r>
            <a:endParaRPr lang="en-US" sz="1150" dirty="0"/>
          </a:p>
        </p:txBody>
      </p:sp>
      <p:sp>
        <p:nvSpPr>
          <p:cNvPr id="22" name="Text 18"/>
          <p:cNvSpPr txBox="1"/>
          <p:nvPr/>
        </p:nvSpPr>
        <p:spPr>
          <a:xfrm>
            <a:off x="7498080" y="3017520"/>
            <a:ext cx="1463040" cy="457200"/>
          </a:xfrm>
          <a:prstGeom prst="rect">
            <a:avLst/>
          </a:prstGeom>
          <a:solidFill>
            <a:srgbClr val="FFFFFF"/>
          </a:solidFill>
          <a:ln/>
        </p:spPr>
        <p:txBody>
          <a:bodyPr wrap="square" lIns="0" tIns="76200" rIns="76200" bIns="0" rtlCol="0" anchor="ctr"/>
          <a:lstStyle/>
          <a:p>
            <a:pPr algn="l" indent="0" marL="0">
              <a:buNone/>
            </a:pPr>
            <a:r>
              <a:rPr lang="en-US" sz="1150" b="1" dirty="0">
                <a:solidFill>
                  <a:srgbClr val="1F2124"/>
                </a:solidFill>
                <a:latin typeface="Inter" pitchFamily="34" charset="0"/>
                <a:ea typeface="Inter" pitchFamily="34" charset="-122"/>
                <a:cs typeface="Inter" pitchFamily="34" charset="-120"/>
              </a:rPr>
              <a:t>LPs netos</a:t>
            </a:r>
            <a:endParaRPr lang="en-US" sz="1150" dirty="0"/>
          </a:p>
        </p:txBody>
      </p:sp>
      <p:sp>
        <p:nvSpPr>
          <p:cNvPr id="23" name="Text 19"/>
          <p:cNvSpPr txBox="1"/>
          <p:nvPr/>
        </p:nvSpPr>
        <p:spPr>
          <a:xfrm>
            <a:off x="8961120" y="3017520"/>
            <a:ext cx="731520" cy="457200"/>
          </a:xfrm>
          <a:prstGeom prst="rect">
            <a:avLst/>
          </a:prstGeom>
          <a:solidFill>
            <a:srgbClr val="FFFFFF"/>
          </a:solidFill>
          <a:ln/>
        </p:spPr>
        <p:txBody>
          <a:bodyPr wrap="square" lIns="0" tIns="76200" rIns="76200" bIns="0" rtlCol="0" anchor="ctr"/>
          <a:lstStyle/>
          <a:p>
            <a:pPr algn="r" indent="0" marL="0">
              <a:buNone/>
            </a:pPr>
            <a:r>
              <a:rPr lang="en-US" sz="1150" dirty="0">
                <a:solidFill>
                  <a:srgbClr val="1F2124"/>
                </a:solidFill>
                <a:latin typeface="Inter" pitchFamily="34" charset="0"/>
                <a:ea typeface="Inter" pitchFamily="34" charset="-122"/>
                <a:cs typeface="Inter" pitchFamily="34" charset="-120"/>
              </a:rPr>
              <a:t>54.989</a:t>
            </a:r>
            <a:endParaRPr lang="en-US" sz="1150" dirty="0"/>
          </a:p>
        </p:txBody>
      </p:sp>
      <p:sp>
        <p:nvSpPr>
          <p:cNvPr id="24" name="Text 20"/>
          <p:cNvSpPr txBox="1"/>
          <p:nvPr/>
        </p:nvSpPr>
        <p:spPr>
          <a:xfrm>
            <a:off x="9692640" y="3017520"/>
            <a:ext cx="777240" cy="457200"/>
          </a:xfrm>
          <a:prstGeom prst="rect">
            <a:avLst/>
          </a:prstGeom>
          <a:solidFill>
            <a:srgbClr val="FFFFFF"/>
          </a:solidFill>
          <a:ln/>
        </p:spPr>
        <p:txBody>
          <a:bodyPr wrap="square" lIns="0" tIns="76200" rIns="76200" bIns="0" rtlCol="0" anchor="ctr"/>
          <a:lstStyle/>
          <a:p>
            <a:pPr algn="r" indent="0" marL="0">
              <a:buNone/>
            </a:pPr>
            <a:r>
              <a:rPr lang="en-US" sz="1150" dirty="0">
                <a:solidFill>
                  <a:srgbClr val="1F2124"/>
                </a:solidFill>
                <a:latin typeface="Inter" pitchFamily="34" charset="0"/>
                <a:ea typeface="Inter" pitchFamily="34" charset="-122"/>
                <a:cs typeface="Inter" pitchFamily="34" charset="-120"/>
              </a:rPr>
              <a:t>101.011</a:t>
            </a:r>
            <a:endParaRPr lang="en-US" sz="1150" dirty="0"/>
          </a:p>
        </p:txBody>
      </p:sp>
      <p:sp>
        <p:nvSpPr>
          <p:cNvPr id="25" name="Text 21"/>
          <p:cNvSpPr txBox="1"/>
          <p:nvPr/>
        </p:nvSpPr>
        <p:spPr>
          <a:xfrm>
            <a:off x="10469880" y="3017520"/>
            <a:ext cx="594360" cy="457200"/>
          </a:xfrm>
          <a:prstGeom prst="rect">
            <a:avLst/>
          </a:prstGeom>
          <a:solidFill>
            <a:srgbClr val="FFFFFF"/>
          </a:solidFill>
          <a:ln/>
        </p:spPr>
        <p:txBody>
          <a:bodyPr wrap="square" lIns="0" tIns="76200" rIns="76200" bIns="0" rtlCol="0" anchor="ctr"/>
          <a:lstStyle/>
          <a:p>
            <a:pPr algn="r" indent="0" marL="0">
              <a:buNone/>
            </a:pPr>
            <a:r>
              <a:rPr lang="en-US" sz="1150" dirty="0">
                <a:solidFill>
                  <a:srgbClr val="1F2124"/>
                </a:solidFill>
                <a:latin typeface="Inter" pitchFamily="34" charset="0"/>
                <a:ea typeface="Inter" pitchFamily="34" charset="-122"/>
                <a:cs typeface="Inter" pitchFamily="34" charset="-120"/>
              </a:rPr>
              <a:t>9,1%</a:t>
            </a:r>
            <a:endParaRPr lang="en-US" sz="1150" dirty="0"/>
          </a:p>
        </p:txBody>
      </p:sp>
      <p:sp>
        <p:nvSpPr>
          <p:cNvPr id="26" name="Text 22"/>
          <p:cNvSpPr txBox="1"/>
          <p:nvPr/>
        </p:nvSpPr>
        <p:spPr>
          <a:xfrm>
            <a:off x="11064240" y="3017520"/>
            <a:ext cx="576072" cy="457200"/>
          </a:xfrm>
          <a:prstGeom prst="rect">
            <a:avLst/>
          </a:prstGeom>
          <a:solidFill>
            <a:srgbClr val="FFFFFF"/>
          </a:solidFill>
          <a:ln/>
        </p:spPr>
        <p:txBody>
          <a:bodyPr wrap="square" lIns="0" tIns="76200" rIns="76200" bIns="0" rtlCol="0" anchor="ctr"/>
          <a:lstStyle/>
          <a:p>
            <a:pPr algn="r" indent="0" marL="0">
              <a:buNone/>
            </a:pPr>
            <a:r>
              <a:rPr lang="en-US" sz="1150" dirty="0">
                <a:solidFill>
                  <a:srgbClr val="1F2124"/>
                </a:solidFill>
                <a:latin typeface="Inter" pitchFamily="34" charset="0"/>
                <a:ea typeface="Inter" pitchFamily="34" charset="-122"/>
                <a:cs typeface="Inter" pitchFamily="34" charset="-120"/>
              </a:rPr>
              <a:t>1,84x</a:t>
            </a:r>
            <a:endParaRPr lang="en-US" sz="1150" dirty="0"/>
          </a:p>
        </p:txBody>
      </p:sp>
      <p:sp>
        <p:nvSpPr>
          <p:cNvPr id="27" name="Text 23"/>
          <p:cNvSpPr txBox="1"/>
          <p:nvPr/>
        </p:nvSpPr>
        <p:spPr>
          <a:xfrm>
            <a:off x="7498080" y="3474720"/>
            <a:ext cx="1463040" cy="457200"/>
          </a:xfrm>
          <a:prstGeom prst="rect">
            <a:avLst/>
          </a:prstGeom>
          <a:solidFill>
            <a:srgbClr val="F3F3F2"/>
          </a:solidFill>
          <a:ln/>
        </p:spPr>
        <p:txBody>
          <a:bodyPr wrap="square" lIns="0" tIns="76200" rIns="76200" bIns="0" rtlCol="0" anchor="ctr"/>
          <a:lstStyle/>
          <a:p>
            <a:pPr algn="l" indent="0" marL="0">
              <a:buNone/>
            </a:pPr>
            <a:r>
              <a:rPr lang="en-US" sz="1150" b="1" dirty="0">
                <a:solidFill>
                  <a:srgbClr val="1F2124"/>
                </a:solidFill>
                <a:latin typeface="Inter" pitchFamily="34" charset="0"/>
                <a:ea typeface="Inter" pitchFamily="34" charset="-122"/>
                <a:cs typeface="Inter" pitchFamily="34" charset="-120"/>
              </a:rPr>
              <a:t>GP con carry</a:t>
            </a:r>
            <a:endParaRPr lang="en-US" sz="1150" dirty="0"/>
          </a:p>
        </p:txBody>
      </p:sp>
      <p:sp>
        <p:nvSpPr>
          <p:cNvPr id="28" name="Text 24"/>
          <p:cNvSpPr txBox="1"/>
          <p:nvPr/>
        </p:nvSpPr>
        <p:spPr>
          <a:xfrm>
            <a:off x="8961120" y="3474720"/>
            <a:ext cx="731520" cy="457200"/>
          </a:xfrm>
          <a:prstGeom prst="rect">
            <a:avLst/>
          </a:prstGeom>
          <a:solidFill>
            <a:srgbClr val="F3F3F2"/>
          </a:solidFill>
          <a:ln/>
        </p:spPr>
        <p:txBody>
          <a:bodyPr wrap="square" lIns="0" tIns="76200" rIns="76200" bIns="0" rtlCol="0" anchor="ctr"/>
          <a:lstStyle/>
          <a:p>
            <a:pPr algn="r" indent="0" marL="0">
              <a:buNone/>
            </a:pPr>
            <a:r>
              <a:rPr lang="en-US" sz="1150" dirty="0">
                <a:solidFill>
                  <a:srgbClr val="1F2124"/>
                </a:solidFill>
                <a:latin typeface="Inter" pitchFamily="34" charset="0"/>
                <a:ea typeface="Inter" pitchFamily="34" charset="-122"/>
                <a:cs typeface="Inter" pitchFamily="34" charset="-120"/>
              </a:rPr>
              <a:t>9.704</a:t>
            </a:r>
            <a:endParaRPr lang="en-US" sz="1150" dirty="0"/>
          </a:p>
        </p:txBody>
      </p:sp>
      <p:sp>
        <p:nvSpPr>
          <p:cNvPr id="29" name="Text 25"/>
          <p:cNvSpPr txBox="1"/>
          <p:nvPr/>
        </p:nvSpPr>
        <p:spPr>
          <a:xfrm>
            <a:off x="9692640" y="3474720"/>
            <a:ext cx="777240" cy="457200"/>
          </a:xfrm>
          <a:prstGeom prst="rect">
            <a:avLst/>
          </a:prstGeom>
          <a:solidFill>
            <a:srgbClr val="F3F3F2"/>
          </a:solidFill>
          <a:ln/>
        </p:spPr>
        <p:txBody>
          <a:bodyPr wrap="square" lIns="0" tIns="76200" rIns="76200" bIns="0" rtlCol="0" anchor="ctr"/>
          <a:lstStyle/>
          <a:p>
            <a:pPr algn="r" indent="0" marL="0">
              <a:buNone/>
            </a:pPr>
            <a:r>
              <a:rPr lang="en-US" sz="1150" dirty="0">
                <a:solidFill>
                  <a:srgbClr val="1F2124"/>
                </a:solidFill>
                <a:latin typeface="Inter" pitchFamily="34" charset="0"/>
                <a:ea typeface="Inter" pitchFamily="34" charset="-122"/>
                <a:cs typeface="Inter" pitchFamily="34" charset="-120"/>
              </a:rPr>
              <a:t>31.361</a:t>
            </a:r>
            <a:endParaRPr lang="en-US" sz="1150" dirty="0"/>
          </a:p>
        </p:txBody>
      </p:sp>
      <p:sp>
        <p:nvSpPr>
          <p:cNvPr id="30" name="Text 26"/>
          <p:cNvSpPr txBox="1"/>
          <p:nvPr/>
        </p:nvSpPr>
        <p:spPr>
          <a:xfrm>
            <a:off x="10469880" y="3474720"/>
            <a:ext cx="594360" cy="457200"/>
          </a:xfrm>
          <a:prstGeom prst="rect">
            <a:avLst/>
          </a:prstGeom>
          <a:solidFill>
            <a:srgbClr val="F3F3F2"/>
          </a:solidFill>
          <a:ln/>
        </p:spPr>
        <p:txBody>
          <a:bodyPr wrap="square" lIns="0" tIns="76200" rIns="76200" bIns="0" rtlCol="0" anchor="ctr"/>
          <a:lstStyle/>
          <a:p>
            <a:pPr algn="r" indent="0" marL="0">
              <a:buNone/>
            </a:pPr>
            <a:r>
              <a:rPr lang="en-US" sz="1150" dirty="0">
                <a:solidFill>
                  <a:srgbClr val="1F2124"/>
                </a:solidFill>
                <a:latin typeface="Inter" pitchFamily="34" charset="0"/>
                <a:ea typeface="Inter" pitchFamily="34" charset="-122"/>
                <a:cs typeface="Inter" pitchFamily="34" charset="-120"/>
              </a:rPr>
              <a:t>18,2%</a:t>
            </a:r>
            <a:endParaRPr lang="en-US" sz="1150" dirty="0"/>
          </a:p>
        </p:txBody>
      </p:sp>
      <p:sp>
        <p:nvSpPr>
          <p:cNvPr id="31" name="Text 27"/>
          <p:cNvSpPr txBox="1"/>
          <p:nvPr/>
        </p:nvSpPr>
        <p:spPr>
          <a:xfrm>
            <a:off x="11064240" y="3474720"/>
            <a:ext cx="576072" cy="457200"/>
          </a:xfrm>
          <a:prstGeom prst="rect">
            <a:avLst/>
          </a:prstGeom>
          <a:solidFill>
            <a:srgbClr val="F3F3F2"/>
          </a:solidFill>
          <a:ln/>
        </p:spPr>
        <p:txBody>
          <a:bodyPr wrap="square" lIns="0" tIns="76200" rIns="76200" bIns="0" rtlCol="0" anchor="ctr"/>
          <a:lstStyle/>
          <a:p>
            <a:pPr algn="r" indent="0" marL="0">
              <a:buNone/>
            </a:pPr>
            <a:r>
              <a:rPr lang="en-US" sz="1150" dirty="0">
                <a:solidFill>
                  <a:srgbClr val="1F2124"/>
                </a:solidFill>
                <a:latin typeface="Inter" pitchFamily="34" charset="0"/>
                <a:ea typeface="Inter" pitchFamily="34" charset="-122"/>
                <a:cs typeface="Inter" pitchFamily="34" charset="-120"/>
              </a:rPr>
              <a:t>3,23x</a:t>
            </a:r>
            <a:endParaRPr lang="en-US" sz="1150" dirty="0"/>
          </a:p>
        </p:txBody>
      </p:sp>
      <p:sp>
        <p:nvSpPr>
          <p:cNvPr id="32" name="Shape 28"/>
          <p:cNvSpPr/>
          <p:nvPr/>
        </p:nvSpPr>
        <p:spPr>
          <a:xfrm>
            <a:off x="7498080" y="4069080"/>
            <a:ext cx="4142232" cy="2011680"/>
          </a:xfrm>
          <a:prstGeom prst="rect">
            <a:avLst>
              <a:gd name="adj" fmla="val 2727"/>
            </a:avLst>
          </a:prstGeom>
          <a:solidFill>
            <a:srgbClr val="1A1D21"/>
          </a:solidFill>
          <a:ln/>
        </p:spPr>
      </p:sp>
      <p:sp>
        <p:nvSpPr>
          <p:cNvPr id="33" name="Text 29"/>
          <p:cNvSpPr txBox="1"/>
          <p:nvPr/>
        </p:nvSpPr>
        <p:spPr>
          <a:xfrm>
            <a:off x="7680960" y="4187952"/>
            <a:ext cx="3657600" cy="274320"/>
          </a:xfrm>
          <a:prstGeom prst="rect">
            <a:avLst/>
          </a:prstGeom>
          <a:noFill/>
          <a:ln/>
        </p:spPr>
        <p:txBody>
          <a:bodyPr wrap="square" lIns="0" tIns="0" rIns="0" bIns="0" rtlCol="0" anchor="t"/>
          <a:lstStyle/>
          <a:p>
            <a:pPr indent="0" marL="0">
              <a:buNone/>
            </a:pPr>
            <a:r>
              <a:rPr lang="en-US" sz="1300" b="1" dirty="0">
                <a:solidFill>
                  <a:srgbClr val="A8C9B8"/>
                </a:solidFill>
                <a:latin typeface="Inter" pitchFamily="34" charset="0"/>
                <a:ea typeface="Inter" pitchFamily="34" charset="-122"/>
                <a:cs typeface="Inter" pitchFamily="34" charset="-120"/>
              </a:rPr>
              <a:t>Lectura</a:t>
            </a:r>
            <a:endParaRPr lang="en-US" sz="1300" dirty="0"/>
          </a:p>
        </p:txBody>
      </p:sp>
      <p:sp>
        <p:nvSpPr>
          <p:cNvPr id="34" name="Text 30"/>
          <p:cNvSpPr txBox="1"/>
          <p:nvPr/>
        </p:nvSpPr>
        <p:spPr>
          <a:xfrm>
            <a:off x="7680960" y="4498848"/>
            <a:ext cx="3794760" cy="1508760"/>
          </a:xfrm>
          <a:prstGeom prst="rect">
            <a:avLst/>
          </a:prstGeom>
          <a:noFill/>
          <a:ln/>
        </p:spPr>
        <p:txBody>
          <a:bodyPr wrap="square" lIns="0" tIns="0" rIns="0" bIns="0" rtlCol="0" anchor="t"/>
          <a:lstStyle/>
          <a:p>
            <a:pPr indent="0" marL="0">
              <a:buNone/>
            </a:pPr>
            <a:r>
              <a:rPr lang="en-US" sz="1150" dirty="0">
                <a:solidFill>
                  <a:srgbClr val="D9D9D6"/>
                </a:solidFill>
                <a:latin typeface="Inter" pitchFamily="34" charset="0"/>
                <a:ea typeface="Inter" pitchFamily="34" charset="-122"/>
                <a:cs typeface="Inter" pitchFamily="34" charset="-120"/>
              </a:rPr>
              <a:t>El crecimiento del EBITDA aporta €101.181m y la reducción de deuda neta €23.247m. El GP llega al 18,2% gracias a €11.505m de carry; los LPs superan el hurdle del 8% con un 9,1%.</a:t>
            </a:r>
            <a:endParaRPr lang="en-US" sz="1150" dirty="0"/>
          </a:p>
        </p:txBody>
      </p:sp>
      <p:sp>
        <p:nvSpPr>
          <p:cNvPr id="35" name="Text 31"/>
          <p:cNvSpPr txBox="1"/>
          <p:nvPr/>
        </p:nvSpPr>
        <p:spPr>
          <a:xfrm>
            <a:off x="548640" y="6327648"/>
            <a:ext cx="7863840" cy="228600"/>
          </a:xfrm>
          <a:prstGeom prst="rect">
            <a:avLst/>
          </a:prstGeom>
          <a:noFill/>
          <a:ln/>
        </p:spPr>
        <p:txBody>
          <a:bodyPr wrap="square" lIns="0" tIns="0" rIns="0" bIns="0" rtlCol="0" anchor="t"/>
          <a:lstStyle/>
          <a:p>
            <a:pPr indent="0" marL="0">
              <a:buNone/>
            </a:pPr>
            <a:r>
              <a:rPr lang="en-US" sz="900" dirty="0">
                <a:solidFill>
                  <a:srgbClr val="6E7378"/>
                </a:solidFill>
                <a:latin typeface="Inter" pitchFamily="34" charset="0"/>
                <a:ea typeface="Inter" pitchFamily="34" charset="-122"/>
                <a:cs typeface="Inter" pitchFamily="34" charset="-120"/>
              </a:rPr>
              <a:t>Fuente: modelo LBO definitivo (LBO Summary filas 48–97). Salida en 2032 a 19,9x; comisiones de salida 0,75% del EV.</a:t>
            </a:r>
            <a:endParaRPr lang="en-US" sz="900" dirty="0"/>
          </a:p>
        </p:txBody>
      </p:sp>
      <p:sp>
        <p:nvSpPr>
          <p:cNvPr id="36" name="Text 32"/>
          <p:cNvSpPr txBox="1"/>
          <p:nvPr/>
        </p:nvSpPr>
        <p:spPr>
          <a:xfrm>
            <a:off x="8595360" y="6327648"/>
            <a:ext cx="3044952" cy="228600"/>
          </a:xfrm>
          <a:prstGeom prst="rect">
            <a:avLst/>
          </a:prstGeom>
          <a:noFill/>
          <a:ln/>
        </p:spPr>
        <p:txBody>
          <a:bodyPr wrap="square" lIns="0" tIns="0" rIns="0" bIns="0" rtlCol="0" anchor="t"/>
          <a:lstStyle/>
          <a:p>
            <a:pPr algn="r" indent="0" marL="0">
              <a:buNone/>
            </a:pPr>
            <a:r>
              <a:rPr lang="en-US" sz="900" dirty="0">
                <a:solidFill>
                  <a:srgbClr val="6E7378"/>
                </a:solidFill>
                <a:latin typeface="Inter" pitchFamily="34" charset="0"/>
                <a:ea typeface="Inter" pitchFamily="34" charset="-122"/>
                <a:cs typeface="Inter" pitchFamily="34" charset="-120"/>
              </a:rPr>
              <a:t>Project Galicia  ·  Estrictamente confidencial  ·  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A1D21"/>
        </a:solidFill>
      </p:bgPr>
    </p:bg>
    <p:spTree>
      <p:nvGrpSpPr>
        <p:cNvPr id="1" name=""/>
        <p:cNvGrpSpPr/>
        <p:nvPr/>
      </p:nvGrpSpPr>
      <p:grpSpPr>
        <a:xfrm>
          <a:off x="0" y="0"/>
          <a:ext cx="0" cy="0"/>
          <a:chOff x="0" y="0"/>
          <a:chExt cx="0" cy="0"/>
        </a:xfrm>
      </p:grpSpPr>
      <p:sp>
        <p:nvSpPr>
          <p:cNvPr id="2" name="Text 0"/>
          <p:cNvSpPr txBox="1"/>
          <p:nvPr/>
        </p:nvSpPr>
        <p:spPr>
          <a:xfrm>
            <a:off x="640080" y="502920"/>
            <a:ext cx="7315200" cy="274320"/>
          </a:xfrm>
          <a:prstGeom prst="rect">
            <a:avLst/>
          </a:prstGeom>
          <a:noFill/>
          <a:ln/>
        </p:spPr>
        <p:txBody>
          <a:bodyPr wrap="square" lIns="0" tIns="0" rIns="0" bIns="0" rtlCol="0" anchor="t"/>
          <a:lstStyle/>
          <a:p>
            <a:pPr indent="0" marL="0">
              <a:buNone/>
            </a:pPr>
            <a:r>
              <a:rPr lang="en-US" sz="1200" b="1" spc="300" kern="0" dirty="0">
                <a:solidFill>
                  <a:srgbClr val="A8C9B8"/>
                </a:solidFill>
                <a:latin typeface="Inter" pitchFamily="34" charset="0"/>
                <a:ea typeface="Inter" pitchFamily="34" charset="-122"/>
                <a:cs typeface="Inter" pitchFamily="34" charset="-120"/>
              </a:rPr>
              <a:t>CONCLUSIONES</a:t>
            </a:r>
            <a:endParaRPr lang="en-US" sz="1200" dirty="0"/>
          </a:p>
        </p:txBody>
      </p:sp>
      <p:pic>
        <p:nvPicPr>
          <p:cNvPr id="3" name="Image 0" descr="/tmp/claude-0/-home-claude/8d7de6a3-f167-5c95-8bc2-67944307bfd8/scratchpad/canva/img/HLP_logo_horizontal_oscuro.png">    </p:cNvPr>
          <p:cNvPicPr>
            <a:picLocks noChangeAspect="1"/>
          </p:cNvPicPr>
          <p:nvPr/>
        </p:nvPicPr>
        <p:blipFill>
          <a:blip r:embed="rId1"/>
          <a:stretch>
            <a:fillRect/>
          </a:stretch>
        </p:blipFill>
        <p:spPr>
          <a:xfrm>
            <a:off x="8869680" y="274320"/>
            <a:ext cx="2651760" cy="822960"/>
          </a:xfrm>
          <a:prstGeom prst="rect">
            <a:avLst/>
          </a:prstGeom>
        </p:spPr>
      </p:pic>
      <p:sp>
        <p:nvSpPr>
          <p:cNvPr id="4" name="Text 1"/>
          <p:cNvSpPr txBox="1"/>
          <p:nvPr/>
        </p:nvSpPr>
        <p:spPr>
          <a:xfrm>
            <a:off x="640080" y="822960"/>
            <a:ext cx="8046720" cy="731520"/>
          </a:xfrm>
          <a:prstGeom prst="rect">
            <a:avLst/>
          </a:prstGeom>
          <a:noFill/>
          <a:ln/>
        </p:spPr>
        <p:txBody>
          <a:bodyPr wrap="square" lIns="0" tIns="0" rIns="0" bIns="0" rtlCol="0" anchor="t"/>
          <a:lstStyle/>
          <a:p>
            <a:pPr indent="0" marL="0">
              <a:buNone/>
            </a:pPr>
            <a:r>
              <a:rPr lang="en-US" sz="2800" dirty="0">
                <a:solidFill>
                  <a:srgbClr val="FFFFFF"/>
                </a:solidFill>
                <a:latin typeface="Lora" pitchFamily="34" charset="0"/>
                <a:ea typeface="Lora" pitchFamily="34" charset="-122"/>
                <a:cs typeface="Lora" pitchFamily="34" charset="-120"/>
              </a:rPr>
              <a:t>Una estructura financiable para una operación sin precedentes</a:t>
            </a:r>
            <a:endParaRPr lang="en-US" sz="2800" dirty="0"/>
          </a:p>
        </p:txBody>
      </p:sp>
      <p:sp>
        <p:nvSpPr>
          <p:cNvPr id="5" name="Shape 2"/>
          <p:cNvSpPr/>
          <p:nvPr/>
        </p:nvSpPr>
        <p:spPr>
          <a:xfrm>
            <a:off x="640080" y="1920240"/>
            <a:ext cx="5349240" cy="1371600"/>
          </a:xfrm>
          <a:prstGeom prst="rect">
            <a:avLst>
              <a:gd name="adj" fmla="val 4000"/>
            </a:avLst>
          </a:prstGeom>
          <a:solidFill>
            <a:srgbClr val="2A2E33"/>
          </a:solidFill>
          <a:ln/>
        </p:spPr>
      </p:sp>
      <p:sp>
        <p:nvSpPr>
          <p:cNvPr id="6" name="Shape 3"/>
          <p:cNvSpPr/>
          <p:nvPr/>
        </p:nvSpPr>
        <p:spPr>
          <a:xfrm>
            <a:off x="868680" y="2148840"/>
            <a:ext cx="384048" cy="384048"/>
          </a:xfrm>
          <a:prstGeom prst="rect">
            <a:avLst/>
          </a:prstGeom>
          <a:solidFill>
            <a:srgbClr val="1F4B3F"/>
          </a:solidFill>
          <a:ln/>
        </p:spPr>
      </p:sp>
      <p:sp>
        <p:nvSpPr>
          <p:cNvPr id="7" name="Text 4"/>
          <p:cNvSpPr txBox="1"/>
          <p:nvPr/>
        </p:nvSpPr>
        <p:spPr>
          <a:xfrm>
            <a:off x="868680" y="2157984"/>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1</a:t>
            </a:r>
            <a:endParaRPr lang="en-US" sz="1400" dirty="0"/>
          </a:p>
        </p:txBody>
      </p:sp>
      <p:sp>
        <p:nvSpPr>
          <p:cNvPr id="8" name="Text 5"/>
          <p:cNvSpPr txBox="1"/>
          <p:nvPr/>
        </p:nvSpPr>
        <p:spPr>
          <a:xfrm>
            <a:off x="1417320" y="2148840"/>
            <a:ext cx="4389120" cy="365760"/>
          </a:xfrm>
          <a:prstGeom prst="rect">
            <a:avLst/>
          </a:prstGeom>
          <a:noFill/>
          <a:ln/>
        </p:spPr>
        <p:txBody>
          <a:bodyPr wrap="square" lIns="0" tIns="0" rIns="0" bIns="0" rtlCol="0" anchor="t"/>
          <a:lstStyle/>
          <a:p>
            <a:pPr indent="0" marL="0">
              <a:buNone/>
            </a:pPr>
            <a:r>
              <a:rPr lang="en-US" sz="1600" b="1" dirty="0">
                <a:solidFill>
                  <a:srgbClr val="FFFFFF"/>
                </a:solidFill>
                <a:latin typeface="Inter" pitchFamily="34" charset="0"/>
                <a:ea typeface="Inter" pitchFamily="34" charset="-122"/>
                <a:cs typeface="Inter" pitchFamily="34" charset="-120"/>
              </a:rPr>
              <a:t>Un negocio que genera caja</a:t>
            </a:r>
            <a:endParaRPr lang="en-US" sz="1600" dirty="0"/>
          </a:p>
        </p:txBody>
      </p:sp>
      <p:sp>
        <p:nvSpPr>
          <p:cNvPr id="9" name="Text 6"/>
          <p:cNvSpPr txBox="1"/>
          <p:nvPr/>
        </p:nvSpPr>
        <p:spPr>
          <a:xfrm>
            <a:off x="1417320" y="2560320"/>
            <a:ext cx="4389120" cy="640080"/>
          </a:xfrm>
          <a:prstGeom prst="rect">
            <a:avLst/>
          </a:prstGeom>
          <a:noFill/>
          <a:ln/>
        </p:spPr>
        <p:txBody>
          <a:bodyPr wrap="square" lIns="0" tIns="0" rIns="0" bIns="0" rtlCol="0" anchor="t"/>
          <a:lstStyle/>
          <a:p>
            <a:pPr indent="0" marL="0">
              <a:buNone/>
            </a:pPr>
            <a:r>
              <a:rPr lang="en-US" sz="1250" dirty="0">
                <a:solidFill>
                  <a:srgbClr val="D9D9D6"/>
                </a:solidFill>
                <a:latin typeface="Inter" pitchFamily="34" charset="0"/>
                <a:ea typeface="Inter" pitchFamily="34" charset="-122"/>
                <a:cs typeface="Inter" pitchFamily="34" charset="-120"/>
              </a:rPr>
              <a:t>Margen del 23,7%, circulante negativo y sin deuda: soporta 8,2x con un DSCR mínimo de 1,44x.</a:t>
            </a:r>
            <a:endParaRPr lang="en-US" sz="1250" dirty="0"/>
          </a:p>
        </p:txBody>
      </p:sp>
      <p:sp>
        <p:nvSpPr>
          <p:cNvPr id="10" name="Shape 7"/>
          <p:cNvSpPr/>
          <p:nvPr/>
        </p:nvSpPr>
        <p:spPr>
          <a:xfrm>
            <a:off x="6172200" y="1920240"/>
            <a:ext cx="5349240" cy="1371600"/>
          </a:xfrm>
          <a:prstGeom prst="rect">
            <a:avLst>
              <a:gd name="adj" fmla="val 4000"/>
            </a:avLst>
          </a:prstGeom>
          <a:solidFill>
            <a:srgbClr val="2A2E33"/>
          </a:solidFill>
          <a:ln/>
        </p:spPr>
      </p:sp>
      <p:sp>
        <p:nvSpPr>
          <p:cNvPr id="11" name="Shape 8"/>
          <p:cNvSpPr/>
          <p:nvPr/>
        </p:nvSpPr>
        <p:spPr>
          <a:xfrm>
            <a:off x="6400800" y="2148840"/>
            <a:ext cx="384048" cy="384048"/>
          </a:xfrm>
          <a:prstGeom prst="rect">
            <a:avLst/>
          </a:prstGeom>
          <a:solidFill>
            <a:srgbClr val="1F4B3F"/>
          </a:solidFill>
          <a:ln/>
        </p:spPr>
      </p:sp>
      <p:sp>
        <p:nvSpPr>
          <p:cNvPr id="12" name="Text 9"/>
          <p:cNvSpPr txBox="1"/>
          <p:nvPr/>
        </p:nvSpPr>
        <p:spPr>
          <a:xfrm>
            <a:off x="6400800" y="2157984"/>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a:t>
            </a:r>
            <a:endParaRPr lang="en-US" sz="1400" dirty="0"/>
          </a:p>
        </p:txBody>
      </p:sp>
      <p:sp>
        <p:nvSpPr>
          <p:cNvPr id="13" name="Text 10"/>
          <p:cNvSpPr txBox="1"/>
          <p:nvPr/>
        </p:nvSpPr>
        <p:spPr>
          <a:xfrm>
            <a:off x="6949440" y="2148840"/>
            <a:ext cx="4389120" cy="365760"/>
          </a:xfrm>
          <a:prstGeom prst="rect">
            <a:avLst/>
          </a:prstGeom>
          <a:noFill/>
          <a:ln/>
        </p:spPr>
        <p:txBody>
          <a:bodyPr wrap="square" lIns="0" tIns="0" rIns="0" bIns="0" rtlCol="0" anchor="t"/>
          <a:lstStyle/>
          <a:p>
            <a:pPr indent="0" marL="0">
              <a:buNone/>
            </a:pPr>
            <a:r>
              <a:rPr lang="en-US" sz="1600" b="1" dirty="0">
                <a:solidFill>
                  <a:srgbClr val="FFFFFF"/>
                </a:solidFill>
                <a:latin typeface="Inter" pitchFamily="34" charset="0"/>
                <a:ea typeface="Inter" pitchFamily="34" charset="-122"/>
                <a:cs typeface="Inter" pitchFamily="34" charset="-120"/>
              </a:rPr>
              <a:t>Riesgo ordenado en tres sociedades</a:t>
            </a:r>
            <a:endParaRPr lang="en-US" sz="1600" dirty="0"/>
          </a:p>
        </p:txBody>
      </p:sp>
      <p:sp>
        <p:nvSpPr>
          <p:cNvPr id="14" name="Text 11"/>
          <p:cNvSpPr txBox="1"/>
          <p:nvPr/>
        </p:nvSpPr>
        <p:spPr>
          <a:xfrm>
            <a:off x="6949440" y="2560320"/>
            <a:ext cx="4389120" cy="640080"/>
          </a:xfrm>
          <a:prstGeom prst="rect">
            <a:avLst/>
          </a:prstGeom>
          <a:noFill/>
          <a:ln/>
        </p:spPr>
        <p:txBody>
          <a:bodyPr wrap="square" lIns="0" tIns="0" rIns="0" bIns="0" rtlCol="0" anchor="t"/>
          <a:lstStyle/>
          <a:p>
            <a:pPr indent="0" marL="0">
              <a:buNone/>
            </a:pPr>
            <a:r>
              <a:rPr lang="en-US" sz="1250" dirty="0">
                <a:solidFill>
                  <a:srgbClr val="D9D9D6"/>
                </a:solidFill>
                <a:latin typeface="Inter" pitchFamily="34" charset="0"/>
                <a:ea typeface="Inter" pitchFamily="34" charset="-122"/>
                <a:cs typeface="Inter" pitchFamily="34" charset="-120"/>
              </a:rPr>
              <a:t>Senior junto a la caja, subordinada en la MidCo y la TopCo, y equity arriba.</a:t>
            </a:r>
            <a:endParaRPr lang="en-US" sz="1250" dirty="0"/>
          </a:p>
        </p:txBody>
      </p:sp>
      <p:sp>
        <p:nvSpPr>
          <p:cNvPr id="15" name="Shape 12"/>
          <p:cNvSpPr/>
          <p:nvPr/>
        </p:nvSpPr>
        <p:spPr>
          <a:xfrm>
            <a:off x="640080" y="3520440"/>
            <a:ext cx="5349240" cy="1371600"/>
          </a:xfrm>
          <a:prstGeom prst="rect">
            <a:avLst>
              <a:gd name="adj" fmla="val 4000"/>
            </a:avLst>
          </a:prstGeom>
          <a:solidFill>
            <a:srgbClr val="2A2E33"/>
          </a:solidFill>
          <a:ln/>
        </p:spPr>
      </p:sp>
      <p:sp>
        <p:nvSpPr>
          <p:cNvPr id="16" name="Shape 13"/>
          <p:cNvSpPr/>
          <p:nvPr/>
        </p:nvSpPr>
        <p:spPr>
          <a:xfrm>
            <a:off x="868680" y="3749040"/>
            <a:ext cx="384048" cy="384048"/>
          </a:xfrm>
          <a:prstGeom prst="rect">
            <a:avLst/>
          </a:prstGeom>
          <a:solidFill>
            <a:srgbClr val="1F4B3F"/>
          </a:solidFill>
          <a:ln/>
        </p:spPr>
      </p:sp>
      <p:sp>
        <p:nvSpPr>
          <p:cNvPr id="17" name="Text 14"/>
          <p:cNvSpPr txBox="1"/>
          <p:nvPr/>
        </p:nvSpPr>
        <p:spPr>
          <a:xfrm>
            <a:off x="868680" y="3758184"/>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a:t>
            </a:r>
            <a:endParaRPr lang="en-US" sz="1400" dirty="0"/>
          </a:p>
        </p:txBody>
      </p:sp>
      <p:sp>
        <p:nvSpPr>
          <p:cNvPr id="18" name="Text 15"/>
          <p:cNvSpPr txBox="1"/>
          <p:nvPr/>
        </p:nvSpPr>
        <p:spPr>
          <a:xfrm>
            <a:off x="1417320" y="3749040"/>
            <a:ext cx="4389120" cy="365760"/>
          </a:xfrm>
          <a:prstGeom prst="rect">
            <a:avLst/>
          </a:prstGeom>
          <a:noFill/>
          <a:ln/>
        </p:spPr>
        <p:txBody>
          <a:bodyPr wrap="square" lIns="0" tIns="0" rIns="0" bIns="0" rtlCol="0" anchor="t"/>
          <a:lstStyle/>
          <a:p>
            <a:pPr indent="0" marL="0">
              <a:buNone/>
            </a:pPr>
            <a:r>
              <a:rPr lang="en-US" sz="1600" b="1" dirty="0">
                <a:solidFill>
                  <a:srgbClr val="FFFFFF"/>
                </a:solidFill>
                <a:latin typeface="Inter" pitchFamily="34" charset="0"/>
                <a:ea typeface="Inter" pitchFamily="34" charset="-122"/>
                <a:cs typeface="Inter" pitchFamily="34" charset="-120"/>
              </a:rPr>
              <a:t>Amancio Ortega como socio</a:t>
            </a:r>
            <a:endParaRPr lang="en-US" sz="1600" dirty="0"/>
          </a:p>
        </p:txBody>
      </p:sp>
      <p:sp>
        <p:nvSpPr>
          <p:cNvPr id="19" name="Text 16"/>
          <p:cNvSpPr txBox="1"/>
          <p:nvPr/>
        </p:nvSpPr>
        <p:spPr>
          <a:xfrm>
            <a:off x="1417320" y="4160520"/>
            <a:ext cx="4389120" cy="640080"/>
          </a:xfrm>
          <a:prstGeom prst="rect">
            <a:avLst/>
          </a:prstGeom>
          <a:noFill/>
          <a:ln/>
        </p:spPr>
        <p:txBody>
          <a:bodyPr wrap="square" lIns="0" tIns="0" rIns="0" bIns="0" rtlCol="0" anchor="t"/>
          <a:lstStyle/>
          <a:p>
            <a:pPr indent="0" marL="0">
              <a:buNone/>
            </a:pPr>
            <a:r>
              <a:rPr lang="en-US" sz="1250" dirty="0">
                <a:solidFill>
                  <a:srgbClr val="D9D9D6"/>
                </a:solidFill>
                <a:latin typeface="Inter" pitchFamily="34" charset="0"/>
                <a:ea typeface="Inter" pitchFamily="34" charset="-122"/>
                <a:cs typeface="Inter" pitchFamily="34" charset="-120"/>
              </a:rPr>
              <a:t>El rollover del 25% hace viable la operación y alinea al fundador con el plan.</a:t>
            </a:r>
            <a:endParaRPr lang="en-US" sz="1250" dirty="0"/>
          </a:p>
        </p:txBody>
      </p:sp>
      <p:sp>
        <p:nvSpPr>
          <p:cNvPr id="20" name="Shape 17"/>
          <p:cNvSpPr/>
          <p:nvPr/>
        </p:nvSpPr>
        <p:spPr>
          <a:xfrm>
            <a:off x="6172200" y="3520440"/>
            <a:ext cx="5349240" cy="1371600"/>
          </a:xfrm>
          <a:prstGeom prst="rect">
            <a:avLst>
              <a:gd name="adj" fmla="val 4000"/>
            </a:avLst>
          </a:prstGeom>
          <a:solidFill>
            <a:srgbClr val="2A2E33"/>
          </a:solidFill>
          <a:ln/>
        </p:spPr>
      </p:sp>
      <p:sp>
        <p:nvSpPr>
          <p:cNvPr id="21" name="Shape 18"/>
          <p:cNvSpPr/>
          <p:nvPr/>
        </p:nvSpPr>
        <p:spPr>
          <a:xfrm>
            <a:off x="6400800" y="3749040"/>
            <a:ext cx="384048" cy="384048"/>
          </a:xfrm>
          <a:prstGeom prst="rect">
            <a:avLst/>
          </a:prstGeom>
          <a:solidFill>
            <a:srgbClr val="1F4B3F"/>
          </a:solidFill>
          <a:ln/>
        </p:spPr>
      </p:sp>
      <p:sp>
        <p:nvSpPr>
          <p:cNvPr id="22" name="Text 19"/>
          <p:cNvSpPr txBox="1"/>
          <p:nvPr/>
        </p:nvSpPr>
        <p:spPr>
          <a:xfrm>
            <a:off x="6400800" y="3758184"/>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a:t>
            </a:r>
            <a:endParaRPr lang="en-US" sz="1400" dirty="0"/>
          </a:p>
        </p:txBody>
      </p:sp>
      <p:sp>
        <p:nvSpPr>
          <p:cNvPr id="23" name="Text 20"/>
          <p:cNvSpPr txBox="1"/>
          <p:nvPr/>
        </p:nvSpPr>
        <p:spPr>
          <a:xfrm>
            <a:off x="6949440" y="3749040"/>
            <a:ext cx="4389120" cy="365760"/>
          </a:xfrm>
          <a:prstGeom prst="rect">
            <a:avLst/>
          </a:prstGeom>
          <a:noFill/>
          <a:ln/>
        </p:spPr>
        <p:txBody>
          <a:bodyPr wrap="square" lIns="0" tIns="0" rIns="0" bIns="0" rtlCol="0" anchor="t"/>
          <a:lstStyle/>
          <a:p>
            <a:pPr indent="0" marL="0">
              <a:buNone/>
            </a:pPr>
            <a:r>
              <a:rPr lang="en-US" sz="1600" b="1" dirty="0">
                <a:solidFill>
                  <a:srgbClr val="FFFFFF"/>
                </a:solidFill>
                <a:latin typeface="Inter" pitchFamily="34" charset="0"/>
                <a:ea typeface="Inter" pitchFamily="34" charset="-122"/>
                <a:cs typeface="Inter" pitchFamily="34" charset="-120"/>
              </a:rPr>
              <a:t>Financiación diversificada</a:t>
            </a:r>
            <a:endParaRPr lang="en-US" sz="1600" dirty="0"/>
          </a:p>
        </p:txBody>
      </p:sp>
      <p:sp>
        <p:nvSpPr>
          <p:cNvPr id="24" name="Text 21"/>
          <p:cNvSpPr txBox="1"/>
          <p:nvPr/>
        </p:nvSpPr>
        <p:spPr>
          <a:xfrm>
            <a:off x="6949440" y="4160520"/>
            <a:ext cx="4389120" cy="640080"/>
          </a:xfrm>
          <a:prstGeom prst="rect">
            <a:avLst/>
          </a:prstGeom>
          <a:noFill/>
          <a:ln/>
        </p:spPr>
        <p:txBody>
          <a:bodyPr wrap="square" lIns="0" tIns="0" rIns="0" bIns="0" rtlCol="0" anchor="t"/>
          <a:lstStyle/>
          <a:p>
            <a:pPr indent="0" marL="0">
              <a:buNone/>
            </a:pPr>
            <a:r>
              <a:rPr lang="en-US" sz="1250" dirty="0">
                <a:solidFill>
                  <a:srgbClr val="D9D9D6"/>
                </a:solidFill>
                <a:latin typeface="Inter" pitchFamily="34" charset="0"/>
                <a:ea typeface="Inter" pitchFamily="34" charset="-122"/>
                <a:cs typeface="Inter" pitchFamily="34" charset="-120"/>
              </a:rPr>
              <a:t>34 bancos, 18 inversores institucionales, 9 fondos de crédito y 10 co-inversores.</a:t>
            </a:r>
            <a:endParaRPr lang="en-US" sz="1250" dirty="0"/>
          </a:p>
        </p:txBody>
      </p:sp>
      <p:sp>
        <p:nvSpPr>
          <p:cNvPr id="25" name="Shape 22"/>
          <p:cNvSpPr/>
          <p:nvPr/>
        </p:nvSpPr>
        <p:spPr>
          <a:xfrm>
            <a:off x="640080" y="5257800"/>
            <a:ext cx="10927080" cy="868680"/>
          </a:xfrm>
          <a:prstGeom prst="rect">
            <a:avLst>
              <a:gd name="adj" fmla="val 6316"/>
            </a:avLst>
          </a:prstGeom>
          <a:solidFill>
            <a:srgbClr val="1F4B3F"/>
          </a:solidFill>
          <a:ln/>
        </p:spPr>
      </p:sp>
      <p:sp>
        <p:nvSpPr>
          <p:cNvPr id="26" name="Text 23"/>
          <p:cNvSpPr txBox="1"/>
          <p:nvPr/>
        </p:nvSpPr>
        <p:spPr>
          <a:xfrm>
            <a:off x="868680" y="5321808"/>
            <a:ext cx="10515600" cy="731520"/>
          </a:xfrm>
          <a:prstGeom prst="rect">
            <a:avLst/>
          </a:prstGeom>
          <a:noFill/>
          <a:ln/>
        </p:spPr>
        <p:txBody>
          <a:bodyPr wrap="square" lIns="0" tIns="0" rIns="0" bIns="0" rtlCol="0" anchor="ctr"/>
          <a:lstStyle/>
          <a:p>
            <a:pPr indent="0" marL="0">
              <a:buNone/>
            </a:pPr>
            <a:r>
              <a:rPr lang="en-US" sz="1300" b="1" dirty="0">
                <a:solidFill>
                  <a:srgbClr val="FFFFFF"/>
                </a:solidFill>
                <a:latin typeface="Inter" pitchFamily="34" charset="0"/>
                <a:ea typeface="Inter" pitchFamily="34" charset="-122"/>
                <a:cs typeface="Inter" pitchFamily="34" charset="-120"/>
              </a:rPr>
              <a:t>Riesgo principal: el precio de entrada (19,9x). La rentabilidad depende de cumplir el crecimiento; en el Bank case (P10) el DSCR cae a 1,17x y habría que renegociar con los bancos.</a:t>
            </a:r>
            <a:endParaRPr lang="en-US" sz="1300" dirty="0"/>
          </a:p>
        </p:txBody>
      </p:sp>
      <p:sp>
        <p:nvSpPr>
          <p:cNvPr id="27" name="Text 24"/>
          <p:cNvSpPr txBox="1"/>
          <p:nvPr/>
        </p:nvSpPr>
        <p:spPr>
          <a:xfrm>
            <a:off x="8595360" y="6327648"/>
            <a:ext cx="3044952" cy="228600"/>
          </a:xfrm>
          <a:prstGeom prst="rect">
            <a:avLst/>
          </a:prstGeom>
          <a:noFill/>
          <a:ln/>
        </p:spPr>
        <p:txBody>
          <a:bodyPr wrap="square" lIns="0" tIns="0" rIns="0" bIns="0" rtlCol="0" anchor="t"/>
          <a:lstStyle/>
          <a:p>
            <a:pPr algn="r" indent="0" marL="0">
              <a:buNone/>
            </a:pPr>
            <a:r>
              <a:rPr lang="en-US" sz="900" dirty="0">
                <a:solidFill>
                  <a:srgbClr val="A8ACB1"/>
                </a:solidFill>
                <a:latin typeface="Inter" pitchFamily="34" charset="0"/>
                <a:ea typeface="Inter" pitchFamily="34" charset="-122"/>
                <a:cs typeface="Inter" pitchFamily="34" charset="-120"/>
              </a:rPr>
              <a:t>Project Galicia  ·  Estrictamente confidencial  ·  20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Galicia - LBO de Inditex</dc:title>
  <dc:subject>PptxGenJS Presentation</dc:subject>
  <dc:creator>Herrera Lázaro Pérez Partners</dc:creator>
  <cp:lastModifiedBy>Herrera Lázaro Pérez Partners</cp:lastModifiedBy>
  <cp:revision>1</cp:revision>
  <dcterms:created xsi:type="dcterms:W3CDTF">2026-10-29T14:16:41Z</dcterms:created>
  <dcterms:modified xsi:type="dcterms:W3CDTF">2026-10-29T14:16:41Z</dcterms:modified>
</cp:coreProperties>
</file>