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[ÁLVARO]  Buenos días. Somos Herrera Lázaro Pérez Partners: Anxo Herrera, Javier Lázaro y yo, Álvaro Pérez. Actuamos como banco de inversión de un consorcio de private equity que quiere comprar Inditex, y hoy presentamos Project Galicia en cuatro bloques: el business plan que justifica la operación, la estructura de la compra, la estructura de la deuda y, por último, quién la financia y cuánto gana cada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[ÁLVARO]  Empecemos por la compañía. Inditex es el mayor grupo de moda del mundo: en 2025 vendió 39.864 millones, con un EBITDA reportado de 11.267 millones, un 28% de margen, y un ROCE del 40%. Zara, con Home y Lefties, aporta el 70% de las ventas, pero las marcas pequeñas, como Stradivarius u Oysho, logran ROCE de hasta el 72% porque usan la logística de Zara. Más de la mitad de las ventas están en Europa fuera de España y el 27% ya es online. Y la clave es la proximidad: la mitad de la producción está cerca de España, una prenda llega del diseño a la tienda en dos o tres semanas y más del 85% se vende a precio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[ÁLVARO]  Esta es la operación en una página. Ofrecemos 63,73 euros por acción, una prima del 15% sobre la cotización de 55,42. Eso valora el 100% del equity en 198.634 millones y supone pagar 19,9 veces el EBITDA pre-IFRS 16. Lo financiamos con 76.956 millones de deuda, 8,2 veces EBITDA, y con 114.351 millones de equity en una sociedad holding, la TopCo, donde Amancio Ortega mantiene el 43%. En el caso base el equity rinde un 10,8% anual hasta la salida en 2032, y nuestro cliente, el GP, llega al 18,2% gracias al carry. Abajo está el mensaje clave de cada bloque.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[ÁLVARO]  Primer bloque: el business plan. Inditex parte de una posición muy sólida. Entre 2022 y 2025 sus ventas crecieron un 7% anual y su margen EBITDA pasó del 21,6% al 23,7%. Trabajamos con EBITDA pre-IFRS 16, es decir, restando los 1.834 millones de alquileres que se pagan en caja, porque es la cifra con la que los bancos dimensionan la deuda. Además, Inditex tiene un circulante negativo de 4.172 millones: cobra al contado y paga a plazo, así que cuando crece genera caja en vez de consumirla. Y no tiene deuda: casi 11.000 millones de caja neta. Es el perfil ideal para un LBO.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[ÁLVARO]  ¿Cómo construimos el plan? Partimos del histórico real y proyectamos con nueve drivers: ventas, margen bruto, gastos operativos, alquileres, capex de mantenimiento y de expansión, y las tres partidas del circulante. Cada driver está calibrado con una simulación de Monte Carlo, y de ahí salen cuatro escenarios por percentiles: Bull, Base, Bear y el Bank case, el escenario de estrés que exigen los bancos. Todo se mide en EBITDA pre-IFRS 16: 11.267 millones reportados menos 1.834 de alquileres, 9.433 millones de partida.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[ÁLVARO]  Estas son las hipótesis de cada escenario. En el caso base las ventas crecen un 5,25% al año, el margen bruto se mantiene en el 58,1% y los gastos operativos crecen un 4,5%, menos que las ventas: ese apalancamiento operativo es lo que mejora el margen. El capex es del 5% de las ventas, un 3,5% de mantenimiento y un 1,5% para la expansión en Estados Unidos y en logística, y el circulante sigue siendo negativo. En el Bull las ventas crecen un 7%, en el Bear un 3,75% y en el Bank case un 2,75%.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[ÁLVARO]  Con estas hipótesis, en el caso base las ventas pasan de 39.864 millones a 57.034 millones en 2032, y el EBITDA de 9.433 a 14.519 millones, un 6,4% anual, con el margen subiendo del 23,7% al 25,5%. Pero para la deuda lo que importa es la caja disponible para pagarla, el CFADS: empieza en 7.322 millones en 2026 y llega a casi 11.000 millones en 2032. Paso la palabra a Anxo.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[ANXO]  Gracias, Álvaro. Segundo bloque: cómo se hace la compra. Lanzamos una OPA de exclusión por el 100% a 63,73 euros por acción: la cotización sin perturbar, 55,42, más una prima de control del 15%. Con 3.116,7 millones de acciones, el equity vale 198.634 millones; restando la caja neta de 10.958, el valor de empresa es de 187.676 millones, 19,9 veces el EBITDA pre-IFRS 16. Es un precio exigente: la rentabilidad tiene que venir del crecimiento, no de cargar más deuda. Y sería el mayor LBO de la historia, por eso hacen falta un consorcio, co-inversores y deuda sindicada. ¿Por qué el 100%? Superar el 30% obliga a ofrecer a todos; con el 90% forzamos la venta del resto e Inditex sale de bolsa; sin minoritarios podemos subir sus dividendos y fusionarla con la BidCo; y con más del 75% formamos un grupo fiscal que deduce los intereses.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[ANXO]  La pieza clave es Amancio Ortega. Tiene el 59,3%: sin su acuerdo no hay operación. Por eso le proponemos un rollover: aporta el 25% de Inditex, unos 49.700 millones, a la TopCo en acciones, y vende el 34,3% restante por unos 68.100 millones en efectivo. El free float vende todo. Sandra Ortega vende su 5,05%, sale del capital y además financia la operación con un vendor loan de 10.925 millones a la TopCo. Así, el 75% del precio, 148.975 millones, se paga en efectivo. El rollover funciona para todos: Amancio mantiene el 43% y el canje no tributa; el consorcio necesita casi 50.000 millones menos; y el fundador gana exactamente lo mismo que el fondo, 2,05 veces.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[ANXO]  La compra se hace con tres sociedades. Arriba, la TopCo, con los accionistas y el vendor loan. Debajo, la MidCo, que recibe la mezzanine y solo cobra lo que sube después de pagar a los bancos. Y la BidCo, que recibe la deuda senior y lanza la OPA. Cuanto más segura y barata es la deuda, más cerca está de la caja. Inditex no puede garantizar la deuda con la que se la compra, por la prohibición de asistencia financiera; por eso, después de la OPA, hacemos el debt push-down: la BidCo se fusiona con Inditex y la deuda queda donde está la caja. Es una fusión apalancada, y la ley exige un plan de repago, un informe de los administradores y un informe de experto independiente. Con el grupo fiscal los intereses se deducen hasta el 30% del EBITDA, y la deuda de adquisición, un 38,7% del precio, está por debajo del límite del 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[ANXO]  La TopCo es donde se decide quién manda y cómo se reparte el valor. El consorcio invierte a través de un vehículo que gestiona nuestro cliente, el GP, que pone 9.704 millones, el 15%, junto a los co-inversores, que ponen el 85%. Ese vehículo tiene el 56,6% de la TopCo y Pontegadea el 43,4%. El reparto funciona a dos niveles: en la TopCo todos cobran a prorrata de sus acciones, y dentro del consorcio se aplica un waterfall con hurdle y carry, que Javier explicará al final. Proponemos además un pacto de socios: mayoría del consorcio en el consejo, veto de Amancio en materias reservadas y derechos de arrastre y acompañamiento en la salida.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[ANXO]  Este es el cuadro de fuentes y usos: la operación mueve 201.265 millones. En los usos, 148.975 millones de efectivo para la OPA, las acciones que aporta Amancio y 2.632 millones de comisiones. A la derecha, con total transparencia, nuestros honorarios: 1.490 millones, el 1% del efectivo de la OPA, como success fee al cierre por el asesoramiento de M&amp;A, la OPA y el legal. Los otros 1.142 millones son comisiones de financiación para bancos y fondos, y en la salida habrá un 0,75% del valor de empresa, unos 2.166 millones. En las fuentes, 76.956 millones de deuda, el 38%; 114.351 de equity, el 57%; y 9.958 de caja de Inditex, el 5%. El cheque del consorcio es la variable de cierre. Paso la palabra a Javier.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[JAVIER]  Gracias, Anxo. Tercer bloque: la deuda. Son 76.956 millones, 8,2 veces EBITDA, en cinco tramos. En la BidCo, la deuda senior: un RCF de 1.000 millones sin disponer, que sirve de colchón de liquidez; el Term Loan A, al 5,6%, que se amortiza en siete años; y el Term Loan B, al 6,6%, que se devuelve al vencimiento con un cash sweep del 85%: el 85% de la caja sobrante se destina a pagarlo antes. Por debajo, la mezzanine en la MidCo, al 10,5% PIK: los intereses no se pagan, se capitalizan. Y en la TopCo, el vendor loan de Sandra al 5%. El coste medio inicial es del 6,85% y las comisiones de financiación, 1.142 millones, suben con el riesgo de cada tramo.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[JAVIER]  ¿Puede Inditex pagar esta deuda? Sí. A la izquierda, la deuda año a año: el Term Loan A desaparece en 2032 y el sweep reduce el Term Loan B de 33.000 a 15.000 millones. La mezzanine crece por el PIK, pero se paga en la salida. La deuda neta pasa de 8,1 a 3,6 veces EBITDA. A la derecha, el DSCR: en el caso base nunca baja de 1,44 veces, y en el Bank case toca 1,25 en 2030, justo el covenant. Y aunque los intereses solo se deducen hasta el 30% del EBITDA, la deuda ahorra 6.374 millones de impuestos.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[JAVIER]  Cuarto bloque: quién financia. En España, la CNMV solo autoriza una OPA si el efectivo está garantizado por bancos, y la oferta no puede condicionarse a conseguir financiación: es lo que llamamos certain funds. Por eso diez bancos aseguran el 100% de la deuda, 62.840 millones. Arriba, cuatro global coordinators, JPMorgan, Goldman Sachs, BNP Paribas y Santander, con un 15% cada uno, 9.426 millones; Santander es además el agente, como banco de referencia de Inditex. Debajo, seis mandated lead arrangers con un 6,67%, 4.189 millones cada uno. Pero aseguran para colocar, no para quedarse la deuda. Tras la OPA, el TLB se vende a inversores institucionales, el puente se devuelve con la caja de Inditex y el TLA se sindica: 9.680 millones pasan a 24 bancos con tickets de 600, 375 y 235 millones. Así, cada global coordinator se queda con 1.528 millones y cada mandated lead arranger con 679: en total retienen 10.186 de los 62.840 asegurados.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[JAVIER]  El TLB no se queda en los bancos: se coloca en el mercado institucional. Unos 12.000 millones como préstamo en euros, 9.000 en dólares y 12.000 en bonos high yield. ¿Quién lo compra? Los CLOs, vehículos que compran préstamos apalancados y se financian emitiendo bonos por tramos de rating: son el comprador natural del TLB. Los direct lenders, fondos de deuda privada que mantienen el préstamo hasta el vencimiento. Y el real money, gestoras, aseguradoras y fondos de pensiones, que compran sobre todo los bonos. Los bonos son senior secured, con el mismo rango que el TLB, a siete u ocho años y con cupón fijo, y los colocan los cuatro global coordinators para refinanciar parte del TLB asegurado. La mezzanine la pone un club de nueve fondos de crédito privado, liderado por Apollo, Blackstone y HPS.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[JAVIER]  ¿Quién pone el equity junto a nuestro cliente? Diez co-inversores con 54.989 millones, el 85% del cheque. Seis fondos soberanos, GIC, ADIA, QIA, PIF, Mubadala y Temasek, con 39.489 millones: invierten las reservas de un Estado a décadas vista y buscan activos de calidad en euros. Y cuatro fondos de pensiones, los canadienses CPP, CDPQ y OTPP y el holandés APG, con 15.500 millones, que necesitan rentabilidad a largo plazo. ¿Por qué entran? Porque invierten junto al fundador, que reinvierte casi 50.000 millones y gana lo mismo que ellos; porque solo ellos pueden firmar cheques de 2.500 a 9.000 millones; y porque obtienen un 9,1% neto, por encima del hurdle.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[JAVIER]  Y la cifra que más importa a nuestro cliente. Este gráfico explica el hurdle. Los LPs ponen 54.989 millones y deben recibir al menos un 8% anual compuesto antes de que el GP cobre carry: es la línea discontinua, que llega a 94.242 millones en 2032. Con una rentabilidad del 10,8%, su parte vale 112.516 millones, la línea continua: 18.274 millones por encima del hurdle. Ese exceso se reparte como muestra la barra: primero el catch-up, 9.813 millones para el GP, y el resto 80% para los LPs y 20% para el GP. En total, 11.505 millones de carry. A la derecha, la TIR de cada inversor: Amancio gana un 10,8%, sin carry; los LPs, un 9,1% neto; y nuestro cliente, el GP, un 18,2%, 3,23 veces su inversión. Si la rentabilidad no llegara al 8%, como en el Bear o el Bank case, no habría carry.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[JAVIER]  Para cerrar, cuatro ideas. Uno: Inditex es un activo que genera caja, con márgenes crecientes, circulante negativo y sin deuda. Dos: compramos el 100% con una OPA a 63,73 euros y Amancio Ortega como socio. Tres: la financiación está asegurada desde el primer día y es sostenible: la deuda neta baja de 8,1 a 3,6 veces y el DSCR nunca cae por debajo de 1,25. Y cuatro: el equity rinde un 10,8% y nuestro cliente un 18,2% gracias al carry. El riesgo principal es el precio de entrada: la rentabilidad depende de cumplir el crecimiento, y en el Bank case el covenant se cumple sin holgura. Muchas gracias; quedamos a su disposición.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slideLayout" Target="../slideLayouts/slideLayout1.xml"/><Relationship Id="rId1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D21"/>
        </a:solidFill>
      </p:bgPr>
    </p:bg>
    <p:spTree>
      <p:nvGrpSpPr>
        <p:cNvPr id="1" name=""/>
        <p:cNvGrpSpPr/>
        <p:nvPr/>
      </p:nvGrpSpPr>
      <p:grpSpPr>
        <a:xfrm>
          <a:off x="0" y="0"/>
          <a:ext cx="0" cy="0"/>
          <a:chOff x="0" y="0"/>
          <a:chExt cx="0" cy="0"/>
        </a:xfrm>
      </p:grpSpPr>
      <p:pic>
        <p:nvPicPr>
          <p:cNvPr id="2" name="Image 0" descr="/tmp/claude-0/-home-claude/8d7de6a3-f167-5c95-8bc2-67944307bfd8/scratchpad/canva/img/HLP_logo_portada.png">    </p:cNvPr>
          <p:cNvPicPr>
            <a:picLocks noChangeAspect="1"/>
          </p:cNvPicPr>
          <p:nvPr/>
        </p:nvPicPr>
        <p:blipFill>
          <a:blip r:embed="rId1"/>
          <a:stretch>
            <a:fillRect/>
          </a:stretch>
        </p:blipFill>
        <p:spPr>
          <a:xfrm>
            <a:off x="4060457" y="384048"/>
            <a:ext cx="4070781" cy="2926080"/>
          </a:xfrm>
          <a:prstGeom prst="rect">
            <a:avLst/>
          </a:prstGeom>
        </p:spPr>
      </p:pic>
      <p:sp>
        <p:nvSpPr>
          <p:cNvPr id="3" name="Shape 0"/>
          <p:cNvSpPr/>
          <p:nvPr/>
        </p:nvSpPr>
        <p:spPr>
          <a:xfrm>
            <a:off x="5639105" y="3584448"/>
            <a:ext cx="914400" cy="0"/>
          </a:xfrm>
          <a:prstGeom prst="line">
            <a:avLst/>
          </a:prstGeom>
          <a:noFill/>
          <a:ln w="15875">
            <a:solidFill>
              <a:srgbClr val="A8C9B8"/>
            </a:solidFill>
            <a:prstDash val="solid"/>
          </a:ln>
        </p:spPr>
      </p:sp>
      <p:sp>
        <p:nvSpPr>
          <p:cNvPr id="4" name="Text 1"/>
          <p:cNvSpPr txBox="1"/>
          <p:nvPr/>
        </p:nvSpPr>
        <p:spPr>
          <a:xfrm>
            <a:off x="1371600" y="3703320"/>
            <a:ext cx="9445752" cy="594360"/>
          </a:xfrm>
          <a:prstGeom prst="rect">
            <a:avLst/>
          </a:prstGeom>
          <a:noFill/>
          <a:ln/>
        </p:spPr>
        <p:txBody>
          <a:bodyPr wrap="square" lIns="0" tIns="0" rIns="0" bIns="0" rtlCol="0" anchor="t"/>
          <a:lstStyle/>
          <a:p>
            <a:pPr algn="ctr" indent="0" marL="0">
              <a:buNone/>
            </a:pPr>
            <a:r>
              <a:rPr lang="en-US" sz="3400" dirty="0">
                <a:solidFill>
                  <a:srgbClr val="FFFFFF"/>
                </a:solidFill>
                <a:latin typeface="Lora" pitchFamily="34" charset="0"/>
                <a:ea typeface="Lora" pitchFamily="34" charset="-122"/>
                <a:cs typeface="Lora" pitchFamily="34" charset="-120"/>
              </a:rPr>
              <a:t>Project Galicia</a:t>
            </a:r>
            <a:endParaRPr lang="en-US" sz="3400" dirty="0"/>
          </a:p>
        </p:txBody>
      </p:sp>
      <p:sp>
        <p:nvSpPr>
          <p:cNvPr id="5" name="Text 2"/>
          <p:cNvSpPr txBox="1"/>
          <p:nvPr/>
        </p:nvSpPr>
        <p:spPr>
          <a:xfrm>
            <a:off x="1371600" y="4315968"/>
            <a:ext cx="9445752" cy="365760"/>
          </a:xfrm>
          <a:prstGeom prst="rect">
            <a:avLst/>
          </a:prstGeom>
          <a:noFill/>
          <a:ln/>
        </p:spPr>
        <p:txBody>
          <a:bodyPr wrap="square" lIns="0" tIns="0" rIns="0" bIns="0" rtlCol="0" anchor="t"/>
          <a:lstStyle/>
          <a:p>
            <a:pPr algn="ctr" indent="0" marL="0">
              <a:buNone/>
            </a:pPr>
            <a:r>
              <a:rPr lang="en-US" sz="1600" dirty="0">
                <a:solidFill>
                  <a:srgbClr val="D9D9D6"/>
                </a:solidFill>
                <a:latin typeface="Inter" pitchFamily="34" charset="0"/>
                <a:ea typeface="Inter" pitchFamily="34" charset="-122"/>
                <a:cs typeface="Inter" pitchFamily="34" charset="-120"/>
              </a:rPr>
              <a:t>LBO de Inditex  ·  Business plan, estructura de la compra y financiación</a:t>
            </a:r>
            <a:endParaRPr lang="en-US" sz="1600" dirty="0"/>
          </a:p>
        </p:txBody>
      </p:sp>
      <p:sp>
        <p:nvSpPr>
          <p:cNvPr id="6" name="Text 3"/>
          <p:cNvSpPr txBox="1"/>
          <p:nvPr/>
        </p:nvSpPr>
        <p:spPr>
          <a:xfrm>
            <a:off x="1371600" y="4956048"/>
            <a:ext cx="9445752" cy="256032"/>
          </a:xfrm>
          <a:prstGeom prst="rect">
            <a:avLst/>
          </a:prstGeom>
          <a:noFill/>
          <a:ln/>
        </p:spPr>
        <p:txBody>
          <a:bodyPr wrap="square" lIns="0" tIns="0" rIns="0" bIns="0" rtlCol="0" anchor="t"/>
          <a:lstStyle/>
          <a:p>
            <a:pPr algn="ctr" indent="0" marL="0">
              <a:buNone/>
            </a:pPr>
            <a:r>
              <a:rPr lang="en-US" sz="1050" b="1" spc="300" kern="0" dirty="0">
                <a:solidFill>
                  <a:srgbClr val="A8C9B8"/>
                </a:solidFill>
                <a:latin typeface="Inter" pitchFamily="34" charset="0"/>
                <a:ea typeface="Inter" pitchFamily="34" charset="-122"/>
                <a:cs typeface="Inter" pitchFamily="34" charset="-120"/>
              </a:rPr>
              <a:t>HECHO Y PRESENTADO POR</a:t>
            </a:r>
            <a:endParaRPr lang="en-US" sz="1050" dirty="0"/>
          </a:p>
        </p:txBody>
      </p:sp>
      <p:sp>
        <p:nvSpPr>
          <p:cNvPr id="7" name="Text 4"/>
          <p:cNvSpPr txBox="1"/>
          <p:nvPr/>
        </p:nvSpPr>
        <p:spPr>
          <a:xfrm>
            <a:off x="1158088" y="5276088"/>
            <a:ext cx="3291840" cy="347472"/>
          </a:xfrm>
          <a:prstGeom prst="rect">
            <a:avLst/>
          </a:prstGeom>
          <a:noFill/>
          <a:ln/>
        </p:spPr>
        <p:txBody>
          <a:bodyPr wrap="square" lIns="0" tIns="0" rIns="0" bIns="0" rtlCol="0" anchor="ctr"/>
          <a:lstStyle/>
          <a:p>
            <a:pPr algn="ctr" indent="0" marL="0">
              <a:buNone/>
            </a:pPr>
            <a:r>
              <a:rPr lang="en-US" sz="1500" dirty="0">
                <a:solidFill>
                  <a:srgbClr val="FFFFFF"/>
                </a:solidFill>
                <a:latin typeface="Inter" pitchFamily="34" charset="0"/>
                <a:ea typeface="Inter" pitchFamily="34" charset="-122"/>
                <a:cs typeface="Inter" pitchFamily="34" charset="-120"/>
              </a:rPr>
              <a:t>Anxo Brandán Herrera Castro</a:t>
            </a:r>
            <a:endParaRPr lang="en-US" sz="1500" dirty="0"/>
          </a:p>
        </p:txBody>
      </p:sp>
      <p:sp>
        <p:nvSpPr>
          <p:cNvPr id="8" name="Text 5"/>
          <p:cNvSpPr txBox="1"/>
          <p:nvPr/>
        </p:nvSpPr>
        <p:spPr>
          <a:xfrm>
            <a:off x="4449928" y="5276088"/>
            <a:ext cx="3291840" cy="347472"/>
          </a:xfrm>
          <a:prstGeom prst="rect">
            <a:avLst/>
          </a:prstGeom>
          <a:noFill/>
          <a:ln/>
        </p:spPr>
        <p:txBody>
          <a:bodyPr wrap="square" lIns="0" tIns="0" rIns="0" bIns="0" rtlCol="0" anchor="ctr"/>
          <a:lstStyle/>
          <a:p>
            <a:pPr algn="ctr" indent="0" marL="0">
              <a:buNone/>
            </a:pPr>
            <a:r>
              <a:rPr lang="en-US" sz="1500" dirty="0">
                <a:solidFill>
                  <a:srgbClr val="FFFFFF"/>
                </a:solidFill>
                <a:latin typeface="Inter" pitchFamily="34" charset="0"/>
                <a:ea typeface="Inter" pitchFamily="34" charset="-122"/>
                <a:cs typeface="Inter" pitchFamily="34" charset="-120"/>
              </a:rPr>
              <a:t>Javier Lázaro Rodríguez</a:t>
            </a:r>
            <a:endParaRPr lang="en-US" sz="1500" dirty="0"/>
          </a:p>
        </p:txBody>
      </p:sp>
      <p:sp>
        <p:nvSpPr>
          <p:cNvPr id="9" name="Shape 6"/>
          <p:cNvSpPr/>
          <p:nvPr/>
        </p:nvSpPr>
        <p:spPr>
          <a:xfrm>
            <a:off x="4449928" y="5321808"/>
            <a:ext cx="0" cy="256032"/>
          </a:xfrm>
          <a:prstGeom prst="line">
            <a:avLst/>
          </a:prstGeom>
          <a:noFill/>
          <a:ln w="12700">
            <a:solidFill>
              <a:srgbClr val="4A4F55"/>
            </a:solidFill>
            <a:prstDash val="solid"/>
          </a:ln>
        </p:spPr>
      </p:sp>
      <p:sp>
        <p:nvSpPr>
          <p:cNvPr id="10" name="Text 7"/>
          <p:cNvSpPr txBox="1"/>
          <p:nvPr/>
        </p:nvSpPr>
        <p:spPr>
          <a:xfrm>
            <a:off x="7741768" y="5276088"/>
            <a:ext cx="3291840" cy="347472"/>
          </a:xfrm>
          <a:prstGeom prst="rect">
            <a:avLst/>
          </a:prstGeom>
          <a:noFill/>
          <a:ln/>
        </p:spPr>
        <p:txBody>
          <a:bodyPr wrap="square" lIns="0" tIns="0" rIns="0" bIns="0" rtlCol="0" anchor="ctr"/>
          <a:lstStyle/>
          <a:p>
            <a:pPr algn="ctr" indent="0" marL="0">
              <a:buNone/>
            </a:pPr>
            <a:r>
              <a:rPr lang="en-US" sz="1500" dirty="0">
                <a:solidFill>
                  <a:srgbClr val="FFFFFF"/>
                </a:solidFill>
                <a:latin typeface="Inter" pitchFamily="34" charset="0"/>
                <a:ea typeface="Inter" pitchFamily="34" charset="-122"/>
                <a:cs typeface="Inter" pitchFamily="34" charset="-120"/>
              </a:rPr>
              <a:t>Álvaro Pérez Ramos</a:t>
            </a:r>
            <a:endParaRPr lang="en-US" sz="1500" dirty="0"/>
          </a:p>
        </p:txBody>
      </p:sp>
      <p:sp>
        <p:nvSpPr>
          <p:cNvPr id="11" name="Shape 8"/>
          <p:cNvSpPr/>
          <p:nvPr/>
        </p:nvSpPr>
        <p:spPr>
          <a:xfrm>
            <a:off x="7741768" y="5321808"/>
            <a:ext cx="0" cy="256032"/>
          </a:xfrm>
          <a:prstGeom prst="line">
            <a:avLst/>
          </a:prstGeom>
          <a:noFill/>
          <a:ln w="12700">
            <a:solidFill>
              <a:srgbClr val="4A4F55"/>
            </a:solidFill>
            <a:prstDash val="solid"/>
          </a:ln>
        </p:spPr>
      </p:sp>
      <p:sp>
        <p:nvSpPr>
          <p:cNvPr id="12" name="Text 9"/>
          <p:cNvSpPr txBox="1"/>
          <p:nvPr/>
        </p:nvSpPr>
        <p:spPr>
          <a:xfrm>
            <a:off x="1371600" y="6263640"/>
            <a:ext cx="9445752" cy="274320"/>
          </a:xfrm>
          <a:prstGeom prst="rect">
            <a:avLst/>
          </a:prstGeom>
          <a:noFill/>
          <a:ln/>
        </p:spPr>
        <p:txBody>
          <a:bodyPr wrap="square" lIns="0" tIns="0" rIns="0" bIns="0" rtlCol="0" anchor="t"/>
          <a:lstStyle/>
          <a:p>
            <a:pPr algn="ctr" indent="0" marL="0">
              <a:buNone/>
            </a:pPr>
            <a:r>
              <a:rPr lang="en-US" sz="1000" dirty="0">
                <a:solidFill>
                  <a:srgbClr val="A8ACB1"/>
                </a:solidFill>
                <a:latin typeface="Inter" pitchFamily="34" charset="0"/>
                <a:ea typeface="Inter" pitchFamily="34" charset="-122"/>
                <a:cs typeface="Inter" pitchFamily="34" charset="-120"/>
              </a:rPr>
              <a:t>Comité de inversión del consorcio de private equity  ·  Octubre 2026  ·  Estrictamente confidencial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79476"/>
            <a:ext cx="7772400" cy="228600"/>
          </a:xfrm>
          <a:prstGeom prst="rect">
            <a:avLst/>
          </a:prstGeom>
          <a:noFill/>
          <a:ln/>
        </p:spPr>
        <p:txBody>
          <a:bodyPr wrap="square" lIns="0" tIns="0" rIns="0" bIns="0" rtlCol="0" anchor="ctr"/>
          <a:lstStyle/>
          <a:p>
            <a:pPr indent="0" marL="0">
              <a:buNone/>
            </a:pPr>
            <a:r>
              <a:rPr lang="en-US" sz="1100" b="1" spc="200" kern="0" dirty="0">
                <a:solidFill>
                  <a:srgbClr val="1F4B3F"/>
                </a:solidFill>
                <a:latin typeface="Inter" pitchFamily="34" charset="0"/>
                <a:ea typeface="Inter" pitchFamily="34" charset="-122"/>
                <a:cs typeface="Inter" pitchFamily="34" charset="-120"/>
              </a:rPr>
              <a:t>CONTEXTO  ·  INDITEX HOY</a:t>
            </a:r>
            <a:endParaRPr lang="en-US" sz="1100" dirty="0"/>
          </a:p>
        </p:txBody>
      </p:sp>
      <p:pic>
        <p:nvPicPr>
          <p:cNvPr id="3" name="Image 0" descr="/tmp/claude-0/-home-claude/8d7de6a3-f167-5c95-8bc2-67944307bfd8/scratchpad/canva/img/HLP_monograma.png">    </p:cNvPr>
          <p:cNvPicPr>
            <a:picLocks noChangeAspect="1"/>
          </p:cNvPicPr>
          <p:nvPr/>
        </p:nvPicPr>
        <p:blipFill>
          <a:blip r:embed="rId1"/>
          <a:stretch>
            <a:fillRect/>
          </a:stretch>
        </p:blipFill>
        <p:spPr>
          <a:xfrm>
            <a:off x="11130991" y="237744"/>
            <a:ext cx="512064" cy="512064"/>
          </a:xfrm>
          <a:prstGeom prst="rect">
            <a:avLst/>
          </a:prstGeom>
        </p:spPr>
      </p:pic>
      <p:sp>
        <p:nvSpPr>
          <p:cNvPr id="4" name="Text 1"/>
          <p:cNvSpPr txBox="1"/>
          <p:nvPr/>
        </p:nvSpPr>
        <p:spPr>
          <a:xfrm>
            <a:off x="548640" y="786384"/>
            <a:ext cx="11091672" cy="658368"/>
          </a:xfrm>
          <a:prstGeom prst="rect">
            <a:avLst/>
          </a:prstGeom>
          <a:noFill/>
          <a:ln/>
        </p:spPr>
        <p:txBody>
          <a:bodyPr wrap="square" lIns="0" tIns="0" rIns="0" bIns="0" rtlCol="0" anchor="t"/>
          <a:lstStyle/>
          <a:p>
            <a:pPr indent="0" marL="0">
              <a:lnSpc>
                <a:spcPct val="92000"/>
              </a:lnSpc>
              <a:buNone/>
            </a:pPr>
            <a:r>
              <a:rPr lang="en-US" sz="2200" dirty="0">
                <a:solidFill>
                  <a:srgbClr val="1A1D21"/>
                </a:solidFill>
                <a:latin typeface="Lora" pitchFamily="34" charset="0"/>
                <a:ea typeface="Lora" pitchFamily="34" charset="-122"/>
                <a:cs typeface="Lora" pitchFamily="34" charset="-120"/>
              </a:rPr>
              <a:t>El mayor grupo de moda del mundo: seis marcas, 5.460 tiendas y un modelo de proximidad que genera caja</a:t>
            </a:r>
            <a:endParaRPr lang="en-US" sz="2200" dirty="0"/>
          </a:p>
        </p:txBody>
      </p:sp>
      <p:sp>
        <p:nvSpPr>
          <p:cNvPr id="5" name="Shape 2"/>
          <p:cNvSpPr/>
          <p:nvPr/>
        </p:nvSpPr>
        <p:spPr>
          <a:xfrm>
            <a:off x="548640" y="1572768"/>
            <a:ext cx="1737360" cy="1024128"/>
          </a:xfrm>
          <a:prstGeom prst="rect">
            <a:avLst>
              <a:gd name="adj" fmla="val 5357"/>
            </a:avLst>
          </a:prstGeom>
          <a:solidFill>
            <a:srgbClr val="1A1D21"/>
          </a:solidFill>
          <a:ln/>
        </p:spPr>
      </p:sp>
      <p:sp>
        <p:nvSpPr>
          <p:cNvPr id="6" name="Text 3"/>
          <p:cNvSpPr txBox="1"/>
          <p:nvPr/>
        </p:nvSpPr>
        <p:spPr>
          <a:xfrm>
            <a:off x="685800" y="1664208"/>
            <a:ext cx="1508760" cy="384048"/>
          </a:xfrm>
          <a:prstGeom prst="rect">
            <a:avLst/>
          </a:prstGeom>
          <a:noFill/>
          <a:ln/>
        </p:spPr>
        <p:txBody>
          <a:bodyPr wrap="square" lIns="0" tIns="0" rIns="0" bIns="0" rtlCol="0" anchor="t"/>
          <a:lstStyle/>
          <a:p>
            <a:pPr indent="0" marL="0">
              <a:buNone/>
            </a:pPr>
            <a:r>
              <a:rPr lang="en-US" sz="1900" b="1" dirty="0">
                <a:solidFill>
                  <a:srgbClr val="FFFFFF"/>
                </a:solidFill>
                <a:latin typeface="Lora" pitchFamily="34" charset="0"/>
                <a:ea typeface="Lora" pitchFamily="34" charset="-122"/>
                <a:cs typeface="Lora" pitchFamily="34" charset="-120"/>
              </a:rPr>
              <a:t>€39.864m</a:t>
            </a:r>
            <a:endParaRPr lang="en-US" sz="1900" dirty="0"/>
          </a:p>
        </p:txBody>
      </p:sp>
      <p:sp>
        <p:nvSpPr>
          <p:cNvPr id="7" name="Text 4"/>
          <p:cNvSpPr txBox="1"/>
          <p:nvPr/>
        </p:nvSpPr>
        <p:spPr>
          <a:xfrm>
            <a:off x="685800" y="2057400"/>
            <a:ext cx="1508760" cy="228600"/>
          </a:xfrm>
          <a:prstGeom prst="rect">
            <a:avLst/>
          </a:prstGeom>
          <a:noFill/>
          <a:ln/>
        </p:spPr>
        <p:txBody>
          <a:bodyPr wrap="square" lIns="0" tIns="0" rIns="0" bIns="0" rtlCol="0" anchor="t"/>
          <a:lstStyle/>
          <a:p>
            <a:pPr indent="0" marL="0">
              <a:buNone/>
            </a:pPr>
            <a:r>
              <a:rPr lang="en-US" sz="1100" b="1" dirty="0">
                <a:solidFill>
                  <a:srgbClr val="EDEDED"/>
                </a:solidFill>
                <a:latin typeface="Inter" pitchFamily="34" charset="0"/>
                <a:ea typeface="Inter" pitchFamily="34" charset="-122"/>
                <a:cs typeface="Inter" pitchFamily="34" charset="-120"/>
              </a:rPr>
              <a:t>Ventas FY2025</a:t>
            </a:r>
            <a:endParaRPr lang="en-US" sz="1100" dirty="0"/>
          </a:p>
        </p:txBody>
      </p:sp>
      <p:sp>
        <p:nvSpPr>
          <p:cNvPr id="8" name="Text 5"/>
          <p:cNvSpPr txBox="1"/>
          <p:nvPr/>
        </p:nvSpPr>
        <p:spPr>
          <a:xfrm>
            <a:off x="685800" y="2295144"/>
            <a:ext cx="1508760" cy="228600"/>
          </a:xfrm>
          <a:prstGeom prst="rect">
            <a:avLst/>
          </a:prstGeom>
          <a:noFill/>
          <a:ln/>
        </p:spPr>
        <p:txBody>
          <a:bodyPr wrap="square" lIns="0" tIns="0" rIns="0" bIns="0" rtlCol="0" anchor="t"/>
          <a:lstStyle/>
          <a:p>
            <a:pPr indent="0" marL="0">
              <a:buNone/>
            </a:pPr>
            <a:r>
              <a:rPr lang="en-US" sz="950" dirty="0">
                <a:solidFill>
                  <a:srgbClr val="BFC4CA"/>
                </a:solidFill>
                <a:latin typeface="Inter" pitchFamily="34" charset="0"/>
                <a:ea typeface="Inter" pitchFamily="34" charset="-122"/>
                <a:cs typeface="Inter" pitchFamily="34" charset="-120"/>
              </a:rPr>
              <a:t>Cierre: enero de 2026</a:t>
            </a:r>
            <a:endParaRPr lang="en-US" sz="950" dirty="0"/>
          </a:p>
        </p:txBody>
      </p:sp>
      <p:sp>
        <p:nvSpPr>
          <p:cNvPr id="9" name="Shape 6"/>
          <p:cNvSpPr/>
          <p:nvPr/>
        </p:nvSpPr>
        <p:spPr>
          <a:xfrm>
            <a:off x="2419502" y="1572768"/>
            <a:ext cx="1737360" cy="1024128"/>
          </a:xfrm>
          <a:prstGeom prst="rect">
            <a:avLst>
              <a:gd name="adj" fmla="val 5357"/>
            </a:avLst>
          </a:prstGeom>
          <a:solidFill>
            <a:srgbClr val="F3F3F2"/>
          </a:solidFill>
          <a:ln/>
        </p:spPr>
      </p:sp>
      <p:sp>
        <p:nvSpPr>
          <p:cNvPr id="10" name="Text 7"/>
          <p:cNvSpPr txBox="1"/>
          <p:nvPr/>
        </p:nvSpPr>
        <p:spPr>
          <a:xfrm>
            <a:off x="2556662" y="1664208"/>
            <a:ext cx="1508760" cy="384048"/>
          </a:xfrm>
          <a:prstGeom prst="rect">
            <a:avLst/>
          </a:prstGeom>
          <a:noFill/>
          <a:ln/>
        </p:spPr>
        <p:txBody>
          <a:bodyPr wrap="square" lIns="0" tIns="0" rIns="0" bIns="0" rtlCol="0" anchor="t"/>
          <a:lstStyle/>
          <a:p>
            <a:pPr indent="0" marL="0">
              <a:buNone/>
            </a:pPr>
            <a:r>
              <a:rPr lang="en-US" sz="1900" b="1" dirty="0">
                <a:solidFill>
                  <a:srgbClr val="1A1D21"/>
                </a:solidFill>
                <a:latin typeface="Lora" pitchFamily="34" charset="0"/>
                <a:ea typeface="Lora" pitchFamily="34" charset="-122"/>
                <a:cs typeface="Lora" pitchFamily="34" charset="-120"/>
              </a:rPr>
              <a:t>28,3%</a:t>
            </a:r>
            <a:endParaRPr lang="en-US" sz="1900" dirty="0"/>
          </a:p>
        </p:txBody>
      </p:sp>
      <p:sp>
        <p:nvSpPr>
          <p:cNvPr id="11" name="Text 8"/>
          <p:cNvSpPr txBox="1"/>
          <p:nvPr/>
        </p:nvSpPr>
        <p:spPr>
          <a:xfrm>
            <a:off x="2556662" y="2057400"/>
            <a:ext cx="1508760" cy="228600"/>
          </a:xfrm>
          <a:prstGeom prst="rect">
            <a:avLst/>
          </a:prstGeom>
          <a:noFill/>
          <a:ln/>
        </p:spPr>
        <p:txBody>
          <a:bodyPr wrap="square" lIns="0" tIns="0" rIns="0" bIns="0" rtlCol="0" anchor="t"/>
          <a:lstStyle/>
          <a:p>
            <a:pPr indent="0" marL="0">
              <a:buNone/>
            </a:pPr>
            <a:r>
              <a:rPr lang="en-US" sz="1100" b="1" dirty="0">
                <a:solidFill>
                  <a:srgbClr val="1F2124"/>
                </a:solidFill>
                <a:latin typeface="Inter" pitchFamily="34" charset="0"/>
                <a:ea typeface="Inter" pitchFamily="34" charset="-122"/>
                <a:cs typeface="Inter" pitchFamily="34" charset="-120"/>
              </a:rPr>
              <a:t>Margen EBITDA</a:t>
            </a:r>
            <a:endParaRPr lang="en-US" sz="1100" dirty="0"/>
          </a:p>
        </p:txBody>
      </p:sp>
      <p:sp>
        <p:nvSpPr>
          <p:cNvPr id="12" name="Text 9"/>
          <p:cNvSpPr txBox="1"/>
          <p:nvPr/>
        </p:nvSpPr>
        <p:spPr>
          <a:xfrm>
            <a:off x="2556662" y="2295144"/>
            <a:ext cx="1508760" cy="228600"/>
          </a:xfrm>
          <a:prstGeom prst="rect">
            <a:avLst/>
          </a:prstGeom>
          <a:noFill/>
          <a:ln/>
        </p:spPr>
        <p:txBody>
          <a:bodyPr wrap="square" lIns="0" tIns="0" rIns="0" bIns="0" rtlCol="0" anchor="t"/>
          <a:lstStyle/>
          <a:p>
            <a:pPr indent="0" marL="0">
              <a:buNone/>
            </a:pPr>
            <a:r>
              <a:rPr lang="en-US" sz="950" dirty="0">
                <a:solidFill>
                  <a:srgbClr val="6E7378"/>
                </a:solidFill>
                <a:latin typeface="Inter" pitchFamily="34" charset="0"/>
                <a:ea typeface="Inter" pitchFamily="34" charset="-122"/>
                <a:cs typeface="Inter" pitchFamily="34" charset="-120"/>
              </a:rPr>
              <a:t>€11.267m reportados</a:t>
            </a:r>
            <a:endParaRPr lang="en-US" sz="950" dirty="0"/>
          </a:p>
        </p:txBody>
      </p:sp>
      <p:sp>
        <p:nvSpPr>
          <p:cNvPr id="13" name="Shape 10"/>
          <p:cNvSpPr/>
          <p:nvPr/>
        </p:nvSpPr>
        <p:spPr>
          <a:xfrm>
            <a:off x="4290365" y="1572768"/>
            <a:ext cx="1737360" cy="1024128"/>
          </a:xfrm>
          <a:prstGeom prst="rect">
            <a:avLst>
              <a:gd name="adj" fmla="val 5357"/>
            </a:avLst>
          </a:prstGeom>
          <a:solidFill>
            <a:srgbClr val="F3F3F2"/>
          </a:solidFill>
          <a:ln/>
        </p:spPr>
      </p:sp>
      <p:sp>
        <p:nvSpPr>
          <p:cNvPr id="14" name="Text 11"/>
          <p:cNvSpPr txBox="1"/>
          <p:nvPr/>
        </p:nvSpPr>
        <p:spPr>
          <a:xfrm>
            <a:off x="4427525" y="1664208"/>
            <a:ext cx="1508760" cy="384048"/>
          </a:xfrm>
          <a:prstGeom prst="rect">
            <a:avLst/>
          </a:prstGeom>
          <a:noFill/>
          <a:ln/>
        </p:spPr>
        <p:txBody>
          <a:bodyPr wrap="square" lIns="0" tIns="0" rIns="0" bIns="0" rtlCol="0" anchor="t"/>
          <a:lstStyle/>
          <a:p>
            <a:pPr indent="0" marL="0">
              <a:buNone/>
            </a:pPr>
            <a:r>
              <a:rPr lang="en-US" sz="1900" b="1" dirty="0">
                <a:solidFill>
                  <a:srgbClr val="1A1D21"/>
                </a:solidFill>
                <a:latin typeface="Lora" pitchFamily="34" charset="0"/>
                <a:ea typeface="Lora" pitchFamily="34" charset="-122"/>
                <a:cs typeface="Lora" pitchFamily="34" charset="-120"/>
              </a:rPr>
              <a:t>58,3%</a:t>
            </a:r>
            <a:endParaRPr lang="en-US" sz="1900" dirty="0"/>
          </a:p>
        </p:txBody>
      </p:sp>
      <p:sp>
        <p:nvSpPr>
          <p:cNvPr id="15" name="Text 12"/>
          <p:cNvSpPr txBox="1"/>
          <p:nvPr/>
        </p:nvSpPr>
        <p:spPr>
          <a:xfrm>
            <a:off x="4427525" y="2057400"/>
            <a:ext cx="1508760" cy="228600"/>
          </a:xfrm>
          <a:prstGeom prst="rect">
            <a:avLst/>
          </a:prstGeom>
          <a:noFill/>
          <a:ln/>
        </p:spPr>
        <p:txBody>
          <a:bodyPr wrap="square" lIns="0" tIns="0" rIns="0" bIns="0" rtlCol="0" anchor="t"/>
          <a:lstStyle/>
          <a:p>
            <a:pPr indent="0" marL="0">
              <a:buNone/>
            </a:pPr>
            <a:r>
              <a:rPr lang="en-US" sz="1100" b="1" dirty="0">
                <a:solidFill>
                  <a:srgbClr val="1F2124"/>
                </a:solidFill>
                <a:latin typeface="Inter" pitchFamily="34" charset="0"/>
                <a:ea typeface="Inter" pitchFamily="34" charset="-122"/>
                <a:cs typeface="Inter" pitchFamily="34" charset="-120"/>
              </a:rPr>
              <a:t>Margen bruto</a:t>
            </a:r>
            <a:endParaRPr lang="en-US" sz="1100" dirty="0"/>
          </a:p>
        </p:txBody>
      </p:sp>
      <p:sp>
        <p:nvSpPr>
          <p:cNvPr id="16" name="Text 13"/>
          <p:cNvSpPr txBox="1"/>
          <p:nvPr/>
        </p:nvSpPr>
        <p:spPr>
          <a:xfrm>
            <a:off x="4427525" y="2295144"/>
            <a:ext cx="1508760" cy="228600"/>
          </a:xfrm>
          <a:prstGeom prst="rect">
            <a:avLst/>
          </a:prstGeom>
          <a:noFill/>
          <a:ln/>
        </p:spPr>
        <p:txBody>
          <a:bodyPr wrap="square" lIns="0" tIns="0" rIns="0" bIns="0" rtlCol="0" anchor="t"/>
          <a:lstStyle/>
          <a:p>
            <a:pPr indent="0" marL="0">
              <a:buNone/>
            </a:pPr>
            <a:r>
              <a:rPr lang="en-US" sz="950" dirty="0">
                <a:solidFill>
                  <a:srgbClr val="6E7378"/>
                </a:solidFill>
                <a:latin typeface="Inter" pitchFamily="34" charset="0"/>
                <a:ea typeface="Inter" pitchFamily="34" charset="-122"/>
                <a:cs typeface="Inter" pitchFamily="34" charset="-120"/>
              </a:rPr>
              <a:t>+130 pb desde FY2022</a:t>
            </a:r>
            <a:endParaRPr lang="en-US" sz="950" dirty="0"/>
          </a:p>
        </p:txBody>
      </p:sp>
      <p:sp>
        <p:nvSpPr>
          <p:cNvPr id="17" name="Shape 14"/>
          <p:cNvSpPr/>
          <p:nvPr/>
        </p:nvSpPr>
        <p:spPr>
          <a:xfrm>
            <a:off x="6161227" y="1572768"/>
            <a:ext cx="1737360" cy="1024128"/>
          </a:xfrm>
          <a:prstGeom prst="rect">
            <a:avLst>
              <a:gd name="adj" fmla="val 5357"/>
            </a:avLst>
          </a:prstGeom>
          <a:solidFill>
            <a:srgbClr val="F3F3F2"/>
          </a:solidFill>
          <a:ln/>
        </p:spPr>
      </p:sp>
      <p:sp>
        <p:nvSpPr>
          <p:cNvPr id="18" name="Text 15"/>
          <p:cNvSpPr txBox="1"/>
          <p:nvPr/>
        </p:nvSpPr>
        <p:spPr>
          <a:xfrm>
            <a:off x="6298387" y="1664208"/>
            <a:ext cx="1508760" cy="384048"/>
          </a:xfrm>
          <a:prstGeom prst="rect">
            <a:avLst/>
          </a:prstGeom>
          <a:noFill/>
          <a:ln/>
        </p:spPr>
        <p:txBody>
          <a:bodyPr wrap="square" lIns="0" tIns="0" rIns="0" bIns="0" rtlCol="0" anchor="t"/>
          <a:lstStyle/>
          <a:p>
            <a:pPr indent="0" marL="0">
              <a:buNone/>
            </a:pPr>
            <a:r>
              <a:rPr lang="en-US" sz="1900" b="1" dirty="0">
                <a:solidFill>
                  <a:srgbClr val="1A1D21"/>
                </a:solidFill>
                <a:latin typeface="Lora" pitchFamily="34" charset="0"/>
                <a:ea typeface="Lora" pitchFamily="34" charset="-122"/>
                <a:cs typeface="Lora" pitchFamily="34" charset="-120"/>
              </a:rPr>
              <a:t>26,7%</a:t>
            </a:r>
            <a:endParaRPr lang="en-US" sz="1900" dirty="0"/>
          </a:p>
        </p:txBody>
      </p:sp>
      <p:sp>
        <p:nvSpPr>
          <p:cNvPr id="19" name="Text 16"/>
          <p:cNvSpPr txBox="1"/>
          <p:nvPr/>
        </p:nvSpPr>
        <p:spPr>
          <a:xfrm>
            <a:off x="6298387" y="2057400"/>
            <a:ext cx="1508760" cy="228600"/>
          </a:xfrm>
          <a:prstGeom prst="rect">
            <a:avLst/>
          </a:prstGeom>
          <a:noFill/>
          <a:ln/>
        </p:spPr>
        <p:txBody>
          <a:bodyPr wrap="square" lIns="0" tIns="0" rIns="0" bIns="0" rtlCol="0" anchor="t"/>
          <a:lstStyle/>
          <a:p>
            <a:pPr indent="0" marL="0">
              <a:buNone/>
            </a:pPr>
            <a:r>
              <a:rPr lang="en-US" sz="1100" b="1" dirty="0">
                <a:solidFill>
                  <a:srgbClr val="1F2124"/>
                </a:solidFill>
                <a:latin typeface="Inter" pitchFamily="34" charset="0"/>
                <a:ea typeface="Inter" pitchFamily="34" charset="-122"/>
                <a:cs typeface="Inter" pitchFamily="34" charset="-120"/>
              </a:rPr>
              <a:t>Ventas online</a:t>
            </a:r>
            <a:endParaRPr lang="en-US" sz="1100" dirty="0"/>
          </a:p>
        </p:txBody>
      </p:sp>
      <p:sp>
        <p:nvSpPr>
          <p:cNvPr id="20" name="Text 17"/>
          <p:cNvSpPr txBox="1"/>
          <p:nvPr/>
        </p:nvSpPr>
        <p:spPr>
          <a:xfrm>
            <a:off x="6298387" y="2295144"/>
            <a:ext cx="1508760" cy="228600"/>
          </a:xfrm>
          <a:prstGeom prst="rect">
            <a:avLst/>
          </a:prstGeom>
          <a:noFill/>
          <a:ln/>
        </p:spPr>
        <p:txBody>
          <a:bodyPr wrap="square" lIns="0" tIns="0" rIns="0" bIns="0" rtlCol="0" anchor="t"/>
          <a:lstStyle/>
          <a:p>
            <a:pPr indent="0" marL="0">
              <a:buNone/>
            </a:pPr>
            <a:r>
              <a:rPr lang="en-US" sz="950" dirty="0">
                <a:solidFill>
                  <a:srgbClr val="6E7378"/>
                </a:solidFill>
                <a:latin typeface="Inter" pitchFamily="34" charset="0"/>
                <a:ea typeface="Inter" pitchFamily="34" charset="-122"/>
                <a:cs typeface="Inter" pitchFamily="34" charset="-120"/>
              </a:rPr>
              <a:t>€10.656m</a:t>
            </a:r>
            <a:endParaRPr lang="en-US" sz="950" dirty="0"/>
          </a:p>
        </p:txBody>
      </p:sp>
      <p:sp>
        <p:nvSpPr>
          <p:cNvPr id="21" name="Shape 18"/>
          <p:cNvSpPr/>
          <p:nvPr/>
        </p:nvSpPr>
        <p:spPr>
          <a:xfrm>
            <a:off x="8032090" y="1572768"/>
            <a:ext cx="1737360" cy="1024128"/>
          </a:xfrm>
          <a:prstGeom prst="rect">
            <a:avLst>
              <a:gd name="adj" fmla="val 5357"/>
            </a:avLst>
          </a:prstGeom>
          <a:solidFill>
            <a:srgbClr val="F3F3F2"/>
          </a:solidFill>
          <a:ln/>
        </p:spPr>
      </p:sp>
      <p:sp>
        <p:nvSpPr>
          <p:cNvPr id="22" name="Text 19"/>
          <p:cNvSpPr txBox="1"/>
          <p:nvPr/>
        </p:nvSpPr>
        <p:spPr>
          <a:xfrm>
            <a:off x="8169250" y="1664208"/>
            <a:ext cx="1508760" cy="384048"/>
          </a:xfrm>
          <a:prstGeom prst="rect">
            <a:avLst/>
          </a:prstGeom>
          <a:noFill/>
          <a:ln/>
        </p:spPr>
        <p:txBody>
          <a:bodyPr wrap="square" lIns="0" tIns="0" rIns="0" bIns="0" rtlCol="0" anchor="t"/>
          <a:lstStyle/>
          <a:p>
            <a:pPr indent="0" marL="0">
              <a:buNone/>
            </a:pPr>
            <a:r>
              <a:rPr lang="en-US" sz="1900" b="1" dirty="0">
                <a:solidFill>
                  <a:srgbClr val="1A1D21"/>
                </a:solidFill>
                <a:latin typeface="Lora" pitchFamily="34" charset="0"/>
                <a:ea typeface="Lora" pitchFamily="34" charset="-122"/>
                <a:cs typeface="Lora" pitchFamily="34" charset="-120"/>
              </a:rPr>
              <a:t>5.460</a:t>
            </a:r>
            <a:endParaRPr lang="en-US" sz="1900" dirty="0"/>
          </a:p>
        </p:txBody>
      </p:sp>
      <p:sp>
        <p:nvSpPr>
          <p:cNvPr id="23" name="Text 20"/>
          <p:cNvSpPr txBox="1"/>
          <p:nvPr/>
        </p:nvSpPr>
        <p:spPr>
          <a:xfrm>
            <a:off x="8169250" y="2057400"/>
            <a:ext cx="1508760" cy="228600"/>
          </a:xfrm>
          <a:prstGeom prst="rect">
            <a:avLst/>
          </a:prstGeom>
          <a:noFill/>
          <a:ln/>
        </p:spPr>
        <p:txBody>
          <a:bodyPr wrap="square" lIns="0" tIns="0" rIns="0" bIns="0" rtlCol="0" anchor="t"/>
          <a:lstStyle/>
          <a:p>
            <a:pPr indent="0" marL="0">
              <a:buNone/>
            </a:pPr>
            <a:r>
              <a:rPr lang="en-US" sz="1100" b="1" dirty="0">
                <a:solidFill>
                  <a:srgbClr val="1F2124"/>
                </a:solidFill>
                <a:latin typeface="Inter" pitchFamily="34" charset="0"/>
                <a:ea typeface="Inter" pitchFamily="34" charset="-122"/>
                <a:cs typeface="Inter" pitchFamily="34" charset="-120"/>
              </a:rPr>
              <a:t>Tiendas</a:t>
            </a:r>
            <a:endParaRPr lang="en-US" sz="1100" dirty="0"/>
          </a:p>
        </p:txBody>
      </p:sp>
      <p:sp>
        <p:nvSpPr>
          <p:cNvPr id="24" name="Text 21"/>
          <p:cNvSpPr txBox="1"/>
          <p:nvPr/>
        </p:nvSpPr>
        <p:spPr>
          <a:xfrm>
            <a:off x="8169250" y="2295144"/>
            <a:ext cx="1508760" cy="228600"/>
          </a:xfrm>
          <a:prstGeom prst="rect">
            <a:avLst/>
          </a:prstGeom>
          <a:noFill/>
          <a:ln/>
        </p:spPr>
        <p:txBody>
          <a:bodyPr wrap="square" lIns="0" tIns="0" rIns="0" bIns="0" rtlCol="0" anchor="t"/>
          <a:lstStyle/>
          <a:p>
            <a:pPr indent="0" marL="0">
              <a:buNone/>
            </a:pPr>
            <a:r>
              <a:rPr lang="en-US" sz="950" dirty="0">
                <a:solidFill>
                  <a:srgbClr val="6E7378"/>
                </a:solidFill>
                <a:latin typeface="Inter" pitchFamily="34" charset="0"/>
                <a:ea typeface="Inter" pitchFamily="34" charset="-122"/>
                <a:cs typeface="Inter" pitchFamily="34" charset="-120"/>
              </a:rPr>
              <a:t>Más de 90 mercados</a:t>
            </a:r>
            <a:endParaRPr lang="en-US" sz="950" dirty="0"/>
          </a:p>
        </p:txBody>
      </p:sp>
      <p:sp>
        <p:nvSpPr>
          <p:cNvPr id="25" name="Shape 22"/>
          <p:cNvSpPr/>
          <p:nvPr/>
        </p:nvSpPr>
        <p:spPr>
          <a:xfrm>
            <a:off x="9902952" y="1572768"/>
            <a:ext cx="1737360" cy="1024128"/>
          </a:xfrm>
          <a:prstGeom prst="rect">
            <a:avLst>
              <a:gd name="adj" fmla="val 5357"/>
            </a:avLst>
          </a:prstGeom>
          <a:solidFill>
            <a:srgbClr val="F3F3F2"/>
          </a:solidFill>
          <a:ln/>
        </p:spPr>
      </p:sp>
      <p:sp>
        <p:nvSpPr>
          <p:cNvPr id="26" name="Text 23"/>
          <p:cNvSpPr txBox="1"/>
          <p:nvPr/>
        </p:nvSpPr>
        <p:spPr>
          <a:xfrm>
            <a:off x="10040112" y="1664208"/>
            <a:ext cx="1508760" cy="384048"/>
          </a:xfrm>
          <a:prstGeom prst="rect">
            <a:avLst/>
          </a:prstGeom>
          <a:noFill/>
          <a:ln/>
        </p:spPr>
        <p:txBody>
          <a:bodyPr wrap="square" lIns="0" tIns="0" rIns="0" bIns="0" rtlCol="0" anchor="t"/>
          <a:lstStyle/>
          <a:p>
            <a:pPr indent="0" marL="0">
              <a:buNone/>
            </a:pPr>
            <a:r>
              <a:rPr lang="en-US" sz="1900" b="1" dirty="0">
                <a:solidFill>
                  <a:srgbClr val="1A1D21"/>
                </a:solidFill>
                <a:latin typeface="Lora" pitchFamily="34" charset="0"/>
                <a:ea typeface="Lora" pitchFamily="34" charset="-122"/>
                <a:cs typeface="Lora" pitchFamily="34" charset="-120"/>
              </a:rPr>
              <a:t>40%</a:t>
            </a:r>
            <a:endParaRPr lang="en-US" sz="1900" dirty="0"/>
          </a:p>
        </p:txBody>
      </p:sp>
      <p:sp>
        <p:nvSpPr>
          <p:cNvPr id="27" name="Text 24"/>
          <p:cNvSpPr txBox="1"/>
          <p:nvPr/>
        </p:nvSpPr>
        <p:spPr>
          <a:xfrm>
            <a:off x="10040112" y="2057400"/>
            <a:ext cx="1508760" cy="228600"/>
          </a:xfrm>
          <a:prstGeom prst="rect">
            <a:avLst/>
          </a:prstGeom>
          <a:noFill/>
          <a:ln/>
        </p:spPr>
        <p:txBody>
          <a:bodyPr wrap="square" lIns="0" tIns="0" rIns="0" bIns="0" rtlCol="0" anchor="t"/>
          <a:lstStyle/>
          <a:p>
            <a:pPr indent="0" marL="0">
              <a:buNone/>
            </a:pPr>
            <a:r>
              <a:rPr lang="en-US" sz="1100" b="1" dirty="0">
                <a:solidFill>
                  <a:srgbClr val="1F2124"/>
                </a:solidFill>
                <a:latin typeface="Inter" pitchFamily="34" charset="0"/>
                <a:ea typeface="Inter" pitchFamily="34" charset="-122"/>
                <a:cs typeface="Inter" pitchFamily="34" charset="-120"/>
              </a:rPr>
              <a:t>ROCE del grupo</a:t>
            </a:r>
            <a:endParaRPr lang="en-US" sz="1100" dirty="0"/>
          </a:p>
        </p:txBody>
      </p:sp>
      <p:sp>
        <p:nvSpPr>
          <p:cNvPr id="28" name="Text 25"/>
          <p:cNvSpPr txBox="1"/>
          <p:nvPr/>
        </p:nvSpPr>
        <p:spPr>
          <a:xfrm>
            <a:off x="10040112" y="2295144"/>
            <a:ext cx="1508760" cy="228600"/>
          </a:xfrm>
          <a:prstGeom prst="rect">
            <a:avLst/>
          </a:prstGeom>
          <a:noFill/>
          <a:ln/>
        </p:spPr>
        <p:txBody>
          <a:bodyPr wrap="square" lIns="0" tIns="0" rIns="0" bIns="0" rtlCol="0" anchor="t"/>
          <a:lstStyle/>
          <a:p>
            <a:pPr indent="0" marL="0">
              <a:buNone/>
            </a:pPr>
            <a:r>
              <a:rPr lang="en-US" sz="950" dirty="0">
                <a:solidFill>
                  <a:srgbClr val="6E7378"/>
                </a:solidFill>
                <a:latin typeface="Inter" pitchFamily="34" charset="0"/>
                <a:ea typeface="Inter" pitchFamily="34" charset="-122"/>
                <a:cs typeface="Inter" pitchFamily="34" charset="-120"/>
              </a:rPr>
              <a:t>Otras marcas: 40–72%</a:t>
            </a:r>
            <a:endParaRPr lang="en-US" sz="950" dirty="0"/>
          </a:p>
        </p:txBody>
      </p:sp>
      <p:sp>
        <p:nvSpPr>
          <p:cNvPr id="29" name="Text 26"/>
          <p:cNvSpPr txBox="1"/>
          <p:nvPr/>
        </p:nvSpPr>
        <p:spPr>
          <a:xfrm>
            <a:off x="548640" y="2807208"/>
            <a:ext cx="6400800" cy="228600"/>
          </a:xfrm>
          <a:prstGeom prst="rect">
            <a:avLst/>
          </a:prstGeom>
          <a:noFill/>
          <a:ln/>
        </p:spPr>
        <p:txBody>
          <a:bodyPr wrap="square" lIns="0" tIns="0" rIns="0" bIns="0" rtlCol="0" anchor="t"/>
          <a:lstStyle/>
          <a:p>
            <a:pPr indent="0" marL="0">
              <a:buNone/>
            </a:pPr>
            <a:r>
              <a:rPr lang="en-US" sz="1050" b="1" spc="150" kern="0" dirty="0">
                <a:solidFill>
                  <a:srgbClr val="1F4B3F"/>
                </a:solidFill>
                <a:latin typeface="Inter" pitchFamily="34" charset="0"/>
                <a:ea typeface="Inter" pitchFamily="34" charset="-122"/>
                <a:cs typeface="Inter" pitchFamily="34" charset="-120"/>
              </a:rPr>
              <a:t>VENTAS POR MARCA FY2025: €M, % DE VENTAS, TIENDAS Y ROCE</a:t>
            </a:r>
            <a:endParaRPr lang="en-US" sz="1050" dirty="0"/>
          </a:p>
        </p:txBody>
      </p:sp>
      <p:pic>
        <p:nvPicPr>
          <p:cNvPr id="30" name="Image 1" descr="/tmp/claude-0/-home-claude/8d7de6a3-f167-5c95-8bc2-67944307bfd8/scratchpad/canva/img/c11_brands.png">    </p:cNvPr>
          <p:cNvPicPr>
            <a:picLocks noChangeAspect="1"/>
          </p:cNvPicPr>
          <p:nvPr/>
        </p:nvPicPr>
        <p:blipFill>
          <a:blip r:embed="rId2"/>
          <a:stretch>
            <a:fillRect/>
          </a:stretch>
        </p:blipFill>
        <p:spPr>
          <a:xfrm>
            <a:off x="548640" y="3090672"/>
            <a:ext cx="6346196" cy="2560320"/>
          </a:xfrm>
          <a:prstGeom prst="rect">
            <a:avLst/>
          </a:prstGeom>
        </p:spPr>
      </p:pic>
      <p:sp>
        <p:nvSpPr>
          <p:cNvPr id="31" name="Text 27"/>
          <p:cNvSpPr txBox="1"/>
          <p:nvPr/>
        </p:nvSpPr>
        <p:spPr>
          <a:xfrm>
            <a:off x="548640" y="5760720"/>
            <a:ext cx="6355080" cy="274320"/>
          </a:xfrm>
          <a:prstGeom prst="rect">
            <a:avLst/>
          </a:prstGeom>
          <a:noFill/>
          <a:ln/>
        </p:spPr>
        <p:txBody>
          <a:bodyPr wrap="square" lIns="0" tIns="0" rIns="0" bIns="0" rtlCol="0" anchor="t"/>
          <a:lstStyle/>
          <a:p>
            <a:pPr indent="0" marL="0">
              <a:buNone/>
            </a:pPr>
            <a:r>
              <a:rPr lang="en-US" sz="1100" b="1" dirty="0">
                <a:solidFill>
                  <a:srgbClr val="1F4B3F"/>
                </a:solidFill>
                <a:latin typeface="Inter" pitchFamily="34" charset="0"/>
                <a:ea typeface="Inter" pitchFamily="34" charset="-122"/>
                <a:cs typeface="Inter" pitchFamily="34" charset="-120"/>
              </a:rPr>
              <a:t>Las marcas pequeñas logran más ROCE porque usan la logística y la tecnología de Zara.</a:t>
            </a:r>
            <a:endParaRPr lang="en-US" sz="1100" dirty="0"/>
          </a:p>
        </p:txBody>
      </p:sp>
      <p:sp>
        <p:nvSpPr>
          <p:cNvPr id="32" name="Text 28"/>
          <p:cNvSpPr txBox="1"/>
          <p:nvPr/>
        </p:nvSpPr>
        <p:spPr>
          <a:xfrm>
            <a:off x="7269480" y="2807208"/>
            <a:ext cx="4370832" cy="228600"/>
          </a:xfrm>
          <a:prstGeom prst="rect">
            <a:avLst/>
          </a:prstGeom>
          <a:noFill/>
          <a:ln/>
        </p:spPr>
        <p:txBody>
          <a:bodyPr wrap="square" lIns="0" tIns="0" rIns="0" bIns="0" rtlCol="0" anchor="t"/>
          <a:lstStyle/>
          <a:p>
            <a:pPr indent="0" marL="0">
              <a:buNone/>
            </a:pPr>
            <a:r>
              <a:rPr lang="en-US" sz="1050" b="1" spc="150" kern="0" dirty="0">
                <a:solidFill>
                  <a:srgbClr val="1F4B3F"/>
                </a:solidFill>
                <a:latin typeface="Inter" pitchFamily="34" charset="0"/>
                <a:ea typeface="Inter" pitchFamily="34" charset="-122"/>
                <a:cs typeface="Inter" pitchFamily="34" charset="-120"/>
              </a:rPr>
              <a:t>VENTAS POR REGIÓN FY2025</a:t>
            </a:r>
            <a:endParaRPr lang="en-US" sz="1050" dirty="0"/>
          </a:p>
        </p:txBody>
      </p:sp>
      <p:sp>
        <p:nvSpPr>
          <p:cNvPr id="33" name="Shape 29"/>
          <p:cNvSpPr/>
          <p:nvPr/>
        </p:nvSpPr>
        <p:spPr>
          <a:xfrm>
            <a:off x="7269480" y="3108960"/>
            <a:ext cx="2358324" cy="365760"/>
          </a:xfrm>
          <a:prstGeom prst="rect">
            <a:avLst/>
          </a:prstGeom>
          <a:solidFill>
            <a:srgbClr val="1A1D21"/>
          </a:solidFill>
          <a:ln/>
        </p:spPr>
      </p:sp>
      <p:sp>
        <p:nvSpPr>
          <p:cNvPr id="34" name="Shape 30"/>
          <p:cNvSpPr/>
          <p:nvPr/>
        </p:nvSpPr>
        <p:spPr>
          <a:xfrm>
            <a:off x="9627804" y="3108960"/>
            <a:ext cx="764325" cy="365760"/>
          </a:xfrm>
          <a:prstGeom prst="rect">
            <a:avLst/>
          </a:prstGeom>
          <a:solidFill>
            <a:srgbClr val="1F4B3F"/>
          </a:solidFill>
          <a:ln/>
        </p:spPr>
      </p:sp>
      <p:sp>
        <p:nvSpPr>
          <p:cNvPr id="35" name="Shape 31"/>
          <p:cNvSpPr/>
          <p:nvPr/>
        </p:nvSpPr>
        <p:spPr>
          <a:xfrm>
            <a:off x="10392129" y="3108960"/>
            <a:ext cx="740533" cy="365760"/>
          </a:xfrm>
          <a:prstGeom prst="rect">
            <a:avLst/>
          </a:prstGeom>
          <a:solidFill>
            <a:srgbClr val="7D848C"/>
          </a:solidFill>
          <a:ln/>
        </p:spPr>
      </p:sp>
      <p:sp>
        <p:nvSpPr>
          <p:cNvPr id="36" name="Shape 32"/>
          <p:cNvSpPr/>
          <p:nvPr/>
        </p:nvSpPr>
        <p:spPr>
          <a:xfrm>
            <a:off x="11132662" y="3108960"/>
            <a:ext cx="507650" cy="365760"/>
          </a:xfrm>
          <a:prstGeom prst="rect">
            <a:avLst/>
          </a:prstGeom>
          <a:solidFill>
            <a:srgbClr val="BFC4CA"/>
          </a:solidFill>
          <a:ln/>
        </p:spPr>
      </p:sp>
      <p:sp>
        <p:nvSpPr>
          <p:cNvPr id="37" name="Shape 33"/>
          <p:cNvSpPr/>
          <p:nvPr/>
        </p:nvSpPr>
        <p:spPr>
          <a:xfrm>
            <a:off x="7269480" y="3648456"/>
            <a:ext cx="146304" cy="146304"/>
          </a:xfrm>
          <a:prstGeom prst="rect">
            <a:avLst/>
          </a:prstGeom>
          <a:solidFill>
            <a:srgbClr val="1A1D21"/>
          </a:solidFill>
          <a:ln/>
        </p:spPr>
      </p:sp>
      <p:sp>
        <p:nvSpPr>
          <p:cNvPr id="38" name="Text 34"/>
          <p:cNvSpPr txBox="1"/>
          <p:nvPr/>
        </p:nvSpPr>
        <p:spPr>
          <a:xfrm>
            <a:off x="7525512" y="3584448"/>
            <a:ext cx="2011680" cy="274320"/>
          </a:xfrm>
          <a:prstGeom prst="rect">
            <a:avLst/>
          </a:prstGeom>
          <a:noFill/>
          <a:ln/>
        </p:spPr>
        <p:txBody>
          <a:bodyPr wrap="square" lIns="0" tIns="0" rIns="0" bIns="0" rtlCol="0" anchor="ctr"/>
          <a:lstStyle/>
          <a:p>
            <a:pPr indent="0" marL="0">
              <a:buNone/>
            </a:pPr>
            <a:r>
              <a:rPr lang="en-US" sz="1100" dirty="0">
                <a:solidFill>
                  <a:srgbClr val="1F2124"/>
                </a:solidFill>
                <a:latin typeface="Inter" pitchFamily="34" charset="0"/>
                <a:ea typeface="Inter" pitchFamily="34" charset="-122"/>
                <a:cs typeface="Inter" pitchFamily="34" charset="-120"/>
              </a:rPr>
              <a:t>Europa sin España</a:t>
            </a:r>
            <a:endParaRPr lang="en-US" sz="1100" dirty="0"/>
          </a:p>
        </p:txBody>
      </p:sp>
      <p:sp>
        <p:nvSpPr>
          <p:cNvPr id="39" name="Text 35"/>
          <p:cNvSpPr txBox="1"/>
          <p:nvPr/>
        </p:nvSpPr>
        <p:spPr>
          <a:xfrm>
            <a:off x="9555480" y="3584448"/>
            <a:ext cx="1097280" cy="274320"/>
          </a:xfrm>
          <a:prstGeom prst="rect">
            <a:avLst/>
          </a:prstGeom>
          <a:noFill/>
          <a:ln/>
        </p:spPr>
        <p:txBody>
          <a:bodyPr wrap="square" lIns="0" tIns="0" rIns="0" bIns="0" rtlCol="0" anchor="ctr"/>
          <a:lstStyle/>
          <a:p>
            <a:pPr algn="r" indent="0" marL="0">
              <a:buNone/>
            </a:pPr>
            <a:r>
              <a:rPr lang="en-US" sz="1100" dirty="0">
                <a:solidFill>
                  <a:srgbClr val="1F2124"/>
                </a:solidFill>
                <a:latin typeface="Inter" pitchFamily="34" charset="0"/>
                <a:ea typeface="Inter" pitchFamily="34" charset="-122"/>
                <a:cs typeface="Inter" pitchFamily="34" charset="-120"/>
              </a:rPr>
              <a:t>21.509</a:t>
            </a:r>
            <a:endParaRPr lang="en-US" sz="1100" dirty="0"/>
          </a:p>
        </p:txBody>
      </p:sp>
      <p:sp>
        <p:nvSpPr>
          <p:cNvPr id="40" name="Text 36"/>
          <p:cNvSpPr txBox="1"/>
          <p:nvPr/>
        </p:nvSpPr>
        <p:spPr>
          <a:xfrm>
            <a:off x="10744200" y="3584448"/>
            <a:ext cx="896112" cy="274320"/>
          </a:xfrm>
          <a:prstGeom prst="rect">
            <a:avLst/>
          </a:prstGeom>
          <a:noFill/>
          <a:ln/>
        </p:spPr>
        <p:txBody>
          <a:bodyPr wrap="square" lIns="0" tIns="0" rIns="0" bIns="0" rtlCol="0" anchor="ctr"/>
          <a:lstStyle/>
          <a:p>
            <a:pPr algn="r" indent="0" marL="0">
              <a:buNone/>
            </a:pPr>
            <a:r>
              <a:rPr lang="en-US" sz="1100" b="1" dirty="0">
                <a:solidFill>
                  <a:srgbClr val="1A1D21"/>
                </a:solidFill>
                <a:latin typeface="Inter" pitchFamily="34" charset="0"/>
                <a:ea typeface="Inter" pitchFamily="34" charset="-122"/>
                <a:cs typeface="Inter" pitchFamily="34" charset="-120"/>
              </a:rPr>
              <a:t>54,0%</a:t>
            </a:r>
            <a:endParaRPr lang="en-US" sz="1100" dirty="0"/>
          </a:p>
        </p:txBody>
      </p:sp>
      <p:sp>
        <p:nvSpPr>
          <p:cNvPr id="41" name="Shape 37"/>
          <p:cNvSpPr/>
          <p:nvPr/>
        </p:nvSpPr>
        <p:spPr>
          <a:xfrm>
            <a:off x="7269480" y="3922776"/>
            <a:ext cx="146304" cy="146304"/>
          </a:xfrm>
          <a:prstGeom prst="rect">
            <a:avLst/>
          </a:prstGeom>
          <a:solidFill>
            <a:srgbClr val="1F4B3F"/>
          </a:solidFill>
          <a:ln/>
        </p:spPr>
      </p:sp>
      <p:sp>
        <p:nvSpPr>
          <p:cNvPr id="42" name="Text 38"/>
          <p:cNvSpPr txBox="1"/>
          <p:nvPr/>
        </p:nvSpPr>
        <p:spPr>
          <a:xfrm>
            <a:off x="7525512" y="3858768"/>
            <a:ext cx="2011680" cy="274320"/>
          </a:xfrm>
          <a:prstGeom prst="rect">
            <a:avLst/>
          </a:prstGeom>
          <a:noFill/>
          <a:ln/>
        </p:spPr>
        <p:txBody>
          <a:bodyPr wrap="square" lIns="0" tIns="0" rIns="0" bIns="0" rtlCol="0" anchor="ctr"/>
          <a:lstStyle/>
          <a:p>
            <a:pPr indent="0" marL="0">
              <a:buNone/>
            </a:pPr>
            <a:r>
              <a:rPr lang="en-US" sz="1100" dirty="0">
                <a:solidFill>
                  <a:srgbClr val="1F2124"/>
                </a:solidFill>
                <a:latin typeface="Inter" pitchFamily="34" charset="0"/>
                <a:ea typeface="Inter" pitchFamily="34" charset="-122"/>
                <a:cs typeface="Inter" pitchFamily="34" charset="-120"/>
              </a:rPr>
              <a:t>América</a:t>
            </a:r>
            <a:endParaRPr lang="en-US" sz="1100" dirty="0"/>
          </a:p>
        </p:txBody>
      </p:sp>
      <p:sp>
        <p:nvSpPr>
          <p:cNvPr id="43" name="Text 39"/>
          <p:cNvSpPr txBox="1"/>
          <p:nvPr/>
        </p:nvSpPr>
        <p:spPr>
          <a:xfrm>
            <a:off x="9555480" y="3858768"/>
            <a:ext cx="1097280" cy="274320"/>
          </a:xfrm>
          <a:prstGeom prst="rect">
            <a:avLst/>
          </a:prstGeom>
          <a:noFill/>
          <a:ln/>
        </p:spPr>
        <p:txBody>
          <a:bodyPr wrap="square" lIns="0" tIns="0" rIns="0" bIns="0" rtlCol="0" anchor="ctr"/>
          <a:lstStyle/>
          <a:p>
            <a:pPr algn="r" indent="0" marL="0">
              <a:buNone/>
            </a:pPr>
            <a:r>
              <a:rPr lang="en-US" sz="1100" dirty="0">
                <a:solidFill>
                  <a:srgbClr val="1F2124"/>
                </a:solidFill>
                <a:latin typeface="Inter" pitchFamily="34" charset="0"/>
                <a:ea typeface="Inter" pitchFamily="34" charset="-122"/>
                <a:cs typeface="Inter" pitchFamily="34" charset="-120"/>
              </a:rPr>
              <a:t>6.971</a:t>
            </a:r>
            <a:endParaRPr lang="en-US" sz="1100" dirty="0"/>
          </a:p>
        </p:txBody>
      </p:sp>
      <p:sp>
        <p:nvSpPr>
          <p:cNvPr id="44" name="Text 40"/>
          <p:cNvSpPr txBox="1"/>
          <p:nvPr/>
        </p:nvSpPr>
        <p:spPr>
          <a:xfrm>
            <a:off x="10744200" y="3858768"/>
            <a:ext cx="896112" cy="274320"/>
          </a:xfrm>
          <a:prstGeom prst="rect">
            <a:avLst/>
          </a:prstGeom>
          <a:noFill/>
          <a:ln/>
        </p:spPr>
        <p:txBody>
          <a:bodyPr wrap="square" lIns="0" tIns="0" rIns="0" bIns="0" rtlCol="0" anchor="ctr"/>
          <a:lstStyle/>
          <a:p>
            <a:pPr algn="r" indent="0" marL="0">
              <a:buNone/>
            </a:pPr>
            <a:r>
              <a:rPr lang="en-US" sz="1100" b="1" dirty="0">
                <a:solidFill>
                  <a:srgbClr val="1A1D21"/>
                </a:solidFill>
                <a:latin typeface="Inter" pitchFamily="34" charset="0"/>
                <a:ea typeface="Inter" pitchFamily="34" charset="-122"/>
                <a:cs typeface="Inter" pitchFamily="34" charset="-120"/>
              </a:rPr>
              <a:t>17,5%</a:t>
            </a:r>
            <a:endParaRPr lang="en-US" sz="1100" dirty="0"/>
          </a:p>
        </p:txBody>
      </p:sp>
      <p:sp>
        <p:nvSpPr>
          <p:cNvPr id="45" name="Shape 41"/>
          <p:cNvSpPr/>
          <p:nvPr/>
        </p:nvSpPr>
        <p:spPr>
          <a:xfrm>
            <a:off x="7269480" y="4197096"/>
            <a:ext cx="146304" cy="146304"/>
          </a:xfrm>
          <a:prstGeom prst="rect">
            <a:avLst/>
          </a:prstGeom>
          <a:solidFill>
            <a:srgbClr val="7D848C"/>
          </a:solidFill>
          <a:ln/>
        </p:spPr>
      </p:sp>
      <p:sp>
        <p:nvSpPr>
          <p:cNvPr id="46" name="Text 42"/>
          <p:cNvSpPr txBox="1"/>
          <p:nvPr/>
        </p:nvSpPr>
        <p:spPr>
          <a:xfrm>
            <a:off x="7525512" y="4133088"/>
            <a:ext cx="2011680" cy="274320"/>
          </a:xfrm>
          <a:prstGeom prst="rect">
            <a:avLst/>
          </a:prstGeom>
          <a:noFill/>
          <a:ln/>
        </p:spPr>
        <p:txBody>
          <a:bodyPr wrap="square" lIns="0" tIns="0" rIns="0" bIns="0" rtlCol="0" anchor="ctr"/>
          <a:lstStyle/>
          <a:p>
            <a:pPr indent="0" marL="0">
              <a:buNone/>
            </a:pPr>
            <a:r>
              <a:rPr lang="en-US" sz="1100" dirty="0">
                <a:solidFill>
                  <a:srgbClr val="1F2124"/>
                </a:solidFill>
                <a:latin typeface="Inter" pitchFamily="34" charset="0"/>
                <a:ea typeface="Inter" pitchFamily="34" charset="-122"/>
                <a:cs typeface="Inter" pitchFamily="34" charset="-120"/>
              </a:rPr>
              <a:t>España</a:t>
            </a:r>
            <a:endParaRPr lang="en-US" sz="1100" dirty="0"/>
          </a:p>
        </p:txBody>
      </p:sp>
      <p:sp>
        <p:nvSpPr>
          <p:cNvPr id="47" name="Text 43"/>
          <p:cNvSpPr txBox="1"/>
          <p:nvPr/>
        </p:nvSpPr>
        <p:spPr>
          <a:xfrm>
            <a:off x="9555480" y="4133088"/>
            <a:ext cx="1097280" cy="274320"/>
          </a:xfrm>
          <a:prstGeom prst="rect">
            <a:avLst/>
          </a:prstGeom>
          <a:noFill/>
          <a:ln/>
        </p:spPr>
        <p:txBody>
          <a:bodyPr wrap="square" lIns="0" tIns="0" rIns="0" bIns="0" rtlCol="0" anchor="ctr"/>
          <a:lstStyle/>
          <a:p>
            <a:pPr algn="r" indent="0" marL="0">
              <a:buNone/>
            </a:pPr>
            <a:r>
              <a:rPr lang="en-US" sz="1100" dirty="0">
                <a:solidFill>
                  <a:srgbClr val="1F2124"/>
                </a:solidFill>
                <a:latin typeface="Inter" pitchFamily="34" charset="0"/>
                <a:ea typeface="Inter" pitchFamily="34" charset="-122"/>
                <a:cs typeface="Inter" pitchFamily="34" charset="-120"/>
              </a:rPr>
              <a:t>6.754</a:t>
            </a:r>
            <a:endParaRPr lang="en-US" sz="1100" dirty="0"/>
          </a:p>
        </p:txBody>
      </p:sp>
      <p:sp>
        <p:nvSpPr>
          <p:cNvPr id="48" name="Text 44"/>
          <p:cNvSpPr txBox="1"/>
          <p:nvPr/>
        </p:nvSpPr>
        <p:spPr>
          <a:xfrm>
            <a:off x="10744200" y="4133088"/>
            <a:ext cx="896112" cy="274320"/>
          </a:xfrm>
          <a:prstGeom prst="rect">
            <a:avLst/>
          </a:prstGeom>
          <a:noFill/>
          <a:ln/>
        </p:spPr>
        <p:txBody>
          <a:bodyPr wrap="square" lIns="0" tIns="0" rIns="0" bIns="0" rtlCol="0" anchor="ctr"/>
          <a:lstStyle/>
          <a:p>
            <a:pPr algn="r" indent="0" marL="0">
              <a:buNone/>
            </a:pPr>
            <a:r>
              <a:rPr lang="en-US" sz="1100" b="1" dirty="0">
                <a:solidFill>
                  <a:srgbClr val="1A1D21"/>
                </a:solidFill>
                <a:latin typeface="Inter" pitchFamily="34" charset="0"/>
                <a:ea typeface="Inter" pitchFamily="34" charset="-122"/>
                <a:cs typeface="Inter" pitchFamily="34" charset="-120"/>
              </a:rPr>
              <a:t>16,9%</a:t>
            </a:r>
            <a:endParaRPr lang="en-US" sz="1100" dirty="0"/>
          </a:p>
        </p:txBody>
      </p:sp>
      <p:sp>
        <p:nvSpPr>
          <p:cNvPr id="49" name="Shape 45"/>
          <p:cNvSpPr/>
          <p:nvPr/>
        </p:nvSpPr>
        <p:spPr>
          <a:xfrm>
            <a:off x="7269480" y="4471416"/>
            <a:ext cx="146304" cy="146304"/>
          </a:xfrm>
          <a:prstGeom prst="rect">
            <a:avLst/>
          </a:prstGeom>
          <a:solidFill>
            <a:srgbClr val="BFC4CA"/>
          </a:solidFill>
          <a:ln/>
        </p:spPr>
      </p:sp>
      <p:sp>
        <p:nvSpPr>
          <p:cNvPr id="50" name="Text 46"/>
          <p:cNvSpPr txBox="1"/>
          <p:nvPr/>
        </p:nvSpPr>
        <p:spPr>
          <a:xfrm>
            <a:off x="7525512" y="4407408"/>
            <a:ext cx="2011680" cy="274320"/>
          </a:xfrm>
          <a:prstGeom prst="rect">
            <a:avLst/>
          </a:prstGeom>
          <a:noFill/>
          <a:ln/>
        </p:spPr>
        <p:txBody>
          <a:bodyPr wrap="square" lIns="0" tIns="0" rIns="0" bIns="0" rtlCol="0" anchor="ctr"/>
          <a:lstStyle/>
          <a:p>
            <a:pPr indent="0" marL="0">
              <a:buNone/>
            </a:pPr>
            <a:r>
              <a:rPr lang="en-US" sz="1100" dirty="0">
                <a:solidFill>
                  <a:srgbClr val="1F2124"/>
                </a:solidFill>
                <a:latin typeface="Inter" pitchFamily="34" charset="0"/>
                <a:ea typeface="Inter" pitchFamily="34" charset="-122"/>
                <a:cs typeface="Inter" pitchFamily="34" charset="-120"/>
              </a:rPr>
              <a:t>Asia y resto</a:t>
            </a:r>
            <a:endParaRPr lang="en-US" sz="1100" dirty="0"/>
          </a:p>
        </p:txBody>
      </p:sp>
      <p:sp>
        <p:nvSpPr>
          <p:cNvPr id="51" name="Text 47"/>
          <p:cNvSpPr txBox="1"/>
          <p:nvPr/>
        </p:nvSpPr>
        <p:spPr>
          <a:xfrm>
            <a:off x="9555480" y="4407408"/>
            <a:ext cx="1097280" cy="274320"/>
          </a:xfrm>
          <a:prstGeom prst="rect">
            <a:avLst/>
          </a:prstGeom>
          <a:noFill/>
          <a:ln/>
        </p:spPr>
        <p:txBody>
          <a:bodyPr wrap="square" lIns="0" tIns="0" rIns="0" bIns="0" rtlCol="0" anchor="ctr"/>
          <a:lstStyle/>
          <a:p>
            <a:pPr algn="r" indent="0" marL="0">
              <a:buNone/>
            </a:pPr>
            <a:r>
              <a:rPr lang="en-US" sz="1100" dirty="0">
                <a:solidFill>
                  <a:srgbClr val="1F2124"/>
                </a:solidFill>
                <a:latin typeface="Inter" pitchFamily="34" charset="0"/>
                <a:ea typeface="Inter" pitchFamily="34" charset="-122"/>
                <a:cs typeface="Inter" pitchFamily="34" charset="-120"/>
              </a:rPr>
              <a:t>4.630</a:t>
            </a:r>
            <a:endParaRPr lang="en-US" sz="1100" dirty="0"/>
          </a:p>
        </p:txBody>
      </p:sp>
      <p:sp>
        <p:nvSpPr>
          <p:cNvPr id="52" name="Text 48"/>
          <p:cNvSpPr txBox="1"/>
          <p:nvPr/>
        </p:nvSpPr>
        <p:spPr>
          <a:xfrm>
            <a:off x="10744200" y="4407408"/>
            <a:ext cx="896112" cy="274320"/>
          </a:xfrm>
          <a:prstGeom prst="rect">
            <a:avLst/>
          </a:prstGeom>
          <a:noFill/>
          <a:ln/>
        </p:spPr>
        <p:txBody>
          <a:bodyPr wrap="square" lIns="0" tIns="0" rIns="0" bIns="0" rtlCol="0" anchor="ctr"/>
          <a:lstStyle/>
          <a:p>
            <a:pPr algn="r" indent="0" marL="0">
              <a:buNone/>
            </a:pPr>
            <a:r>
              <a:rPr lang="en-US" sz="1100" b="1" dirty="0">
                <a:solidFill>
                  <a:srgbClr val="1A1D21"/>
                </a:solidFill>
                <a:latin typeface="Inter" pitchFamily="34" charset="0"/>
                <a:ea typeface="Inter" pitchFamily="34" charset="-122"/>
                <a:cs typeface="Inter" pitchFamily="34" charset="-120"/>
              </a:rPr>
              <a:t>11,6%</a:t>
            </a:r>
            <a:endParaRPr lang="en-US" sz="1100" dirty="0"/>
          </a:p>
        </p:txBody>
      </p:sp>
      <p:sp>
        <p:nvSpPr>
          <p:cNvPr id="53" name="Text 49"/>
          <p:cNvSpPr txBox="1"/>
          <p:nvPr/>
        </p:nvSpPr>
        <p:spPr>
          <a:xfrm>
            <a:off x="7269480" y="4800600"/>
            <a:ext cx="4370832" cy="228600"/>
          </a:xfrm>
          <a:prstGeom prst="rect">
            <a:avLst/>
          </a:prstGeom>
          <a:noFill/>
          <a:ln/>
        </p:spPr>
        <p:txBody>
          <a:bodyPr wrap="square" lIns="0" tIns="0" rIns="0" bIns="0" rtlCol="0" anchor="t"/>
          <a:lstStyle/>
          <a:p>
            <a:pPr indent="0" marL="0">
              <a:buNone/>
            </a:pPr>
            <a:r>
              <a:rPr lang="en-US" sz="1050" b="1" spc="150" kern="0" dirty="0">
                <a:solidFill>
                  <a:srgbClr val="1F4B3F"/>
                </a:solidFill>
                <a:latin typeface="Inter" pitchFamily="34" charset="0"/>
                <a:ea typeface="Inter" pitchFamily="34" charset="-122"/>
                <a:cs typeface="Inter" pitchFamily="34" charset="-120"/>
              </a:rPr>
              <a:t>MODELO DE NEGOCIO</a:t>
            </a:r>
            <a:endParaRPr lang="en-US" sz="1050" dirty="0"/>
          </a:p>
        </p:txBody>
      </p:sp>
      <p:sp>
        <p:nvSpPr>
          <p:cNvPr id="54" name="Text 50"/>
          <p:cNvSpPr txBox="1"/>
          <p:nvPr/>
        </p:nvSpPr>
        <p:spPr>
          <a:xfrm>
            <a:off x="7269480" y="5074920"/>
            <a:ext cx="4370832" cy="365760"/>
          </a:xfrm>
          <a:prstGeom prst="rect">
            <a:avLst/>
          </a:prstGeom>
          <a:noFill/>
          <a:ln/>
        </p:spPr>
        <p:txBody>
          <a:bodyPr wrap="square" lIns="0" tIns="0" rIns="0" bIns="0" rtlCol="0" anchor="t"/>
          <a:lstStyle/>
          <a:p>
            <a:pPr indent="0" marL="0">
              <a:buNone/>
            </a:pPr>
            <a:r>
              <a:rPr lang="en-US" sz="1050" b="1" dirty="0">
                <a:solidFill>
                  <a:srgbClr val="1A1D21"/>
                </a:solidFill>
                <a:latin typeface="Inter" pitchFamily="34" charset="0"/>
                <a:ea typeface="Inter" pitchFamily="34" charset="-122"/>
                <a:cs typeface="Inter" pitchFamily="34" charset="-120"/>
              </a:rPr>
              <a:t>Proximidad: </a:t>
            </a:r>
            <a:pPr indent="0" marL="0">
              <a:buNone/>
            </a:pPr>
            <a:r>
              <a:rPr lang="en-US" sz="1050" dirty="0">
                <a:solidFill>
                  <a:srgbClr val="1F2124"/>
                </a:solidFill>
                <a:latin typeface="Inter" pitchFamily="34" charset="0"/>
                <a:ea typeface="Inter" pitchFamily="34" charset="-122"/>
                <a:cs typeface="Inter" pitchFamily="34" charset="-120"/>
              </a:rPr>
              <a:t>~50% de la producción cerca de España; del diseño a la tienda en 2–3 semanas.</a:t>
            </a:r>
            <a:endParaRPr lang="en-US" sz="1050" dirty="0"/>
          </a:p>
        </p:txBody>
      </p:sp>
      <p:sp>
        <p:nvSpPr>
          <p:cNvPr id="55" name="Text 51"/>
          <p:cNvSpPr txBox="1"/>
          <p:nvPr/>
        </p:nvSpPr>
        <p:spPr>
          <a:xfrm>
            <a:off x="7269480" y="5458968"/>
            <a:ext cx="4370832" cy="365760"/>
          </a:xfrm>
          <a:prstGeom prst="rect">
            <a:avLst/>
          </a:prstGeom>
          <a:noFill/>
          <a:ln/>
        </p:spPr>
        <p:txBody>
          <a:bodyPr wrap="square" lIns="0" tIns="0" rIns="0" bIns="0" rtlCol="0" anchor="t"/>
          <a:lstStyle/>
          <a:p>
            <a:pPr indent="0" marL="0">
              <a:buNone/>
            </a:pPr>
            <a:r>
              <a:rPr lang="en-US" sz="1050" b="1" dirty="0">
                <a:solidFill>
                  <a:srgbClr val="1A1D21"/>
                </a:solidFill>
                <a:latin typeface="Inter" pitchFamily="34" charset="0"/>
                <a:ea typeface="Inter" pitchFamily="34" charset="-122"/>
                <a:cs typeface="Inter" pitchFamily="34" charset="-120"/>
              </a:rPr>
              <a:t>Precio completo: </a:t>
            </a:r>
            <a:pPr indent="0" marL="0">
              <a:buNone/>
            </a:pPr>
            <a:r>
              <a:rPr lang="en-US" sz="1050" dirty="0">
                <a:solidFill>
                  <a:srgbClr val="1F2124"/>
                </a:solidFill>
                <a:latin typeface="Inter" pitchFamily="34" charset="0"/>
                <a:ea typeface="Inter" pitchFamily="34" charset="-122"/>
                <a:cs typeface="Inter" pitchFamily="34" charset="-120"/>
              </a:rPr>
              <a:t>más del 85% se vende sin rebaja; las rebajas no llegan al 15%.</a:t>
            </a:r>
            <a:endParaRPr lang="en-US" sz="1050" dirty="0"/>
          </a:p>
        </p:txBody>
      </p:sp>
      <p:sp>
        <p:nvSpPr>
          <p:cNvPr id="56" name="Text 52"/>
          <p:cNvSpPr txBox="1"/>
          <p:nvPr/>
        </p:nvSpPr>
        <p:spPr>
          <a:xfrm>
            <a:off x="7269480" y="5843016"/>
            <a:ext cx="4370832" cy="365760"/>
          </a:xfrm>
          <a:prstGeom prst="rect">
            <a:avLst/>
          </a:prstGeom>
          <a:noFill/>
          <a:ln/>
        </p:spPr>
        <p:txBody>
          <a:bodyPr wrap="square" lIns="0" tIns="0" rIns="0" bIns="0" rtlCol="0" anchor="t"/>
          <a:lstStyle/>
          <a:p>
            <a:pPr indent="0" marL="0">
              <a:buNone/>
            </a:pPr>
            <a:r>
              <a:rPr lang="en-US" sz="1050" b="1" dirty="0">
                <a:solidFill>
                  <a:srgbClr val="1A1D21"/>
                </a:solidFill>
                <a:latin typeface="Inter" pitchFamily="34" charset="0"/>
                <a:ea typeface="Inter" pitchFamily="34" charset="-122"/>
                <a:cs typeface="Inter" pitchFamily="34" charset="-120"/>
              </a:rPr>
              <a:t>Tienda + online: </a:t>
            </a:r>
            <a:pPr indent="0" marL="0">
              <a:buNone/>
            </a:pPr>
            <a:r>
              <a:rPr lang="en-US" sz="1050" dirty="0">
                <a:solidFill>
                  <a:srgbClr val="1F2124"/>
                </a:solidFill>
                <a:latin typeface="Inter" pitchFamily="34" charset="0"/>
                <a:ea typeface="Inter" pitchFamily="34" charset="-122"/>
                <a:cs typeface="Inter" pitchFamily="34" charset="-120"/>
              </a:rPr>
              <a:t>inventario único; el 35% de los pedidos online se recoge en tienda.</a:t>
            </a:r>
            <a:endParaRPr lang="en-US" sz="1050" dirty="0"/>
          </a:p>
        </p:txBody>
      </p:sp>
      <p:sp>
        <p:nvSpPr>
          <p:cNvPr id="57" name="Text 53"/>
          <p:cNvSpPr txBox="1"/>
          <p:nvPr/>
        </p:nvSpPr>
        <p:spPr>
          <a:xfrm>
            <a:off x="548640" y="6327648"/>
            <a:ext cx="7863840" cy="228600"/>
          </a:xfrm>
          <a:prstGeom prst="rect">
            <a:avLst/>
          </a:prstGeom>
          <a:noFill/>
          <a:ln/>
        </p:spPr>
        <p:txBody>
          <a:bodyPr wrap="square" lIns="0" tIns="0" rIns="0" bIns="0" rtlCol="0" anchor="t"/>
          <a:lstStyle/>
          <a:p>
            <a:pPr indent="0" marL="0">
              <a:buNone/>
            </a:pPr>
            <a:r>
              <a:rPr lang="en-US" sz="900" dirty="0">
                <a:solidFill>
                  <a:srgbClr val="6E7378"/>
                </a:solidFill>
                <a:latin typeface="Inter" pitchFamily="34" charset="0"/>
                <a:ea typeface="Inter" pitchFamily="34" charset="-122"/>
                <a:cs typeface="Inter" pitchFamily="34" charset="-120"/>
              </a:rPr>
              <a:t>Ejercicio fiscal 2025 de Inditex (febrero 2025 – enero 2026). € millones salvo indicación.</a:t>
            </a:r>
            <a:endParaRPr lang="en-US" sz="900" dirty="0"/>
          </a:p>
        </p:txBody>
      </p:sp>
      <p:sp>
        <p:nvSpPr>
          <p:cNvPr id="58" name="Text 54"/>
          <p:cNvSpPr txBox="1"/>
          <p:nvPr/>
        </p:nvSpPr>
        <p:spPr>
          <a:xfrm>
            <a:off x="8595360" y="6327648"/>
            <a:ext cx="3044952" cy="228600"/>
          </a:xfrm>
          <a:prstGeom prst="rect">
            <a:avLst/>
          </a:prstGeom>
          <a:noFill/>
          <a:ln/>
        </p:spPr>
        <p:txBody>
          <a:bodyPr wrap="square" lIns="0" tIns="0" rIns="0" bIns="0" rtlCol="0" anchor="t"/>
          <a:lstStyle/>
          <a:p>
            <a:pPr algn="r" indent="0" marL="0">
              <a:buNone/>
            </a:pPr>
            <a:r>
              <a:rPr lang="en-US" sz="900" dirty="0">
                <a:solidFill>
                  <a:srgbClr val="6E7378"/>
                </a:solidFill>
                <a:latin typeface="Inter" pitchFamily="34" charset="0"/>
                <a:ea typeface="Inter" pitchFamily="34" charset="-122"/>
                <a:cs typeface="Inter" pitchFamily="34" charset="-120"/>
              </a:rPr>
              <a:t>Project Galicia  ·  Estrictamente confidencial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79476"/>
            <a:ext cx="7772400" cy="228600"/>
          </a:xfrm>
          <a:prstGeom prst="rect">
            <a:avLst/>
          </a:prstGeom>
          <a:noFill/>
          <a:ln/>
        </p:spPr>
        <p:txBody>
          <a:bodyPr wrap="square" lIns="0" tIns="0" rIns="0" bIns="0" rtlCol="0" anchor="ctr"/>
          <a:lstStyle/>
          <a:p>
            <a:pPr indent="0" marL="0">
              <a:buNone/>
            </a:pPr>
            <a:r>
              <a:rPr lang="en-US" sz="1100" b="1" spc="200" kern="0" dirty="0">
                <a:solidFill>
                  <a:srgbClr val="1F4B3F"/>
                </a:solidFill>
                <a:latin typeface="Inter" pitchFamily="34" charset="0"/>
                <a:ea typeface="Inter" pitchFamily="34" charset="-122"/>
                <a:cs typeface="Inter" pitchFamily="34" charset="-120"/>
              </a:rPr>
              <a:t>RESUMEN EJECUTIVO</a:t>
            </a:r>
            <a:endParaRPr lang="en-US" sz="1100" dirty="0"/>
          </a:p>
        </p:txBody>
      </p:sp>
      <p:pic>
        <p:nvPicPr>
          <p:cNvPr id="3" name="Image 0" descr="/tmp/claude-0/-home-claude/8d7de6a3-f167-5c95-8bc2-67944307bfd8/scratchpad/canva/img/HLP_monograma.png">    </p:cNvPr>
          <p:cNvPicPr>
            <a:picLocks noChangeAspect="1"/>
          </p:cNvPicPr>
          <p:nvPr/>
        </p:nvPicPr>
        <p:blipFill>
          <a:blip r:embed="rId1"/>
          <a:stretch>
            <a:fillRect/>
          </a:stretch>
        </p:blipFill>
        <p:spPr>
          <a:xfrm>
            <a:off x="11130991" y="237744"/>
            <a:ext cx="512064" cy="512064"/>
          </a:xfrm>
          <a:prstGeom prst="rect">
            <a:avLst/>
          </a:prstGeom>
        </p:spPr>
      </p:pic>
      <p:sp>
        <p:nvSpPr>
          <p:cNvPr id="4" name="Text 1"/>
          <p:cNvSpPr txBox="1"/>
          <p:nvPr/>
        </p:nvSpPr>
        <p:spPr>
          <a:xfrm>
            <a:off x="548640" y="786384"/>
            <a:ext cx="11091672" cy="658368"/>
          </a:xfrm>
          <a:prstGeom prst="rect">
            <a:avLst/>
          </a:prstGeom>
          <a:noFill/>
          <a:ln/>
        </p:spPr>
        <p:txBody>
          <a:bodyPr wrap="square" lIns="0" tIns="0" rIns="0" bIns="0" rtlCol="0" anchor="t"/>
          <a:lstStyle/>
          <a:p>
            <a:pPr indent="0" marL="0">
              <a:lnSpc>
                <a:spcPct val="92000"/>
              </a:lnSpc>
              <a:buNone/>
            </a:pPr>
            <a:r>
              <a:rPr lang="en-US" sz="2200" dirty="0">
                <a:solidFill>
                  <a:srgbClr val="1A1D21"/>
                </a:solidFill>
                <a:latin typeface="Lora" pitchFamily="34" charset="0"/>
                <a:ea typeface="Lora" pitchFamily="34" charset="-122"/>
                <a:cs typeface="Lora" pitchFamily="34" charset="-120"/>
              </a:rPr>
              <a:t>Proponemos comprar el 100% de Inditex a €63,73 por acción, con 8,2x de deuda y Amancio Ortega como socio</a:t>
            </a:r>
            <a:endParaRPr lang="en-US" sz="2200" dirty="0"/>
          </a:p>
        </p:txBody>
      </p:sp>
      <p:sp>
        <p:nvSpPr>
          <p:cNvPr id="5" name="Shape 2"/>
          <p:cNvSpPr/>
          <p:nvPr/>
        </p:nvSpPr>
        <p:spPr>
          <a:xfrm>
            <a:off x="548640" y="1600200"/>
            <a:ext cx="1737360" cy="1481328"/>
          </a:xfrm>
          <a:prstGeom prst="rect">
            <a:avLst>
              <a:gd name="adj" fmla="val 3704"/>
            </a:avLst>
          </a:prstGeom>
          <a:solidFill>
            <a:srgbClr val="F3F3F2"/>
          </a:solidFill>
          <a:ln/>
        </p:spPr>
      </p:sp>
      <p:sp>
        <p:nvSpPr>
          <p:cNvPr id="6" name="Text 3"/>
          <p:cNvSpPr txBox="1"/>
          <p:nvPr/>
        </p:nvSpPr>
        <p:spPr>
          <a:xfrm>
            <a:off x="713232" y="1746504"/>
            <a:ext cx="1463040" cy="457200"/>
          </a:xfrm>
          <a:prstGeom prst="rect">
            <a:avLst/>
          </a:prstGeom>
          <a:noFill/>
          <a:ln/>
        </p:spPr>
        <p:txBody>
          <a:bodyPr wrap="square" lIns="0" tIns="0" rIns="0" bIns="0" rtlCol="0" anchor="t"/>
          <a:lstStyle/>
          <a:p>
            <a:pPr indent="0" marL="0">
              <a:buNone/>
            </a:pPr>
            <a:r>
              <a:rPr lang="en-US" sz="2000" b="1" dirty="0">
                <a:solidFill>
                  <a:srgbClr val="1A1D21"/>
                </a:solidFill>
                <a:latin typeface="Lora" pitchFamily="34" charset="0"/>
                <a:ea typeface="Lora" pitchFamily="34" charset="-122"/>
                <a:cs typeface="Lora" pitchFamily="34" charset="-120"/>
              </a:rPr>
              <a:t>€63,73</a:t>
            </a:r>
            <a:endParaRPr lang="en-US" sz="2000" dirty="0"/>
          </a:p>
        </p:txBody>
      </p:sp>
      <p:sp>
        <p:nvSpPr>
          <p:cNvPr id="7" name="Text 4"/>
          <p:cNvSpPr txBox="1"/>
          <p:nvPr/>
        </p:nvSpPr>
        <p:spPr>
          <a:xfrm>
            <a:off x="713232" y="2221992"/>
            <a:ext cx="1463040" cy="411480"/>
          </a:xfrm>
          <a:prstGeom prst="rect">
            <a:avLst/>
          </a:prstGeom>
          <a:noFill/>
          <a:ln/>
        </p:spPr>
        <p:txBody>
          <a:bodyPr wrap="square" lIns="0" tIns="0" rIns="0" bIns="0" rtlCol="0" anchor="t"/>
          <a:lstStyle/>
          <a:p>
            <a:pPr indent="0" marL="0">
              <a:buNone/>
            </a:pPr>
            <a:r>
              <a:rPr lang="en-US" sz="1200" b="1" dirty="0">
                <a:solidFill>
                  <a:srgbClr val="1F2124"/>
                </a:solidFill>
                <a:latin typeface="Inter" pitchFamily="34" charset="0"/>
                <a:ea typeface="Inter" pitchFamily="34" charset="-122"/>
                <a:cs typeface="Inter" pitchFamily="34" charset="-120"/>
              </a:rPr>
              <a:t>Precio de la OPA</a:t>
            </a:r>
            <a:endParaRPr lang="en-US" sz="1200" dirty="0"/>
          </a:p>
        </p:txBody>
      </p:sp>
      <p:sp>
        <p:nvSpPr>
          <p:cNvPr id="8" name="Text 5"/>
          <p:cNvSpPr txBox="1"/>
          <p:nvPr/>
        </p:nvSpPr>
        <p:spPr>
          <a:xfrm>
            <a:off x="713232" y="2633472"/>
            <a:ext cx="1463040" cy="365760"/>
          </a:xfrm>
          <a:prstGeom prst="rect">
            <a:avLst/>
          </a:prstGeom>
          <a:noFill/>
          <a:ln/>
        </p:spPr>
        <p:txBody>
          <a:bodyPr wrap="square" lIns="0" tIns="0" rIns="0" bIns="0" rtlCol="0" anchor="t"/>
          <a:lstStyle/>
          <a:p>
            <a:pPr indent="0" marL="0">
              <a:buNone/>
            </a:pPr>
            <a:r>
              <a:rPr lang="en-US" sz="1050" dirty="0">
                <a:solidFill>
                  <a:srgbClr val="6E7378"/>
                </a:solidFill>
                <a:latin typeface="Inter" pitchFamily="34" charset="0"/>
                <a:ea typeface="Inter" pitchFamily="34" charset="-122"/>
                <a:cs typeface="Inter" pitchFamily="34" charset="-120"/>
              </a:rPr>
              <a:t>+15% sobre €55,42</a:t>
            </a:r>
            <a:endParaRPr lang="en-US" sz="1050" dirty="0"/>
          </a:p>
        </p:txBody>
      </p:sp>
      <p:sp>
        <p:nvSpPr>
          <p:cNvPr id="9" name="Shape 6"/>
          <p:cNvSpPr/>
          <p:nvPr/>
        </p:nvSpPr>
        <p:spPr>
          <a:xfrm>
            <a:off x="2419502" y="1600200"/>
            <a:ext cx="1737360" cy="1481328"/>
          </a:xfrm>
          <a:prstGeom prst="rect">
            <a:avLst>
              <a:gd name="adj" fmla="val 3704"/>
            </a:avLst>
          </a:prstGeom>
          <a:solidFill>
            <a:srgbClr val="F3F3F2"/>
          </a:solidFill>
          <a:ln/>
        </p:spPr>
      </p:sp>
      <p:sp>
        <p:nvSpPr>
          <p:cNvPr id="10" name="Text 7"/>
          <p:cNvSpPr txBox="1"/>
          <p:nvPr/>
        </p:nvSpPr>
        <p:spPr>
          <a:xfrm>
            <a:off x="2584094" y="1746504"/>
            <a:ext cx="1463040" cy="457200"/>
          </a:xfrm>
          <a:prstGeom prst="rect">
            <a:avLst/>
          </a:prstGeom>
          <a:noFill/>
          <a:ln/>
        </p:spPr>
        <p:txBody>
          <a:bodyPr wrap="square" lIns="0" tIns="0" rIns="0" bIns="0" rtlCol="0" anchor="t"/>
          <a:lstStyle/>
          <a:p>
            <a:pPr indent="0" marL="0">
              <a:buNone/>
            </a:pPr>
            <a:r>
              <a:rPr lang="en-US" sz="2000" b="1" dirty="0">
                <a:solidFill>
                  <a:srgbClr val="1A1D21"/>
                </a:solidFill>
                <a:latin typeface="Lora" pitchFamily="34" charset="0"/>
                <a:ea typeface="Lora" pitchFamily="34" charset="-122"/>
                <a:cs typeface="Lora" pitchFamily="34" charset="-120"/>
              </a:rPr>
              <a:t>€198.634m</a:t>
            </a:r>
            <a:endParaRPr lang="en-US" sz="2000" dirty="0"/>
          </a:p>
        </p:txBody>
      </p:sp>
      <p:sp>
        <p:nvSpPr>
          <p:cNvPr id="11" name="Text 8"/>
          <p:cNvSpPr txBox="1"/>
          <p:nvPr/>
        </p:nvSpPr>
        <p:spPr>
          <a:xfrm>
            <a:off x="2584094" y="2221992"/>
            <a:ext cx="1463040" cy="411480"/>
          </a:xfrm>
          <a:prstGeom prst="rect">
            <a:avLst/>
          </a:prstGeom>
          <a:noFill/>
          <a:ln/>
        </p:spPr>
        <p:txBody>
          <a:bodyPr wrap="square" lIns="0" tIns="0" rIns="0" bIns="0" rtlCol="0" anchor="t"/>
          <a:lstStyle/>
          <a:p>
            <a:pPr indent="0" marL="0">
              <a:buNone/>
            </a:pPr>
            <a:r>
              <a:rPr lang="en-US" sz="1200" b="1" dirty="0">
                <a:solidFill>
                  <a:srgbClr val="1F2124"/>
                </a:solidFill>
                <a:latin typeface="Inter" pitchFamily="34" charset="0"/>
                <a:ea typeface="Inter" pitchFamily="34" charset="-122"/>
                <a:cs typeface="Inter" pitchFamily="34" charset="-120"/>
              </a:rPr>
              <a:t>Valor del equity</a:t>
            </a:r>
            <a:endParaRPr lang="en-US" sz="1200" dirty="0"/>
          </a:p>
        </p:txBody>
      </p:sp>
      <p:sp>
        <p:nvSpPr>
          <p:cNvPr id="12" name="Text 9"/>
          <p:cNvSpPr txBox="1"/>
          <p:nvPr/>
        </p:nvSpPr>
        <p:spPr>
          <a:xfrm>
            <a:off x="2584094" y="2633472"/>
            <a:ext cx="1463040" cy="365760"/>
          </a:xfrm>
          <a:prstGeom prst="rect">
            <a:avLst/>
          </a:prstGeom>
          <a:noFill/>
          <a:ln/>
        </p:spPr>
        <p:txBody>
          <a:bodyPr wrap="square" lIns="0" tIns="0" rIns="0" bIns="0" rtlCol="0" anchor="t"/>
          <a:lstStyle/>
          <a:p>
            <a:pPr indent="0" marL="0">
              <a:buNone/>
            </a:pPr>
            <a:r>
              <a:rPr lang="en-US" sz="1050" dirty="0">
                <a:solidFill>
                  <a:srgbClr val="6E7378"/>
                </a:solidFill>
                <a:latin typeface="Inter" pitchFamily="34" charset="0"/>
                <a:ea typeface="Inter" pitchFamily="34" charset="-122"/>
                <a:cs typeface="Inter" pitchFamily="34" charset="-120"/>
              </a:rPr>
              <a:t>3.116,7m acciones</a:t>
            </a:r>
            <a:endParaRPr lang="en-US" sz="1050" dirty="0"/>
          </a:p>
        </p:txBody>
      </p:sp>
      <p:sp>
        <p:nvSpPr>
          <p:cNvPr id="13" name="Shape 10"/>
          <p:cNvSpPr/>
          <p:nvPr/>
        </p:nvSpPr>
        <p:spPr>
          <a:xfrm>
            <a:off x="4290365" y="1600200"/>
            <a:ext cx="1737360" cy="1481328"/>
          </a:xfrm>
          <a:prstGeom prst="rect">
            <a:avLst>
              <a:gd name="adj" fmla="val 3704"/>
            </a:avLst>
          </a:prstGeom>
          <a:solidFill>
            <a:srgbClr val="F3F3F2"/>
          </a:solidFill>
          <a:ln/>
        </p:spPr>
      </p:sp>
      <p:sp>
        <p:nvSpPr>
          <p:cNvPr id="14" name="Text 11"/>
          <p:cNvSpPr txBox="1"/>
          <p:nvPr/>
        </p:nvSpPr>
        <p:spPr>
          <a:xfrm>
            <a:off x="4454957" y="1746504"/>
            <a:ext cx="1463040" cy="457200"/>
          </a:xfrm>
          <a:prstGeom prst="rect">
            <a:avLst/>
          </a:prstGeom>
          <a:noFill/>
          <a:ln/>
        </p:spPr>
        <p:txBody>
          <a:bodyPr wrap="square" lIns="0" tIns="0" rIns="0" bIns="0" rtlCol="0" anchor="t"/>
          <a:lstStyle/>
          <a:p>
            <a:pPr indent="0" marL="0">
              <a:buNone/>
            </a:pPr>
            <a:r>
              <a:rPr lang="en-US" sz="2000" b="1" dirty="0">
                <a:solidFill>
                  <a:srgbClr val="1A1D21"/>
                </a:solidFill>
                <a:latin typeface="Lora" pitchFamily="34" charset="0"/>
                <a:ea typeface="Lora" pitchFamily="34" charset="-122"/>
                <a:cs typeface="Lora" pitchFamily="34" charset="-120"/>
              </a:rPr>
              <a:t>19,9x</a:t>
            </a:r>
            <a:endParaRPr lang="en-US" sz="2000" dirty="0"/>
          </a:p>
        </p:txBody>
      </p:sp>
      <p:sp>
        <p:nvSpPr>
          <p:cNvPr id="15" name="Text 12"/>
          <p:cNvSpPr txBox="1"/>
          <p:nvPr/>
        </p:nvSpPr>
        <p:spPr>
          <a:xfrm>
            <a:off x="4454957" y="2221992"/>
            <a:ext cx="1463040" cy="411480"/>
          </a:xfrm>
          <a:prstGeom prst="rect">
            <a:avLst/>
          </a:prstGeom>
          <a:noFill/>
          <a:ln/>
        </p:spPr>
        <p:txBody>
          <a:bodyPr wrap="square" lIns="0" tIns="0" rIns="0" bIns="0" rtlCol="0" anchor="t"/>
          <a:lstStyle/>
          <a:p>
            <a:pPr indent="0" marL="0">
              <a:buNone/>
            </a:pPr>
            <a:r>
              <a:rPr lang="en-US" sz="1200" b="1" dirty="0">
                <a:solidFill>
                  <a:srgbClr val="1F2124"/>
                </a:solidFill>
                <a:latin typeface="Inter" pitchFamily="34" charset="0"/>
                <a:ea typeface="Inter" pitchFamily="34" charset="-122"/>
                <a:cs typeface="Inter" pitchFamily="34" charset="-120"/>
              </a:rPr>
              <a:t>EV / EBITDA de entrada</a:t>
            </a:r>
            <a:endParaRPr lang="en-US" sz="1200" dirty="0"/>
          </a:p>
        </p:txBody>
      </p:sp>
      <p:sp>
        <p:nvSpPr>
          <p:cNvPr id="16" name="Text 13"/>
          <p:cNvSpPr txBox="1"/>
          <p:nvPr/>
        </p:nvSpPr>
        <p:spPr>
          <a:xfrm>
            <a:off x="4454957" y="2633472"/>
            <a:ext cx="1463040" cy="365760"/>
          </a:xfrm>
          <a:prstGeom prst="rect">
            <a:avLst/>
          </a:prstGeom>
          <a:noFill/>
          <a:ln/>
        </p:spPr>
        <p:txBody>
          <a:bodyPr wrap="square" lIns="0" tIns="0" rIns="0" bIns="0" rtlCol="0" anchor="t"/>
          <a:lstStyle/>
          <a:p>
            <a:pPr indent="0" marL="0">
              <a:buNone/>
            </a:pPr>
            <a:r>
              <a:rPr lang="en-US" sz="1050" dirty="0">
                <a:solidFill>
                  <a:srgbClr val="6E7378"/>
                </a:solidFill>
                <a:latin typeface="Inter" pitchFamily="34" charset="0"/>
                <a:ea typeface="Inter" pitchFamily="34" charset="-122"/>
                <a:cs typeface="Inter" pitchFamily="34" charset="-120"/>
              </a:rPr>
              <a:t>EV €187.676m</a:t>
            </a:r>
            <a:endParaRPr lang="en-US" sz="1050" dirty="0"/>
          </a:p>
        </p:txBody>
      </p:sp>
      <p:sp>
        <p:nvSpPr>
          <p:cNvPr id="17" name="Shape 14"/>
          <p:cNvSpPr/>
          <p:nvPr/>
        </p:nvSpPr>
        <p:spPr>
          <a:xfrm>
            <a:off x="6161227" y="1600200"/>
            <a:ext cx="1737360" cy="1481328"/>
          </a:xfrm>
          <a:prstGeom prst="rect">
            <a:avLst>
              <a:gd name="adj" fmla="val 3704"/>
            </a:avLst>
          </a:prstGeom>
          <a:solidFill>
            <a:srgbClr val="F3F3F2"/>
          </a:solidFill>
          <a:ln/>
        </p:spPr>
      </p:sp>
      <p:sp>
        <p:nvSpPr>
          <p:cNvPr id="18" name="Text 15"/>
          <p:cNvSpPr txBox="1"/>
          <p:nvPr/>
        </p:nvSpPr>
        <p:spPr>
          <a:xfrm>
            <a:off x="6325819" y="1746504"/>
            <a:ext cx="1463040" cy="457200"/>
          </a:xfrm>
          <a:prstGeom prst="rect">
            <a:avLst/>
          </a:prstGeom>
          <a:noFill/>
          <a:ln/>
        </p:spPr>
        <p:txBody>
          <a:bodyPr wrap="square" lIns="0" tIns="0" rIns="0" bIns="0" rtlCol="0" anchor="t"/>
          <a:lstStyle/>
          <a:p>
            <a:pPr indent="0" marL="0">
              <a:buNone/>
            </a:pPr>
            <a:r>
              <a:rPr lang="en-US" sz="2000" b="1" dirty="0">
                <a:solidFill>
                  <a:srgbClr val="1A1D21"/>
                </a:solidFill>
                <a:latin typeface="Lora" pitchFamily="34" charset="0"/>
                <a:ea typeface="Lora" pitchFamily="34" charset="-122"/>
                <a:cs typeface="Lora" pitchFamily="34" charset="-120"/>
              </a:rPr>
              <a:t>€76.956m</a:t>
            </a:r>
            <a:endParaRPr lang="en-US" sz="2000" dirty="0"/>
          </a:p>
        </p:txBody>
      </p:sp>
      <p:sp>
        <p:nvSpPr>
          <p:cNvPr id="19" name="Text 16"/>
          <p:cNvSpPr txBox="1"/>
          <p:nvPr/>
        </p:nvSpPr>
        <p:spPr>
          <a:xfrm>
            <a:off x="6325819" y="2221992"/>
            <a:ext cx="1463040" cy="411480"/>
          </a:xfrm>
          <a:prstGeom prst="rect">
            <a:avLst/>
          </a:prstGeom>
          <a:noFill/>
          <a:ln/>
        </p:spPr>
        <p:txBody>
          <a:bodyPr wrap="square" lIns="0" tIns="0" rIns="0" bIns="0" rtlCol="0" anchor="t"/>
          <a:lstStyle/>
          <a:p>
            <a:pPr indent="0" marL="0">
              <a:buNone/>
            </a:pPr>
            <a:r>
              <a:rPr lang="en-US" sz="1200" b="1" dirty="0">
                <a:solidFill>
                  <a:srgbClr val="1F2124"/>
                </a:solidFill>
                <a:latin typeface="Inter" pitchFamily="34" charset="0"/>
                <a:ea typeface="Inter" pitchFamily="34" charset="-122"/>
                <a:cs typeface="Inter" pitchFamily="34" charset="-120"/>
              </a:rPr>
              <a:t>Deuda total</a:t>
            </a:r>
            <a:endParaRPr lang="en-US" sz="1200" dirty="0"/>
          </a:p>
        </p:txBody>
      </p:sp>
      <p:sp>
        <p:nvSpPr>
          <p:cNvPr id="20" name="Text 17"/>
          <p:cNvSpPr txBox="1"/>
          <p:nvPr/>
        </p:nvSpPr>
        <p:spPr>
          <a:xfrm>
            <a:off x="6325819" y="2633472"/>
            <a:ext cx="1463040" cy="365760"/>
          </a:xfrm>
          <a:prstGeom prst="rect">
            <a:avLst/>
          </a:prstGeom>
          <a:noFill/>
          <a:ln/>
        </p:spPr>
        <p:txBody>
          <a:bodyPr wrap="square" lIns="0" tIns="0" rIns="0" bIns="0" rtlCol="0" anchor="t"/>
          <a:lstStyle/>
          <a:p>
            <a:pPr indent="0" marL="0">
              <a:buNone/>
            </a:pPr>
            <a:r>
              <a:rPr lang="en-US" sz="1050" dirty="0">
                <a:solidFill>
                  <a:srgbClr val="6E7378"/>
                </a:solidFill>
                <a:latin typeface="Inter" pitchFamily="34" charset="0"/>
                <a:ea typeface="Inter" pitchFamily="34" charset="-122"/>
                <a:cs typeface="Inter" pitchFamily="34" charset="-120"/>
              </a:rPr>
              <a:t>8,2x EBITDA pre-IFRS 16</a:t>
            </a:r>
            <a:endParaRPr lang="en-US" sz="1050" dirty="0"/>
          </a:p>
        </p:txBody>
      </p:sp>
      <p:sp>
        <p:nvSpPr>
          <p:cNvPr id="21" name="Shape 18"/>
          <p:cNvSpPr/>
          <p:nvPr/>
        </p:nvSpPr>
        <p:spPr>
          <a:xfrm>
            <a:off x="8032090" y="1600200"/>
            <a:ext cx="1737360" cy="1481328"/>
          </a:xfrm>
          <a:prstGeom prst="rect">
            <a:avLst>
              <a:gd name="adj" fmla="val 3704"/>
            </a:avLst>
          </a:prstGeom>
          <a:solidFill>
            <a:srgbClr val="F3F3F2"/>
          </a:solidFill>
          <a:ln/>
        </p:spPr>
      </p:sp>
      <p:sp>
        <p:nvSpPr>
          <p:cNvPr id="22" name="Text 19"/>
          <p:cNvSpPr txBox="1"/>
          <p:nvPr/>
        </p:nvSpPr>
        <p:spPr>
          <a:xfrm>
            <a:off x="8196682" y="1746504"/>
            <a:ext cx="1463040" cy="457200"/>
          </a:xfrm>
          <a:prstGeom prst="rect">
            <a:avLst/>
          </a:prstGeom>
          <a:noFill/>
          <a:ln/>
        </p:spPr>
        <p:txBody>
          <a:bodyPr wrap="square" lIns="0" tIns="0" rIns="0" bIns="0" rtlCol="0" anchor="t"/>
          <a:lstStyle/>
          <a:p>
            <a:pPr indent="0" marL="0">
              <a:buNone/>
            </a:pPr>
            <a:r>
              <a:rPr lang="en-US" sz="2000" b="1" dirty="0">
                <a:solidFill>
                  <a:srgbClr val="1A1D21"/>
                </a:solidFill>
                <a:latin typeface="Lora" pitchFamily="34" charset="0"/>
                <a:ea typeface="Lora" pitchFamily="34" charset="-122"/>
                <a:cs typeface="Lora" pitchFamily="34" charset="-120"/>
              </a:rPr>
              <a:t>€114.351m</a:t>
            </a:r>
            <a:endParaRPr lang="en-US" sz="2000" dirty="0"/>
          </a:p>
        </p:txBody>
      </p:sp>
      <p:sp>
        <p:nvSpPr>
          <p:cNvPr id="23" name="Text 20"/>
          <p:cNvSpPr txBox="1"/>
          <p:nvPr/>
        </p:nvSpPr>
        <p:spPr>
          <a:xfrm>
            <a:off x="8196682" y="2221992"/>
            <a:ext cx="1463040" cy="411480"/>
          </a:xfrm>
          <a:prstGeom prst="rect">
            <a:avLst/>
          </a:prstGeom>
          <a:noFill/>
          <a:ln/>
        </p:spPr>
        <p:txBody>
          <a:bodyPr wrap="square" lIns="0" tIns="0" rIns="0" bIns="0" rtlCol="0" anchor="t"/>
          <a:lstStyle/>
          <a:p>
            <a:pPr indent="0" marL="0">
              <a:buNone/>
            </a:pPr>
            <a:r>
              <a:rPr lang="en-US" sz="1200" b="1" dirty="0">
                <a:solidFill>
                  <a:srgbClr val="1F2124"/>
                </a:solidFill>
                <a:latin typeface="Inter" pitchFamily="34" charset="0"/>
                <a:ea typeface="Inter" pitchFamily="34" charset="-122"/>
                <a:cs typeface="Inter" pitchFamily="34" charset="-120"/>
              </a:rPr>
              <a:t>Equity en la TopCo</a:t>
            </a:r>
            <a:endParaRPr lang="en-US" sz="1200" dirty="0"/>
          </a:p>
        </p:txBody>
      </p:sp>
      <p:sp>
        <p:nvSpPr>
          <p:cNvPr id="24" name="Text 21"/>
          <p:cNvSpPr txBox="1"/>
          <p:nvPr/>
        </p:nvSpPr>
        <p:spPr>
          <a:xfrm>
            <a:off x="8196682" y="2633472"/>
            <a:ext cx="1463040" cy="365760"/>
          </a:xfrm>
          <a:prstGeom prst="rect">
            <a:avLst/>
          </a:prstGeom>
          <a:noFill/>
          <a:ln/>
        </p:spPr>
        <p:txBody>
          <a:bodyPr wrap="square" lIns="0" tIns="0" rIns="0" bIns="0" rtlCol="0" anchor="t"/>
          <a:lstStyle/>
          <a:p>
            <a:pPr indent="0" marL="0">
              <a:buNone/>
            </a:pPr>
            <a:r>
              <a:rPr lang="en-US" sz="1050" dirty="0">
                <a:solidFill>
                  <a:srgbClr val="6E7378"/>
                </a:solidFill>
                <a:latin typeface="Inter" pitchFamily="34" charset="0"/>
                <a:ea typeface="Inter" pitchFamily="34" charset="-122"/>
                <a:cs typeface="Inter" pitchFamily="34" charset="-120"/>
              </a:rPr>
              <a:t>43,4% Amancio Ortega</a:t>
            </a:r>
            <a:endParaRPr lang="en-US" sz="1050" dirty="0"/>
          </a:p>
        </p:txBody>
      </p:sp>
      <p:sp>
        <p:nvSpPr>
          <p:cNvPr id="25" name="Shape 22"/>
          <p:cNvSpPr/>
          <p:nvPr/>
        </p:nvSpPr>
        <p:spPr>
          <a:xfrm>
            <a:off x="9902952" y="1600200"/>
            <a:ext cx="1737360" cy="1481328"/>
          </a:xfrm>
          <a:prstGeom prst="rect">
            <a:avLst>
              <a:gd name="adj" fmla="val 3704"/>
            </a:avLst>
          </a:prstGeom>
          <a:solidFill>
            <a:srgbClr val="1A1D21"/>
          </a:solidFill>
          <a:ln/>
        </p:spPr>
      </p:sp>
      <p:sp>
        <p:nvSpPr>
          <p:cNvPr id="26" name="Text 23"/>
          <p:cNvSpPr txBox="1"/>
          <p:nvPr/>
        </p:nvSpPr>
        <p:spPr>
          <a:xfrm>
            <a:off x="10067544" y="1746504"/>
            <a:ext cx="1463040" cy="457200"/>
          </a:xfrm>
          <a:prstGeom prst="rect">
            <a:avLst/>
          </a:prstGeom>
          <a:noFill/>
          <a:ln/>
        </p:spPr>
        <p:txBody>
          <a:bodyPr wrap="square" lIns="0" tIns="0" rIns="0" bIns="0" rtlCol="0" anchor="t"/>
          <a:lstStyle/>
          <a:p>
            <a:pPr indent="0" marL="0">
              <a:buNone/>
            </a:pPr>
            <a:r>
              <a:rPr lang="en-US" sz="2000" b="1" dirty="0">
                <a:solidFill>
                  <a:srgbClr val="FFFFFF"/>
                </a:solidFill>
                <a:latin typeface="Lora" pitchFamily="34" charset="0"/>
                <a:ea typeface="Lora" pitchFamily="34" charset="-122"/>
                <a:cs typeface="Lora" pitchFamily="34" charset="-120"/>
              </a:rPr>
              <a:t>18,2%</a:t>
            </a:r>
            <a:endParaRPr lang="en-US" sz="2000" dirty="0"/>
          </a:p>
        </p:txBody>
      </p:sp>
      <p:sp>
        <p:nvSpPr>
          <p:cNvPr id="27" name="Text 24"/>
          <p:cNvSpPr txBox="1"/>
          <p:nvPr/>
        </p:nvSpPr>
        <p:spPr>
          <a:xfrm>
            <a:off x="10067544" y="2221992"/>
            <a:ext cx="1463040" cy="411480"/>
          </a:xfrm>
          <a:prstGeom prst="rect">
            <a:avLst/>
          </a:prstGeom>
          <a:noFill/>
          <a:ln/>
        </p:spPr>
        <p:txBody>
          <a:bodyPr wrap="square" lIns="0" tIns="0" rIns="0" bIns="0" rtlCol="0" anchor="t"/>
          <a:lstStyle/>
          <a:p>
            <a:pPr indent="0" marL="0">
              <a:buNone/>
            </a:pPr>
            <a:r>
              <a:rPr lang="en-US" sz="1200" b="1" dirty="0">
                <a:solidFill>
                  <a:srgbClr val="EDEDED"/>
                </a:solidFill>
                <a:latin typeface="Inter" pitchFamily="34" charset="0"/>
                <a:ea typeface="Inter" pitchFamily="34" charset="-122"/>
                <a:cs typeface="Inter" pitchFamily="34" charset="-120"/>
              </a:rPr>
              <a:t>TIR de nuestro cliente (GP)</a:t>
            </a:r>
            <a:endParaRPr lang="en-US" sz="1200" dirty="0"/>
          </a:p>
        </p:txBody>
      </p:sp>
      <p:sp>
        <p:nvSpPr>
          <p:cNvPr id="28" name="Text 25"/>
          <p:cNvSpPr txBox="1"/>
          <p:nvPr/>
        </p:nvSpPr>
        <p:spPr>
          <a:xfrm>
            <a:off x="10067544" y="2633472"/>
            <a:ext cx="1463040" cy="365760"/>
          </a:xfrm>
          <a:prstGeom prst="rect">
            <a:avLst/>
          </a:prstGeom>
          <a:noFill/>
          <a:ln/>
        </p:spPr>
        <p:txBody>
          <a:bodyPr wrap="square" lIns="0" tIns="0" rIns="0" bIns="0" rtlCol="0" anchor="t"/>
          <a:lstStyle/>
          <a:p>
            <a:pPr indent="0" marL="0">
              <a:buNone/>
            </a:pPr>
            <a:r>
              <a:rPr lang="en-US" sz="1050" dirty="0">
                <a:solidFill>
                  <a:srgbClr val="BFC4CA"/>
                </a:solidFill>
                <a:latin typeface="Inter" pitchFamily="34" charset="0"/>
                <a:ea typeface="Inter" pitchFamily="34" charset="-122"/>
                <a:cs typeface="Inter" pitchFamily="34" charset="-120"/>
              </a:rPr>
              <a:t>3,23x con carry</a:t>
            </a:r>
            <a:endParaRPr lang="en-US" sz="1050" dirty="0"/>
          </a:p>
        </p:txBody>
      </p:sp>
      <p:sp>
        <p:nvSpPr>
          <p:cNvPr id="29" name="Shape 26"/>
          <p:cNvSpPr/>
          <p:nvPr/>
        </p:nvSpPr>
        <p:spPr>
          <a:xfrm>
            <a:off x="548640" y="3383280"/>
            <a:ext cx="2651760" cy="2697480"/>
          </a:xfrm>
          <a:prstGeom prst="rect">
            <a:avLst>
              <a:gd name="adj" fmla="val 2069"/>
            </a:avLst>
          </a:prstGeom>
          <a:solidFill>
            <a:srgbClr val="FFFFFF"/>
          </a:solidFill>
          <a:ln w="12700">
            <a:solidFill>
              <a:srgbClr val="D9D9D6"/>
            </a:solidFill>
            <a:prstDash val="solid"/>
          </a:ln>
        </p:spPr>
      </p:sp>
      <p:sp>
        <p:nvSpPr>
          <p:cNvPr id="30" name="Text 27"/>
          <p:cNvSpPr txBox="1"/>
          <p:nvPr/>
        </p:nvSpPr>
        <p:spPr>
          <a:xfrm>
            <a:off x="777240" y="3547872"/>
            <a:ext cx="914400" cy="411480"/>
          </a:xfrm>
          <a:prstGeom prst="rect">
            <a:avLst/>
          </a:prstGeom>
          <a:noFill/>
          <a:ln/>
        </p:spPr>
        <p:txBody>
          <a:bodyPr wrap="square" lIns="0" tIns="0" rIns="0" bIns="0" rtlCol="0" anchor="t"/>
          <a:lstStyle/>
          <a:p>
            <a:pPr indent="0" marL="0">
              <a:buNone/>
            </a:pPr>
            <a:r>
              <a:rPr lang="en-US" sz="2400" dirty="0">
                <a:solidFill>
                  <a:srgbClr val="1F4B3F"/>
                </a:solidFill>
                <a:latin typeface="Lora" pitchFamily="34" charset="0"/>
                <a:ea typeface="Lora" pitchFamily="34" charset="-122"/>
                <a:cs typeface="Lora" pitchFamily="34" charset="-120"/>
              </a:rPr>
              <a:t>01</a:t>
            </a:r>
            <a:endParaRPr lang="en-US" sz="2400" dirty="0"/>
          </a:p>
        </p:txBody>
      </p:sp>
      <p:sp>
        <p:nvSpPr>
          <p:cNvPr id="31" name="Text 28"/>
          <p:cNvSpPr txBox="1"/>
          <p:nvPr/>
        </p:nvSpPr>
        <p:spPr>
          <a:xfrm>
            <a:off x="777240" y="4023360"/>
            <a:ext cx="2240280" cy="320040"/>
          </a:xfrm>
          <a:prstGeom prst="rect">
            <a:avLst/>
          </a:prstGeom>
          <a:noFill/>
          <a:ln/>
        </p:spPr>
        <p:txBody>
          <a:bodyPr wrap="square" lIns="0" tIns="0" rIns="0" bIns="0" rtlCol="0" anchor="t"/>
          <a:lstStyle/>
          <a:p>
            <a:pPr indent="0" marL="0">
              <a:buNone/>
            </a:pPr>
            <a:r>
              <a:rPr lang="en-US" sz="1500" b="1" dirty="0">
                <a:solidFill>
                  <a:srgbClr val="1A1D21"/>
                </a:solidFill>
                <a:latin typeface="Inter" pitchFamily="34" charset="0"/>
                <a:ea typeface="Inter" pitchFamily="34" charset="-122"/>
                <a:cs typeface="Inter" pitchFamily="34" charset="-120"/>
              </a:rPr>
              <a:t>Business plan</a:t>
            </a:r>
            <a:endParaRPr lang="en-US" sz="1500" dirty="0"/>
          </a:p>
        </p:txBody>
      </p:sp>
      <p:sp>
        <p:nvSpPr>
          <p:cNvPr id="32" name="Text 29"/>
          <p:cNvSpPr txBox="1"/>
          <p:nvPr/>
        </p:nvSpPr>
        <p:spPr>
          <a:xfrm>
            <a:off x="777240" y="4434840"/>
            <a:ext cx="2240280" cy="1554480"/>
          </a:xfrm>
          <a:prstGeom prst="rect">
            <a:avLst/>
          </a:prstGeom>
          <a:noFill/>
          <a:ln/>
        </p:spPr>
        <p:txBody>
          <a:bodyPr wrap="square" lIns="0" tIns="0" rIns="0" bIns="0" rtlCol="0" anchor="t"/>
          <a:lstStyle/>
          <a:p>
            <a:pPr indent="0" marL="0">
              <a:lnSpc>
                <a:spcPct val="105000"/>
              </a:lnSpc>
              <a:buNone/>
            </a:pPr>
            <a:r>
              <a:rPr lang="en-US" sz="1250" dirty="0">
                <a:solidFill>
                  <a:srgbClr val="1F2124"/>
                </a:solidFill>
                <a:latin typeface="Inter" pitchFamily="34" charset="0"/>
                <a:ea typeface="Inter" pitchFamily="34" charset="-122"/>
                <a:cs typeface="Inter" pitchFamily="34" charset="-120"/>
              </a:rPr>
              <a:t>EBITDA de €9.433m a €14.519m en 2032 (+6,4% anual) en el caso base; cuatro escenarios, de Bull a Bank case.</a:t>
            </a:r>
            <a:endParaRPr lang="en-US" sz="1250" dirty="0"/>
          </a:p>
        </p:txBody>
      </p:sp>
      <p:sp>
        <p:nvSpPr>
          <p:cNvPr id="33" name="Shape 30"/>
          <p:cNvSpPr/>
          <p:nvPr/>
        </p:nvSpPr>
        <p:spPr>
          <a:xfrm>
            <a:off x="3362249" y="3383280"/>
            <a:ext cx="2651760" cy="2697480"/>
          </a:xfrm>
          <a:prstGeom prst="rect">
            <a:avLst>
              <a:gd name="adj" fmla="val 2069"/>
            </a:avLst>
          </a:prstGeom>
          <a:solidFill>
            <a:srgbClr val="FFFFFF"/>
          </a:solidFill>
          <a:ln w="12700">
            <a:solidFill>
              <a:srgbClr val="D9D9D6"/>
            </a:solidFill>
            <a:prstDash val="solid"/>
          </a:ln>
        </p:spPr>
      </p:sp>
      <p:sp>
        <p:nvSpPr>
          <p:cNvPr id="34" name="Text 31"/>
          <p:cNvSpPr txBox="1"/>
          <p:nvPr/>
        </p:nvSpPr>
        <p:spPr>
          <a:xfrm>
            <a:off x="3590849" y="3547872"/>
            <a:ext cx="914400" cy="411480"/>
          </a:xfrm>
          <a:prstGeom prst="rect">
            <a:avLst/>
          </a:prstGeom>
          <a:noFill/>
          <a:ln/>
        </p:spPr>
        <p:txBody>
          <a:bodyPr wrap="square" lIns="0" tIns="0" rIns="0" bIns="0" rtlCol="0" anchor="t"/>
          <a:lstStyle/>
          <a:p>
            <a:pPr indent="0" marL="0">
              <a:buNone/>
            </a:pPr>
            <a:r>
              <a:rPr lang="en-US" sz="2400" dirty="0">
                <a:solidFill>
                  <a:srgbClr val="1F4B3F"/>
                </a:solidFill>
                <a:latin typeface="Lora" pitchFamily="34" charset="0"/>
                <a:ea typeface="Lora" pitchFamily="34" charset="-122"/>
                <a:cs typeface="Lora" pitchFamily="34" charset="-120"/>
              </a:rPr>
              <a:t>02</a:t>
            </a:r>
            <a:endParaRPr lang="en-US" sz="2400" dirty="0"/>
          </a:p>
        </p:txBody>
      </p:sp>
      <p:sp>
        <p:nvSpPr>
          <p:cNvPr id="35" name="Text 32"/>
          <p:cNvSpPr txBox="1"/>
          <p:nvPr/>
        </p:nvSpPr>
        <p:spPr>
          <a:xfrm>
            <a:off x="3590849" y="4023360"/>
            <a:ext cx="2240280" cy="320040"/>
          </a:xfrm>
          <a:prstGeom prst="rect">
            <a:avLst/>
          </a:prstGeom>
          <a:noFill/>
          <a:ln/>
        </p:spPr>
        <p:txBody>
          <a:bodyPr wrap="square" lIns="0" tIns="0" rIns="0" bIns="0" rtlCol="0" anchor="t"/>
          <a:lstStyle/>
          <a:p>
            <a:pPr indent="0" marL="0">
              <a:buNone/>
            </a:pPr>
            <a:r>
              <a:rPr lang="en-US" sz="1500" b="1" dirty="0">
                <a:solidFill>
                  <a:srgbClr val="1A1D21"/>
                </a:solidFill>
                <a:latin typeface="Inter" pitchFamily="34" charset="0"/>
                <a:ea typeface="Inter" pitchFamily="34" charset="-122"/>
                <a:cs typeface="Inter" pitchFamily="34" charset="-120"/>
              </a:rPr>
              <a:t>Estructura de la compra</a:t>
            </a:r>
            <a:endParaRPr lang="en-US" sz="1500" dirty="0"/>
          </a:p>
        </p:txBody>
      </p:sp>
      <p:sp>
        <p:nvSpPr>
          <p:cNvPr id="36" name="Text 33"/>
          <p:cNvSpPr txBox="1"/>
          <p:nvPr/>
        </p:nvSpPr>
        <p:spPr>
          <a:xfrm>
            <a:off x="3590849" y="4434840"/>
            <a:ext cx="2240280" cy="1554480"/>
          </a:xfrm>
          <a:prstGeom prst="rect">
            <a:avLst/>
          </a:prstGeom>
          <a:noFill/>
          <a:ln/>
        </p:spPr>
        <p:txBody>
          <a:bodyPr wrap="square" lIns="0" tIns="0" rIns="0" bIns="0" rtlCol="0" anchor="t"/>
          <a:lstStyle/>
          <a:p>
            <a:pPr indent="0" marL="0">
              <a:lnSpc>
                <a:spcPct val="105000"/>
              </a:lnSpc>
              <a:buNone/>
            </a:pPr>
            <a:r>
              <a:rPr lang="en-US" sz="1250" dirty="0">
                <a:solidFill>
                  <a:srgbClr val="1F2124"/>
                </a:solidFill>
                <a:latin typeface="Inter" pitchFamily="34" charset="0"/>
                <a:ea typeface="Inter" pitchFamily="34" charset="-122"/>
                <a:cs typeface="Inter" pitchFamily="34" charset="-120"/>
              </a:rPr>
              <a:t>OPA de exclusión por el 100% a través de TopCo, MidCo y BidCo, con rollover del 25% de Amancio Ortega.</a:t>
            </a:r>
            <a:endParaRPr lang="en-US" sz="1250" dirty="0"/>
          </a:p>
        </p:txBody>
      </p:sp>
      <p:sp>
        <p:nvSpPr>
          <p:cNvPr id="37" name="Shape 34"/>
          <p:cNvSpPr/>
          <p:nvPr/>
        </p:nvSpPr>
        <p:spPr>
          <a:xfrm>
            <a:off x="6175858" y="3383280"/>
            <a:ext cx="2651760" cy="2697480"/>
          </a:xfrm>
          <a:prstGeom prst="rect">
            <a:avLst>
              <a:gd name="adj" fmla="val 2069"/>
            </a:avLst>
          </a:prstGeom>
          <a:solidFill>
            <a:srgbClr val="FFFFFF"/>
          </a:solidFill>
          <a:ln w="12700">
            <a:solidFill>
              <a:srgbClr val="D9D9D6"/>
            </a:solidFill>
            <a:prstDash val="solid"/>
          </a:ln>
        </p:spPr>
      </p:sp>
      <p:sp>
        <p:nvSpPr>
          <p:cNvPr id="38" name="Text 35"/>
          <p:cNvSpPr txBox="1"/>
          <p:nvPr/>
        </p:nvSpPr>
        <p:spPr>
          <a:xfrm>
            <a:off x="6404458" y="3547872"/>
            <a:ext cx="914400" cy="411480"/>
          </a:xfrm>
          <a:prstGeom prst="rect">
            <a:avLst/>
          </a:prstGeom>
          <a:noFill/>
          <a:ln/>
        </p:spPr>
        <p:txBody>
          <a:bodyPr wrap="square" lIns="0" tIns="0" rIns="0" bIns="0" rtlCol="0" anchor="t"/>
          <a:lstStyle/>
          <a:p>
            <a:pPr indent="0" marL="0">
              <a:buNone/>
            </a:pPr>
            <a:r>
              <a:rPr lang="en-US" sz="2400" dirty="0">
                <a:solidFill>
                  <a:srgbClr val="1F4B3F"/>
                </a:solidFill>
                <a:latin typeface="Lora" pitchFamily="34" charset="0"/>
                <a:ea typeface="Lora" pitchFamily="34" charset="-122"/>
                <a:cs typeface="Lora" pitchFamily="34" charset="-120"/>
              </a:rPr>
              <a:t>03</a:t>
            </a:r>
            <a:endParaRPr lang="en-US" sz="2400" dirty="0"/>
          </a:p>
        </p:txBody>
      </p:sp>
      <p:sp>
        <p:nvSpPr>
          <p:cNvPr id="39" name="Text 36"/>
          <p:cNvSpPr txBox="1"/>
          <p:nvPr/>
        </p:nvSpPr>
        <p:spPr>
          <a:xfrm>
            <a:off x="6404458" y="4023360"/>
            <a:ext cx="2240280" cy="320040"/>
          </a:xfrm>
          <a:prstGeom prst="rect">
            <a:avLst/>
          </a:prstGeom>
          <a:noFill/>
          <a:ln/>
        </p:spPr>
        <p:txBody>
          <a:bodyPr wrap="square" lIns="0" tIns="0" rIns="0" bIns="0" rtlCol="0" anchor="t"/>
          <a:lstStyle/>
          <a:p>
            <a:pPr indent="0" marL="0">
              <a:buNone/>
            </a:pPr>
            <a:r>
              <a:rPr lang="en-US" sz="1500" b="1" dirty="0">
                <a:solidFill>
                  <a:srgbClr val="1A1D21"/>
                </a:solidFill>
                <a:latin typeface="Inter" pitchFamily="34" charset="0"/>
                <a:ea typeface="Inter" pitchFamily="34" charset="-122"/>
                <a:cs typeface="Inter" pitchFamily="34" charset="-120"/>
              </a:rPr>
              <a:t>Estructura de la deuda</a:t>
            </a:r>
            <a:endParaRPr lang="en-US" sz="1500" dirty="0"/>
          </a:p>
        </p:txBody>
      </p:sp>
      <p:sp>
        <p:nvSpPr>
          <p:cNvPr id="40" name="Text 37"/>
          <p:cNvSpPr txBox="1"/>
          <p:nvPr/>
        </p:nvSpPr>
        <p:spPr>
          <a:xfrm>
            <a:off x="6404458" y="4434840"/>
            <a:ext cx="2240280" cy="1554480"/>
          </a:xfrm>
          <a:prstGeom prst="rect">
            <a:avLst/>
          </a:prstGeom>
          <a:noFill/>
          <a:ln/>
        </p:spPr>
        <p:txBody>
          <a:bodyPr wrap="square" lIns="0" tIns="0" rIns="0" bIns="0" rtlCol="0" anchor="t"/>
          <a:lstStyle/>
          <a:p>
            <a:pPr indent="0" marL="0">
              <a:lnSpc>
                <a:spcPct val="105000"/>
              </a:lnSpc>
              <a:buNone/>
            </a:pPr>
            <a:r>
              <a:rPr lang="en-US" sz="1250" dirty="0">
                <a:solidFill>
                  <a:srgbClr val="1F2124"/>
                </a:solidFill>
                <a:latin typeface="Inter" pitchFamily="34" charset="0"/>
                <a:ea typeface="Inter" pitchFamily="34" charset="-122"/>
                <a:cs typeface="Inter" pitchFamily="34" charset="-120"/>
              </a:rPr>
              <a:t>Senior 5,5x, mezzanine 1,5x y vendor loan 1,2x. DSCR mínimo de 1,44x en el caso base y 1,25x en el Bank case.</a:t>
            </a:r>
            <a:endParaRPr lang="en-US" sz="1250" dirty="0"/>
          </a:p>
        </p:txBody>
      </p:sp>
      <p:sp>
        <p:nvSpPr>
          <p:cNvPr id="41" name="Shape 38"/>
          <p:cNvSpPr/>
          <p:nvPr/>
        </p:nvSpPr>
        <p:spPr>
          <a:xfrm>
            <a:off x="8989466" y="3383280"/>
            <a:ext cx="2651760" cy="2697480"/>
          </a:xfrm>
          <a:prstGeom prst="rect">
            <a:avLst>
              <a:gd name="adj" fmla="val 2069"/>
            </a:avLst>
          </a:prstGeom>
          <a:solidFill>
            <a:srgbClr val="FFFFFF"/>
          </a:solidFill>
          <a:ln w="12700">
            <a:solidFill>
              <a:srgbClr val="D9D9D6"/>
            </a:solidFill>
            <a:prstDash val="solid"/>
          </a:ln>
        </p:spPr>
      </p:sp>
      <p:sp>
        <p:nvSpPr>
          <p:cNvPr id="42" name="Text 39"/>
          <p:cNvSpPr txBox="1"/>
          <p:nvPr/>
        </p:nvSpPr>
        <p:spPr>
          <a:xfrm>
            <a:off x="9218066" y="3547872"/>
            <a:ext cx="914400" cy="411480"/>
          </a:xfrm>
          <a:prstGeom prst="rect">
            <a:avLst/>
          </a:prstGeom>
          <a:noFill/>
          <a:ln/>
        </p:spPr>
        <p:txBody>
          <a:bodyPr wrap="square" lIns="0" tIns="0" rIns="0" bIns="0" rtlCol="0" anchor="t"/>
          <a:lstStyle/>
          <a:p>
            <a:pPr indent="0" marL="0">
              <a:buNone/>
            </a:pPr>
            <a:r>
              <a:rPr lang="en-US" sz="2400" dirty="0">
                <a:solidFill>
                  <a:srgbClr val="1F4B3F"/>
                </a:solidFill>
                <a:latin typeface="Lora" pitchFamily="34" charset="0"/>
                <a:ea typeface="Lora" pitchFamily="34" charset="-122"/>
                <a:cs typeface="Lora" pitchFamily="34" charset="-120"/>
              </a:rPr>
              <a:t>04</a:t>
            </a:r>
            <a:endParaRPr lang="en-US" sz="2400" dirty="0"/>
          </a:p>
        </p:txBody>
      </p:sp>
      <p:sp>
        <p:nvSpPr>
          <p:cNvPr id="43" name="Text 40"/>
          <p:cNvSpPr txBox="1"/>
          <p:nvPr/>
        </p:nvSpPr>
        <p:spPr>
          <a:xfrm>
            <a:off x="9218066" y="4023360"/>
            <a:ext cx="2240280" cy="320040"/>
          </a:xfrm>
          <a:prstGeom prst="rect">
            <a:avLst/>
          </a:prstGeom>
          <a:noFill/>
          <a:ln/>
        </p:spPr>
        <p:txBody>
          <a:bodyPr wrap="square" lIns="0" tIns="0" rIns="0" bIns="0" rtlCol="0" anchor="t"/>
          <a:lstStyle/>
          <a:p>
            <a:pPr indent="0" marL="0">
              <a:buNone/>
            </a:pPr>
            <a:r>
              <a:rPr lang="en-US" sz="1500" b="1" dirty="0">
                <a:solidFill>
                  <a:srgbClr val="1A1D21"/>
                </a:solidFill>
                <a:latin typeface="Inter" pitchFamily="34" charset="0"/>
                <a:ea typeface="Inter" pitchFamily="34" charset="-122"/>
                <a:cs typeface="Inter" pitchFamily="34" charset="-120"/>
              </a:rPr>
              <a:t>Financiadores</a:t>
            </a:r>
            <a:endParaRPr lang="en-US" sz="1500" dirty="0"/>
          </a:p>
        </p:txBody>
      </p:sp>
      <p:sp>
        <p:nvSpPr>
          <p:cNvPr id="44" name="Text 41"/>
          <p:cNvSpPr txBox="1"/>
          <p:nvPr/>
        </p:nvSpPr>
        <p:spPr>
          <a:xfrm>
            <a:off x="9218066" y="4434840"/>
            <a:ext cx="2240280" cy="1554480"/>
          </a:xfrm>
          <a:prstGeom prst="rect">
            <a:avLst/>
          </a:prstGeom>
          <a:noFill/>
          <a:ln/>
        </p:spPr>
        <p:txBody>
          <a:bodyPr wrap="square" lIns="0" tIns="0" rIns="0" bIns="0" rtlCol="0" anchor="t"/>
          <a:lstStyle/>
          <a:p>
            <a:pPr indent="0" marL="0">
              <a:lnSpc>
                <a:spcPct val="105000"/>
              </a:lnSpc>
              <a:buNone/>
            </a:pPr>
            <a:r>
              <a:rPr lang="en-US" sz="1250" dirty="0">
                <a:solidFill>
                  <a:srgbClr val="1F2124"/>
                </a:solidFill>
                <a:latin typeface="Inter" pitchFamily="34" charset="0"/>
                <a:ea typeface="Inter" pitchFamily="34" charset="-122"/>
                <a:cs typeface="Inter" pitchFamily="34" charset="-120"/>
              </a:rPr>
              <a:t>10 bancos aseguran €62.840m; 24 bancos, 18 inversores institucionales y 9 fondos de crédito completan la deuda.</a:t>
            </a:r>
            <a:endParaRPr lang="en-US" sz="1250" dirty="0"/>
          </a:p>
        </p:txBody>
      </p:sp>
      <p:sp>
        <p:nvSpPr>
          <p:cNvPr id="45" name="Text 42"/>
          <p:cNvSpPr txBox="1"/>
          <p:nvPr/>
        </p:nvSpPr>
        <p:spPr>
          <a:xfrm>
            <a:off x="548640" y="6327648"/>
            <a:ext cx="7863840" cy="228600"/>
          </a:xfrm>
          <a:prstGeom prst="rect">
            <a:avLst/>
          </a:prstGeom>
          <a:noFill/>
          <a:ln/>
        </p:spPr>
        <p:txBody>
          <a:bodyPr wrap="square" lIns="0" tIns="0" rIns="0" bIns="0" rtlCol="0" anchor="t"/>
          <a:lstStyle/>
          <a:p>
            <a:pPr indent="0" marL="0">
              <a:buNone/>
            </a:pPr>
            <a:r>
              <a:rPr lang="en-US" sz="900" dirty="0">
                <a:solidFill>
                  <a:srgbClr val="6E7378"/>
                </a:solidFill>
                <a:latin typeface="Inter" pitchFamily="34" charset="0"/>
                <a:ea typeface="Inter" pitchFamily="34" charset="-122"/>
                <a:cs typeface="Inter" pitchFamily="34" charset="-120"/>
              </a:rPr>
              <a:t>Caso base. EBITDA pre-IFRS 16. € millones salvo indicación.</a:t>
            </a:r>
            <a:endParaRPr lang="en-US" sz="900" dirty="0"/>
          </a:p>
        </p:txBody>
      </p:sp>
      <p:sp>
        <p:nvSpPr>
          <p:cNvPr id="46" name="Text 43"/>
          <p:cNvSpPr txBox="1"/>
          <p:nvPr/>
        </p:nvSpPr>
        <p:spPr>
          <a:xfrm>
            <a:off x="8595360" y="6327648"/>
            <a:ext cx="3044952" cy="228600"/>
          </a:xfrm>
          <a:prstGeom prst="rect">
            <a:avLst/>
          </a:prstGeom>
          <a:noFill/>
          <a:ln/>
        </p:spPr>
        <p:txBody>
          <a:bodyPr wrap="square" lIns="0" tIns="0" rIns="0" bIns="0" rtlCol="0" anchor="t"/>
          <a:lstStyle/>
          <a:p>
            <a:pPr algn="r" indent="0" marL="0">
              <a:buNone/>
            </a:pPr>
            <a:r>
              <a:rPr lang="en-US" sz="900" dirty="0">
                <a:solidFill>
                  <a:srgbClr val="6E7378"/>
                </a:solidFill>
                <a:latin typeface="Inter" pitchFamily="34" charset="0"/>
                <a:ea typeface="Inter" pitchFamily="34" charset="-122"/>
                <a:cs typeface="Inter" pitchFamily="34" charset="-120"/>
              </a:rPr>
              <a:t>Project Galicia  ·  Estrictamente confidencial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79476"/>
            <a:ext cx="7772400" cy="228600"/>
          </a:xfrm>
          <a:prstGeom prst="rect">
            <a:avLst/>
          </a:prstGeom>
          <a:noFill/>
          <a:ln/>
        </p:spPr>
        <p:txBody>
          <a:bodyPr wrap="square" lIns="0" tIns="0" rIns="0" bIns="0" rtlCol="0" anchor="ctr"/>
          <a:lstStyle/>
          <a:p>
            <a:pPr indent="0" marL="0">
              <a:buNone/>
            </a:pPr>
            <a:r>
              <a:rPr lang="en-US" sz="1100" b="1" spc="200" kern="0" dirty="0">
                <a:solidFill>
                  <a:srgbClr val="1F4B3F"/>
                </a:solidFill>
                <a:latin typeface="Inter" pitchFamily="34" charset="0"/>
                <a:ea typeface="Inter" pitchFamily="34" charset="-122"/>
                <a:cs typeface="Inter" pitchFamily="34" charset="-120"/>
              </a:rPr>
              <a:t>01  BUSINESS PLAN</a:t>
            </a:r>
            <a:endParaRPr lang="en-US" sz="1100" dirty="0"/>
          </a:p>
        </p:txBody>
      </p:sp>
      <p:pic>
        <p:nvPicPr>
          <p:cNvPr id="3" name="Image 0" descr="/tmp/claude-0/-home-claude/8d7de6a3-f167-5c95-8bc2-67944307bfd8/scratchpad/canva/img/HLP_monograma.png">    </p:cNvPr>
          <p:cNvPicPr>
            <a:picLocks noChangeAspect="1"/>
          </p:cNvPicPr>
          <p:nvPr/>
        </p:nvPicPr>
        <p:blipFill>
          <a:blip r:embed="rId1"/>
          <a:stretch>
            <a:fillRect/>
          </a:stretch>
        </p:blipFill>
        <p:spPr>
          <a:xfrm>
            <a:off x="11130991" y="237744"/>
            <a:ext cx="512064" cy="512064"/>
          </a:xfrm>
          <a:prstGeom prst="rect">
            <a:avLst/>
          </a:prstGeom>
        </p:spPr>
      </p:pic>
      <p:sp>
        <p:nvSpPr>
          <p:cNvPr id="4" name="Text 1"/>
          <p:cNvSpPr txBox="1"/>
          <p:nvPr/>
        </p:nvSpPr>
        <p:spPr>
          <a:xfrm>
            <a:off x="548640" y="786384"/>
            <a:ext cx="11091672" cy="658368"/>
          </a:xfrm>
          <a:prstGeom prst="rect">
            <a:avLst/>
          </a:prstGeom>
          <a:noFill/>
          <a:ln/>
        </p:spPr>
        <p:txBody>
          <a:bodyPr wrap="square" lIns="0" tIns="0" rIns="0" bIns="0" rtlCol="0" anchor="t"/>
          <a:lstStyle/>
          <a:p>
            <a:pPr indent="0" marL="0">
              <a:lnSpc>
                <a:spcPct val="92000"/>
              </a:lnSpc>
              <a:buNone/>
            </a:pPr>
            <a:r>
              <a:rPr lang="en-US" sz="2200" dirty="0">
                <a:solidFill>
                  <a:srgbClr val="1A1D21"/>
                </a:solidFill>
                <a:latin typeface="Lora" pitchFamily="34" charset="0"/>
                <a:ea typeface="Lora" pitchFamily="34" charset="-122"/>
                <a:cs typeface="Lora" pitchFamily="34" charset="-120"/>
              </a:rPr>
              <a:t>Inditex parte de una posición muy sólida: márgenes crecientes, sin deuda y un circulante que la financia</a:t>
            </a:r>
            <a:endParaRPr lang="en-US" sz="2200" dirty="0"/>
          </a:p>
        </p:txBody>
      </p:sp>
      <p:pic>
        <p:nvPicPr>
          <p:cNvPr id="5" name="Image 1" descr="/tmp/claude-0/-home-claude/8d7de6a3-f167-5c95-8bc2-67944307bfd8/scratchpad/canva/img/c1_hist.png">    </p:cNvPr>
          <p:cNvPicPr>
            <a:picLocks noChangeAspect="1"/>
          </p:cNvPicPr>
          <p:nvPr/>
        </p:nvPicPr>
        <p:blipFill>
          <a:blip r:embed="rId2"/>
          <a:stretch>
            <a:fillRect/>
          </a:stretch>
        </p:blipFill>
        <p:spPr>
          <a:xfrm>
            <a:off x="548640" y="1600200"/>
            <a:ext cx="6040587" cy="3703320"/>
          </a:xfrm>
          <a:prstGeom prst="rect">
            <a:avLst/>
          </a:prstGeom>
        </p:spPr>
      </p:pic>
      <p:sp>
        <p:nvSpPr>
          <p:cNvPr id="6" name="Text 2"/>
          <p:cNvSpPr txBox="1"/>
          <p:nvPr/>
        </p:nvSpPr>
        <p:spPr>
          <a:xfrm>
            <a:off x="548640" y="5440680"/>
            <a:ext cx="6583680" cy="274320"/>
          </a:xfrm>
          <a:prstGeom prst="rect">
            <a:avLst/>
          </a:prstGeom>
          <a:noFill/>
          <a:ln/>
        </p:spPr>
        <p:txBody>
          <a:bodyPr wrap="square" lIns="0" tIns="0" rIns="0" bIns="0" rtlCol="0" anchor="t"/>
          <a:lstStyle/>
          <a:p>
            <a:pPr indent="0" marL="0">
              <a:buNone/>
            </a:pPr>
            <a:r>
              <a:rPr lang="en-US" sz="1100" dirty="0">
                <a:solidFill>
                  <a:srgbClr val="6E7378"/>
                </a:solidFill>
                <a:latin typeface="Inter" pitchFamily="34" charset="0"/>
                <a:ea typeface="Inter" pitchFamily="34" charset="-122"/>
                <a:cs typeface="Inter" pitchFamily="34" charset="-120"/>
              </a:rPr>
              <a:t>Ventas y EBITDA pre-IFRS 16, FY2022–FY2025 (€m)</a:t>
            </a:r>
            <a:endParaRPr lang="en-US" sz="1100" dirty="0"/>
          </a:p>
        </p:txBody>
      </p:sp>
      <p:sp>
        <p:nvSpPr>
          <p:cNvPr id="7" name="Shape 3"/>
          <p:cNvSpPr/>
          <p:nvPr/>
        </p:nvSpPr>
        <p:spPr>
          <a:xfrm>
            <a:off x="7498080" y="1600200"/>
            <a:ext cx="4142232" cy="1005840"/>
          </a:xfrm>
          <a:prstGeom prst="rect">
            <a:avLst>
              <a:gd name="adj" fmla="val 5455"/>
            </a:avLst>
          </a:prstGeom>
          <a:solidFill>
            <a:srgbClr val="F3F3F2"/>
          </a:solidFill>
          <a:ln/>
        </p:spPr>
      </p:sp>
      <p:sp>
        <p:nvSpPr>
          <p:cNvPr id="8" name="Text 4"/>
          <p:cNvSpPr txBox="1"/>
          <p:nvPr/>
        </p:nvSpPr>
        <p:spPr>
          <a:xfrm>
            <a:off x="7635240" y="1728216"/>
            <a:ext cx="1417320" cy="411480"/>
          </a:xfrm>
          <a:prstGeom prst="rect">
            <a:avLst/>
          </a:prstGeom>
          <a:noFill/>
          <a:ln/>
        </p:spPr>
        <p:txBody>
          <a:bodyPr wrap="square" lIns="0" tIns="0" rIns="0" bIns="0" rtlCol="0" anchor="t"/>
          <a:lstStyle/>
          <a:p>
            <a:pPr indent="0" marL="0">
              <a:buNone/>
            </a:pPr>
            <a:r>
              <a:rPr lang="en-US" sz="1900" b="1" dirty="0">
                <a:solidFill>
                  <a:srgbClr val="1A1D21"/>
                </a:solidFill>
                <a:latin typeface="Inter" pitchFamily="34" charset="0"/>
                <a:ea typeface="Inter" pitchFamily="34" charset="-122"/>
                <a:cs typeface="Inter" pitchFamily="34" charset="-120"/>
              </a:rPr>
              <a:t>+7,0%</a:t>
            </a:r>
            <a:endParaRPr lang="en-US" sz="1900" dirty="0"/>
          </a:p>
        </p:txBody>
      </p:sp>
      <p:sp>
        <p:nvSpPr>
          <p:cNvPr id="9" name="Text 5"/>
          <p:cNvSpPr txBox="1"/>
          <p:nvPr/>
        </p:nvSpPr>
        <p:spPr>
          <a:xfrm>
            <a:off x="9098280" y="1728216"/>
            <a:ext cx="2468880" cy="274320"/>
          </a:xfrm>
          <a:prstGeom prst="rect">
            <a:avLst/>
          </a:prstGeom>
          <a:noFill/>
          <a:ln/>
        </p:spPr>
        <p:txBody>
          <a:bodyPr wrap="square" lIns="0" tIns="0" rIns="0" bIns="0" rtlCol="0" anchor="t"/>
          <a:lstStyle/>
          <a:p>
            <a:pPr indent="0" marL="0">
              <a:buNone/>
            </a:pPr>
            <a:r>
              <a:rPr lang="en-US" sz="1200" b="1" dirty="0">
                <a:solidFill>
                  <a:srgbClr val="1F2124"/>
                </a:solidFill>
                <a:latin typeface="Inter" pitchFamily="34" charset="0"/>
                <a:ea typeface="Inter" pitchFamily="34" charset="-122"/>
                <a:cs typeface="Inter" pitchFamily="34" charset="-120"/>
              </a:rPr>
              <a:t>Crecimiento anual de ventas</a:t>
            </a:r>
            <a:endParaRPr lang="en-US" sz="1200" dirty="0"/>
          </a:p>
        </p:txBody>
      </p:sp>
      <p:sp>
        <p:nvSpPr>
          <p:cNvPr id="10" name="Text 6"/>
          <p:cNvSpPr txBox="1"/>
          <p:nvPr/>
        </p:nvSpPr>
        <p:spPr>
          <a:xfrm>
            <a:off x="9098280" y="2020824"/>
            <a:ext cx="2468880" cy="548640"/>
          </a:xfrm>
          <a:prstGeom prst="rect">
            <a:avLst/>
          </a:prstGeom>
          <a:noFill/>
          <a:ln/>
        </p:spPr>
        <p:txBody>
          <a:bodyPr wrap="square" lIns="0" tIns="0" rIns="0" bIns="0" rtlCol="0" anchor="t"/>
          <a:lstStyle/>
          <a:p>
            <a:pPr indent="0" marL="0">
              <a:buNone/>
            </a:pPr>
            <a:r>
              <a:rPr lang="en-US" sz="1050" dirty="0">
                <a:solidFill>
                  <a:srgbClr val="6E7378"/>
                </a:solidFill>
                <a:latin typeface="Inter" pitchFamily="34" charset="0"/>
                <a:ea typeface="Inter" pitchFamily="34" charset="-122"/>
                <a:cs typeface="Inter" pitchFamily="34" charset="-120"/>
              </a:rPr>
              <a:t>De €32.569m (FY22) a €39.864m (FY25)</a:t>
            </a:r>
            <a:endParaRPr lang="en-US" sz="1050" dirty="0"/>
          </a:p>
        </p:txBody>
      </p:sp>
      <p:sp>
        <p:nvSpPr>
          <p:cNvPr id="11" name="Shape 7"/>
          <p:cNvSpPr/>
          <p:nvPr/>
        </p:nvSpPr>
        <p:spPr>
          <a:xfrm>
            <a:off x="7498080" y="2715768"/>
            <a:ext cx="4142232" cy="1005840"/>
          </a:xfrm>
          <a:prstGeom prst="rect">
            <a:avLst>
              <a:gd name="adj" fmla="val 5455"/>
            </a:avLst>
          </a:prstGeom>
          <a:solidFill>
            <a:srgbClr val="F3F3F2"/>
          </a:solidFill>
          <a:ln/>
        </p:spPr>
      </p:sp>
      <p:sp>
        <p:nvSpPr>
          <p:cNvPr id="12" name="Text 8"/>
          <p:cNvSpPr txBox="1"/>
          <p:nvPr/>
        </p:nvSpPr>
        <p:spPr>
          <a:xfrm>
            <a:off x="7635240" y="2843784"/>
            <a:ext cx="1417320" cy="411480"/>
          </a:xfrm>
          <a:prstGeom prst="rect">
            <a:avLst/>
          </a:prstGeom>
          <a:noFill/>
          <a:ln/>
        </p:spPr>
        <p:txBody>
          <a:bodyPr wrap="square" lIns="0" tIns="0" rIns="0" bIns="0" rtlCol="0" anchor="t"/>
          <a:lstStyle/>
          <a:p>
            <a:pPr indent="0" marL="0">
              <a:buNone/>
            </a:pPr>
            <a:r>
              <a:rPr lang="en-US" sz="1900" b="1" dirty="0">
                <a:solidFill>
                  <a:srgbClr val="1A1D21"/>
                </a:solidFill>
                <a:latin typeface="Inter" pitchFamily="34" charset="0"/>
                <a:ea typeface="Inter" pitchFamily="34" charset="-122"/>
                <a:cs typeface="Inter" pitchFamily="34" charset="-120"/>
              </a:rPr>
              <a:t>€9.433m</a:t>
            </a:r>
            <a:endParaRPr lang="en-US" sz="1900" dirty="0"/>
          </a:p>
        </p:txBody>
      </p:sp>
      <p:sp>
        <p:nvSpPr>
          <p:cNvPr id="13" name="Text 9"/>
          <p:cNvSpPr txBox="1"/>
          <p:nvPr/>
        </p:nvSpPr>
        <p:spPr>
          <a:xfrm>
            <a:off x="9098280" y="2843784"/>
            <a:ext cx="2468880" cy="274320"/>
          </a:xfrm>
          <a:prstGeom prst="rect">
            <a:avLst/>
          </a:prstGeom>
          <a:noFill/>
          <a:ln/>
        </p:spPr>
        <p:txBody>
          <a:bodyPr wrap="square" lIns="0" tIns="0" rIns="0" bIns="0" rtlCol="0" anchor="t"/>
          <a:lstStyle/>
          <a:p>
            <a:pPr indent="0" marL="0">
              <a:buNone/>
            </a:pPr>
            <a:r>
              <a:rPr lang="en-US" sz="1200" b="1" dirty="0">
                <a:solidFill>
                  <a:srgbClr val="1F2124"/>
                </a:solidFill>
                <a:latin typeface="Inter" pitchFamily="34" charset="0"/>
                <a:ea typeface="Inter" pitchFamily="34" charset="-122"/>
                <a:cs typeface="Inter" pitchFamily="34" charset="-120"/>
              </a:rPr>
              <a:t>EBITDA pre-IFRS 16 (FY25)</a:t>
            </a:r>
            <a:endParaRPr lang="en-US" sz="1200" dirty="0"/>
          </a:p>
        </p:txBody>
      </p:sp>
      <p:sp>
        <p:nvSpPr>
          <p:cNvPr id="14" name="Text 10"/>
          <p:cNvSpPr txBox="1"/>
          <p:nvPr/>
        </p:nvSpPr>
        <p:spPr>
          <a:xfrm>
            <a:off x="9098280" y="3136392"/>
            <a:ext cx="2468880" cy="548640"/>
          </a:xfrm>
          <a:prstGeom prst="rect">
            <a:avLst/>
          </a:prstGeom>
          <a:noFill/>
          <a:ln/>
        </p:spPr>
        <p:txBody>
          <a:bodyPr wrap="square" lIns="0" tIns="0" rIns="0" bIns="0" rtlCol="0" anchor="t"/>
          <a:lstStyle/>
          <a:p>
            <a:pPr indent="0" marL="0">
              <a:buNone/>
            </a:pPr>
            <a:r>
              <a:rPr lang="en-US" sz="1050" dirty="0">
                <a:solidFill>
                  <a:srgbClr val="6E7378"/>
                </a:solidFill>
                <a:latin typeface="Inter" pitchFamily="34" charset="0"/>
                <a:ea typeface="Inter" pitchFamily="34" charset="-122"/>
                <a:cs typeface="Inter" pitchFamily="34" charset="-120"/>
              </a:rPr>
              <a:t>Reportado €11.267m menos €1.834m de alquileres en caja</a:t>
            </a:r>
            <a:endParaRPr lang="en-US" sz="1050" dirty="0"/>
          </a:p>
        </p:txBody>
      </p:sp>
      <p:sp>
        <p:nvSpPr>
          <p:cNvPr id="15" name="Shape 11"/>
          <p:cNvSpPr/>
          <p:nvPr/>
        </p:nvSpPr>
        <p:spPr>
          <a:xfrm>
            <a:off x="7498080" y="3831336"/>
            <a:ext cx="4142232" cy="1005840"/>
          </a:xfrm>
          <a:prstGeom prst="rect">
            <a:avLst>
              <a:gd name="adj" fmla="val 5455"/>
            </a:avLst>
          </a:prstGeom>
          <a:solidFill>
            <a:srgbClr val="F3F3F2"/>
          </a:solidFill>
          <a:ln/>
        </p:spPr>
      </p:sp>
      <p:sp>
        <p:nvSpPr>
          <p:cNvPr id="16" name="Text 12"/>
          <p:cNvSpPr txBox="1"/>
          <p:nvPr/>
        </p:nvSpPr>
        <p:spPr>
          <a:xfrm>
            <a:off x="7635240" y="3959352"/>
            <a:ext cx="1417320" cy="411480"/>
          </a:xfrm>
          <a:prstGeom prst="rect">
            <a:avLst/>
          </a:prstGeom>
          <a:noFill/>
          <a:ln/>
        </p:spPr>
        <p:txBody>
          <a:bodyPr wrap="square" lIns="0" tIns="0" rIns="0" bIns="0" rtlCol="0" anchor="t"/>
          <a:lstStyle/>
          <a:p>
            <a:pPr indent="0" marL="0">
              <a:buNone/>
            </a:pPr>
            <a:r>
              <a:rPr lang="en-US" sz="1900" b="1" dirty="0">
                <a:solidFill>
                  <a:srgbClr val="1A1D21"/>
                </a:solidFill>
                <a:latin typeface="Inter" pitchFamily="34" charset="0"/>
                <a:ea typeface="Inter" pitchFamily="34" charset="-122"/>
                <a:cs typeface="Inter" pitchFamily="34" charset="-120"/>
              </a:rPr>
              <a:t>−€4.172m</a:t>
            </a:r>
            <a:endParaRPr lang="en-US" sz="1900" dirty="0"/>
          </a:p>
        </p:txBody>
      </p:sp>
      <p:sp>
        <p:nvSpPr>
          <p:cNvPr id="17" name="Text 13"/>
          <p:cNvSpPr txBox="1"/>
          <p:nvPr/>
        </p:nvSpPr>
        <p:spPr>
          <a:xfrm>
            <a:off x="9098280" y="3959352"/>
            <a:ext cx="2468880" cy="274320"/>
          </a:xfrm>
          <a:prstGeom prst="rect">
            <a:avLst/>
          </a:prstGeom>
          <a:noFill/>
          <a:ln/>
        </p:spPr>
        <p:txBody>
          <a:bodyPr wrap="square" lIns="0" tIns="0" rIns="0" bIns="0" rtlCol="0" anchor="t"/>
          <a:lstStyle/>
          <a:p>
            <a:pPr indent="0" marL="0">
              <a:buNone/>
            </a:pPr>
            <a:r>
              <a:rPr lang="en-US" sz="1200" b="1" dirty="0">
                <a:solidFill>
                  <a:srgbClr val="1F2124"/>
                </a:solidFill>
                <a:latin typeface="Inter" pitchFamily="34" charset="0"/>
                <a:ea typeface="Inter" pitchFamily="34" charset="-122"/>
                <a:cs typeface="Inter" pitchFamily="34" charset="-120"/>
              </a:rPr>
              <a:t>Circulante negativo</a:t>
            </a:r>
            <a:endParaRPr lang="en-US" sz="1200" dirty="0"/>
          </a:p>
        </p:txBody>
      </p:sp>
      <p:sp>
        <p:nvSpPr>
          <p:cNvPr id="18" name="Text 14"/>
          <p:cNvSpPr txBox="1"/>
          <p:nvPr/>
        </p:nvSpPr>
        <p:spPr>
          <a:xfrm>
            <a:off x="9098280" y="4251960"/>
            <a:ext cx="2468880" cy="548640"/>
          </a:xfrm>
          <a:prstGeom prst="rect">
            <a:avLst/>
          </a:prstGeom>
          <a:noFill/>
          <a:ln/>
        </p:spPr>
        <p:txBody>
          <a:bodyPr wrap="square" lIns="0" tIns="0" rIns="0" bIns="0" rtlCol="0" anchor="t"/>
          <a:lstStyle/>
          <a:p>
            <a:pPr indent="0" marL="0">
              <a:buNone/>
            </a:pPr>
            <a:r>
              <a:rPr lang="en-US" sz="1050" dirty="0">
                <a:solidFill>
                  <a:srgbClr val="6E7378"/>
                </a:solidFill>
                <a:latin typeface="Inter" pitchFamily="34" charset="0"/>
                <a:ea typeface="Inter" pitchFamily="34" charset="-122"/>
                <a:cs typeface="Inter" pitchFamily="34" charset="-120"/>
              </a:rPr>
              <a:t>−10,5% de las ventas: los proveedores financian el negocio</a:t>
            </a:r>
            <a:endParaRPr lang="en-US" sz="1050" dirty="0"/>
          </a:p>
        </p:txBody>
      </p:sp>
      <p:sp>
        <p:nvSpPr>
          <p:cNvPr id="19" name="Shape 15"/>
          <p:cNvSpPr/>
          <p:nvPr/>
        </p:nvSpPr>
        <p:spPr>
          <a:xfrm>
            <a:off x="7498080" y="4946904"/>
            <a:ext cx="4142232" cy="1005840"/>
          </a:xfrm>
          <a:prstGeom prst="rect">
            <a:avLst>
              <a:gd name="adj" fmla="val 5455"/>
            </a:avLst>
          </a:prstGeom>
          <a:solidFill>
            <a:srgbClr val="F3F3F2"/>
          </a:solidFill>
          <a:ln/>
        </p:spPr>
      </p:sp>
      <p:sp>
        <p:nvSpPr>
          <p:cNvPr id="20" name="Text 16"/>
          <p:cNvSpPr txBox="1"/>
          <p:nvPr/>
        </p:nvSpPr>
        <p:spPr>
          <a:xfrm>
            <a:off x="7635240" y="5074920"/>
            <a:ext cx="1417320" cy="411480"/>
          </a:xfrm>
          <a:prstGeom prst="rect">
            <a:avLst/>
          </a:prstGeom>
          <a:noFill/>
          <a:ln/>
        </p:spPr>
        <p:txBody>
          <a:bodyPr wrap="square" lIns="0" tIns="0" rIns="0" bIns="0" rtlCol="0" anchor="t"/>
          <a:lstStyle/>
          <a:p>
            <a:pPr indent="0" marL="0">
              <a:buNone/>
            </a:pPr>
            <a:r>
              <a:rPr lang="en-US" sz="1900" b="1" dirty="0">
                <a:solidFill>
                  <a:srgbClr val="1A1D21"/>
                </a:solidFill>
                <a:latin typeface="Inter" pitchFamily="34" charset="0"/>
                <a:ea typeface="Inter" pitchFamily="34" charset="-122"/>
                <a:cs typeface="Inter" pitchFamily="34" charset="-120"/>
              </a:rPr>
              <a:t>€10.958m</a:t>
            </a:r>
            <a:endParaRPr lang="en-US" sz="1900" dirty="0"/>
          </a:p>
        </p:txBody>
      </p:sp>
      <p:sp>
        <p:nvSpPr>
          <p:cNvPr id="21" name="Text 17"/>
          <p:cNvSpPr txBox="1"/>
          <p:nvPr/>
        </p:nvSpPr>
        <p:spPr>
          <a:xfrm>
            <a:off x="9098280" y="5074920"/>
            <a:ext cx="2468880" cy="274320"/>
          </a:xfrm>
          <a:prstGeom prst="rect">
            <a:avLst/>
          </a:prstGeom>
          <a:noFill/>
          <a:ln/>
        </p:spPr>
        <p:txBody>
          <a:bodyPr wrap="square" lIns="0" tIns="0" rIns="0" bIns="0" rtlCol="0" anchor="t"/>
          <a:lstStyle/>
          <a:p>
            <a:pPr indent="0" marL="0">
              <a:buNone/>
            </a:pPr>
            <a:r>
              <a:rPr lang="en-US" sz="1200" b="1" dirty="0">
                <a:solidFill>
                  <a:srgbClr val="1F2124"/>
                </a:solidFill>
                <a:latin typeface="Inter" pitchFamily="34" charset="0"/>
                <a:ea typeface="Inter" pitchFamily="34" charset="-122"/>
                <a:cs typeface="Inter" pitchFamily="34" charset="-120"/>
              </a:rPr>
              <a:t>Caja neta (FY25)</a:t>
            </a:r>
            <a:endParaRPr lang="en-US" sz="1200" dirty="0"/>
          </a:p>
        </p:txBody>
      </p:sp>
      <p:sp>
        <p:nvSpPr>
          <p:cNvPr id="22" name="Text 18"/>
          <p:cNvSpPr txBox="1"/>
          <p:nvPr/>
        </p:nvSpPr>
        <p:spPr>
          <a:xfrm>
            <a:off x="9098280" y="5367528"/>
            <a:ext cx="2468880" cy="548640"/>
          </a:xfrm>
          <a:prstGeom prst="rect">
            <a:avLst/>
          </a:prstGeom>
          <a:noFill/>
          <a:ln/>
        </p:spPr>
        <p:txBody>
          <a:bodyPr wrap="square" lIns="0" tIns="0" rIns="0" bIns="0" rtlCol="0" anchor="t"/>
          <a:lstStyle/>
          <a:p>
            <a:pPr indent="0" marL="0">
              <a:buNone/>
            </a:pPr>
            <a:r>
              <a:rPr lang="en-US" sz="1050" dirty="0">
                <a:solidFill>
                  <a:srgbClr val="6E7378"/>
                </a:solidFill>
                <a:latin typeface="Inter" pitchFamily="34" charset="0"/>
                <a:ea typeface="Inter" pitchFamily="34" charset="-122"/>
                <a:cs typeface="Inter" pitchFamily="34" charset="-120"/>
              </a:rPr>
              <a:t>Sin deuda financiera: toda la capacidad de deuda está libre</a:t>
            </a:r>
            <a:endParaRPr lang="en-US" sz="1050" dirty="0"/>
          </a:p>
        </p:txBody>
      </p:sp>
      <p:sp>
        <p:nvSpPr>
          <p:cNvPr id="23" name="Text 19"/>
          <p:cNvSpPr txBox="1"/>
          <p:nvPr/>
        </p:nvSpPr>
        <p:spPr>
          <a:xfrm>
            <a:off x="8595360" y="6327648"/>
            <a:ext cx="3044952" cy="228600"/>
          </a:xfrm>
          <a:prstGeom prst="rect">
            <a:avLst/>
          </a:prstGeom>
          <a:noFill/>
          <a:ln/>
        </p:spPr>
        <p:txBody>
          <a:bodyPr wrap="square" lIns="0" tIns="0" rIns="0" bIns="0" rtlCol="0" anchor="t"/>
          <a:lstStyle/>
          <a:p>
            <a:pPr algn="r" indent="0" marL="0">
              <a:buNone/>
            </a:pPr>
            <a:r>
              <a:rPr lang="en-US" sz="900" dirty="0">
                <a:solidFill>
                  <a:srgbClr val="6E7378"/>
                </a:solidFill>
                <a:latin typeface="Inter" pitchFamily="34" charset="0"/>
                <a:ea typeface="Inter" pitchFamily="34" charset="-122"/>
                <a:cs typeface="Inter" pitchFamily="34" charset="-120"/>
              </a:rPr>
              <a:t>Project Galicia  ·  Estrictamente confidencial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79476"/>
            <a:ext cx="7772400" cy="228600"/>
          </a:xfrm>
          <a:prstGeom prst="rect">
            <a:avLst/>
          </a:prstGeom>
          <a:noFill/>
          <a:ln/>
        </p:spPr>
        <p:txBody>
          <a:bodyPr wrap="square" lIns="0" tIns="0" rIns="0" bIns="0" rtlCol="0" anchor="ctr"/>
          <a:lstStyle/>
          <a:p>
            <a:pPr indent="0" marL="0">
              <a:buNone/>
            </a:pPr>
            <a:r>
              <a:rPr lang="en-US" sz="1100" b="1" spc="200" kern="0" dirty="0">
                <a:solidFill>
                  <a:srgbClr val="1F4B3F"/>
                </a:solidFill>
                <a:latin typeface="Inter" pitchFamily="34" charset="0"/>
                <a:ea typeface="Inter" pitchFamily="34" charset="-122"/>
                <a:cs typeface="Inter" pitchFamily="34" charset="-120"/>
              </a:rPr>
              <a:t>01  BUSINESS PLAN</a:t>
            </a:r>
            <a:endParaRPr lang="en-US" sz="1100" dirty="0"/>
          </a:p>
        </p:txBody>
      </p:sp>
      <p:pic>
        <p:nvPicPr>
          <p:cNvPr id="3" name="Image 0" descr="/tmp/claude-0/-home-claude/8d7de6a3-f167-5c95-8bc2-67944307bfd8/scratchpad/canva/img/HLP_monograma.png">    </p:cNvPr>
          <p:cNvPicPr>
            <a:picLocks noChangeAspect="1"/>
          </p:cNvPicPr>
          <p:nvPr/>
        </p:nvPicPr>
        <p:blipFill>
          <a:blip r:embed="rId1"/>
          <a:stretch>
            <a:fillRect/>
          </a:stretch>
        </p:blipFill>
        <p:spPr>
          <a:xfrm>
            <a:off x="11130991" y="237744"/>
            <a:ext cx="512064" cy="512064"/>
          </a:xfrm>
          <a:prstGeom prst="rect">
            <a:avLst/>
          </a:prstGeom>
        </p:spPr>
      </p:pic>
      <p:sp>
        <p:nvSpPr>
          <p:cNvPr id="4" name="Text 1"/>
          <p:cNvSpPr txBox="1"/>
          <p:nvPr/>
        </p:nvSpPr>
        <p:spPr>
          <a:xfrm>
            <a:off x="548640" y="786384"/>
            <a:ext cx="11091672" cy="658368"/>
          </a:xfrm>
          <a:prstGeom prst="rect">
            <a:avLst/>
          </a:prstGeom>
          <a:noFill/>
          <a:ln/>
        </p:spPr>
        <p:txBody>
          <a:bodyPr wrap="square" lIns="0" tIns="0" rIns="0" bIns="0" rtlCol="0" anchor="t"/>
          <a:lstStyle/>
          <a:p>
            <a:pPr indent="0" marL="0">
              <a:lnSpc>
                <a:spcPct val="92000"/>
              </a:lnSpc>
              <a:buNone/>
            </a:pPr>
            <a:r>
              <a:rPr lang="en-US" sz="2200" dirty="0">
                <a:solidFill>
                  <a:srgbClr val="1A1D21"/>
                </a:solidFill>
                <a:latin typeface="Lora" pitchFamily="34" charset="0"/>
                <a:ea typeface="Lora" pitchFamily="34" charset="-122"/>
                <a:cs typeface="Lora" pitchFamily="34" charset="-120"/>
              </a:rPr>
              <a:t>El plan se construye driver a driver y se calibra en cuatro escenarios</a:t>
            </a:r>
            <a:endParaRPr lang="en-US" sz="2200" dirty="0"/>
          </a:p>
        </p:txBody>
      </p:sp>
      <p:sp>
        <p:nvSpPr>
          <p:cNvPr id="5" name="Shape 2"/>
          <p:cNvSpPr/>
          <p:nvPr/>
        </p:nvSpPr>
        <p:spPr>
          <a:xfrm>
            <a:off x="548640" y="1737360"/>
            <a:ext cx="2606040" cy="2011680"/>
          </a:xfrm>
          <a:prstGeom prst="rect">
            <a:avLst>
              <a:gd name="adj" fmla="val 2727"/>
            </a:avLst>
          </a:prstGeom>
          <a:solidFill>
            <a:srgbClr val="F3F3F2"/>
          </a:solidFill>
          <a:ln/>
        </p:spPr>
      </p:sp>
      <p:sp>
        <p:nvSpPr>
          <p:cNvPr id="6" name="Shape 3"/>
          <p:cNvSpPr/>
          <p:nvPr/>
        </p:nvSpPr>
        <p:spPr>
          <a:xfrm>
            <a:off x="804672" y="1965960"/>
            <a:ext cx="384048" cy="384048"/>
          </a:xfrm>
          <a:prstGeom prst="rect">
            <a:avLst/>
          </a:prstGeom>
          <a:solidFill>
            <a:srgbClr val="1A1D21"/>
          </a:solidFill>
          <a:ln/>
        </p:spPr>
      </p:sp>
      <p:sp>
        <p:nvSpPr>
          <p:cNvPr id="7" name="Text 4"/>
          <p:cNvSpPr txBox="1"/>
          <p:nvPr/>
        </p:nvSpPr>
        <p:spPr>
          <a:xfrm>
            <a:off x="804672" y="1975104"/>
            <a:ext cx="38404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1</a:t>
            </a:r>
            <a:endParaRPr lang="en-US" sz="1400" dirty="0"/>
          </a:p>
        </p:txBody>
      </p:sp>
      <p:sp>
        <p:nvSpPr>
          <p:cNvPr id="8" name="Text 5"/>
          <p:cNvSpPr txBox="1"/>
          <p:nvPr/>
        </p:nvSpPr>
        <p:spPr>
          <a:xfrm>
            <a:off x="804672" y="2560320"/>
            <a:ext cx="2194560" cy="347472"/>
          </a:xfrm>
          <a:prstGeom prst="rect">
            <a:avLst/>
          </a:prstGeom>
          <a:noFill/>
          <a:ln/>
        </p:spPr>
        <p:txBody>
          <a:bodyPr wrap="square" lIns="0" tIns="0" rIns="0" bIns="0" rtlCol="0" anchor="t"/>
          <a:lstStyle/>
          <a:p>
            <a:pPr indent="0" marL="0">
              <a:buNone/>
            </a:pPr>
            <a:r>
              <a:rPr lang="en-US" sz="1700" b="1" dirty="0">
                <a:solidFill>
                  <a:srgbClr val="1A1D21"/>
                </a:solidFill>
                <a:latin typeface="Inter" pitchFamily="34" charset="0"/>
                <a:ea typeface="Inter" pitchFamily="34" charset="-122"/>
                <a:cs typeface="Inter" pitchFamily="34" charset="-120"/>
              </a:rPr>
              <a:t>Histórico real</a:t>
            </a:r>
            <a:endParaRPr lang="en-US" sz="1700" dirty="0"/>
          </a:p>
        </p:txBody>
      </p:sp>
      <p:sp>
        <p:nvSpPr>
          <p:cNvPr id="9" name="Text 6"/>
          <p:cNvSpPr txBox="1"/>
          <p:nvPr/>
        </p:nvSpPr>
        <p:spPr>
          <a:xfrm>
            <a:off x="804672" y="2971800"/>
            <a:ext cx="2148840" cy="685800"/>
          </a:xfrm>
          <a:prstGeom prst="rect">
            <a:avLst/>
          </a:prstGeom>
          <a:noFill/>
          <a:ln/>
        </p:spPr>
        <p:txBody>
          <a:bodyPr wrap="square" lIns="0" tIns="0" rIns="0" bIns="0" rtlCol="0" anchor="t"/>
          <a:lstStyle/>
          <a:p>
            <a:pPr indent="0" marL="0">
              <a:buNone/>
            </a:pPr>
            <a:r>
              <a:rPr lang="en-US" sz="1300" dirty="0">
                <a:solidFill>
                  <a:srgbClr val="1F2124"/>
                </a:solidFill>
                <a:latin typeface="Inter" pitchFamily="34" charset="0"/>
                <a:ea typeface="Inter" pitchFamily="34" charset="-122"/>
                <a:cs typeface="Inter" pitchFamily="34" charset="-120"/>
              </a:rPr>
              <a:t>Cuentas de Inditex FY2022–FY2025</a:t>
            </a:r>
            <a:endParaRPr lang="en-US" sz="1300" dirty="0"/>
          </a:p>
        </p:txBody>
      </p:sp>
      <p:sp>
        <p:nvSpPr>
          <p:cNvPr id="10" name="Text 7"/>
          <p:cNvSpPr txBox="1"/>
          <p:nvPr/>
        </p:nvSpPr>
        <p:spPr>
          <a:xfrm>
            <a:off x="3163824" y="2423160"/>
            <a:ext cx="182880" cy="457200"/>
          </a:xfrm>
          <a:prstGeom prst="rect">
            <a:avLst/>
          </a:prstGeom>
          <a:noFill/>
          <a:ln/>
        </p:spPr>
        <p:txBody>
          <a:bodyPr wrap="square" lIns="0" tIns="0" rIns="0" bIns="0" rtlCol="0" anchor="t"/>
          <a:lstStyle/>
          <a:p>
            <a:pPr algn="ctr" indent="0" marL="0">
              <a:buNone/>
            </a:pPr>
            <a:r>
              <a:rPr lang="en-US" sz="2600" b="1" dirty="0">
                <a:solidFill>
                  <a:srgbClr val="1F4B3F"/>
                </a:solidFill>
                <a:latin typeface="Inter" pitchFamily="34" charset="0"/>
                <a:ea typeface="Inter" pitchFamily="34" charset="-122"/>
                <a:cs typeface="Inter" pitchFamily="34" charset="-120"/>
              </a:rPr>
              <a:t>›</a:t>
            </a:r>
            <a:endParaRPr lang="en-US" sz="2600" dirty="0"/>
          </a:p>
        </p:txBody>
      </p:sp>
      <p:sp>
        <p:nvSpPr>
          <p:cNvPr id="11" name="Shape 8"/>
          <p:cNvSpPr/>
          <p:nvPr/>
        </p:nvSpPr>
        <p:spPr>
          <a:xfrm>
            <a:off x="3362249" y="1737360"/>
            <a:ext cx="2606040" cy="2011680"/>
          </a:xfrm>
          <a:prstGeom prst="rect">
            <a:avLst>
              <a:gd name="adj" fmla="val 2727"/>
            </a:avLst>
          </a:prstGeom>
          <a:solidFill>
            <a:srgbClr val="F3F3F2"/>
          </a:solidFill>
          <a:ln/>
        </p:spPr>
      </p:sp>
      <p:sp>
        <p:nvSpPr>
          <p:cNvPr id="12" name="Shape 9"/>
          <p:cNvSpPr/>
          <p:nvPr/>
        </p:nvSpPr>
        <p:spPr>
          <a:xfrm>
            <a:off x="3618281" y="1965960"/>
            <a:ext cx="384048" cy="384048"/>
          </a:xfrm>
          <a:prstGeom prst="rect">
            <a:avLst/>
          </a:prstGeom>
          <a:solidFill>
            <a:srgbClr val="1A1D21"/>
          </a:solidFill>
          <a:ln/>
        </p:spPr>
      </p:sp>
      <p:sp>
        <p:nvSpPr>
          <p:cNvPr id="13" name="Text 10"/>
          <p:cNvSpPr txBox="1"/>
          <p:nvPr/>
        </p:nvSpPr>
        <p:spPr>
          <a:xfrm>
            <a:off x="3618281" y="1975104"/>
            <a:ext cx="38404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2</a:t>
            </a:r>
            <a:endParaRPr lang="en-US" sz="1400" dirty="0"/>
          </a:p>
        </p:txBody>
      </p:sp>
      <p:sp>
        <p:nvSpPr>
          <p:cNvPr id="14" name="Text 11"/>
          <p:cNvSpPr txBox="1"/>
          <p:nvPr/>
        </p:nvSpPr>
        <p:spPr>
          <a:xfrm>
            <a:off x="3618281" y="2560320"/>
            <a:ext cx="2194560" cy="347472"/>
          </a:xfrm>
          <a:prstGeom prst="rect">
            <a:avLst/>
          </a:prstGeom>
          <a:noFill/>
          <a:ln/>
        </p:spPr>
        <p:txBody>
          <a:bodyPr wrap="square" lIns="0" tIns="0" rIns="0" bIns="0" rtlCol="0" anchor="t"/>
          <a:lstStyle/>
          <a:p>
            <a:pPr indent="0" marL="0">
              <a:buNone/>
            </a:pPr>
            <a:r>
              <a:rPr lang="en-US" sz="1700" b="1" dirty="0">
                <a:solidFill>
                  <a:srgbClr val="1A1D21"/>
                </a:solidFill>
                <a:latin typeface="Inter" pitchFamily="34" charset="0"/>
                <a:ea typeface="Inter" pitchFamily="34" charset="-122"/>
                <a:cs typeface="Inter" pitchFamily="34" charset="-120"/>
              </a:rPr>
              <a:t>Nueve drivers</a:t>
            </a:r>
            <a:endParaRPr lang="en-US" sz="1700" dirty="0"/>
          </a:p>
        </p:txBody>
      </p:sp>
      <p:sp>
        <p:nvSpPr>
          <p:cNvPr id="15" name="Text 12"/>
          <p:cNvSpPr txBox="1"/>
          <p:nvPr/>
        </p:nvSpPr>
        <p:spPr>
          <a:xfrm>
            <a:off x="3618281" y="2971800"/>
            <a:ext cx="2148840" cy="685800"/>
          </a:xfrm>
          <a:prstGeom prst="rect">
            <a:avLst/>
          </a:prstGeom>
          <a:noFill/>
          <a:ln/>
        </p:spPr>
        <p:txBody>
          <a:bodyPr wrap="square" lIns="0" tIns="0" rIns="0" bIns="0" rtlCol="0" anchor="t"/>
          <a:lstStyle/>
          <a:p>
            <a:pPr indent="0" marL="0">
              <a:buNone/>
            </a:pPr>
            <a:r>
              <a:rPr lang="en-US" sz="1300" dirty="0">
                <a:solidFill>
                  <a:srgbClr val="1F2124"/>
                </a:solidFill>
                <a:latin typeface="Inter" pitchFamily="34" charset="0"/>
                <a:ea typeface="Inter" pitchFamily="34" charset="-122"/>
                <a:cs typeface="Inter" pitchFamily="34" charset="-120"/>
              </a:rPr>
              <a:t>Ventas, márgenes, gastos, alquileres, capex y circulante</a:t>
            </a:r>
            <a:endParaRPr lang="en-US" sz="1300" dirty="0"/>
          </a:p>
        </p:txBody>
      </p:sp>
      <p:sp>
        <p:nvSpPr>
          <p:cNvPr id="16" name="Text 13"/>
          <p:cNvSpPr txBox="1"/>
          <p:nvPr/>
        </p:nvSpPr>
        <p:spPr>
          <a:xfrm>
            <a:off x="5977433" y="2423160"/>
            <a:ext cx="182880" cy="457200"/>
          </a:xfrm>
          <a:prstGeom prst="rect">
            <a:avLst/>
          </a:prstGeom>
          <a:noFill/>
          <a:ln/>
        </p:spPr>
        <p:txBody>
          <a:bodyPr wrap="square" lIns="0" tIns="0" rIns="0" bIns="0" rtlCol="0" anchor="t"/>
          <a:lstStyle/>
          <a:p>
            <a:pPr algn="ctr" indent="0" marL="0">
              <a:buNone/>
            </a:pPr>
            <a:r>
              <a:rPr lang="en-US" sz="2600" b="1" dirty="0">
                <a:solidFill>
                  <a:srgbClr val="1F4B3F"/>
                </a:solidFill>
                <a:latin typeface="Inter" pitchFamily="34" charset="0"/>
                <a:ea typeface="Inter" pitchFamily="34" charset="-122"/>
                <a:cs typeface="Inter" pitchFamily="34" charset="-120"/>
              </a:rPr>
              <a:t>›</a:t>
            </a:r>
            <a:endParaRPr lang="en-US" sz="2600" dirty="0"/>
          </a:p>
        </p:txBody>
      </p:sp>
      <p:sp>
        <p:nvSpPr>
          <p:cNvPr id="17" name="Shape 14"/>
          <p:cNvSpPr/>
          <p:nvPr/>
        </p:nvSpPr>
        <p:spPr>
          <a:xfrm>
            <a:off x="6175858" y="1737360"/>
            <a:ext cx="2606040" cy="2011680"/>
          </a:xfrm>
          <a:prstGeom prst="rect">
            <a:avLst>
              <a:gd name="adj" fmla="val 2727"/>
            </a:avLst>
          </a:prstGeom>
          <a:solidFill>
            <a:srgbClr val="F3F3F2"/>
          </a:solidFill>
          <a:ln/>
        </p:spPr>
      </p:sp>
      <p:sp>
        <p:nvSpPr>
          <p:cNvPr id="18" name="Shape 15"/>
          <p:cNvSpPr/>
          <p:nvPr/>
        </p:nvSpPr>
        <p:spPr>
          <a:xfrm>
            <a:off x="6431890" y="1965960"/>
            <a:ext cx="384048" cy="384048"/>
          </a:xfrm>
          <a:prstGeom prst="rect">
            <a:avLst/>
          </a:prstGeom>
          <a:solidFill>
            <a:srgbClr val="1A1D21"/>
          </a:solidFill>
          <a:ln/>
        </p:spPr>
      </p:sp>
      <p:sp>
        <p:nvSpPr>
          <p:cNvPr id="19" name="Text 16"/>
          <p:cNvSpPr txBox="1"/>
          <p:nvPr/>
        </p:nvSpPr>
        <p:spPr>
          <a:xfrm>
            <a:off x="6431890" y="1975104"/>
            <a:ext cx="38404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3</a:t>
            </a:r>
            <a:endParaRPr lang="en-US" sz="1400" dirty="0"/>
          </a:p>
        </p:txBody>
      </p:sp>
      <p:sp>
        <p:nvSpPr>
          <p:cNvPr id="20" name="Text 17"/>
          <p:cNvSpPr txBox="1"/>
          <p:nvPr/>
        </p:nvSpPr>
        <p:spPr>
          <a:xfrm>
            <a:off x="6431890" y="2560320"/>
            <a:ext cx="2194560" cy="347472"/>
          </a:xfrm>
          <a:prstGeom prst="rect">
            <a:avLst/>
          </a:prstGeom>
          <a:noFill/>
          <a:ln/>
        </p:spPr>
        <p:txBody>
          <a:bodyPr wrap="square" lIns="0" tIns="0" rIns="0" bIns="0" rtlCol="0" anchor="t"/>
          <a:lstStyle/>
          <a:p>
            <a:pPr indent="0" marL="0">
              <a:buNone/>
            </a:pPr>
            <a:r>
              <a:rPr lang="en-US" sz="1700" b="1" dirty="0">
                <a:solidFill>
                  <a:srgbClr val="1A1D21"/>
                </a:solidFill>
                <a:latin typeface="Inter" pitchFamily="34" charset="0"/>
                <a:ea typeface="Inter" pitchFamily="34" charset="-122"/>
                <a:cs typeface="Inter" pitchFamily="34" charset="-120"/>
              </a:rPr>
              <a:t>Monte Carlo</a:t>
            </a:r>
            <a:endParaRPr lang="en-US" sz="1700" dirty="0"/>
          </a:p>
        </p:txBody>
      </p:sp>
      <p:sp>
        <p:nvSpPr>
          <p:cNvPr id="21" name="Text 18"/>
          <p:cNvSpPr txBox="1"/>
          <p:nvPr/>
        </p:nvSpPr>
        <p:spPr>
          <a:xfrm>
            <a:off x="6431890" y="2971800"/>
            <a:ext cx="2148840" cy="685800"/>
          </a:xfrm>
          <a:prstGeom prst="rect">
            <a:avLst/>
          </a:prstGeom>
          <a:noFill/>
          <a:ln/>
        </p:spPr>
        <p:txBody>
          <a:bodyPr wrap="square" lIns="0" tIns="0" rIns="0" bIns="0" rtlCol="0" anchor="t"/>
          <a:lstStyle/>
          <a:p>
            <a:pPr indent="0" marL="0">
              <a:buNone/>
            </a:pPr>
            <a:r>
              <a:rPr lang="en-US" sz="1300" dirty="0">
                <a:solidFill>
                  <a:srgbClr val="1F2124"/>
                </a:solidFill>
                <a:latin typeface="Inter" pitchFamily="34" charset="0"/>
                <a:ea typeface="Inter" pitchFamily="34" charset="-122"/>
                <a:cs typeface="Inter" pitchFamily="34" charset="-120"/>
              </a:rPr>
              <a:t>Cada driver calibrado por simulación</a:t>
            </a:r>
            <a:endParaRPr lang="en-US" sz="1300" dirty="0"/>
          </a:p>
        </p:txBody>
      </p:sp>
      <p:sp>
        <p:nvSpPr>
          <p:cNvPr id="22" name="Text 19"/>
          <p:cNvSpPr txBox="1"/>
          <p:nvPr/>
        </p:nvSpPr>
        <p:spPr>
          <a:xfrm>
            <a:off x="8791042" y="2423160"/>
            <a:ext cx="182880" cy="457200"/>
          </a:xfrm>
          <a:prstGeom prst="rect">
            <a:avLst/>
          </a:prstGeom>
          <a:noFill/>
          <a:ln/>
        </p:spPr>
        <p:txBody>
          <a:bodyPr wrap="square" lIns="0" tIns="0" rIns="0" bIns="0" rtlCol="0" anchor="t"/>
          <a:lstStyle/>
          <a:p>
            <a:pPr algn="ctr" indent="0" marL="0">
              <a:buNone/>
            </a:pPr>
            <a:r>
              <a:rPr lang="en-US" sz="2600" b="1" dirty="0">
                <a:solidFill>
                  <a:srgbClr val="1F4B3F"/>
                </a:solidFill>
                <a:latin typeface="Inter" pitchFamily="34" charset="0"/>
                <a:ea typeface="Inter" pitchFamily="34" charset="-122"/>
                <a:cs typeface="Inter" pitchFamily="34" charset="-120"/>
              </a:rPr>
              <a:t>›</a:t>
            </a:r>
            <a:endParaRPr lang="en-US" sz="2600" dirty="0"/>
          </a:p>
        </p:txBody>
      </p:sp>
      <p:sp>
        <p:nvSpPr>
          <p:cNvPr id="23" name="Shape 20"/>
          <p:cNvSpPr/>
          <p:nvPr/>
        </p:nvSpPr>
        <p:spPr>
          <a:xfrm>
            <a:off x="8989466" y="1737360"/>
            <a:ext cx="2606040" cy="2011680"/>
          </a:xfrm>
          <a:prstGeom prst="rect">
            <a:avLst>
              <a:gd name="adj" fmla="val 2727"/>
            </a:avLst>
          </a:prstGeom>
          <a:solidFill>
            <a:srgbClr val="1A1D21"/>
          </a:solidFill>
          <a:ln/>
        </p:spPr>
      </p:sp>
      <p:sp>
        <p:nvSpPr>
          <p:cNvPr id="24" name="Shape 21"/>
          <p:cNvSpPr/>
          <p:nvPr/>
        </p:nvSpPr>
        <p:spPr>
          <a:xfrm>
            <a:off x="9245498" y="1965960"/>
            <a:ext cx="384048" cy="384048"/>
          </a:xfrm>
          <a:prstGeom prst="rect">
            <a:avLst/>
          </a:prstGeom>
          <a:solidFill>
            <a:srgbClr val="1F4B3F"/>
          </a:solidFill>
          <a:ln/>
        </p:spPr>
      </p:sp>
      <p:sp>
        <p:nvSpPr>
          <p:cNvPr id="25" name="Text 22"/>
          <p:cNvSpPr txBox="1"/>
          <p:nvPr/>
        </p:nvSpPr>
        <p:spPr>
          <a:xfrm>
            <a:off x="9245498" y="1975104"/>
            <a:ext cx="38404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4</a:t>
            </a:r>
            <a:endParaRPr lang="en-US" sz="1400" dirty="0"/>
          </a:p>
        </p:txBody>
      </p:sp>
      <p:sp>
        <p:nvSpPr>
          <p:cNvPr id="26" name="Text 23"/>
          <p:cNvSpPr txBox="1"/>
          <p:nvPr/>
        </p:nvSpPr>
        <p:spPr>
          <a:xfrm>
            <a:off x="9245498" y="2560320"/>
            <a:ext cx="2194560" cy="347472"/>
          </a:xfrm>
          <a:prstGeom prst="rect">
            <a:avLst/>
          </a:prstGeom>
          <a:noFill/>
          <a:ln/>
        </p:spPr>
        <p:txBody>
          <a:bodyPr wrap="square" lIns="0" tIns="0" rIns="0" bIns="0" rtlCol="0" anchor="t"/>
          <a:lstStyle/>
          <a:p>
            <a:pPr indent="0" marL="0">
              <a:buNone/>
            </a:pPr>
            <a:r>
              <a:rPr lang="en-US" sz="1700" b="1" dirty="0">
                <a:solidFill>
                  <a:srgbClr val="FFFFFF"/>
                </a:solidFill>
                <a:latin typeface="Inter" pitchFamily="34" charset="0"/>
                <a:ea typeface="Inter" pitchFamily="34" charset="-122"/>
                <a:cs typeface="Inter" pitchFamily="34" charset="-120"/>
              </a:rPr>
              <a:t>Cuatro escenarios</a:t>
            </a:r>
            <a:endParaRPr lang="en-US" sz="1700" dirty="0"/>
          </a:p>
        </p:txBody>
      </p:sp>
      <p:sp>
        <p:nvSpPr>
          <p:cNvPr id="27" name="Text 24"/>
          <p:cNvSpPr txBox="1"/>
          <p:nvPr/>
        </p:nvSpPr>
        <p:spPr>
          <a:xfrm>
            <a:off x="9245498" y="2971800"/>
            <a:ext cx="2148840" cy="685800"/>
          </a:xfrm>
          <a:prstGeom prst="rect">
            <a:avLst/>
          </a:prstGeom>
          <a:noFill/>
          <a:ln/>
        </p:spPr>
        <p:txBody>
          <a:bodyPr wrap="square" lIns="0" tIns="0" rIns="0" bIns="0" rtlCol="0" anchor="t"/>
          <a:lstStyle/>
          <a:p>
            <a:pPr indent="0" marL="0">
              <a:buNone/>
            </a:pPr>
            <a:r>
              <a:rPr lang="en-US" sz="1300" dirty="0">
                <a:solidFill>
                  <a:srgbClr val="D9D9D6"/>
                </a:solidFill>
                <a:latin typeface="Inter" pitchFamily="34" charset="0"/>
                <a:ea typeface="Inter" pitchFamily="34" charset="-122"/>
                <a:cs typeface="Inter" pitchFamily="34" charset="-120"/>
              </a:rPr>
              <a:t>Bull P80 · Base P50 · Bear P20 · Bank P10</a:t>
            </a:r>
            <a:endParaRPr lang="en-US" sz="1300" dirty="0"/>
          </a:p>
        </p:txBody>
      </p:sp>
      <p:sp>
        <p:nvSpPr>
          <p:cNvPr id="28" name="Text 25"/>
          <p:cNvSpPr txBox="1"/>
          <p:nvPr/>
        </p:nvSpPr>
        <p:spPr>
          <a:xfrm>
            <a:off x="548640" y="4160520"/>
            <a:ext cx="8229600" cy="228600"/>
          </a:xfrm>
          <a:prstGeom prst="rect">
            <a:avLst/>
          </a:prstGeom>
          <a:noFill/>
          <a:ln/>
        </p:spPr>
        <p:txBody>
          <a:bodyPr wrap="square" lIns="0" tIns="0" rIns="0" bIns="0" rtlCol="0" anchor="t"/>
          <a:lstStyle/>
          <a:p>
            <a:pPr indent="0" marL="0">
              <a:buNone/>
            </a:pPr>
            <a:r>
              <a:rPr lang="en-US" sz="1050" b="1" spc="150" kern="0" dirty="0">
                <a:solidFill>
                  <a:srgbClr val="1F4B3F"/>
                </a:solidFill>
                <a:latin typeface="Inter" pitchFamily="34" charset="0"/>
                <a:ea typeface="Inter" pitchFamily="34" charset="-122"/>
                <a:cs typeface="Inter" pitchFamily="34" charset="-120"/>
              </a:rPr>
              <a:t>LA BASE DE TODO EL MODELO: EBITDA PRE-IFRS 16</a:t>
            </a:r>
            <a:endParaRPr lang="en-US" sz="1050" dirty="0"/>
          </a:p>
        </p:txBody>
      </p:sp>
      <p:sp>
        <p:nvSpPr>
          <p:cNvPr id="29" name="Shape 26"/>
          <p:cNvSpPr/>
          <p:nvPr/>
        </p:nvSpPr>
        <p:spPr>
          <a:xfrm>
            <a:off x="548640" y="4526280"/>
            <a:ext cx="3239719" cy="1188720"/>
          </a:xfrm>
          <a:prstGeom prst="rect">
            <a:avLst>
              <a:gd name="adj" fmla="val 4615"/>
            </a:avLst>
          </a:prstGeom>
          <a:solidFill>
            <a:srgbClr val="F3F3F2"/>
          </a:solidFill>
          <a:ln/>
        </p:spPr>
      </p:sp>
      <p:sp>
        <p:nvSpPr>
          <p:cNvPr id="30" name="Text 27"/>
          <p:cNvSpPr txBox="1"/>
          <p:nvPr/>
        </p:nvSpPr>
        <p:spPr>
          <a:xfrm>
            <a:off x="548640" y="4617720"/>
            <a:ext cx="3239719" cy="548640"/>
          </a:xfrm>
          <a:prstGeom prst="rect">
            <a:avLst/>
          </a:prstGeom>
          <a:noFill/>
          <a:ln/>
        </p:spPr>
        <p:txBody>
          <a:bodyPr wrap="square" lIns="0" tIns="0" rIns="0" bIns="0" rtlCol="0" anchor="ctr"/>
          <a:lstStyle/>
          <a:p>
            <a:pPr algn="ctr" indent="0" marL="0">
              <a:buNone/>
            </a:pPr>
            <a:r>
              <a:rPr lang="en-US" sz="2600" b="1" dirty="0">
                <a:solidFill>
                  <a:srgbClr val="1A1D21"/>
                </a:solidFill>
                <a:latin typeface="Lora" pitchFamily="34" charset="0"/>
                <a:ea typeface="Lora" pitchFamily="34" charset="-122"/>
                <a:cs typeface="Lora" pitchFamily="34" charset="-120"/>
              </a:rPr>
              <a:t>€11.267m</a:t>
            </a:r>
            <a:endParaRPr lang="en-US" sz="2600" dirty="0"/>
          </a:p>
        </p:txBody>
      </p:sp>
      <p:sp>
        <p:nvSpPr>
          <p:cNvPr id="31" name="Text 28"/>
          <p:cNvSpPr txBox="1"/>
          <p:nvPr/>
        </p:nvSpPr>
        <p:spPr>
          <a:xfrm>
            <a:off x="548640" y="5193792"/>
            <a:ext cx="3239719" cy="320040"/>
          </a:xfrm>
          <a:prstGeom prst="rect">
            <a:avLst/>
          </a:prstGeom>
          <a:noFill/>
          <a:ln/>
        </p:spPr>
        <p:txBody>
          <a:bodyPr wrap="square" lIns="0" tIns="0" rIns="0" bIns="0" rtlCol="0" anchor="t"/>
          <a:lstStyle/>
          <a:p>
            <a:pPr algn="ctr" indent="0" marL="0">
              <a:buNone/>
            </a:pPr>
            <a:r>
              <a:rPr lang="en-US" sz="1200" dirty="0">
                <a:solidFill>
                  <a:srgbClr val="6E7378"/>
                </a:solidFill>
                <a:latin typeface="Inter" pitchFamily="34" charset="0"/>
                <a:ea typeface="Inter" pitchFamily="34" charset="-122"/>
                <a:cs typeface="Inter" pitchFamily="34" charset="-120"/>
              </a:rPr>
              <a:t>EBITDA reportado FY2025</a:t>
            </a:r>
            <a:endParaRPr lang="en-US" sz="1200" dirty="0"/>
          </a:p>
        </p:txBody>
      </p:sp>
      <p:sp>
        <p:nvSpPr>
          <p:cNvPr id="32" name="Text 29"/>
          <p:cNvSpPr txBox="1"/>
          <p:nvPr/>
        </p:nvSpPr>
        <p:spPr>
          <a:xfrm>
            <a:off x="3788359" y="4526280"/>
            <a:ext cx="685800" cy="1188720"/>
          </a:xfrm>
          <a:prstGeom prst="rect">
            <a:avLst/>
          </a:prstGeom>
          <a:noFill/>
          <a:ln/>
        </p:spPr>
        <p:txBody>
          <a:bodyPr wrap="square" lIns="0" tIns="0" rIns="0" bIns="0" rtlCol="0" anchor="ctr"/>
          <a:lstStyle/>
          <a:p>
            <a:pPr algn="ctr" indent="0" marL="0">
              <a:buNone/>
            </a:pPr>
            <a:r>
              <a:rPr lang="en-US" sz="3000" dirty="0">
                <a:solidFill>
                  <a:srgbClr val="1F4B3F"/>
                </a:solidFill>
                <a:latin typeface="Inter" pitchFamily="34" charset="0"/>
                <a:ea typeface="Inter" pitchFamily="34" charset="-122"/>
                <a:cs typeface="Inter" pitchFamily="34" charset="-120"/>
              </a:rPr>
              <a:t>−</a:t>
            </a:r>
            <a:endParaRPr lang="en-US" sz="3000" dirty="0"/>
          </a:p>
        </p:txBody>
      </p:sp>
      <p:sp>
        <p:nvSpPr>
          <p:cNvPr id="33" name="Shape 30"/>
          <p:cNvSpPr/>
          <p:nvPr/>
        </p:nvSpPr>
        <p:spPr>
          <a:xfrm>
            <a:off x="4474159" y="4526280"/>
            <a:ext cx="3239719" cy="1188720"/>
          </a:xfrm>
          <a:prstGeom prst="rect">
            <a:avLst>
              <a:gd name="adj" fmla="val 4615"/>
            </a:avLst>
          </a:prstGeom>
          <a:solidFill>
            <a:srgbClr val="F3F3F2"/>
          </a:solidFill>
          <a:ln/>
        </p:spPr>
      </p:sp>
      <p:sp>
        <p:nvSpPr>
          <p:cNvPr id="34" name="Text 31"/>
          <p:cNvSpPr txBox="1"/>
          <p:nvPr/>
        </p:nvSpPr>
        <p:spPr>
          <a:xfrm>
            <a:off x="4474159" y="4617720"/>
            <a:ext cx="3239719" cy="548640"/>
          </a:xfrm>
          <a:prstGeom prst="rect">
            <a:avLst/>
          </a:prstGeom>
          <a:noFill/>
          <a:ln/>
        </p:spPr>
        <p:txBody>
          <a:bodyPr wrap="square" lIns="0" tIns="0" rIns="0" bIns="0" rtlCol="0" anchor="ctr"/>
          <a:lstStyle/>
          <a:p>
            <a:pPr algn="ctr" indent="0" marL="0">
              <a:buNone/>
            </a:pPr>
            <a:r>
              <a:rPr lang="en-US" sz="2600" b="1" dirty="0">
                <a:solidFill>
                  <a:srgbClr val="1A1D21"/>
                </a:solidFill>
                <a:latin typeface="Lora" pitchFamily="34" charset="0"/>
                <a:ea typeface="Lora" pitchFamily="34" charset="-122"/>
                <a:cs typeface="Lora" pitchFamily="34" charset="-120"/>
              </a:rPr>
              <a:t>€1.834m</a:t>
            </a:r>
            <a:endParaRPr lang="en-US" sz="2600" dirty="0"/>
          </a:p>
        </p:txBody>
      </p:sp>
      <p:sp>
        <p:nvSpPr>
          <p:cNvPr id="35" name="Text 32"/>
          <p:cNvSpPr txBox="1"/>
          <p:nvPr/>
        </p:nvSpPr>
        <p:spPr>
          <a:xfrm>
            <a:off x="4474159" y="5193792"/>
            <a:ext cx="3239719" cy="320040"/>
          </a:xfrm>
          <a:prstGeom prst="rect">
            <a:avLst/>
          </a:prstGeom>
          <a:noFill/>
          <a:ln/>
        </p:spPr>
        <p:txBody>
          <a:bodyPr wrap="square" lIns="0" tIns="0" rIns="0" bIns="0" rtlCol="0" anchor="t"/>
          <a:lstStyle/>
          <a:p>
            <a:pPr algn="ctr" indent="0" marL="0">
              <a:buNone/>
            </a:pPr>
            <a:r>
              <a:rPr lang="en-US" sz="1200" dirty="0">
                <a:solidFill>
                  <a:srgbClr val="6E7378"/>
                </a:solidFill>
                <a:latin typeface="Inter" pitchFamily="34" charset="0"/>
                <a:ea typeface="Inter" pitchFamily="34" charset="-122"/>
                <a:cs typeface="Inter" pitchFamily="34" charset="-120"/>
              </a:rPr>
              <a:t>Alquileres pagados en caja</a:t>
            </a:r>
            <a:endParaRPr lang="en-US" sz="1200" dirty="0"/>
          </a:p>
        </p:txBody>
      </p:sp>
      <p:sp>
        <p:nvSpPr>
          <p:cNvPr id="36" name="Text 33"/>
          <p:cNvSpPr txBox="1"/>
          <p:nvPr/>
        </p:nvSpPr>
        <p:spPr>
          <a:xfrm>
            <a:off x="7713878" y="4526280"/>
            <a:ext cx="685800" cy="1188720"/>
          </a:xfrm>
          <a:prstGeom prst="rect">
            <a:avLst/>
          </a:prstGeom>
          <a:noFill/>
          <a:ln/>
        </p:spPr>
        <p:txBody>
          <a:bodyPr wrap="square" lIns="0" tIns="0" rIns="0" bIns="0" rtlCol="0" anchor="ctr"/>
          <a:lstStyle/>
          <a:p>
            <a:pPr algn="ctr" indent="0" marL="0">
              <a:buNone/>
            </a:pPr>
            <a:r>
              <a:rPr lang="en-US" sz="3000" dirty="0">
                <a:solidFill>
                  <a:srgbClr val="1F4B3F"/>
                </a:solidFill>
                <a:latin typeface="Inter" pitchFamily="34" charset="0"/>
                <a:ea typeface="Inter" pitchFamily="34" charset="-122"/>
                <a:cs typeface="Inter" pitchFamily="34" charset="-120"/>
              </a:rPr>
              <a:t>=</a:t>
            </a:r>
            <a:endParaRPr lang="en-US" sz="3000" dirty="0"/>
          </a:p>
        </p:txBody>
      </p:sp>
      <p:sp>
        <p:nvSpPr>
          <p:cNvPr id="37" name="Shape 34"/>
          <p:cNvSpPr/>
          <p:nvPr/>
        </p:nvSpPr>
        <p:spPr>
          <a:xfrm>
            <a:off x="8399678" y="4526280"/>
            <a:ext cx="3239719" cy="1188720"/>
          </a:xfrm>
          <a:prstGeom prst="rect">
            <a:avLst>
              <a:gd name="adj" fmla="val 4615"/>
            </a:avLst>
          </a:prstGeom>
          <a:solidFill>
            <a:srgbClr val="1F4B3F"/>
          </a:solidFill>
          <a:ln/>
        </p:spPr>
      </p:sp>
      <p:sp>
        <p:nvSpPr>
          <p:cNvPr id="38" name="Text 35"/>
          <p:cNvSpPr txBox="1"/>
          <p:nvPr/>
        </p:nvSpPr>
        <p:spPr>
          <a:xfrm>
            <a:off x="8399678" y="4617720"/>
            <a:ext cx="3239719"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Lora" pitchFamily="34" charset="0"/>
                <a:ea typeface="Lora" pitchFamily="34" charset="-122"/>
                <a:cs typeface="Lora" pitchFamily="34" charset="-120"/>
              </a:rPr>
              <a:t>€9.433m</a:t>
            </a:r>
            <a:endParaRPr lang="en-US" sz="2600" dirty="0"/>
          </a:p>
        </p:txBody>
      </p:sp>
      <p:sp>
        <p:nvSpPr>
          <p:cNvPr id="39" name="Text 36"/>
          <p:cNvSpPr txBox="1"/>
          <p:nvPr/>
        </p:nvSpPr>
        <p:spPr>
          <a:xfrm>
            <a:off x="8399678" y="5193792"/>
            <a:ext cx="3239719" cy="320040"/>
          </a:xfrm>
          <a:prstGeom prst="rect">
            <a:avLst/>
          </a:prstGeom>
          <a:noFill/>
          <a:ln/>
        </p:spPr>
        <p:txBody>
          <a:bodyPr wrap="square" lIns="0" tIns="0" rIns="0" bIns="0" rtlCol="0" anchor="t"/>
          <a:lstStyle/>
          <a:p>
            <a:pPr algn="ctr" indent="0" marL="0">
              <a:buNone/>
            </a:pPr>
            <a:r>
              <a:rPr lang="en-US" sz="1200" dirty="0">
                <a:solidFill>
                  <a:srgbClr val="D9E6DF"/>
                </a:solidFill>
                <a:latin typeface="Inter" pitchFamily="34" charset="0"/>
                <a:ea typeface="Inter" pitchFamily="34" charset="-122"/>
                <a:cs typeface="Inter" pitchFamily="34" charset="-120"/>
              </a:rPr>
              <a:t>EBITDA pre-IFRS 16</a:t>
            </a:r>
            <a:endParaRPr lang="en-US" sz="1200" dirty="0"/>
          </a:p>
        </p:txBody>
      </p:sp>
      <p:sp>
        <p:nvSpPr>
          <p:cNvPr id="40" name="Text 37"/>
          <p:cNvSpPr txBox="1"/>
          <p:nvPr/>
        </p:nvSpPr>
        <p:spPr>
          <a:xfrm>
            <a:off x="548640" y="5852160"/>
            <a:ext cx="11064240" cy="274320"/>
          </a:xfrm>
          <a:prstGeom prst="rect">
            <a:avLst/>
          </a:prstGeom>
          <a:noFill/>
          <a:ln/>
        </p:spPr>
        <p:txBody>
          <a:bodyPr wrap="square" lIns="0" tIns="0" rIns="0" bIns="0" rtlCol="0" anchor="t"/>
          <a:lstStyle/>
          <a:p>
            <a:pPr indent="0" marL="0">
              <a:buNone/>
            </a:pPr>
            <a:r>
              <a:rPr lang="en-US" sz="1200" dirty="0">
                <a:solidFill>
                  <a:srgbClr val="1F2124"/>
                </a:solidFill>
                <a:latin typeface="Inter" pitchFamily="34" charset="0"/>
                <a:ea typeface="Inter" pitchFamily="34" charset="-122"/>
                <a:cs typeface="Inter" pitchFamily="34" charset="-120"/>
              </a:rPr>
              <a:t>Es la cifra con la que se dimensiona la deuda, se miden los covenants y se valora la entrada y la salida.</a:t>
            </a:r>
            <a:endParaRPr lang="en-US" sz="1200" dirty="0"/>
          </a:p>
        </p:txBody>
      </p:sp>
      <p:sp>
        <p:nvSpPr>
          <p:cNvPr id="41" name="Text 38"/>
          <p:cNvSpPr txBox="1"/>
          <p:nvPr/>
        </p:nvSpPr>
        <p:spPr>
          <a:xfrm>
            <a:off x="8595360" y="6327648"/>
            <a:ext cx="3044952" cy="228600"/>
          </a:xfrm>
          <a:prstGeom prst="rect">
            <a:avLst/>
          </a:prstGeom>
          <a:noFill/>
          <a:ln/>
        </p:spPr>
        <p:txBody>
          <a:bodyPr wrap="square" lIns="0" tIns="0" rIns="0" bIns="0" rtlCol="0" anchor="t"/>
          <a:lstStyle/>
          <a:p>
            <a:pPr algn="r" indent="0" marL="0">
              <a:buNone/>
            </a:pPr>
            <a:r>
              <a:rPr lang="en-US" sz="900" dirty="0">
                <a:solidFill>
                  <a:srgbClr val="6E7378"/>
                </a:solidFill>
                <a:latin typeface="Inter" pitchFamily="34" charset="0"/>
                <a:ea typeface="Inter" pitchFamily="34" charset="-122"/>
                <a:cs typeface="Inter" pitchFamily="34" charset="-120"/>
              </a:rPr>
              <a:t>Project Galicia  ·  Estrictamente confidencial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79476"/>
            <a:ext cx="7772400" cy="228600"/>
          </a:xfrm>
          <a:prstGeom prst="rect">
            <a:avLst/>
          </a:prstGeom>
          <a:noFill/>
          <a:ln/>
        </p:spPr>
        <p:txBody>
          <a:bodyPr wrap="square" lIns="0" tIns="0" rIns="0" bIns="0" rtlCol="0" anchor="ctr"/>
          <a:lstStyle/>
          <a:p>
            <a:pPr indent="0" marL="0">
              <a:buNone/>
            </a:pPr>
            <a:r>
              <a:rPr lang="en-US" sz="1100" b="1" spc="200" kern="0" dirty="0">
                <a:solidFill>
                  <a:srgbClr val="1F4B3F"/>
                </a:solidFill>
                <a:latin typeface="Inter" pitchFamily="34" charset="0"/>
                <a:ea typeface="Inter" pitchFamily="34" charset="-122"/>
                <a:cs typeface="Inter" pitchFamily="34" charset="-120"/>
              </a:rPr>
              <a:t>01  BUSINESS PLAN</a:t>
            </a:r>
            <a:endParaRPr lang="en-US" sz="1100" dirty="0"/>
          </a:p>
        </p:txBody>
      </p:sp>
      <p:pic>
        <p:nvPicPr>
          <p:cNvPr id="3" name="Image 0" descr="/tmp/claude-0/-home-claude/8d7de6a3-f167-5c95-8bc2-67944307bfd8/scratchpad/canva/img/HLP_monograma.png">    </p:cNvPr>
          <p:cNvPicPr>
            <a:picLocks noChangeAspect="1"/>
          </p:cNvPicPr>
          <p:nvPr/>
        </p:nvPicPr>
        <p:blipFill>
          <a:blip r:embed="rId1"/>
          <a:stretch>
            <a:fillRect/>
          </a:stretch>
        </p:blipFill>
        <p:spPr>
          <a:xfrm>
            <a:off x="11130991" y="237744"/>
            <a:ext cx="512064" cy="512064"/>
          </a:xfrm>
          <a:prstGeom prst="rect">
            <a:avLst/>
          </a:prstGeom>
        </p:spPr>
      </p:pic>
      <p:sp>
        <p:nvSpPr>
          <p:cNvPr id="4" name="Text 1"/>
          <p:cNvSpPr txBox="1"/>
          <p:nvPr/>
        </p:nvSpPr>
        <p:spPr>
          <a:xfrm>
            <a:off x="548640" y="786384"/>
            <a:ext cx="11091672" cy="658368"/>
          </a:xfrm>
          <a:prstGeom prst="rect">
            <a:avLst/>
          </a:prstGeom>
          <a:noFill/>
          <a:ln/>
        </p:spPr>
        <p:txBody>
          <a:bodyPr wrap="square" lIns="0" tIns="0" rIns="0" bIns="0" rtlCol="0" anchor="t"/>
          <a:lstStyle/>
          <a:p>
            <a:pPr indent="0" marL="0">
              <a:lnSpc>
                <a:spcPct val="92000"/>
              </a:lnSpc>
              <a:buNone/>
            </a:pPr>
            <a:r>
              <a:rPr lang="en-US" sz="2200" dirty="0">
                <a:solidFill>
                  <a:srgbClr val="1A1D21"/>
                </a:solidFill>
                <a:latin typeface="Lora" pitchFamily="34" charset="0"/>
                <a:ea typeface="Lora" pitchFamily="34" charset="-122"/>
                <a:cs typeface="Lora" pitchFamily="34" charset="-120"/>
              </a:rPr>
              <a:t>Los cuatro escenarios se diferencian en crecimiento, márgenes, capex y circulante</a:t>
            </a:r>
            <a:endParaRPr lang="en-US" sz="2200" dirty="0"/>
          </a:p>
        </p:txBody>
      </p:sp>
      <p:sp>
        <p:nvSpPr>
          <p:cNvPr id="5" name="Text 2"/>
          <p:cNvSpPr txBox="1"/>
          <p:nvPr/>
        </p:nvSpPr>
        <p:spPr>
          <a:xfrm>
            <a:off x="548640" y="1645920"/>
            <a:ext cx="4873752" cy="448056"/>
          </a:xfrm>
          <a:prstGeom prst="rect">
            <a:avLst/>
          </a:prstGeom>
          <a:solidFill>
            <a:srgbClr val="1A1D21"/>
          </a:solidFill>
          <a:ln/>
        </p:spPr>
        <p:txBody>
          <a:bodyPr wrap="square" lIns="0" tIns="88900" rIns="88900" bIns="0" rtlCol="0" anchor="ctr"/>
          <a:lstStyle/>
          <a:p>
            <a:pPr algn="l" indent="0" marL="0">
              <a:buNone/>
            </a:pPr>
            <a:r>
              <a:rPr lang="en-US" sz="1250" b="1" dirty="0">
                <a:solidFill>
                  <a:srgbClr val="FFFFFF"/>
                </a:solidFill>
                <a:latin typeface="Inter" pitchFamily="34" charset="0"/>
                <a:ea typeface="Inter" pitchFamily="34" charset="-122"/>
                <a:cs typeface="Inter" pitchFamily="34" charset="-120"/>
              </a:rPr>
              <a:t>Hipótesis anual (2026–2032)</a:t>
            </a:r>
            <a:endParaRPr lang="en-US" sz="1250" dirty="0"/>
          </a:p>
        </p:txBody>
      </p:sp>
      <p:sp>
        <p:nvSpPr>
          <p:cNvPr id="6" name="Text 3"/>
          <p:cNvSpPr txBox="1"/>
          <p:nvPr/>
        </p:nvSpPr>
        <p:spPr>
          <a:xfrm>
            <a:off x="5422392" y="1645920"/>
            <a:ext cx="1554480" cy="448056"/>
          </a:xfrm>
          <a:prstGeom prst="rect">
            <a:avLst/>
          </a:prstGeom>
          <a:solidFill>
            <a:srgbClr val="1A1D21"/>
          </a:solidFill>
          <a:ln/>
        </p:spPr>
        <p:txBody>
          <a:bodyPr wrap="square" lIns="0" tIns="88900" rIns="88900" bIns="0" rtlCol="0" anchor="ctr"/>
          <a:lstStyle/>
          <a:p>
            <a:pPr algn="r" indent="0" marL="0">
              <a:buNone/>
            </a:pPr>
            <a:r>
              <a:rPr lang="en-US" sz="1250" b="1" dirty="0">
                <a:solidFill>
                  <a:srgbClr val="FFFFFF"/>
                </a:solidFill>
                <a:latin typeface="Inter" pitchFamily="34" charset="0"/>
                <a:ea typeface="Inter" pitchFamily="34" charset="-122"/>
                <a:cs typeface="Inter" pitchFamily="34" charset="-120"/>
              </a:rPr>
              <a:t>Base (P50)</a:t>
            </a:r>
            <a:endParaRPr lang="en-US" sz="1250" dirty="0"/>
          </a:p>
        </p:txBody>
      </p:sp>
      <p:sp>
        <p:nvSpPr>
          <p:cNvPr id="7" name="Text 4"/>
          <p:cNvSpPr txBox="1"/>
          <p:nvPr/>
        </p:nvSpPr>
        <p:spPr>
          <a:xfrm>
            <a:off x="6976872" y="1645920"/>
            <a:ext cx="1554480" cy="448056"/>
          </a:xfrm>
          <a:prstGeom prst="rect">
            <a:avLst/>
          </a:prstGeom>
          <a:solidFill>
            <a:srgbClr val="1A1D21"/>
          </a:solidFill>
          <a:ln/>
        </p:spPr>
        <p:txBody>
          <a:bodyPr wrap="square" lIns="0" tIns="88900" rIns="88900" bIns="0" rtlCol="0" anchor="ctr"/>
          <a:lstStyle/>
          <a:p>
            <a:pPr algn="r" indent="0" marL="0">
              <a:buNone/>
            </a:pPr>
            <a:r>
              <a:rPr lang="en-US" sz="1250" b="1" dirty="0">
                <a:solidFill>
                  <a:srgbClr val="FFFFFF"/>
                </a:solidFill>
                <a:latin typeface="Inter" pitchFamily="34" charset="0"/>
                <a:ea typeface="Inter" pitchFamily="34" charset="-122"/>
                <a:cs typeface="Inter" pitchFamily="34" charset="-120"/>
              </a:rPr>
              <a:t>Bull (P80)</a:t>
            </a:r>
            <a:endParaRPr lang="en-US" sz="1250" dirty="0"/>
          </a:p>
        </p:txBody>
      </p:sp>
      <p:sp>
        <p:nvSpPr>
          <p:cNvPr id="8" name="Text 5"/>
          <p:cNvSpPr txBox="1"/>
          <p:nvPr/>
        </p:nvSpPr>
        <p:spPr>
          <a:xfrm>
            <a:off x="8531352" y="1645920"/>
            <a:ext cx="1554480" cy="448056"/>
          </a:xfrm>
          <a:prstGeom prst="rect">
            <a:avLst/>
          </a:prstGeom>
          <a:solidFill>
            <a:srgbClr val="1A1D21"/>
          </a:solidFill>
          <a:ln/>
        </p:spPr>
        <p:txBody>
          <a:bodyPr wrap="square" lIns="0" tIns="88900" rIns="88900" bIns="0" rtlCol="0" anchor="ctr"/>
          <a:lstStyle/>
          <a:p>
            <a:pPr algn="r" indent="0" marL="0">
              <a:buNone/>
            </a:pPr>
            <a:r>
              <a:rPr lang="en-US" sz="1250" b="1" dirty="0">
                <a:solidFill>
                  <a:srgbClr val="FFFFFF"/>
                </a:solidFill>
                <a:latin typeface="Inter" pitchFamily="34" charset="0"/>
                <a:ea typeface="Inter" pitchFamily="34" charset="-122"/>
                <a:cs typeface="Inter" pitchFamily="34" charset="-120"/>
              </a:rPr>
              <a:t>Bear (P20)</a:t>
            </a:r>
            <a:endParaRPr lang="en-US" sz="1250" dirty="0"/>
          </a:p>
        </p:txBody>
      </p:sp>
      <p:sp>
        <p:nvSpPr>
          <p:cNvPr id="9" name="Text 6"/>
          <p:cNvSpPr txBox="1"/>
          <p:nvPr/>
        </p:nvSpPr>
        <p:spPr>
          <a:xfrm>
            <a:off x="10085832" y="1645920"/>
            <a:ext cx="1554480" cy="448056"/>
          </a:xfrm>
          <a:prstGeom prst="rect">
            <a:avLst/>
          </a:prstGeom>
          <a:solidFill>
            <a:srgbClr val="1A1D21"/>
          </a:solidFill>
          <a:ln/>
        </p:spPr>
        <p:txBody>
          <a:bodyPr wrap="square" lIns="0" tIns="88900" rIns="88900" bIns="0" rtlCol="0" anchor="ctr"/>
          <a:lstStyle/>
          <a:p>
            <a:pPr algn="r" indent="0" marL="0">
              <a:buNone/>
            </a:pPr>
            <a:r>
              <a:rPr lang="en-US" sz="1250" b="1" dirty="0">
                <a:solidFill>
                  <a:srgbClr val="FFFFFF"/>
                </a:solidFill>
                <a:latin typeface="Inter" pitchFamily="34" charset="0"/>
                <a:ea typeface="Inter" pitchFamily="34" charset="-122"/>
                <a:cs typeface="Inter" pitchFamily="34" charset="-120"/>
              </a:rPr>
              <a:t>Bank (P10)</a:t>
            </a:r>
            <a:endParaRPr lang="en-US" sz="1250" dirty="0"/>
          </a:p>
        </p:txBody>
      </p:sp>
      <p:sp>
        <p:nvSpPr>
          <p:cNvPr id="10" name="Text 7"/>
          <p:cNvSpPr txBox="1"/>
          <p:nvPr/>
        </p:nvSpPr>
        <p:spPr>
          <a:xfrm>
            <a:off x="548640" y="2093976"/>
            <a:ext cx="4873752" cy="448056"/>
          </a:xfrm>
          <a:prstGeom prst="rect">
            <a:avLst/>
          </a:prstGeom>
          <a:solidFill>
            <a:srgbClr val="FFFFFF"/>
          </a:solidFill>
          <a:ln/>
        </p:spPr>
        <p:txBody>
          <a:bodyPr wrap="square" lIns="0" tIns="88900" rIns="88900" bIns="0" rtlCol="0" anchor="ctr"/>
          <a:lstStyle/>
          <a:p>
            <a:pPr algn="l" indent="0" marL="0">
              <a:buNone/>
            </a:pPr>
            <a:r>
              <a:rPr lang="en-US" sz="1300" dirty="0">
                <a:solidFill>
                  <a:srgbClr val="1F2124"/>
                </a:solidFill>
                <a:latin typeface="Inter" pitchFamily="34" charset="0"/>
                <a:ea typeface="Inter" pitchFamily="34" charset="-122"/>
                <a:cs typeface="Inter" pitchFamily="34" charset="-120"/>
              </a:rPr>
              <a:t>Crecimiento de las ventas</a:t>
            </a:r>
            <a:endParaRPr lang="en-US" sz="1300" dirty="0"/>
          </a:p>
        </p:txBody>
      </p:sp>
      <p:sp>
        <p:nvSpPr>
          <p:cNvPr id="11" name="Text 8"/>
          <p:cNvSpPr txBox="1"/>
          <p:nvPr/>
        </p:nvSpPr>
        <p:spPr>
          <a:xfrm>
            <a:off x="5422392" y="2093976"/>
            <a:ext cx="1554480" cy="448056"/>
          </a:xfrm>
          <a:prstGeom prst="rect">
            <a:avLst/>
          </a:prstGeom>
          <a:solidFill>
            <a:srgbClr val="E7EFEA"/>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5,25%</a:t>
            </a:r>
            <a:endParaRPr lang="en-US" sz="1300" dirty="0"/>
          </a:p>
        </p:txBody>
      </p:sp>
      <p:sp>
        <p:nvSpPr>
          <p:cNvPr id="12" name="Text 9"/>
          <p:cNvSpPr txBox="1"/>
          <p:nvPr/>
        </p:nvSpPr>
        <p:spPr>
          <a:xfrm>
            <a:off x="6976872" y="2093976"/>
            <a:ext cx="1554480" cy="448056"/>
          </a:xfrm>
          <a:prstGeom prst="rect">
            <a:avLst/>
          </a:prstGeom>
          <a:solidFill>
            <a:srgbClr val="FFFFFF"/>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7,00%</a:t>
            </a:r>
            <a:endParaRPr lang="en-US" sz="1300" dirty="0"/>
          </a:p>
        </p:txBody>
      </p:sp>
      <p:sp>
        <p:nvSpPr>
          <p:cNvPr id="13" name="Text 10"/>
          <p:cNvSpPr txBox="1"/>
          <p:nvPr/>
        </p:nvSpPr>
        <p:spPr>
          <a:xfrm>
            <a:off x="8531352" y="2093976"/>
            <a:ext cx="1554480" cy="448056"/>
          </a:xfrm>
          <a:prstGeom prst="rect">
            <a:avLst/>
          </a:prstGeom>
          <a:solidFill>
            <a:srgbClr val="FFFFFF"/>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3,75%</a:t>
            </a:r>
            <a:endParaRPr lang="en-US" sz="1300" dirty="0"/>
          </a:p>
        </p:txBody>
      </p:sp>
      <p:sp>
        <p:nvSpPr>
          <p:cNvPr id="14" name="Text 11"/>
          <p:cNvSpPr txBox="1"/>
          <p:nvPr/>
        </p:nvSpPr>
        <p:spPr>
          <a:xfrm>
            <a:off x="10085832" y="2093976"/>
            <a:ext cx="1554480" cy="448056"/>
          </a:xfrm>
          <a:prstGeom prst="rect">
            <a:avLst/>
          </a:prstGeom>
          <a:solidFill>
            <a:srgbClr val="FFFFFF"/>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2,75%</a:t>
            </a:r>
            <a:endParaRPr lang="en-US" sz="1300" dirty="0"/>
          </a:p>
        </p:txBody>
      </p:sp>
      <p:sp>
        <p:nvSpPr>
          <p:cNvPr id="15" name="Text 12"/>
          <p:cNvSpPr txBox="1"/>
          <p:nvPr/>
        </p:nvSpPr>
        <p:spPr>
          <a:xfrm>
            <a:off x="548640" y="2542032"/>
            <a:ext cx="4873752" cy="448056"/>
          </a:xfrm>
          <a:prstGeom prst="rect">
            <a:avLst/>
          </a:prstGeom>
          <a:solidFill>
            <a:srgbClr val="F3F3F2"/>
          </a:solidFill>
          <a:ln/>
        </p:spPr>
        <p:txBody>
          <a:bodyPr wrap="square" lIns="0" tIns="88900" rIns="88900" bIns="0" rtlCol="0" anchor="ctr"/>
          <a:lstStyle/>
          <a:p>
            <a:pPr algn="l" indent="0" marL="0">
              <a:buNone/>
            </a:pPr>
            <a:r>
              <a:rPr lang="en-US" sz="1300" dirty="0">
                <a:solidFill>
                  <a:srgbClr val="1F2124"/>
                </a:solidFill>
                <a:latin typeface="Inter" pitchFamily="34" charset="0"/>
                <a:ea typeface="Inter" pitchFamily="34" charset="-122"/>
                <a:cs typeface="Inter" pitchFamily="34" charset="-120"/>
              </a:rPr>
              <a:t>Margen bruto</a:t>
            </a:r>
            <a:endParaRPr lang="en-US" sz="1300" dirty="0"/>
          </a:p>
        </p:txBody>
      </p:sp>
      <p:sp>
        <p:nvSpPr>
          <p:cNvPr id="16" name="Text 13"/>
          <p:cNvSpPr txBox="1"/>
          <p:nvPr/>
        </p:nvSpPr>
        <p:spPr>
          <a:xfrm>
            <a:off x="5422392" y="2542032"/>
            <a:ext cx="1554480" cy="448056"/>
          </a:xfrm>
          <a:prstGeom prst="rect">
            <a:avLst/>
          </a:prstGeom>
          <a:solidFill>
            <a:srgbClr val="E7EFEA"/>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58,1%</a:t>
            </a:r>
            <a:endParaRPr lang="en-US" sz="1300" dirty="0"/>
          </a:p>
        </p:txBody>
      </p:sp>
      <p:sp>
        <p:nvSpPr>
          <p:cNvPr id="17" name="Text 14"/>
          <p:cNvSpPr txBox="1"/>
          <p:nvPr/>
        </p:nvSpPr>
        <p:spPr>
          <a:xfrm>
            <a:off x="6976872" y="2542032"/>
            <a:ext cx="1554480" cy="448056"/>
          </a:xfrm>
          <a:prstGeom prst="rect">
            <a:avLst/>
          </a:prstGeom>
          <a:solidFill>
            <a:srgbClr val="F3F3F2"/>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58,5%</a:t>
            </a:r>
            <a:endParaRPr lang="en-US" sz="1300" dirty="0"/>
          </a:p>
        </p:txBody>
      </p:sp>
      <p:sp>
        <p:nvSpPr>
          <p:cNvPr id="18" name="Text 15"/>
          <p:cNvSpPr txBox="1"/>
          <p:nvPr/>
        </p:nvSpPr>
        <p:spPr>
          <a:xfrm>
            <a:off x="8531352" y="2542032"/>
            <a:ext cx="1554480" cy="448056"/>
          </a:xfrm>
          <a:prstGeom prst="rect">
            <a:avLst/>
          </a:prstGeom>
          <a:solidFill>
            <a:srgbClr val="F3F3F2"/>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57,7%</a:t>
            </a:r>
            <a:endParaRPr lang="en-US" sz="1300" dirty="0"/>
          </a:p>
        </p:txBody>
      </p:sp>
      <p:sp>
        <p:nvSpPr>
          <p:cNvPr id="19" name="Text 16"/>
          <p:cNvSpPr txBox="1"/>
          <p:nvPr/>
        </p:nvSpPr>
        <p:spPr>
          <a:xfrm>
            <a:off x="10085832" y="2542032"/>
            <a:ext cx="1554480" cy="448056"/>
          </a:xfrm>
          <a:prstGeom prst="rect">
            <a:avLst/>
          </a:prstGeom>
          <a:solidFill>
            <a:srgbClr val="F3F3F2"/>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57,4%</a:t>
            </a:r>
            <a:endParaRPr lang="en-US" sz="1300" dirty="0"/>
          </a:p>
        </p:txBody>
      </p:sp>
      <p:sp>
        <p:nvSpPr>
          <p:cNvPr id="20" name="Text 17"/>
          <p:cNvSpPr txBox="1"/>
          <p:nvPr/>
        </p:nvSpPr>
        <p:spPr>
          <a:xfrm>
            <a:off x="548640" y="2990088"/>
            <a:ext cx="4873752" cy="448056"/>
          </a:xfrm>
          <a:prstGeom prst="rect">
            <a:avLst/>
          </a:prstGeom>
          <a:solidFill>
            <a:srgbClr val="FFFFFF"/>
          </a:solidFill>
          <a:ln/>
        </p:spPr>
        <p:txBody>
          <a:bodyPr wrap="square" lIns="0" tIns="88900" rIns="88900" bIns="0" rtlCol="0" anchor="ctr"/>
          <a:lstStyle/>
          <a:p>
            <a:pPr algn="l" indent="0" marL="0">
              <a:buNone/>
            </a:pPr>
            <a:r>
              <a:rPr lang="en-US" sz="1300" dirty="0">
                <a:solidFill>
                  <a:srgbClr val="1F2124"/>
                </a:solidFill>
                <a:latin typeface="Inter" pitchFamily="34" charset="0"/>
                <a:ea typeface="Inter" pitchFamily="34" charset="-122"/>
                <a:cs typeface="Inter" pitchFamily="34" charset="-120"/>
              </a:rPr>
              <a:t>Crecimiento de los gastos operativos</a:t>
            </a:r>
            <a:endParaRPr lang="en-US" sz="1300" dirty="0"/>
          </a:p>
        </p:txBody>
      </p:sp>
      <p:sp>
        <p:nvSpPr>
          <p:cNvPr id="21" name="Text 18"/>
          <p:cNvSpPr txBox="1"/>
          <p:nvPr/>
        </p:nvSpPr>
        <p:spPr>
          <a:xfrm>
            <a:off x="5422392" y="2990088"/>
            <a:ext cx="1554480" cy="448056"/>
          </a:xfrm>
          <a:prstGeom prst="rect">
            <a:avLst/>
          </a:prstGeom>
          <a:solidFill>
            <a:srgbClr val="E7EFEA"/>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4,5%</a:t>
            </a:r>
            <a:endParaRPr lang="en-US" sz="1300" dirty="0"/>
          </a:p>
        </p:txBody>
      </p:sp>
      <p:sp>
        <p:nvSpPr>
          <p:cNvPr id="22" name="Text 19"/>
          <p:cNvSpPr txBox="1"/>
          <p:nvPr/>
        </p:nvSpPr>
        <p:spPr>
          <a:xfrm>
            <a:off x="6976872" y="2990088"/>
            <a:ext cx="1554480" cy="448056"/>
          </a:xfrm>
          <a:prstGeom prst="rect">
            <a:avLst/>
          </a:prstGeom>
          <a:solidFill>
            <a:srgbClr val="FFFFFF"/>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5,8%</a:t>
            </a:r>
            <a:endParaRPr lang="en-US" sz="1300" dirty="0"/>
          </a:p>
        </p:txBody>
      </p:sp>
      <p:sp>
        <p:nvSpPr>
          <p:cNvPr id="23" name="Text 20"/>
          <p:cNvSpPr txBox="1"/>
          <p:nvPr/>
        </p:nvSpPr>
        <p:spPr>
          <a:xfrm>
            <a:off x="8531352" y="2990088"/>
            <a:ext cx="1554480" cy="448056"/>
          </a:xfrm>
          <a:prstGeom prst="rect">
            <a:avLst/>
          </a:prstGeom>
          <a:solidFill>
            <a:srgbClr val="FFFFFF"/>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3,5%</a:t>
            </a:r>
            <a:endParaRPr lang="en-US" sz="1300" dirty="0"/>
          </a:p>
        </p:txBody>
      </p:sp>
      <p:sp>
        <p:nvSpPr>
          <p:cNvPr id="24" name="Text 21"/>
          <p:cNvSpPr txBox="1"/>
          <p:nvPr/>
        </p:nvSpPr>
        <p:spPr>
          <a:xfrm>
            <a:off x="10085832" y="2990088"/>
            <a:ext cx="1554480" cy="448056"/>
          </a:xfrm>
          <a:prstGeom prst="rect">
            <a:avLst/>
          </a:prstGeom>
          <a:solidFill>
            <a:srgbClr val="FFFFFF"/>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2,8%</a:t>
            </a:r>
            <a:endParaRPr lang="en-US" sz="1300" dirty="0"/>
          </a:p>
        </p:txBody>
      </p:sp>
      <p:sp>
        <p:nvSpPr>
          <p:cNvPr id="25" name="Text 22"/>
          <p:cNvSpPr txBox="1"/>
          <p:nvPr/>
        </p:nvSpPr>
        <p:spPr>
          <a:xfrm>
            <a:off x="548640" y="3438144"/>
            <a:ext cx="4873752" cy="448056"/>
          </a:xfrm>
          <a:prstGeom prst="rect">
            <a:avLst/>
          </a:prstGeom>
          <a:solidFill>
            <a:srgbClr val="F3F3F2"/>
          </a:solidFill>
          <a:ln/>
        </p:spPr>
        <p:txBody>
          <a:bodyPr wrap="square" lIns="0" tIns="88900" rIns="88900" bIns="0" rtlCol="0" anchor="ctr"/>
          <a:lstStyle/>
          <a:p>
            <a:pPr algn="l" indent="0" marL="0">
              <a:buNone/>
            </a:pPr>
            <a:r>
              <a:rPr lang="en-US" sz="1300" dirty="0">
                <a:solidFill>
                  <a:srgbClr val="1F2124"/>
                </a:solidFill>
                <a:latin typeface="Inter" pitchFamily="34" charset="0"/>
                <a:ea typeface="Inter" pitchFamily="34" charset="-122"/>
                <a:cs typeface="Inter" pitchFamily="34" charset="-120"/>
              </a:rPr>
              <a:t>Crecimiento de los alquileres en caja</a:t>
            </a:r>
            <a:endParaRPr lang="en-US" sz="1300" dirty="0"/>
          </a:p>
        </p:txBody>
      </p:sp>
      <p:sp>
        <p:nvSpPr>
          <p:cNvPr id="26" name="Text 23"/>
          <p:cNvSpPr txBox="1"/>
          <p:nvPr/>
        </p:nvSpPr>
        <p:spPr>
          <a:xfrm>
            <a:off x="5422392" y="3438144"/>
            <a:ext cx="1554480" cy="448056"/>
          </a:xfrm>
          <a:prstGeom prst="rect">
            <a:avLst/>
          </a:prstGeom>
          <a:solidFill>
            <a:srgbClr val="E7EFEA"/>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3,6%</a:t>
            </a:r>
            <a:endParaRPr lang="en-US" sz="1300" dirty="0"/>
          </a:p>
        </p:txBody>
      </p:sp>
      <p:sp>
        <p:nvSpPr>
          <p:cNvPr id="27" name="Text 24"/>
          <p:cNvSpPr txBox="1"/>
          <p:nvPr/>
        </p:nvSpPr>
        <p:spPr>
          <a:xfrm>
            <a:off x="6976872" y="3438144"/>
            <a:ext cx="1554480" cy="448056"/>
          </a:xfrm>
          <a:prstGeom prst="rect">
            <a:avLst/>
          </a:prstGeom>
          <a:solidFill>
            <a:srgbClr val="F3F3F2"/>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3,9%</a:t>
            </a:r>
            <a:endParaRPr lang="en-US" sz="1300" dirty="0"/>
          </a:p>
        </p:txBody>
      </p:sp>
      <p:sp>
        <p:nvSpPr>
          <p:cNvPr id="28" name="Text 25"/>
          <p:cNvSpPr txBox="1"/>
          <p:nvPr/>
        </p:nvSpPr>
        <p:spPr>
          <a:xfrm>
            <a:off x="8531352" y="3438144"/>
            <a:ext cx="1554480" cy="448056"/>
          </a:xfrm>
          <a:prstGeom prst="rect">
            <a:avLst/>
          </a:prstGeom>
          <a:solidFill>
            <a:srgbClr val="F3F3F2"/>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3,0%</a:t>
            </a:r>
            <a:endParaRPr lang="en-US" sz="1300" dirty="0"/>
          </a:p>
        </p:txBody>
      </p:sp>
      <p:sp>
        <p:nvSpPr>
          <p:cNvPr id="29" name="Text 26"/>
          <p:cNvSpPr txBox="1"/>
          <p:nvPr/>
        </p:nvSpPr>
        <p:spPr>
          <a:xfrm>
            <a:off x="10085832" y="3438144"/>
            <a:ext cx="1554480" cy="448056"/>
          </a:xfrm>
          <a:prstGeom prst="rect">
            <a:avLst/>
          </a:prstGeom>
          <a:solidFill>
            <a:srgbClr val="F3F3F2"/>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2,5%</a:t>
            </a:r>
            <a:endParaRPr lang="en-US" sz="1300" dirty="0"/>
          </a:p>
        </p:txBody>
      </p:sp>
      <p:sp>
        <p:nvSpPr>
          <p:cNvPr id="30" name="Text 27"/>
          <p:cNvSpPr txBox="1"/>
          <p:nvPr/>
        </p:nvSpPr>
        <p:spPr>
          <a:xfrm>
            <a:off x="548640" y="3886200"/>
            <a:ext cx="4873752" cy="448056"/>
          </a:xfrm>
          <a:prstGeom prst="rect">
            <a:avLst/>
          </a:prstGeom>
          <a:solidFill>
            <a:srgbClr val="FFFFFF"/>
          </a:solidFill>
          <a:ln/>
        </p:spPr>
        <p:txBody>
          <a:bodyPr wrap="square" lIns="0" tIns="88900" rIns="88900" bIns="0" rtlCol="0" anchor="ctr"/>
          <a:lstStyle/>
          <a:p>
            <a:pPr algn="l" indent="0" marL="0">
              <a:buNone/>
            </a:pPr>
            <a:r>
              <a:rPr lang="en-US" sz="1300" dirty="0">
                <a:solidFill>
                  <a:srgbClr val="1F2124"/>
                </a:solidFill>
                <a:latin typeface="Inter" pitchFamily="34" charset="0"/>
                <a:ea typeface="Inter" pitchFamily="34" charset="-122"/>
                <a:cs typeface="Inter" pitchFamily="34" charset="-120"/>
              </a:rPr>
              <a:t>Capex de mantenimiento (% ventas)</a:t>
            </a:r>
            <a:endParaRPr lang="en-US" sz="1300" dirty="0"/>
          </a:p>
        </p:txBody>
      </p:sp>
      <p:sp>
        <p:nvSpPr>
          <p:cNvPr id="31" name="Text 28"/>
          <p:cNvSpPr txBox="1"/>
          <p:nvPr/>
        </p:nvSpPr>
        <p:spPr>
          <a:xfrm>
            <a:off x="5422392" y="3886200"/>
            <a:ext cx="1554480" cy="448056"/>
          </a:xfrm>
          <a:prstGeom prst="rect">
            <a:avLst/>
          </a:prstGeom>
          <a:solidFill>
            <a:srgbClr val="E7EFEA"/>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3,5%</a:t>
            </a:r>
            <a:endParaRPr lang="en-US" sz="1300" dirty="0"/>
          </a:p>
        </p:txBody>
      </p:sp>
      <p:sp>
        <p:nvSpPr>
          <p:cNvPr id="32" name="Text 29"/>
          <p:cNvSpPr txBox="1"/>
          <p:nvPr/>
        </p:nvSpPr>
        <p:spPr>
          <a:xfrm>
            <a:off x="6976872" y="3886200"/>
            <a:ext cx="1554480" cy="448056"/>
          </a:xfrm>
          <a:prstGeom prst="rect">
            <a:avLst/>
          </a:prstGeom>
          <a:solidFill>
            <a:srgbClr val="FFFFFF"/>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3,5%</a:t>
            </a:r>
            <a:endParaRPr lang="en-US" sz="1300" dirty="0"/>
          </a:p>
        </p:txBody>
      </p:sp>
      <p:sp>
        <p:nvSpPr>
          <p:cNvPr id="33" name="Text 30"/>
          <p:cNvSpPr txBox="1"/>
          <p:nvPr/>
        </p:nvSpPr>
        <p:spPr>
          <a:xfrm>
            <a:off x="8531352" y="3886200"/>
            <a:ext cx="1554480" cy="448056"/>
          </a:xfrm>
          <a:prstGeom prst="rect">
            <a:avLst/>
          </a:prstGeom>
          <a:solidFill>
            <a:srgbClr val="FFFFFF"/>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3,2%</a:t>
            </a:r>
            <a:endParaRPr lang="en-US" sz="1300" dirty="0"/>
          </a:p>
        </p:txBody>
      </p:sp>
      <p:sp>
        <p:nvSpPr>
          <p:cNvPr id="34" name="Text 31"/>
          <p:cNvSpPr txBox="1"/>
          <p:nvPr/>
        </p:nvSpPr>
        <p:spPr>
          <a:xfrm>
            <a:off x="10085832" y="3886200"/>
            <a:ext cx="1554480" cy="448056"/>
          </a:xfrm>
          <a:prstGeom prst="rect">
            <a:avLst/>
          </a:prstGeom>
          <a:solidFill>
            <a:srgbClr val="FFFFFF"/>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3,0%</a:t>
            </a:r>
            <a:endParaRPr lang="en-US" sz="1300" dirty="0"/>
          </a:p>
        </p:txBody>
      </p:sp>
      <p:sp>
        <p:nvSpPr>
          <p:cNvPr id="35" name="Text 32"/>
          <p:cNvSpPr txBox="1"/>
          <p:nvPr/>
        </p:nvSpPr>
        <p:spPr>
          <a:xfrm>
            <a:off x="548640" y="4334256"/>
            <a:ext cx="4873752" cy="448056"/>
          </a:xfrm>
          <a:prstGeom prst="rect">
            <a:avLst/>
          </a:prstGeom>
          <a:solidFill>
            <a:srgbClr val="F3F3F2"/>
          </a:solidFill>
          <a:ln/>
        </p:spPr>
        <p:txBody>
          <a:bodyPr wrap="square" lIns="0" tIns="88900" rIns="88900" bIns="0" rtlCol="0" anchor="ctr"/>
          <a:lstStyle/>
          <a:p>
            <a:pPr algn="l" indent="0" marL="0">
              <a:buNone/>
            </a:pPr>
            <a:r>
              <a:rPr lang="en-US" sz="1300" dirty="0">
                <a:solidFill>
                  <a:srgbClr val="1F2124"/>
                </a:solidFill>
                <a:latin typeface="Inter" pitchFamily="34" charset="0"/>
                <a:ea typeface="Inter" pitchFamily="34" charset="-122"/>
                <a:cs typeface="Inter" pitchFamily="34" charset="-120"/>
              </a:rPr>
              <a:t>Capex de expansión EE. UU. y logística (% ventas)</a:t>
            </a:r>
            <a:endParaRPr lang="en-US" sz="1300" dirty="0"/>
          </a:p>
        </p:txBody>
      </p:sp>
      <p:sp>
        <p:nvSpPr>
          <p:cNvPr id="36" name="Text 33"/>
          <p:cNvSpPr txBox="1"/>
          <p:nvPr/>
        </p:nvSpPr>
        <p:spPr>
          <a:xfrm>
            <a:off x="5422392" y="4334256"/>
            <a:ext cx="1554480" cy="448056"/>
          </a:xfrm>
          <a:prstGeom prst="rect">
            <a:avLst/>
          </a:prstGeom>
          <a:solidFill>
            <a:srgbClr val="E7EFEA"/>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1,5%</a:t>
            </a:r>
            <a:endParaRPr lang="en-US" sz="1300" dirty="0"/>
          </a:p>
        </p:txBody>
      </p:sp>
      <p:sp>
        <p:nvSpPr>
          <p:cNvPr id="37" name="Text 34"/>
          <p:cNvSpPr txBox="1"/>
          <p:nvPr/>
        </p:nvSpPr>
        <p:spPr>
          <a:xfrm>
            <a:off x="6976872" y="4334256"/>
            <a:ext cx="1554480" cy="448056"/>
          </a:xfrm>
          <a:prstGeom prst="rect">
            <a:avLst/>
          </a:prstGeom>
          <a:solidFill>
            <a:srgbClr val="F3F3F2"/>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2,0%</a:t>
            </a:r>
            <a:endParaRPr lang="en-US" sz="1300" dirty="0"/>
          </a:p>
        </p:txBody>
      </p:sp>
      <p:sp>
        <p:nvSpPr>
          <p:cNvPr id="38" name="Text 35"/>
          <p:cNvSpPr txBox="1"/>
          <p:nvPr/>
        </p:nvSpPr>
        <p:spPr>
          <a:xfrm>
            <a:off x="8531352" y="4334256"/>
            <a:ext cx="1554480" cy="448056"/>
          </a:xfrm>
          <a:prstGeom prst="rect">
            <a:avLst/>
          </a:prstGeom>
          <a:solidFill>
            <a:srgbClr val="F3F3F2"/>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1,2%</a:t>
            </a:r>
            <a:endParaRPr lang="en-US" sz="1300" dirty="0"/>
          </a:p>
        </p:txBody>
      </p:sp>
      <p:sp>
        <p:nvSpPr>
          <p:cNvPr id="39" name="Text 36"/>
          <p:cNvSpPr txBox="1"/>
          <p:nvPr/>
        </p:nvSpPr>
        <p:spPr>
          <a:xfrm>
            <a:off x="10085832" y="4334256"/>
            <a:ext cx="1554480" cy="448056"/>
          </a:xfrm>
          <a:prstGeom prst="rect">
            <a:avLst/>
          </a:prstGeom>
          <a:solidFill>
            <a:srgbClr val="F3F3F2"/>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1,0%</a:t>
            </a:r>
            <a:endParaRPr lang="en-US" sz="1300" dirty="0"/>
          </a:p>
        </p:txBody>
      </p:sp>
      <p:sp>
        <p:nvSpPr>
          <p:cNvPr id="40" name="Text 37"/>
          <p:cNvSpPr txBox="1"/>
          <p:nvPr/>
        </p:nvSpPr>
        <p:spPr>
          <a:xfrm>
            <a:off x="548640" y="4782312"/>
            <a:ext cx="4873752" cy="448056"/>
          </a:xfrm>
          <a:prstGeom prst="rect">
            <a:avLst/>
          </a:prstGeom>
          <a:solidFill>
            <a:srgbClr val="FFFFFF"/>
          </a:solidFill>
          <a:ln/>
        </p:spPr>
        <p:txBody>
          <a:bodyPr wrap="square" lIns="0" tIns="88900" rIns="88900" bIns="0" rtlCol="0" anchor="ctr"/>
          <a:lstStyle/>
          <a:p>
            <a:pPr algn="l" indent="0" marL="0">
              <a:buNone/>
            </a:pPr>
            <a:r>
              <a:rPr lang="en-US" sz="1300" dirty="0">
                <a:solidFill>
                  <a:srgbClr val="1F2124"/>
                </a:solidFill>
                <a:latin typeface="Inter" pitchFamily="34" charset="0"/>
                <a:ea typeface="Inter" pitchFamily="34" charset="-122"/>
                <a:cs typeface="Inter" pitchFamily="34" charset="-120"/>
              </a:rPr>
              <a:t>Existencias (% ventas)</a:t>
            </a:r>
            <a:endParaRPr lang="en-US" sz="1300" dirty="0"/>
          </a:p>
        </p:txBody>
      </p:sp>
      <p:sp>
        <p:nvSpPr>
          <p:cNvPr id="41" name="Text 38"/>
          <p:cNvSpPr txBox="1"/>
          <p:nvPr/>
        </p:nvSpPr>
        <p:spPr>
          <a:xfrm>
            <a:off x="5422392" y="4782312"/>
            <a:ext cx="1554480" cy="448056"/>
          </a:xfrm>
          <a:prstGeom prst="rect">
            <a:avLst/>
          </a:prstGeom>
          <a:solidFill>
            <a:srgbClr val="E7EFEA"/>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8,2%</a:t>
            </a:r>
            <a:endParaRPr lang="en-US" sz="1300" dirty="0"/>
          </a:p>
        </p:txBody>
      </p:sp>
      <p:sp>
        <p:nvSpPr>
          <p:cNvPr id="42" name="Text 39"/>
          <p:cNvSpPr txBox="1"/>
          <p:nvPr/>
        </p:nvSpPr>
        <p:spPr>
          <a:xfrm>
            <a:off x="6976872" y="4782312"/>
            <a:ext cx="1554480" cy="448056"/>
          </a:xfrm>
          <a:prstGeom prst="rect">
            <a:avLst/>
          </a:prstGeom>
          <a:solidFill>
            <a:srgbClr val="FFFFFF"/>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8,0%</a:t>
            </a:r>
            <a:endParaRPr lang="en-US" sz="1300" dirty="0"/>
          </a:p>
        </p:txBody>
      </p:sp>
      <p:sp>
        <p:nvSpPr>
          <p:cNvPr id="43" name="Text 40"/>
          <p:cNvSpPr txBox="1"/>
          <p:nvPr/>
        </p:nvSpPr>
        <p:spPr>
          <a:xfrm>
            <a:off x="8531352" y="4782312"/>
            <a:ext cx="1554480" cy="448056"/>
          </a:xfrm>
          <a:prstGeom prst="rect">
            <a:avLst/>
          </a:prstGeom>
          <a:solidFill>
            <a:srgbClr val="FFFFFF"/>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8,4%</a:t>
            </a:r>
            <a:endParaRPr lang="en-US" sz="1300" dirty="0"/>
          </a:p>
        </p:txBody>
      </p:sp>
      <p:sp>
        <p:nvSpPr>
          <p:cNvPr id="44" name="Text 41"/>
          <p:cNvSpPr txBox="1"/>
          <p:nvPr/>
        </p:nvSpPr>
        <p:spPr>
          <a:xfrm>
            <a:off x="10085832" y="4782312"/>
            <a:ext cx="1554480" cy="448056"/>
          </a:xfrm>
          <a:prstGeom prst="rect">
            <a:avLst/>
          </a:prstGeom>
          <a:solidFill>
            <a:srgbClr val="FFFFFF"/>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8,5%</a:t>
            </a:r>
            <a:endParaRPr lang="en-US" sz="1300" dirty="0"/>
          </a:p>
        </p:txBody>
      </p:sp>
      <p:sp>
        <p:nvSpPr>
          <p:cNvPr id="45" name="Text 42"/>
          <p:cNvSpPr txBox="1"/>
          <p:nvPr/>
        </p:nvSpPr>
        <p:spPr>
          <a:xfrm>
            <a:off x="548640" y="5230368"/>
            <a:ext cx="4873752" cy="448056"/>
          </a:xfrm>
          <a:prstGeom prst="rect">
            <a:avLst/>
          </a:prstGeom>
          <a:solidFill>
            <a:srgbClr val="F3F3F2"/>
          </a:solidFill>
          <a:ln/>
        </p:spPr>
        <p:txBody>
          <a:bodyPr wrap="square" lIns="0" tIns="88900" rIns="88900" bIns="0" rtlCol="0" anchor="ctr"/>
          <a:lstStyle/>
          <a:p>
            <a:pPr algn="l" indent="0" marL="0">
              <a:buNone/>
            </a:pPr>
            <a:r>
              <a:rPr lang="en-US" sz="1300" dirty="0">
                <a:solidFill>
                  <a:srgbClr val="1F2124"/>
                </a:solidFill>
                <a:latin typeface="Inter" pitchFamily="34" charset="0"/>
                <a:ea typeface="Inter" pitchFamily="34" charset="-122"/>
                <a:cs typeface="Inter" pitchFamily="34" charset="-120"/>
              </a:rPr>
              <a:t>Clientes (% ventas)</a:t>
            </a:r>
            <a:endParaRPr lang="en-US" sz="1300" dirty="0"/>
          </a:p>
        </p:txBody>
      </p:sp>
      <p:sp>
        <p:nvSpPr>
          <p:cNvPr id="46" name="Text 43"/>
          <p:cNvSpPr txBox="1"/>
          <p:nvPr/>
        </p:nvSpPr>
        <p:spPr>
          <a:xfrm>
            <a:off x="5422392" y="5230368"/>
            <a:ext cx="1554480" cy="448056"/>
          </a:xfrm>
          <a:prstGeom prst="rect">
            <a:avLst/>
          </a:prstGeom>
          <a:solidFill>
            <a:srgbClr val="E7EFEA"/>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2,9%</a:t>
            </a:r>
            <a:endParaRPr lang="en-US" sz="1300" dirty="0"/>
          </a:p>
        </p:txBody>
      </p:sp>
      <p:sp>
        <p:nvSpPr>
          <p:cNvPr id="47" name="Text 44"/>
          <p:cNvSpPr txBox="1"/>
          <p:nvPr/>
        </p:nvSpPr>
        <p:spPr>
          <a:xfrm>
            <a:off x="6976872" y="5230368"/>
            <a:ext cx="1554480" cy="448056"/>
          </a:xfrm>
          <a:prstGeom prst="rect">
            <a:avLst/>
          </a:prstGeom>
          <a:solidFill>
            <a:srgbClr val="F3F3F2"/>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2,9%</a:t>
            </a:r>
            <a:endParaRPr lang="en-US" sz="1300" dirty="0"/>
          </a:p>
        </p:txBody>
      </p:sp>
      <p:sp>
        <p:nvSpPr>
          <p:cNvPr id="48" name="Text 45"/>
          <p:cNvSpPr txBox="1"/>
          <p:nvPr/>
        </p:nvSpPr>
        <p:spPr>
          <a:xfrm>
            <a:off x="8531352" y="5230368"/>
            <a:ext cx="1554480" cy="448056"/>
          </a:xfrm>
          <a:prstGeom prst="rect">
            <a:avLst/>
          </a:prstGeom>
          <a:solidFill>
            <a:srgbClr val="F3F3F2"/>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2,9%</a:t>
            </a:r>
            <a:endParaRPr lang="en-US" sz="1300" dirty="0"/>
          </a:p>
        </p:txBody>
      </p:sp>
      <p:sp>
        <p:nvSpPr>
          <p:cNvPr id="49" name="Text 46"/>
          <p:cNvSpPr txBox="1"/>
          <p:nvPr/>
        </p:nvSpPr>
        <p:spPr>
          <a:xfrm>
            <a:off x="10085832" y="5230368"/>
            <a:ext cx="1554480" cy="448056"/>
          </a:xfrm>
          <a:prstGeom prst="rect">
            <a:avLst/>
          </a:prstGeom>
          <a:solidFill>
            <a:srgbClr val="F3F3F2"/>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3,0%</a:t>
            </a:r>
            <a:endParaRPr lang="en-US" sz="1300" dirty="0"/>
          </a:p>
        </p:txBody>
      </p:sp>
      <p:sp>
        <p:nvSpPr>
          <p:cNvPr id="50" name="Text 47"/>
          <p:cNvSpPr txBox="1"/>
          <p:nvPr/>
        </p:nvSpPr>
        <p:spPr>
          <a:xfrm>
            <a:off x="548640" y="5678424"/>
            <a:ext cx="4873752" cy="448056"/>
          </a:xfrm>
          <a:prstGeom prst="rect">
            <a:avLst/>
          </a:prstGeom>
          <a:solidFill>
            <a:srgbClr val="FFFFFF"/>
          </a:solidFill>
          <a:ln/>
        </p:spPr>
        <p:txBody>
          <a:bodyPr wrap="square" lIns="0" tIns="88900" rIns="88900" bIns="0" rtlCol="0" anchor="ctr"/>
          <a:lstStyle/>
          <a:p>
            <a:pPr algn="l" indent="0" marL="0">
              <a:buNone/>
            </a:pPr>
            <a:r>
              <a:rPr lang="en-US" sz="1300" dirty="0">
                <a:solidFill>
                  <a:srgbClr val="1F2124"/>
                </a:solidFill>
                <a:latin typeface="Inter" pitchFamily="34" charset="0"/>
                <a:ea typeface="Inter" pitchFamily="34" charset="-122"/>
                <a:cs typeface="Inter" pitchFamily="34" charset="-120"/>
              </a:rPr>
              <a:t>Proveedores (% ventas)</a:t>
            </a:r>
            <a:endParaRPr lang="en-US" sz="1300" dirty="0"/>
          </a:p>
        </p:txBody>
      </p:sp>
      <p:sp>
        <p:nvSpPr>
          <p:cNvPr id="51" name="Text 48"/>
          <p:cNvSpPr txBox="1"/>
          <p:nvPr/>
        </p:nvSpPr>
        <p:spPr>
          <a:xfrm>
            <a:off x="5422392" y="5678424"/>
            <a:ext cx="1554480" cy="448056"/>
          </a:xfrm>
          <a:prstGeom prst="rect">
            <a:avLst/>
          </a:prstGeom>
          <a:solidFill>
            <a:srgbClr val="E7EFEA"/>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−21,5%</a:t>
            </a:r>
            <a:endParaRPr lang="en-US" sz="1300" dirty="0"/>
          </a:p>
        </p:txBody>
      </p:sp>
      <p:sp>
        <p:nvSpPr>
          <p:cNvPr id="52" name="Text 49"/>
          <p:cNvSpPr txBox="1"/>
          <p:nvPr/>
        </p:nvSpPr>
        <p:spPr>
          <a:xfrm>
            <a:off x="6976872" y="5678424"/>
            <a:ext cx="1554480" cy="448056"/>
          </a:xfrm>
          <a:prstGeom prst="rect">
            <a:avLst/>
          </a:prstGeom>
          <a:solidFill>
            <a:srgbClr val="FFFFFF"/>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−22,0%</a:t>
            </a:r>
            <a:endParaRPr lang="en-US" sz="1300" dirty="0"/>
          </a:p>
        </p:txBody>
      </p:sp>
      <p:sp>
        <p:nvSpPr>
          <p:cNvPr id="53" name="Text 50"/>
          <p:cNvSpPr txBox="1"/>
          <p:nvPr/>
        </p:nvSpPr>
        <p:spPr>
          <a:xfrm>
            <a:off x="8531352" y="5678424"/>
            <a:ext cx="1554480" cy="448056"/>
          </a:xfrm>
          <a:prstGeom prst="rect">
            <a:avLst/>
          </a:prstGeom>
          <a:solidFill>
            <a:srgbClr val="FFFFFF"/>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−21,3%</a:t>
            </a:r>
            <a:endParaRPr lang="en-US" sz="1300" dirty="0"/>
          </a:p>
        </p:txBody>
      </p:sp>
      <p:sp>
        <p:nvSpPr>
          <p:cNvPr id="54" name="Text 51"/>
          <p:cNvSpPr txBox="1"/>
          <p:nvPr/>
        </p:nvSpPr>
        <p:spPr>
          <a:xfrm>
            <a:off x="10085832" y="5678424"/>
            <a:ext cx="1554480" cy="448056"/>
          </a:xfrm>
          <a:prstGeom prst="rect">
            <a:avLst/>
          </a:prstGeom>
          <a:solidFill>
            <a:srgbClr val="FFFFFF"/>
          </a:solidFill>
          <a:ln/>
        </p:spPr>
        <p:txBody>
          <a:bodyPr wrap="square" lIns="0" tIns="88900" rIns="88900" bIns="0" rtlCol="0" anchor="ctr"/>
          <a:lstStyle/>
          <a:p>
            <a:pPr algn="r" indent="0" marL="0">
              <a:buNone/>
            </a:pPr>
            <a:r>
              <a:rPr lang="en-US" sz="1300" dirty="0">
                <a:solidFill>
                  <a:srgbClr val="1F2124"/>
                </a:solidFill>
                <a:latin typeface="Inter" pitchFamily="34" charset="0"/>
                <a:ea typeface="Inter" pitchFamily="34" charset="-122"/>
                <a:cs typeface="Inter" pitchFamily="34" charset="-120"/>
              </a:rPr>
              <a:t>−21,1%</a:t>
            </a:r>
            <a:endParaRPr lang="en-US" sz="1300" dirty="0"/>
          </a:p>
        </p:txBody>
      </p:sp>
      <p:sp>
        <p:nvSpPr>
          <p:cNvPr id="55" name="Text 52"/>
          <p:cNvSpPr txBox="1"/>
          <p:nvPr/>
        </p:nvSpPr>
        <p:spPr>
          <a:xfrm>
            <a:off x="548640" y="6327648"/>
            <a:ext cx="7863840" cy="228600"/>
          </a:xfrm>
          <a:prstGeom prst="rect">
            <a:avLst/>
          </a:prstGeom>
          <a:noFill/>
          <a:ln/>
        </p:spPr>
        <p:txBody>
          <a:bodyPr wrap="square" lIns="0" tIns="0" rIns="0" bIns="0" rtlCol="0" anchor="t"/>
          <a:lstStyle/>
          <a:p>
            <a:pPr indent="0" marL="0">
              <a:buNone/>
            </a:pPr>
            <a:r>
              <a:rPr lang="en-US" sz="900" dirty="0">
                <a:solidFill>
                  <a:srgbClr val="6E7378"/>
                </a:solidFill>
                <a:latin typeface="Inter" pitchFamily="34" charset="0"/>
                <a:ea typeface="Inter" pitchFamily="34" charset="-122"/>
                <a:cs typeface="Inter" pitchFamily="34" charset="-120"/>
              </a:rPr>
              <a:t>Gastos operativos por debajo de las ventas en el caso base (4,5% frente a 5,25%): el margen EBITDA sube del 23,7% al 25,5%.</a:t>
            </a:r>
            <a:endParaRPr lang="en-US" sz="900" dirty="0"/>
          </a:p>
        </p:txBody>
      </p:sp>
      <p:sp>
        <p:nvSpPr>
          <p:cNvPr id="56" name="Text 53"/>
          <p:cNvSpPr txBox="1"/>
          <p:nvPr/>
        </p:nvSpPr>
        <p:spPr>
          <a:xfrm>
            <a:off x="8595360" y="6327648"/>
            <a:ext cx="3044952" cy="228600"/>
          </a:xfrm>
          <a:prstGeom prst="rect">
            <a:avLst/>
          </a:prstGeom>
          <a:noFill/>
          <a:ln/>
        </p:spPr>
        <p:txBody>
          <a:bodyPr wrap="square" lIns="0" tIns="0" rIns="0" bIns="0" rtlCol="0" anchor="t"/>
          <a:lstStyle/>
          <a:p>
            <a:pPr algn="r" indent="0" marL="0">
              <a:buNone/>
            </a:pPr>
            <a:r>
              <a:rPr lang="en-US" sz="900" dirty="0">
                <a:solidFill>
                  <a:srgbClr val="6E7378"/>
                </a:solidFill>
                <a:latin typeface="Inter" pitchFamily="34" charset="0"/>
                <a:ea typeface="Inter" pitchFamily="34" charset="-122"/>
                <a:cs typeface="Inter" pitchFamily="34" charset="-120"/>
              </a:rPr>
              <a:t>Project Galicia  ·  Estrictamente confidencial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79476"/>
            <a:ext cx="7772400" cy="228600"/>
          </a:xfrm>
          <a:prstGeom prst="rect">
            <a:avLst/>
          </a:prstGeom>
          <a:noFill/>
          <a:ln/>
        </p:spPr>
        <p:txBody>
          <a:bodyPr wrap="square" lIns="0" tIns="0" rIns="0" bIns="0" rtlCol="0" anchor="ctr"/>
          <a:lstStyle/>
          <a:p>
            <a:pPr indent="0" marL="0">
              <a:buNone/>
            </a:pPr>
            <a:r>
              <a:rPr lang="en-US" sz="1100" b="1" spc="200" kern="0" dirty="0">
                <a:solidFill>
                  <a:srgbClr val="1F4B3F"/>
                </a:solidFill>
                <a:latin typeface="Inter" pitchFamily="34" charset="0"/>
                <a:ea typeface="Inter" pitchFamily="34" charset="-122"/>
                <a:cs typeface="Inter" pitchFamily="34" charset="-120"/>
              </a:rPr>
              <a:t>01  BUSINESS PLAN</a:t>
            </a:r>
            <a:endParaRPr lang="en-US" sz="1100" dirty="0"/>
          </a:p>
        </p:txBody>
      </p:sp>
      <p:pic>
        <p:nvPicPr>
          <p:cNvPr id="3" name="Image 0" descr="/tmp/claude-0/-home-claude/8d7de6a3-f167-5c95-8bc2-67944307bfd8/scratchpad/canva/img/HLP_monograma.png">    </p:cNvPr>
          <p:cNvPicPr>
            <a:picLocks noChangeAspect="1"/>
          </p:cNvPicPr>
          <p:nvPr/>
        </p:nvPicPr>
        <p:blipFill>
          <a:blip r:embed="rId1"/>
          <a:stretch>
            <a:fillRect/>
          </a:stretch>
        </p:blipFill>
        <p:spPr>
          <a:xfrm>
            <a:off x="11130991" y="237744"/>
            <a:ext cx="512064" cy="512064"/>
          </a:xfrm>
          <a:prstGeom prst="rect">
            <a:avLst/>
          </a:prstGeom>
        </p:spPr>
      </p:pic>
      <p:sp>
        <p:nvSpPr>
          <p:cNvPr id="4" name="Text 1"/>
          <p:cNvSpPr txBox="1"/>
          <p:nvPr/>
        </p:nvSpPr>
        <p:spPr>
          <a:xfrm>
            <a:off x="548640" y="786384"/>
            <a:ext cx="11091672" cy="658368"/>
          </a:xfrm>
          <a:prstGeom prst="rect">
            <a:avLst/>
          </a:prstGeom>
          <a:noFill/>
          <a:ln/>
        </p:spPr>
        <p:txBody>
          <a:bodyPr wrap="square" lIns="0" tIns="0" rIns="0" bIns="0" rtlCol="0" anchor="t"/>
          <a:lstStyle/>
          <a:p>
            <a:pPr indent="0" marL="0">
              <a:lnSpc>
                <a:spcPct val="92000"/>
              </a:lnSpc>
              <a:buNone/>
            </a:pPr>
            <a:r>
              <a:rPr lang="en-US" sz="2200" dirty="0">
                <a:solidFill>
                  <a:srgbClr val="1A1D21"/>
                </a:solidFill>
                <a:latin typeface="Lora" pitchFamily="34" charset="0"/>
                <a:ea typeface="Lora" pitchFamily="34" charset="-122"/>
                <a:cs typeface="Lora" pitchFamily="34" charset="-120"/>
              </a:rPr>
              <a:t>En el caso base el EBITDA crece de €9.433m a €14.519m y el margen sube casi dos puntos</a:t>
            </a:r>
            <a:endParaRPr lang="en-US" sz="2200" dirty="0"/>
          </a:p>
        </p:txBody>
      </p:sp>
      <p:pic>
        <p:nvPicPr>
          <p:cNvPr id="5" name="Image 1" descr="/tmp/claude-0/-home-claude/8d7de6a3-f167-5c95-8bc2-67944307bfd8/scratchpad/canva/img/c2_proj.png">    </p:cNvPr>
          <p:cNvPicPr>
            <a:picLocks noChangeAspect="1"/>
          </p:cNvPicPr>
          <p:nvPr/>
        </p:nvPicPr>
        <p:blipFill>
          <a:blip r:embed="rId2"/>
          <a:stretch>
            <a:fillRect/>
          </a:stretch>
        </p:blipFill>
        <p:spPr>
          <a:xfrm>
            <a:off x="548640" y="1554480"/>
            <a:ext cx="7011296" cy="4526280"/>
          </a:xfrm>
          <a:prstGeom prst="rect">
            <a:avLst/>
          </a:prstGeom>
        </p:spPr>
      </p:pic>
      <p:sp>
        <p:nvSpPr>
          <p:cNvPr id="6" name="Shape 2"/>
          <p:cNvSpPr/>
          <p:nvPr/>
        </p:nvSpPr>
        <p:spPr>
          <a:xfrm>
            <a:off x="8321040" y="1645920"/>
            <a:ext cx="3319272" cy="1298448"/>
          </a:xfrm>
          <a:prstGeom prst="rect">
            <a:avLst>
              <a:gd name="adj" fmla="val 4225"/>
            </a:avLst>
          </a:prstGeom>
          <a:solidFill>
            <a:srgbClr val="F3F3F2"/>
          </a:solidFill>
          <a:ln/>
        </p:spPr>
      </p:sp>
      <p:sp>
        <p:nvSpPr>
          <p:cNvPr id="7" name="Text 3"/>
          <p:cNvSpPr txBox="1"/>
          <p:nvPr/>
        </p:nvSpPr>
        <p:spPr>
          <a:xfrm>
            <a:off x="8503920" y="1783080"/>
            <a:ext cx="3017520" cy="411480"/>
          </a:xfrm>
          <a:prstGeom prst="rect">
            <a:avLst/>
          </a:prstGeom>
          <a:noFill/>
          <a:ln/>
        </p:spPr>
        <p:txBody>
          <a:bodyPr wrap="square" lIns="0" tIns="0" rIns="0" bIns="0" rtlCol="0" anchor="t"/>
          <a:lstStyle/>
          <a:p>
            <a:pPr indent="0" marL="0">
              <a:buNone/>
            </a:pPr>
            <a:r>
              <a:rPr lang="en-US" sz="2200" b="1" dirty="0">
                <a:solidFill>
                  <a:srgbClr val="1A1D21"/>
                </a:solidFill>
                <a:latin typeface="Inter" pitchFamily="34" charset="0"/>
                <a:ea typeface="Inter" pitchFamily="34" charset="-122"/>
                <a:cs typeface="Inter" pitchFamily="34" charset="-120"/>
              </a:rPr>
              <a:t>€57.034m</a:t>
            </a:r>
            <a:endParaRPr lang="en-US" sz="2200" dirty="0"/>
          </a:p>
        </p:txBody>
      </p:sp>
      <p:sp>
        <p:nvSpPr>
          <p:cNvPr id="8" name="Text 4"/>
          <p:cNvSpPr txBox="1"/>
          <p:nvPr/>
        </p:nvSpPr>
        <p:spPr>
          <a:xfrm>
            <a:off x="8503920" y="2240280"/>
            <a:ext cx="3017520" cy="274320"/>
          </a:xfrm>
          <a:prstGeom prst="rect">
            <a:avLst/>
          </a:prstGeom>
          <a:noFill/>
          <a:ln/>
        </p:spPr>
        <p:txBody>
          <a:bodyPr wrap="square" lIns="0" tIns="0" rIns="0" bIns="0" rtlCol="0" anchor="t"/>
          <a:lstStyle/>
          <a:p>
            <a:pPr indent="0" marL="0">
              <a:buNone/>
            </a:pPr>
            <a:r>
              <a:rPr lang="en-US" sz="1250" b="1" dirty="0">
                <a:solidFill>
                  <a:srgbClr val="1F2124"/>
                </a:solidFill>
                <a:latin typeface="Inter" pitchFamily="34" charset="0"/>
                <a:ea typeface="Inter" pitchFamily="34" charset="-122"/>
                <a:cs typeface="Inter" pitchFamily="34" charset="-120"/>
              </a:rPr>
              <a:t>Ventas en 2032</a:t>
            </a:r>
            <a:endParaRPr lang="en-US" sz="1250" dirty="0"/>
          </a:p>
        </p:txBody>
      </p:sp>
      <p:sp>
        <p:nvSpPr>
          <p:cNvPr id="9" name="Text 5"/>
          <p:cNvSpPr txBox="1"/>
          <p:nvPr/>
        </p:nvSpPr>
        <p:spPr>
          <a:xfrm>
            <a:off x="8503920" y="2514600"/>
            <a:ext cx="3017520" cy="411480"/>
          </a:xfrm>
          <a:prstGeom prst="rect">
            <a:avLst/>
          </a:prstGeom>
          <a:noFill/>
          <a:ln/>
        </p:spPr>
        <p:txBody>
          <a:bodyPr wrap="square" lIns="0" tIns="0" rIns="0" bIns="0" rtlCol="0" anchor="t"/>
          <a:lstStyle/>
          <a:p>
            <a:pPr indent="0" marL="0">
              <a:buNone/>
            </a:pPr>
            <a:r>
              <a:rPr lang="en-US" sz="1050" dirty="0">
                <a:solidFill>
                  <a:srgbClr val="6E7378"/>
                </a:solidFill>
                <a:latin typeface="Inter" pitchFamily="34" charset="0"/>
                <a:ea typeface="Inter" pitchFamily="34" charset="-122"/>
                <a:cs typeface="Inter" pitchFamily="34" charset="-120"/>
              </a:rPr>
              <a:t>Crecimiento anual del 5,25%</a:t>
            </a:r>
            <a:endParaRPr lang="en-US" sz="1050" dirty="0"/>
          </a:p>
        </p:txBody>
      </p:sp>
      <p:sp>
        <p:nvSpPr>
          <p:cNvPr id="10" name="Shape 6"/>
          <p:cNvSpPr/>
          <p:nvPr/>
        </p:nvSpPr>
        <p:spPr>
          <a:xfrm>
            <a:off x="8321040" y="3108960"/>
            <a:ext cx="3319272" cy="1298448"/>
          </a:xfrm>
          <a:prstGeom prst="rect">
            <a:avLst>
              <a:gd name="adj" fmla="val 4225"/>
            </a:avLst>
          </a:prstGeom>
          <a:solidFill>
            <a:srgbClr val="1A1D21"/>
          </a:solidFill>
          <a:ln/>
        </p:spPr>
      </p:sp>
      <p:sp>
        <p:nvSpPr>
          <p:cNvPr id="11" name="Text 7"/>
          <p:cNvSpPr txBox="1"/>
          <p:nvPr/>
        </p:nvSpPr>
        <p:spPr>
          <a:xfrm>
            <a:off x="8503920" y="3246120"/>
            <a:ext cx="3017520" cy="411480"/>
          </a:xfrm>
          <a:prstGeom prst="rect">
            <a:avLst/>
          </a:prstGeom>
          <a:noFill/>
          <a:ln/>
        </p:spPr>
        <p:txBody>
          <a:bodyPr wrap="square" lIns="0" tIns="0" rIns="0" bIns="0" rtlCol="0" anchor="t"/>
          <a:lstStyle/>
          <a:p>
            <a:pPr indent="0" marL="0">
              <a:buNone/>
            </a:pPr>
            <a:r>
              <a:rPr lang="en-US" sz="2200" b="1" dirty="0">
                <a:solidFill>
                  <a:srgbClr val="FFFFFF"/>
                </a:solidFill>
                <a:latin typeface="Inter" pitchFamily="34" charset="0"/>
                <a:ea typeface="Inter" pitchFamily="34" charset="-122"/>
                <a:cs typeface="Inter" pitchFamily="34" charset="-120"/>
              </a:rPr>
              <a:t>€14.519m</a:t>
            </a:r>
            <a:endParaRPr lang="en-US" sz="2200" dirty="0"/>
          </a:p>
        </p:txBody>
      </p:sp>
      <p:sp>
        <p:nvSpPr>
          <p:cNvPr id="12" name="Text 8"/>
          <p:cNvSpPr txBox="1"/>
          <p:nvPr/>
        </p:nvSpPr>
        <p:spPr>
          <a:xfrm>
            <a:off x="8503920" y="3703320"/>
            <a:ext cx="3017520" cy="274320"/>
          </a:xfrm>
          <a:prstGeom prst="rect">
            <a:avLst/>
          </a:prstGeom>
          <a:noFill/>
          <a:ln/>
        </p:spPr>
        <p:txBody>
          <a:bodyPr wrap="square" lIns="0" tIns="0" rIns="0" bIns="0" rtlCol="0" anchor="t"/>
          <a:lstStyle/>
          <a:p>
            <a:pPr indent="0" marL="0">
              <a:buNone/>
            </a:pPr>
            <a:r>
              <a:rPr lang="en-US" sz="1250" b="1" dirty="0">
                <a:solidFill>
                  <a:srgbClr val="EDEDED"/>
                </a:solidFill>
                <a:latin typeface="Inter" pitchFamily="34" charset="0"/>
                <a:ea typeface="Inter" pitchFamily="34" charset="-122"/>
                <a:cs typeface="Inter" pitchFamily="34" charset="-120"/>
              </a:rPr>
              <a:t>EBITDA pre-IFRS 16 en 2032</a:t>
            </a:r>
            <a:endParaRPr lang="en-US" sz="1250" dirty="0"/>
          </a:p>
        </p:txBody>
      </p:sp>
      <p:sp>
        <p:nvSpPr>
          <p:cNvPr id="13" name="Text 9"/>
          <p:cNvSpPr txBox="1"/>
          <p:nvPr/>
        </p:nvSpPr>
        <p:spPr>
          <a:xfrm>
            <a:off x="8503920" y="3977640"/>
            <a:ext cx="3017520" cy="411480"/>
          </a:xfrm>
          <a:prstGeom prst="rect">
            <a:avLst/>
          </a:prstGeom>
          <a:noFill/>
          <a:ln/>
        </p:spPr>
        <p:txBody>
          <a:bodyPr wrap="square" lIns="0" tIns="0" rIns="0" bIns="0" rtlCol="0" anchor="t"/>
          <a:lstStyle/>
          <a:p>
            <a:pPr indent="0" marL="0">
              <a:buNone/>
            </a:pPr>
            <a:r>
              <a:rPr lang="en-US" sz="1050" dirty="0">
                <a:solidFill>
                  <a:srgbClr val="BFC4CA"/>
                </a:solidFill>
                <a:latin typeface="Inter" pitchFamily="34" charset="0"/>
                <a:ea typeface="Inter" pitchFamily="34" charset="-122"/>
                <a:cs typeface="Inter" pitchFamily="34" charset="-120"/>
              </a:rPr>
              <a:t>Crecimiento anual del 6,4%; margen del 25,5%</a:t>
            </a:r>
            <a:endParaRPr lang="en-US" sz="1050" dirty="0"/>
          </a:p>
        </p:txBody>
      </p:sp>
      <p:sp>
        <p:nvSpPr>
          <p:cNvPr id="14" name="Shape 10"/>
          <p:cNvSpPr/>
          <p:nvPr/>
        </p:nvSpPr>
        <p:spPr>
          <a:xfrm>
            <a:off x="8321040" y="4572000"/>
            <a:ext cx="3319272" cy="1298448"/>
          </a:xfrm>
          <a:prstGeom prst="rect">
            <a:avLst>
              <a:gd name="adj" fmla="val 4225"/>
            </a:avLst>
          </a:prstGeom>
          <a:solidFill>
            <a:srgbClr val="F3F3F2"/>
          </a:solidFill>
          <a:ln/>
        </p:spPr>
      </p:sp>
      <p:sp>
        <p:nvSpPr>
          <p:cNvPr id="15" name="Text 11"/>
          <p:cNvSpPr txBox="1"/>
          <p:nvPr/>
        </p:nvSpPr>
        <p:spPr>
          <a:xfrm>
            <a:off x="8503920" y="4709160"/>
            <a:ext cx="3017520" cy="411480"/>
          </a:xfrm>
          <a:prstGeom prst="rect">
            <a:avLst/>
          </a:prstGeom>
          <a:noFill/>
          <a:ln/>
        </p:spPr>
        <p:txBody>
          <a:bodyPr wrap="square" lIns="0" tIns="0" rIns="0" bIns="0" rtlCol="0" anchor="t"/>
          <a:lstStyle/>
          <a:p>
            <a:pPr indent="0" marL="0">
              <a:buNone/>
            </a:pPr>
            <a:r>
              <a:rPr lang="en-US" sz="1900" b="1" dirty="0">
                <a:solidFill>
                  <a:srgbClr val="1A1D21"/>
                </a:solidFill>
                <a:latin typeface="Inter" pitchFamily="34" charset="0"/>
                <a:ea typeface="Inter" pitchFamily="34" charset="-122"/>
                <a:cs typeface="Inter" pitchFamily="34" charset="-120"/>
              </a:rPr>
              <a:t>€7.322m → €10.993m</a:t>
            </a:r>
            <a:endParaRPr lang="en-US" sz="1900" dirty="0"/>
          </a:p>
        </p:txBody>
      </p:sp>
      <p:sp>
        <p:nvSpPr>
          <p:cNvPr id="16" name="Text 12"/>
          <p:cNvSpPr txBox="1"/>
          <p:nvPr/>
        </p:nvSpPr>
        <p:spPr>
          <a:xfrm>
            <a:off x="8503920" y="5166360"/>
            <a:ext cx="3017520" cy="274320"/>
          </a:xfrm>
          <a:prstGeom prst="rect">
            <a:avLst/>
          </a:prstGeom>
          <a:noFill/>
          <a:ln/>
        </p:spPr>
        <p:txBody>
          <a:bodyPr wrap="square" lIns="0" tIns="0" rIns="0" bIns="0" rtlCol="0" anchor="t"/>
          <a:lstStyle/>
          <a:p>
            <a:pPr indent="0" marL="0">
              <a:buNone/>
            </a:pPr>
            <a:r>
              <a:rPr lang="en-US" sz="1250" b="1" dirty="0">
                <a:solidFill>
                  <a:srgbClr val="1F2124"/>
                </a:solidFill>
                <a:latin typeface="Inter" pitchFamily="34" charset="0"/>
                <a:ea typeface="Inter" pitchFamily="34" charset="-122"/>
                <a:cs typeface="Inter" pitchFamily="34" charset="-120"/>
              </a:rPr>
              <a:t>Caja para servir la deuda (CFADS)</a:t>
            </a:r>
            <a:endParaRPr lang="en-US" sz="1250" dirty="0"/>
          </a:p>
        </p:txBody>
      </p:sp>
      <p:sp>
        <p:nvSpPr>
          <p:cNvPr id="17" name="Text 13"/>
          <p:cNvSpPr txBox="1"/>
          <p:nvPr/>
        </p:nvSpPr>
        <p:spPr>
          <a:xfrm>
            <a:off x="8503920" y="5440680"/>
            <a:ext cx="3017520" cy="411480"/>
          </a:xfrm>
          <a:prstGeom prst="rect">
            <a:avLst/>
          </a:prstGeom>
          <a:noFill/>
          <a:ln/>
        </p:spPr>
        <p:txBody>
          <a:bodyPr wrap="square" lIns="0" tIns="0" rIns="0" bIns="0" rtlCol="0" anchor="t"/>
          <a:lstStyle/>
          <a:p>
            <a:pPr indent="0" marL="0">
              <a:buNone/>
            </a:pPr>
            <a:r>
              <a:rPr lang="en-US" sz="1050" dirty="0">
                <a:solidFill>
                  <a:srgbClr val="6E7378"/>
                </a:solidFill>
                <a:latin typeface="Inter" pitchFamily="34" charset="0"/>
                <a:ea typeface="Inter" pitchFamily="34" charset="-122"/>
                <a:cs typeface="Inter" pitchFamily="34" charset="-120"/>
              </a:rPr>
              <a:t>EBITDA menos impuestos, capex de mantenimiento y circulante, 2026–2032</a:t>
            </a:r>
            <a:endParaRPr lang="en-US" sz="1050" dirty="0"/>
          </a:p>
        </p:txBody>
      </p:sp>
      <p:sp>
        <p:nvSpPr>
          <p:cNvPr id="18" name="Text 14"/>
          <p:cNvSpPr txBox="1"/>
          <p:nvPr/>
        </p:nvSpPr>
        <p:spPr>
          <a:xfrm>
            <a:off x="548640" y="6327648"/>
            <a:ext cx="7863840" cy="228600"/>
          </a:xfrm>
          <a:prstGeom prst="rect">
            <a:avLst/>
          </a:prstGeom>
          <a:noFill/>
          <a:ln/>
        </p:spPr>
        <p:txBody>
          <a:bodyPr wrap="square" lIns="0" tIns="0" rIns="0" bIns="0" rtlCol="0" anchor="t"/>
          <a:lstStyle/>
          <a:p>
            <a:pPr indent="0" marL="0">
              <a:buNone/>
            </a:pPr>
            <a:r>
              <a:rPr lang="en-US" sz="900" dirty="0">
                <a:solidFill>
                  <a:srgbClr val="6E7378"/>
                </a:solidFill>
                <a:latin typeface="Inter" pitchFamily="34" charset="0"/>
                <a:ea typeface="Inter" pitchFamily="34" charset="-122"/>
                <a:cs typeface="Inter" pitchFamily="34" charset="-120"/>
              </a:rPr>
              <a:t>Caso base. CFADS: caja disponible para el servicio de la deuda. € millones salvo indicación.</a:t>
            </a:r>
            <a:endParaRPr lang="en-US" sz="900" dirty="0"/>
          </a:p>
        </p:txBody>
      </p:sp>
      <p:sp>
        <p:nvSpPr>
          <p:cNvPr id="19" name="Text 15"/>
          <p:cNvSpPr txBox="1"/>
          <p:nvPr/>
        </p:nvSpPr>
        <p:spPr>
          <a:xfrm>
            <a:off x="8595360" y="6327648"/>
            <a:ext cx="3044952" cy="228600"/>
          </a:xfrm>
          <a:prstGeom prst="rect">
            <a:avLst/>
          </a:prstGeom>
          <a:noFill/>
          <a:ln/>
        </p:spPr>
        <p:txBody>
          <a:bodyPr wrap="square" lIns="0" tIns="0" rIns="0" bIns="0" rtlCol="0" anchor="t"/>
          <a:lstStyle/>
          <a:p>
            <a:pPr algn="r" indent="0" marL="0">
              <a:buNone/>
            </a:pPr>
            <a:r>
              <a:rPr lang="en-US" sz="900" dirty="0">
                <a:solidFill>
                  <a:srgbClr val="6E7378"/>
                </a:solidFill>
                <a:latin typeface="Inter" pitchFamily="34" charset="0"/>
                <a:ea typeface="Inter" pitchFamily="34" charset="-122"/>
                <a:cs typeface="Inter" pitchFamily="34" charset="-120"/>
              </a:rPr>
              <a:t>Project Galicia  ·  Estrictamente confidencial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79476"/>
            <a:ext cx="7772400" cy="228600"/>
          </a:xfrm>
          <a:prstGeom prst="rect">
            <a:avLst/>
          </a:prstGeom>
          <a:noFill/>
          <a:ln/>
        </p:spPr>
        <p:txBody>
          <a:bodyPr wrap="square" lIns="0" tIns="0" rIns="0" bIns="0" rtlCol="0" anchor="ctr"/>
          <a:lstStyle/>
          <a:p>
            <a:pPr indent="0" marL="0">
              <a:buNone/>
            </a:pPr>
            <a:r>
              <a:rPr lang="en-US" sz="1100" b="1" spc="200" kern="0" dirty="0">
                <a:solidFill>
                  <a:srgbClr val="1F4B3F"/>
                </a:solidFill>
                <a:latin typeface="Inter" pitchFamily="34" charset="0"/>
                <a:ea typeface="Inter" pitchFamily="34" charset="-122"/>
                <a:cs typeface="Inter" pitchFamily="34" charset="-120"/>
              </a:rPr>
              <a:t>02  ESTRUCTURA DE LA COMPRA</a:t>
            </a:r>
            <a:endParaRPr lang="en-US" sz="1100" dirty="0"/>
          </a:p>
        </p:txBody>
      </p:sp>
      <p:pic>
        <p:nvPicPr>
          <p:cNvPr id="3" name="Image 0" descr="/tmp/claude-0/-home-claude/8d7de6a3-f167-5c95-8bc2-67944307bfd8/scratchpad/canva/img/HLP_monograma.png">    </p:cNvPr>
          <p:cNvPicPr>
            <a:picLocks noChangeAspect="1"/>
          </p:cNvPicPr>
          <p:nvPr/>
        </p:nvPicPr>
        <p:blipFill>
          <a:blip r:embed="rId1"/>
          <a:stretch>
            <a:fillRect/>
          </a:stretch>
        </p:blipFill>
        <p:spPr>
          <a:xfrm>
            <a:off x="11130991" y="237744"/>
            <a:ext cx="512064" cy="512064"/>
          </a:xfrm>
          <a:prstGeom prst="rect">
            <a:avLst/>
          </a:prstGeom>
        </p:spPr>
      </p:pic>
      <p:sp>
        <p:nvSpPr>
          <p:cNvPr id="4" name="Text 1"/>
          <p:cNvSpPr txBox="1"/>
          <p:nvPr/>
        </p:nvSpPr>
        <p:spPr>
          <a:xfrm>
            <a:off x="548640" y="786384"/>
            <a:ext cx="11091672" cy="658368"/>
          </a:xfrm>
          <a:prstGeom prst="rect">
            <a:avLst/>
          </a:prstGeom>
          <a:noFill/>
          <a:ln/>
        </p:spPr>
        <p:txBody>
          <a:bodyPr wrap="square" lIns="0" tIns="0" rIns="0" bIns="0" rtlCol="0" anchor="t"/>
          <a:lstStyle/>
          <a:p>
            <a:pPr indent="0" marL="0">
              <a:lnSpc>
                <a:spcPct val="92000"/>
              </a:lnSpc>
              <a:buNone/>
            </a:pPr>
            <a:r>
              <a:rPr lang="en-US" sz="2200" dirty="0">
                <a:solidFill>
                  <a:srgbClr val="1A1D21"/>
                </a:solidFill>
                <a:latin typeface="Lora" pitchFamily="34" charset="0"/>
                <a:ea typeface="Lora" pitchFamily="34" charset="-122"/>
                <a:cs typeface="Lora" pitchFamily="34" charset="-120"/>
              </a:rPr>
              <a:t>OPA de exclusión por el 100% a €63,73 por acción: prima del 15% y 19,9x EBITDA</a:t>
            </a:r>
            <a:endParaRPr lang="en-US" sz="2200" dirty="0"/>
          </a:p>
        </p:txBody>
      </p:sp>
      <p:sp>
        <p:nvSpPr>
          <p:cNvPr id="5" name="Text 2"/>
          <p:cNvSpPr txBox="1"/>
          <p:nvPr/>
        </p:nvSpPr>
        <p:spPr>
          <a:xfrm>
            <a:off x="548640" y="1572768"/>
            <a:ext cx="6766560" cy="228600"/>
          </a:xfrm>
          <a:prstGeom prst="rect">
            <a:avLst/>
          </a:prstGeom>
          <a:noFill/>
          <a:ln/>
        </p:spPr>
        <p:txBody>
          <a:bodyPr wrap="square" lIns="0" tIns="0" rIns="0" bIns="0" rtlCol="0" anchor="t"/>
          <a:lstStyle/>
          <a:p>
            <a:pPr indent="0" marL="0">
              <a:buNone/>
            </a:pPr>
            <a:r>
              <a:rPr lang="en-US" sz="1050" b="1" spc="150" kern="0" dirty="0">
                <a:solidFill>
                  <a:srgbClr val="1F4B3F"/>
                </a:solidFill>
                <a:latin typeface="Inter" pitchFamily="34" charset="0"/>
                <a:ea typeface="Inter" pitchFamily="34" charset="-122"/>
                <a:cs typeface="Inter" pitchFamily="34" charset="-120"/>
              </a:rPr>
              <a:t>PRECIO DE LA OFERTA</a:t>
            </a:r>
            <a:endParaRPr lang="en-US" sz="1050" dirty="0"/>
          </a:p>
        </p:txBody>
      </p:sp>
      <p:sp>
        <p:nvSpPr>
          <p:cNvPr id="6" name="Shape 3"/>
          <p:cNvSpPr/>
          <p:nvPr/>
        </p:nvSpPr>
        <p:spPr>
          <a:xfrm>
            <a:off x="548640" y="1847088"/>
            <a:ext cx="2011680" cy="1051560"/>
          </a:xfrm>
          <a:prstGeom prst="rect">
            <a:avLst>
              <a:gd name="adj" fmla="val 5217"/>
            </a:avLst>
          </a:prstGeom>
          <a:solidFill>
            <a:srgbClr val="F3F3F2"/>
          </a:solidFill>
          <a:ln/>
        </p:spPr>
      </p:sp>
      <p:sp>
        <p:nvSpPr>
          <p:cNvPr id="7" name="Text 4"/>
          <p:cNvSpPr txBox="1"/>
          <p:nvPr/>
        </p:nvSpPr>
        <p:spPr>
          <a:xfrm>
            <a:off x="548640" y="1956816"/>
            <a:ext cx="2011680" cy="502920"/>
          </a:xfrm>
          <a:prstGeom prst="rect">
            <a:avLst/>
          </a:prstGeom>
          <a:noFill/>
          <a:ln/>
        </p:spPr>
        <p:txBody>
          <a:bodyPr wrap="square" lIns="0" tIns="0" rIns="0" bIns="0" rtlCol="0" anchor="ctr"/>
          <a:lstStyle/>
          <a:p>
            <a:pPr algn="ctr" indent="0" marL="0">
              <a:buNone/>
            </a:pPr>
            <a:r>
              <a:rPr lang="en-US" sz="2600" b="1" dirty="0">
                <a:solidFill>
                  <a:srgbClr val="1A1D21"/>
                </a:solidFill>
                <a:latin typeface="Lora" pitchFamily="34" charset="0"/>
                <a:ea typeface="Lora" pitchFamily="34" charset="-122"/>
                <a:cs typeface="Lora" pitchFamily="34" charset="-120"/>
              </a:rPr>
              <a:t>€55,42</a:t>
            </a:r>
            <a:endParaRPr lang="en-US" sz="2600" dirty="0"/>
          </a:p>
        </p:txBody>
      </p:sp>
      <p:sp>
        <p:nvSpPr>
          <p:cNvPr id="8" name="Text 5"/>
          <p:cNvSpPr txBox="1"/>
          <p:nvPr/>
        </p:nvSpPr>
        <p:spPr>
          <a:xfrm>
            <a:off x="640080" y="2523744"/>
            <a:ext cx="1828800" cy="274320"/>
          </a:xfrm>
          <a:prstGeom prst="rect">
            <a:avLst/>
          </a:prstGeom>
          <a:noFill/>
          <a:ln/>
        </p:spPr>
        <p:txBody>
          <a:bodyPr wrap="square" lIns="0" tIns="0" rIns="0" bIns="0" rtlCol="0" anchor="t"/>
          <a:lstStyle/>
          <a:p>
            <a:pPr algn="ctr" indent="0" marL="0">
              <a:buNone/>
            </a:pPr>
            <a:r>
              <a:rPr lang="en-US" sz="1100" dirty="0">
                <a:solidFill>
                  <a:srgbClr val="6E7378"/>
                </a:solidFill>
                <a:latin typeface="Inter" pitchFamily="34" charset="0"/>
                <a:ea typeface="Inter" pitchFamily="34" charset="-122"/>
                <a:cs typeface="Inter" pitchFamily="34" charset="-120"/>
              </a:rPr>
              <a:t>Cotización sin perturbar</a:t>
            </a:r>
            <a:endParaRPr lang="en-US" sz="1100" dirty="0"/>
          </a:p>
        </p:txBody>
      </p:sp>
      <p:sp>
        <p:nvSpPr>
          <p:cNvPr id="9" name="Text 6"/>
          <p:cNvSpPr txBox="1"/>
          <p:nvPr/>
        </p:nvSpPr>
        <p:spPr>
          <a:xfrm>
            <a:off x="2560320" y="1847088"/>
            <a:ext cx="365760" cy="1051560"/>
          </a:xfrm>
          <a:prstGeom prst="rect">
            <a:avLst/>
          </a:prstGeom>
          <a:noFill/>
          <a:ln/>
        </p:spPr>
        <p:txBody>
          <a:bodyPr wrap="square" lIns="0" tIns="0" rIns="0" bIns="0" rtlCol="0" anchor="ctr"/>
          <a:lstStyle/>
          <a:p>
            <a:pPr algn="ctr" indent="0" marL="0">
              <a:buNone/>
            </a:pPr>
            <a:r>
              <a:rPr lang="en-US" sz="2800" b="1" dirty="0">
                <a:solidFill>
                  <a:srgbClr val="1F4B3F"/>
                </a:solidFill>
                <a:latin typeface="Inter" pitchFamily="34" charset="0"/>
                <a:ea typeface="Inter" pitchFamily="34" charset="-122"/>
                <a:cs typeface="Inter" pitchFamily="34" charset="-120"/>
              </a:rPr>
              <a:t>›</a:t>
            </a:r>
            <a:endParaRPr lang="en-US" sz="2800" dirty="0"/>
          </a:p>
        </p:txBody>
      </p:sp>
      <p:sp>
        <p:nvSpPr>
          <p:cNvPr id="10" name="Shape 7"/>
          <p:cNvSpPr/>
          <p:nvPr/>
        </p:nvSpPr>
        <p:spPr>
          <a:xfrm>
            <a:off x="2926080" y="1847088"/>
            <a:ext cx="2011680" cy="1051560"/>
          </a:xfrm>
          <a:prstGeom prst="rect">
            <a:avLst>
              <a:gd name="adj" fmla="val 5217"/>
            </a:avLst>
          </a:prstGeom>
          <a:solidFill>
            <a:srgbClr val="F3F3F2"/>
          </a:solidFill>
          <a:ln/>
        </p:spPr>
      </p:sp>
      <p:sp>
        <p:nvSpPr>
          <p:cNvPr id="11" name="Text 8"/>
          <p:cNvSpPr txBox="1"/>
          <p:nvPr/>
        </p:nvSpPr>
        <p:spPr>
          <a:xfrm>
            <a:off x="2926080" y="1956816"/>
            <a:ext cx="2011680" cy="502920"/>
          </a:xfrm>
          <a:prstGeom prst="rect">
            <a:avLst/>
          </a:prstGeom>
          <a:noFill/>
          <a:ln/>
        </p:spPr>
        <p:txBody>
          <a:bodyPr wrap="square" lIns="0" tIns="0" rIns="0" bIns="0" rtlCol="0" anchor="ctr"/>
          <a:lstStyle/>
          <a:p>
            <a:pPr algn="ctr" indent="0" marL="0">
              <a:buNone/>
            </a:pPr>
            <a:r>
              <a:rPr lang="en-US" sz="2600" b="1" dirty="0">
                <a:solidFill>
                  <a:srgbClr val="1A1D21"/>
                </a:solidFill>
                <a:latin typeface="Lora" pitchFamily="34" charset="0"/>
                <a:ea typeface="Lora" pitchFamily="34" charset="-122"/>
                <a:cs typeface="Lora" pitchFamily="34" charset="-120"/>
              </a:rPr>
              <a:t>+15%</a:t>
            </a:r>
            <a:endParaRPr lang="en-US" sz="2600" dirty="0"/>
          </a:p>
        </p:txBody>
      </p:sp>
      <p:sp>
        <p:nvSpPr>
          <p:cNvPr id="12" name="Text 9"/>
          <p:cNvSpPr txBox="1"/>
          <p:nvPr/>
        </p:nvSpPr>
        <p:spPr>
          <a:xfrm>
            <a:off x="3017520" y="2523744"/>
            <a:ext cx="1828800" cy="274320"/>
          </a:xfrm>
          <a:prstGeom prst="rect">
            <a:avLst/>
          </a:prstGeom>
          <a:noFill/>
          <a:ln/>
        </p:spPr>
        <p:txBody>
          <a:bodyPr wrap="square" lIns="0" tIns="0" rIns="0" bIns="0" rtlCol="0" anchor="t"/>
          <a:lstStyle/>
          <a:p>
            <a:pPr algn="ctr" indent="0" marL="0">
              <a:buNone/>
            </a:pPr>
            <a:r>
              <a:rPr lang="en-US" sz="1100" dirty="0">
                <a:solidFill>
                  <a:srgbClr val="6E7378"/>
                </a:solidFill>
                <a:latin typeface="Inter" pitchFamily="34" charset="0"/>
                <a:ea typeface="Inter" pitchFamily="34" charset="-122"/>
                <a:cs typeface="Inter" pitchFamily="34" charset="-120"/>
              </a:rPr>
              <a:t>Prima de control (+€8,31)</a:t>
            </a:r>
            <a:endParaRPr lang="en-US" sz="1100" dirty="0"/>
          </a:p>
        </p:txBody>
      </p:sp>
      <p:sp>
        <p:nvSpPr>
          <p:cNvPr id="13" name="Text 10"/>
          <p:cNvSpPr txBox="1"/>
          <p:nvPr/>
        </p:nvSpPr>
        <p:spPr>
          <a:xfrm>
            <a:off x="4937760" y="1847088"/>
            <a:ext cx="365760" cy="1051560"/>
          </a:xfrm>
          <a:prstGeom prst="rect">
            <a:avLst/>
          </a:prstGeom>
          <a:noFill/>
          <a:ln/>
        </p:spPr>
        <p:txBody>
          <a:bodyPr wrap="square" lIns="0" tIns="0" rIns="0" bIns="0" rtlCol="0" anchor="ctr"/>
          <a:lstStyle/>
          <a:p>
            <a:pPr algn="ctr" indent="0" marL="0">
              <a:buNone/>
            </a:pPr>
            <a:r>
              <a:rPr lang="en-US" sz="2800" b="1" dirty="0">
                <a:solidFill>
                  <a:srgbClr val="1F4B3F"/>
                </a:solidFill>
                <a:latin typeface="Inter" pitchFamily="34" charset="0"/>
                <a:ea typeface="Inter" pitchFamily="34" charset="-122"/>
                <a:cs typeface="Inter" pitchFamily="34" charset="-120"/>
              </a:rPr>
              <a:t>›</a:t>
            </a:r>
            <a:endParaRPr lang="en-US" sz="2800" dirty="0"/>
          </a:p>
        </p:txBody>
      </p:sp>
      <p:sp>
        <p:nvSpPr>
          <p:cNvPr id="14" name="Shape 11"/>
          <p:cNvSpPr/>
          <p:nvPr/>
        </p:nvSpPr>
        <p:spPr>
          <a:xfrm>
            <a:off x="5303520" y="1847088"/>
            <a:ext cx="2011680" cy="1051560"/>
          </a:xfrm>
          <a:prstGeom prst="rect">
            <a:avLst>
              <a:gd name="adj" fmla="val 5217"/>
            </a:avLst>
          </a:prstGeom>
          <a:solidFill>
            <a:srgbClr val="1F4B3F"/>
          </a:solidFill>
          <a:ln/>
        </p:spPr>
      </p:sp>
      <p:sp>
        <p:nvSpPr>
          <p:cNvPr id="15" name="Text 12"/>
          <p:cNvSpPr txBox="1"/>
          <p:nvPr/>
        </p:nvSpPr>
        <p:spPr>
          <a:xfrm>
            <a:off x="5303520" y="1956816"/>
            <a:ext cx="2011680"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Lora" pitchFamily="34" charset="0"/>
                <a:ea typeface="Lora" pitchFamily="34" charset="-122"/>
                <a:cs typeface="Lora" pitchFamily="34" charset="-120"/>
              </a:rPr>
              <a:t>€63,73</a:t>
            </a:r>
            <a:endParaRPr lang="en-US" sz="2600" dirty="0"/>
          </a:p>
        </p:txBody>
      </p:sp>
      <p:sp>
        <p:nvSpPr>
          <p:cNvPr id="16" name="Text 13"/>
          <p:cNvSpPr txBox="1"/>
          <p:nvPr/>
        </p:nvSpPr>
        <p:spPr>
          <a:xfrm>
            <a:off x="5394960" y="2523744"/>
            <a:ext cx="1828800" cy="274320"/>
          </a:xfrm>
          <a:prstGeom prst="rect">
            <a:avLst/>
          </a:prstGeom>
          <a:noFill/>
          <a:ln/>
        </p:spPr>
        <p:txBody>
          <a:bodyPr wrap="square" lIns="0" tIns="0" rIns="0" bIns="0" rtlCol="0" anchor="t"/>
          <a:lstStyle/>
          <a:p>
            <a:pPr algn="ctr" indent="0" marL="0">
              <a:buNone/>
            </a:pPr>
            <a:r>
              <a:rPr lang="en-US" sz="1100" dirty="0">
                <a:solidFill>
                  <a:srgbClr val="D9E6DF"/>
                </a:solidFill>
                <a:latin typeface="Inter" pitchFamily="34" charset="0"/>
                <a:ea typeface="Inter" pitchFamily="34" charset="-122"/>
                <a:cs typeface="Inter" pitchFamily="34" charset="-120"/>
              </a:rPr>
              <a:t>Precio de la OPA</a:t>
            </a:r>
            <a:endParaRPr lang="en-US" sz="1100" dirty="0"/>
          </a:p>
        </p:txBody>
      </p:sp>
      <p:sp>
        <p:nvSpPr>
          <p:cNvPr id="17" name="Text 14"/>
          <p:cNvSpPr txBox="1"/>
          <p:nvPr/>
        </p:nvSpPr>
        <p:spPr>
          <a:xfrm>
            <a:off x="548640" y="3127248"/>
            <a:ext cx="6766560" cy="228600"/>
          </a:xfrm>
          <a:prstGeom prst="rect">
            <a:avLst/>
          </a:prstGeom>
          <a:noFill/>
          <a:ln/>
        </p:spPr>
        <p:txBody>
          <a:bodyPr wrap="square" lIns="0" tIns="0" rIns="0" bIns="0" rtlCol="0" anchor="t"/>
          <a:lstStyle/>
          <a:p>
            <a:pPr indent="0" marL="0">
              <a:buNone/>
            </a:pPr>
            <a:r>
              <a:rPr lang="en-US" sz="1050" b="1" spc="150" kern="0" dirty="0">
                <a:solidFill>
                  <a:srgbClr val="1F4B3F"/>
                </a:solidFill>
                <a:latin typeface="Inter" pitchFamily="34" charset="0"/>
                <a:ea typeface="Inter" pitchFamily="34" charset="-122"/>
                <a:cs typeface="Inter" pitchFamily="34" charset="-120"/>
              </a:rPr>
              <a:t>VALORACIÓN IMPLÍCITA</a:t>
            </a:r>
            <a:endParaRPr lang="en-US" sz="1050" dirty="0"/>
          </a:p>
        </p:txBody>
      </p:sp>
      <p:sp>
        <p:nvSpPr>
          <p:cNvPr id="18" name="Shape 15"/>
          <p:cNvSpPr/>
          <p:nvPr/>
        </p:nvSpPr>
        <p:spPr>
          <a:xfrm>
            <a:off x="548640" y="3401568"/>
            <a:ext cx="1463040" cy="1051560"/>
          </a:xfrm>
          <a:prstGeom prst="rect">
            <a:avLst>
              <a:gd name="adj" fmla="val 5217"/>
            </a:avLst>
          </a:prstGeom>
          <a:solidFill>
            <a:srgbClr val="F3F3F2"/>
          </a:solidFill>
          <a:ln/>
        </p:spPr>
      </p:sp>
      <p:sp>
        <p:nvSpPr>
          <p:cNvPr id="19" name="Text 16"/>
          <p:cNvSpPr txBox="1"/>
          <p:nvPr/>
        </p:nvSpPr>
        <p:spPr>
          <a:xfrm>
            <a:off x="548640" y="3529584"/>
            <a:ext cx="1463040" cy="457200"/>
          </a:xfrm>
          <a:prstGeom prst="rect">
            <a:avLst/>
          </a:prstGeom>
          <a:noFill/>
          <a:ln/>
        </p:spPr>
        <p:txBody>
          <a:bodyPr wrap="square" lIns="0" tIns="0" rIns="0" bIns="0" rtlCol="0" anchor="ctr"/>
          <a:lstStyle/>
          <a:p>
            <a:pPr algn="ctr" indent="0" marL="0">
              <a:buNone/>
            </a:pPr>
            <a:r>
              <a:rPr lang="en-US" sz="1700" b="1" dirty="0">
                <a:solidFill>
                  <a:srgbClr val="1A1D21"/>
                </a:solidFill>
                <a:latin typeface="Lora" pitchFamily="34" charset="0"/>
                <a:ea typeface="Lora" pitchFamily="34" charset="-122"/>
                <a:cs typeface="Lora" pitchFamily="34" charset="-120"/>
              </a:rPr>
              <a:t>€198.634m</a:t>
            </a:r>
            <a:endParaRPr lang="en-US" sz="1700" dirty="0"/>
          </a:p>
        </p:txBody>
      </p:sp>
      <p:sp>
        <p:nvSpPr>
          <p:cNvPr id="20" name="Text 17"/>
          <p:cNvSpPr txBox="1"/>
          <p:nvPr/>
        </p:nvSpPr>
        <p:spPr>
          <a:xfrm>
            <a:off x="621792" y="4041648"/>
            <a:ext cx="1316736" cy="347472"/>
          </a:xfrm>
          <a:prstGeom prst="rect">
            <a:avLst/>
          </a:prstGeom>
          <a:noFill/>
          <a:ln/>
        </p:spPr>
        <p:txBody>
          <a:bodyPr wrap="square" lIns="0" tIns="0" rIns="0" bIns="0" rtlCol="0" anchor="t"/>
          <a:lstStyle/>
          <a:p>
            <a:pPr algn="ctr" indent="0" marL="0">
              <a:buNone/>
            </a:pPr>
            <a:r>
              <a:rPr lang="en-US" sz="950" dirty="0">
                <a:solidFill>
                  <a:srgbClr val="6E7378"/>
                </a:solidFill>
                <a:latin typeface="Inter" pitchFamily="34" charset="0"/>
                <a:ea typeface="Inter" pitchFamily="34" charset="-122"/>
                <a:cs typeface="Inter" pitchFamily="34" charset="-120"/>
              </a:rPr>
              <a:t>Equity · 3.116,7m acciones</a:t>
            </a:r>
            <a:endParaRPr lang="en-US" sz="950" dirty="0"/>
          </a:p>
        </p:txBody>
      </p:sp>
      <p:sp>
        <p:nvSpPr>
          <p:cNvPr id="21" name="Text 18"/>
          <p:cNvSpPr txBox="1"/>
          <p:nvPr/>
        </p:nvSpPr>
        <p:spPr>
          <a:xfrm>
            <a:off x="2011680" y="3401568"/>
            <a:ext cx="304800" cy="1051560"/>
          </a:xfrm>
          <a:prstGeom prst="rect">
            <a:avLst/>
          </a:prstGeom>
          <a:noFill/>
          <a:ln/>
        </p:spPr>
        <p:txBody>
          <a:bodyPr wrap="square" lIns="0" tIns="0" rIns="0" bIns="0" rtlCol="0" anchor="ctr"/>
          <a:lstStyle/>
          <a:p>
            <a:pPr algn="ctr" indent="0" marL="0">
              <a:buNone/>
            </a:pPr>
            <a:r>
              <a:rPr lang="en-US" sz="2200" dirty="0">
                <a:solidFill>
                  <a:srgbClr val="1F4B3F"/>
                </a:solidFill>
                <a:latin typeface="Inter" pitchFamily="34" charset="0"/>
                <a:ea typeface="Inter" pitchFamily="34" charset="-122"/>
                <a:cs typeface="Inter" pitchFamily="34" charset="-120"/>
              </a:rPr>
              <a:t>−</a:t>
            </a:r>
            <a:endParaRPr lang="en-US" sz="2200" dirty="0"/>
          </a:p>
        </p:txBody>
      </p:sp>
      <p:sp>
        <p:nvSpPr>
          <p:cNvPr id="22" name="Shape 19"/>
          <p:cNvSpPr/>
          <p:nvPr/>
        </p:nvSpPr>
        <p:spPr>
          <a:xfrm>
            <a:off x="2316480" y="3401568"/>
            <a:ext cx="1463040" cy="1051560"/>
          </a:xfrm>
          <a:prstGeom prst="rect">
            <a:avLst>
              <a:gd name="adj" fmla="val 5217"/>
            </a:avLst>
          </a:prstGeom>
          <a:solidFill>
            <a:srgbClr val="F3F3F2"/>
          </a:solidFill>
          <a:ln/>
        </p:spPr>
      </p:sp>
      <p:sp>
        <p:nvSpPr>
          <p:cNvPr id="23" name="Text 20"/>
          <p:cNvSpPr txBox="1"/>
          <p:nvPr/>
        </p:nvSpPr>
        <p:spPr>
          <a:xfrm>
            <a:off x="2316480" y="3529584"/>
            <a:ext cx="1463040" cy="457200"/>
          </a:xfrm>
          <a:prstGeom prst="rect">
            <a:avLst/>
          </a:prstGeom>
          <a:noFill/>
          <a:ln/>
        </p:spPr>
        <p:txBody>
          <a:bodyPr wrap="square" lIns="0" tIns="0" rIns="0" bIns="0" rtlCol="0" anchor="ctr"/>
          <a:lstStyle/>
          <a:p>
            <a:pPr algn="ctr" indent="0" marL="0">
              <a:buNone/>
            </a:pPr>
            <a:r>
              <a:rPr lang="en-US" sz="1700" b="1" dirty="0">
                <a:solidFill>
                  <a:srgbClr val="1A1D21"/>
                </a:solidFill>
                <a:latin typeface="Lora" pitchFamily="34" charset="0"/>
                <a:ea typeface="Lora" pitchFamily="34" charset="-122"/>
                <a:cs typeface="Lora" pitchFamily="34" charset="-120"/>
              </a:rPr>
              <a:t>€10.958m</a:t>
            </a:r>
            <a:endParaRPr lang="en-US" sz="1700" dirty="0"/>
          </a:p>
        </p:txBody>
      </p:sp>
      <p:sp>
        <p:nvSpPr>
          <p:cNvPr id="24" name="Text 21"/>
          <p:cNvSpPr txBox="1"/>
          <p:nvPr/>
        </p:nvSpPr>
        <p:spPr>
          <a:xfrm>
            <a:off x="2389632" y="4041648"/>
            <a:ext cx="1316736" cy="347472"/>
          </a:xfrm>
          <a:prstGeom prst="rect">
            <a:avLst/>
          </a:prstGeom>
          <a:noFill/>
          <a:ln/>
        </p:spPr>
        <p:txBody>
          <a:bodyPr wrap="square" lIns="0" tIns="0" rIns="0" bIns="0" rtlCol="0" anchor="t"/>
          <a:lstStyle/>
          <a:p>
            <a:pPr algn="ctr" indent="0" marL="0">
              <a:buNone/>
            </a:pPr>
            <a:r>
              <a:rPr lang="en-US" sz="950" dirty="0">
                <a:solidFill>
                  <a:srgbClr val="6E7378"/>
                </a:solidFill>
                <a:latin typeface="Inter" pitchFamily="34" charset="0"/>
                <a:ea typeface="Inter" pitchFamily="34" charset="-122"/>
                <a:cs typeface="Inter" pitchFamily="34" charset="-120"/>
              </a:rPr>
              <a:t>Caja neta</a:t>
            </a:r>
            <a:endParaRPr lang="en-US" sz="950" dirty="0"/>
          </a:p>
        </p:txBody>
      </p:sp>
      <p:sp>
        <p:nvSpPr>
          <p:cNvPr id="25" name="Text 22"/>
          <p:cNvSpPr txBox="1"/>
          <p:nvPr/>
        </p:nvSpPr>
        <p:spPr>
          <a:xfrm>
            <a:off x="3779520" y="3401568"/>
            <a:ext cx="304800" cy="1051560"/>
          </a:xfrm>
          <a:prstGeom prst="rect">
            <a:avLst/>
          </a:prstGeom>
          <a:noFill/>
          <a:ln/>
        </p:spPr>
        <p:txBody>
          <a:bodyPr wrap="square" lIns="0" tIns="0" rIns="0" bIns="0" rtlCol="0" anchor="ctr"/>
          <a:lstStyle/>
          <a:p>
            <a:pPr algn="ctr" indent="0" marL="0">
              <a:buNone/>
            </a:pPr>
            <a:r>
              <a:rPr lang="en-US" sz="2200" dirty="0">
                <a:solidFill>
                  <a:srgbClr val="1F4B3F"/>
                </a:solidFill>
                <a:latin typeface="Inter" pitchFamily="34" charset="0"/>
                <a:ea typeface="Inter" pitchFamily="34" charset="-122"/>
                <a:cs typeface="Inter" pitchFamily="34" charset="-120"/>
              </a:rPr>
              <a:t>=</a:t>
            </a:r>
            <a:endParaRPr lang="en-US" sz="2200" dirty="0"/>
          </a:p>
        </p:txBody>
      </p:sp>
      <p:sp>
        <p:nvSpPr>
          <p:cNvPr id="26" name="Shape 23"/>
          <p:cNvSpPr/>
          <p:nvPr/>
        </p:nvSpPr>
        <p:spPr>
          <a:xfrm>
            <a:off x="4084320" y="3401568"/>
            <a:ext cx="1463040" cy="1051560"/>
          </a:xfrm>
          <a:prstGeom prst="rect">
            <a:avLst>
              <a:gd name="adj" fmla="val 5217"/>
            </a:avLst>
          </a:prstGeom>
          <a:solidFill>
            <a:srgbClr val="F3F3F2"/>
          </a:solidFill>
          <a:ln/>
        </p:spPr>
      </p:sp>
      <p:sp>
        <p:nvSpPr>
          <p:cNvPr id="27" name="Text 24"/>
          <p:cNvSpPr txBox="1"/>
          <p:nvPr/>
        </p:nvSpPr>
        <p:spPr>
          <a:xfrm>
            <a:off x="4084320" y="3529584"/>
            <a:ext cx="1463040" cy="457200"/>
          </a:xfrm>
          <a:prstGeom prst="rect">
            <a:avLst/>
          </a:prstGeom>
          <a:noFill/>
          <a:ln/>
        </p:spPr>
        <p:txBody>
          <a:bodyPr wrap="square" lIns="0" tIns="0" rIns="0" bIns="0" rtlCol="0" anchor="ctr"/>
          <a:lstStyle/>
          <a:p>
            <a:pPr algn="ctr" indent="0" marL="0">
              <a:buNone/>
            </a:pPr>
            <a:r>
              <a:rPr lang="en-US" sz="1700" b="1" dirty="0">
                <a:solidFill>
                  <a:srgbClr val="1A1D21"/>
                </a:solidFill>
                <a:latin typeface="Lora" pitchFamily="34" charset="0"/>
                <a:ea typeface="Lora" pitchFamily="34" charset="-122"/>
                <a:cs typeface="Lora" pitchFamily="34" charset="-120"/>
              </a:rPr>
              <a:t>€187.676m</a:t>
            </a:r>
            <a:endParaRPr lang="en-US" sz="1700" dirty="0"/>
          </a:p>
        </p:txBody>
      </p:sp>
      <p:sp>
        <p:nvSpPr>
          <p:cNvPr id="28" name="Text 25"/>
          <p:cNvSpPr txBox="1"/>
          <p:nvPr/>
        </p:nvSpPr>
        <p:spPr>
          <a:xfrm>
            <a:off x="4157472" y="4041648"/>
            <a:ext cx="1316736" cy="347472"/>
          </a:xfrm>
          <a:prstGeom prst="rect">
            <a:avLst/>
          </a:prstGeom>
          <a:noFill/>
          <a:ln/>
        </p:spPr>
        <p:txBody>
          <a:bodyPr wrap="square" lIns="0" tIns="0" rIns="0" bIns="0" rtlCol="0" anchor="t"/>
          <a:lstStyle/>
          <a:p>
            <a:pPr algn="ctr" indent="0" marL="0">
              <a:buNone/>
            </a:pPr>
            <a:r>
              <a:rPr lang="en-US" sz="950" dirty="0">
                <a:solidFill>
                  <a:srgbClr val="6E7378"/>
                </a:solidFill>
                <a:latin typeface="Inter" pitchFamily="34" charset="0"/>
                <a:ea typeface="Inter" pitchFamily="34" charset="-122"/>
                <a:cs typeface="Inter" pitchFamily="34" charset="-120"/>
              </a:rPr>
              <a:t>Valor de empresa (EV)</a:t>
            </a:r>
            <a:endParaRPr lang="en-US" sz="950" dirty="0"/>
          </a:p>
        </p:txBody>
      </p:sp>
      <p:sp>
        <p:nvSpPr>
          <p:cNvPr id="29" name="Text 26"/>
          <p:cNvSpPr txBox="1"/>
          <p:nvPr/>
        </p:nvSpPr>
        <p:spPr>
          <a:xfrm>
            <a:off x="5547360" y="3401568"/>
            <a:ext cx="304800" cy="1051560"/>
          </a:xfrm>
          <a:prstGeom prst="rect">
            <a:avLst/>
          </a:prstGeom>
          <a:noFill/>
          <a:ln/>
        </p:spPr>
        <p:txBody>
          <a:bodyPr wrap="square" lIns="0" tIns="0" rIns="0" bIns="0" rtlCol="0" anchor="ctr"/>
          <a:lstStyle/>
          <a:p>
            <a:pPr algn="ctr" indent="0" marL="0">
              <a:buNone/>
            </a:pPr>
            <a:r>
              <a:rPr lang="en-US" sz="2200" dirty="0">
                <a:solidFill>
                  <a:srgbClr val="1F4B3F"/>
                </a:solidFill>
                <a:latin typeface="Inter" pitchFamily="34" charset="0"/>
                <a:ea typeface="Inter" pitchFamily="34" charset="-122"/>
                <a:cs typeface="Inter" pitchFamily="34" charset="-120"/>
              </a:rPr>
              <a:t>→</a:t>
            </a:r>
            <a:endParaRPr lang="en-US" sz="2200" dirty="0"/>
          </a:p>
        </p:txBody>
      </p:sp>
      <p:sp>
        <p:nvSpPr>
          <p:cNvPr id="30" name="Shape 27"/>
          <p:cNvSpPr/>
          <p:nvPr/>
        </p:nvSpPr>
        <p:spPr>
          <a:xfrm>
            <a:off x="5852160" y="3401568"/>
            <a:ext cx="1463040" cy="1051560"/>
          </a:xfrm>
          <a:prstGeom prst="rect">
            <a:avLst>
              <a:gd name="adj" fmla="val 5217"/>
            </a:avLst>
          </a:prstGeom>
          <a:solidFill>
            <a:srgbClr val="1A1D21"/>
          </a:solidFill>
          <a:ln/>
        </p:spPr>
      </p:sp>
      <p:sp>
        <p:nvSpPr>
          <p:cNvPr id="31" name="Text 28"/>
          <p:cNvSpPr txBox="1"/>
          <p:nvPr/>
        </p:nvSpPr>
        <p:spPr>
          <a:xfrm>
            <a:off x="5852160" y="3529584"/>
            <a:ext cx="146304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Lora" pitchFamily="34" charset="0"/>
                <a:ea typeface="Lora" pitchFamily="34" charset="-122"/>
                <a:cs typeface="Lora" pitchFamily="34" charset="-120"/>
              </a:rPr>
              <a:t>19,9x</a:t>
            </a:r>
            <a:endParaRPr lang="en-US" sz="2400" dirty="0"/>
          </a:p>
        </p:txBody>
      </p:sp>
      <p:sp>
        <p:nvSpPr>
          <p:cNvPr id="32" name="Text 29"/>
          <p:cNvSpPr txBox="1"/>
          <p:nvPr/>
        </p:nvSpPr>
        <p:spPr>
          <a:xfrm>
            <a:off x="5925312" y="4041648"/>
            <a:ext cx="1316736" cy="347472"/>
          </a:xfrm>
          <a:prstGeom prst="rect">
            <a:avLst/>
          </a:prstGeom>
          <a:noFill/>
          <a:ln/>
        </p:spPr>
        <p:txBody>
          <a:bodyPr wrap="square" lIns="0" tIns="0" rIns="0" bIns="0" rtlCol="0" anchor="t"/>
          <a:lstStyle/>
          <a:p>
            <a:pPr algn="ctr" indent="0" marL="0">
              <a:buNone/>
            </a:pPr>
            <a:r>
              <a:rPr lang="en-US" sz="950" dirty="0">
                <a:solidFill>
                  <a:srgbClr val="BFC4CA"/>
                </a:solidFill>
                <a:latin typeface="Inter" pitchFamily="34" charset="0"/>
                <a:ea typeface="Inter" pitchFamily="34" charset="-122"/>
                <a:cs typeface="Inter" pitchFamily="34" charset="-120"/>
              </a:rPr>
              <a:t>EV ÷ EBITDA pre-IFRS 16 (€9.433m)</a:t>
            </a:r>
            <a:endParaRPr lang="en-US" sz="950" dirty="0"/>
          </a:p>
        </p:txBody>
      </p:sp>
      <p:sp>
        <p:nvSpPr>
          <p:cNvPr id="33" name="Shape 30"/>
          <p:cNvSpPr/>
          <p:nvPr/>
        </p:nvSpPr>
        <p:spPr>
          <a:xfrm>
            <a:off x="548640" y="4709160"/>
            <a:ext cx="3291840" cy="1463040"/>
          </a:xfrm>
          <a:prstGeom prst="rect">
            <a:avLst>
              <a:gd name="adj" fmla="val 3750"/>
            </a:avLst>
          </a:prstGeom>
          <a:solidFill>
            <a:srgbClr val="FFFFFF"/>
          </a:solidFill>
          <a:ln w="12700">
            <a:solidFill>
              <a:srgbClr val="D9D9D6"/>
            </a:solidFill>
            <a:prstDash val="solid"/>
          </a:ln>
        </p:spPr>
      </p:sp>
      <p:sp>
        <p:nvSpPr>
          <p:cNvPr id="34" name="Shape 31"/>
          <p:cNvSpPr/>
          <p:nvPr/>
        </p:nvSpPr>
        <p:spPr>
          <a:xfrm>
            <a:off x="548640" y="4709160"/>
            <a:ext cx="64008" cy="1463040"/>
          </a:xfrm>
          <a:prstGeom prst="rect">
            <a:avLst/>
          </a:prstGeom>
          <a:solidFill>
            <a:srgbClr val="1F4B3F"/>
          </a:solidFill>
          <a:ln/>
        </p:spPr>
      </p:sp>
      <p:sp>
        <p:nvSpPr>
          <p:cNvPr id="35" name="Text 32"/>
          <p:cNvSpPr txBox="1"/>
          <p:nvPr/>
        </p:nvSpPr>
        <p:spPr>
          <a:xfrm>
            <a:off x="777240" y="4818888"/>
            <a:ext cx="2926080" cy="274320"/>
          </a:xfrm>
          <a:prstGeom prst="rect">
            <a:avLst/>
          </a:prstGeom>
          <a:noFill/>
          <a:ln/>
        </p:spPr>
        <p:txBody>
          <a:bodyPr wrap="square" lIns="0" tIns="0" rIns="0" bIns="0" rtlCol="0" anchor="t"/>
          <a:lstStyle/>
          <a:p>
            <a:pPr indent="0" marL="0">
              <a:buNone/>
            </a:pPr>
            <a:r>
              <a:rPr lang="en-US" sz="1300" b="1" dirty="0">
                <a:solidFill>
                  <a:srgbClr val="1A1D21"/>
                </a:solidFill>
                <a:latin typeface="Inter" pitchFamily="34" charset="0"/>
                <a:ea typeface="Inter" pitchFamily="34" charset="-122"/>
                <a:cs typeface="Inter" pitchFamily="34" charset="-120"/>
              </a:rPr>
              <a:t>Precio exigente</a:t>
            </a:r>
            <a:endParaRPr lang="en-US" sz="1300" dirty="0"/>
          </a:p>
        </p:txBody>
      </p:sp>
      <p:sp>
        <p:nvSpPr>
          <p:cNvPr id="36" name="Text 33"/>
          <p:cNvSpPr txBox="1"/>
          <p:nvPr/>
        </p:nvSpPr>
        <p:spPr>
          <a:xfrm>
            <a:off x="777240" y="5138928"/>
            <a:ext cx="2926080" cy="960120"/>
          </a:xfrm>
          <a:prstGeom prst="rect">
            <a:avLst/>
          </a:prstGeom>
          <a:noFill/>
          <a:ln/>
        </p:spPr>
        <p:txBody>
          <a:bodyPr wrap="square" lIns="0" tIns="0" rIns="0" bIns="0" rtlCol="0" anchor="t"/>
          <a:lstStyle/>
          <a:p>
            <a:pPr indent="0" marL="0">
              <a:buNone/>
            </a:pPr>
            <a:r>
              <a:rPr lang="en-US" sz="1100" dirty="0">
                <a:solidFill>
                  <a:srgbClr val="1F2124"/>
                </a:solidFill>
                <a:latin typeface="Inter" pitchFamily="34" charset="0"/>
                <a:ea typeface="Inter" pitchFamily="34" charset="-122"/>
                <a:cs typeface="Inter" pitchFamily="34" charset="-120"/>
              </a:rPr>
              <a:t>A 19,9x la rentabilidad tiene que venir del crecimiento del EBITDA, no de la deuda: la limitamos a lo que la caja puede pagar (8,2x).</a:t>
            </a:r>
            <a:endParaRPr lang="en-US" sz="1100" dirty="0"/>
          </a:p>
        </p:txBody>
      </p:sp>
      <p:sp>
        <p:nvSpPr>
          <p:cNvPr id="37" name="Shape 34"/>
          <p:cNvSpPr/>
          <p:nvPr/>
        </p:nvSpPr>
        <p:spPr>
          <a:xfrm>
            <a:off x="4023360" y="4709160"/>
            <a:ext cx="3291840" cy="1463040"/>
          </a:xfrm>
          <a:prstGeom prst="rect">
            <a:avLst>
              <a:gd name="adj" fmla="val 3750"/>
            </a:avLst>
          </a:prstGeom>
          <a:solidFill>
            <a:srgbClr val="FFFFFF"/>
          </a:solidFill>
          <a:ln w="12700">
            <a:solidFill>
              <a:srgbClr val="D9D9D6"/>
            </a:solidFill>
            <a:prstDash val="solid"/>
          </a:ln>
        </p:spPr>
      </p:sp>
      <p:sp>
        <p:nvSpPr>
          <p:cNvPr id="38" name="Shape 35"/>
          <p:cNvSpPr/>
          <p:nvPr/>
        </p:nvSpPr>
        <p:spPr>
          <a:xfrm>
            <a:off x="4023360" y="4709160"/>
            <a:ext cx="64008" cy="1463040"/>
          </a:xfrm>
          <a:prstGeom prst="rect">
            <a:avLst/>
          </a:prstGeom>
          <a:solidFill>
            <a:srgbClr val="1F4B3F"/>
          </a:solidFill>
          <a:ln/>
        </p:spPr>
      </p:sp>
      <p:sp>
        <p:nvSpPr>
          <p:cNvPr id="39" name="Text 36"/>
          <p:cNvSpPr txBox="1"/>
          <p:nvPr/>
        </p:nvSpPr>
        <p:spPr>
          <a:xfrm>
            <a:off x="4251960" y="4818888"/>
            <a:ext cx="2926080" cy="274320"/>
          </a:xfrm>
          <a:prstGeom prst="rect">
            <a:avLst/>
          </a:prstGeom>
          <a:noFill/>
          <a:ln/>
        </p:spPr>
        <p:txBody>
          <a:bodyPr wrap="square" lIns="0" tIns="0" rIns="0" bIns="0" rtlCol="0" anchor="t"/>
          <a:lstStyle/>
          <a:p>
            <a:pPr indent="0" marL="0">
              <a:buNone/>
            </a:pPr>
            <a:r>
              <a:rPr lang="en-US" sz="1300" b="1" dirty="0">
                <a:solidFill>
                  <a:srgbClr val="1A1D21"/>
                </a:solidFill>
                <a:latin typeface="Inter" pitchFamily="34" charset="0"/>
                <a:ea typeface="Inter" pitchFamily="34" charset="-122"/>
                <a:cs typeface="Inter" pitchFamily="34" charset="-120"/>
              </a:rPr>
              <a:t>Tamaño sin precedentes</a:t>
            </a:r>
            <a:endParaRPr lang="en-US" sz="1300" dirty="0"/>
          </a:p>
        </p:txBody>
      </p:sp>
      <p:sp>
        <p:nvSpPr>
          <p:cNvPr id="40" name="Text 37"/>
          <p:cNvSpPr txBox="1"/>
          <p:nvPr/>
        </p:nvSpPr>
        <p:spPr>
          <a:xfrm>
            <a:off x="4251960" y="5138928"/>
            <a:ext cx="2926080" cy="960120"/>
          </a:xfrm>
          <a:prstGeom prst="rect">
            <a:avLst/>
          </a:prstGeom>
          <a:noFill/>
          <a:ln/>
        </p:spPr>
        <p:txBody>
          <a:bodyPr wrap="square" lIns="0" tIns="0" rIns="0" bIns="0" rtlCol="0" anchor="t"/>
          <a:lstStyle/>
          <a:p>
            <a:pPr indent="0" marL="0">
              <a:buNone/>
            </a:pPr>
            <a:r>
              <a:rPr lang="en-US" sz="1100" dirty="0">
                <a:solidFill>
                  <a:srgbClr val="1F2124"/>
                </a:solidFill>
                <a:latin typeface="Inter" pitchFamily="34" charset="0"/>
                <a:ea typeface="Inter" pitchFamily="34" charset="-122"/>
                <a:cs typeface="Inter" pitchFamily="34" charset="-120"/>
              </a:rPr>
              <a:t>Sería el mayor LBO de la historia: hacen falta un consorcio de fondos, co-inversores y deuda sindicada entre muchos bancos.</a:t>
            </a:r>
            <a:endParaRPr lang="en-US" sz="1100" dirty="0"/>
          </a:p>
        </p:txBody>
      </p:sp>
      <p:sp>
        <p:nvSpPr>
          <p:cNvPr id="41" name="Shape 38"/>
          <p:cNvSpPr/>
          <p:nvPr/>
        </p:nvSpPr>
        <p:spPr>
          <a:xfrm>
            <a:off x="7589520" y="1572768"/>
            <a:ext cx="4050792" cy="4599432"/>
          </a:xfrm>
          <a:prstGeom prst="rect">
            <a:avLst>
              <a:gd name="adj" fmla="val 1354"/>
            </a:avLst>
          </a:prstGeom>
          <a:solidFill>
            <a:srgbClr val="1A1D21"/>
          </a:solidFill>
          <a:ln/>
        </p:spPr>
      </p:sp>
      <p:sp>
        <p:nvSpPr>
          <p:cNvPr id="42" name="Text 39"/>
          <p:cNvSpPr txBox="1"/>
          <p:nvPr/>
        </p:nvSpPr>
        <p:spPr>
          <a:xfrm>
            <a:off x="7790688" y="1719072"/>
            <a:ext cx="3657600" cy="292608"/>
          </a:xfrm>
          <a:prstGeom prst="rect">
            <a:avLst/>
          </a:prstGeom>
          <a:noFill/>
          <a:ln/>
        </p:spPr>
        <p:txBody>
          <a:bodyPr wrap="square" lIns="0" tIns="0" rIns="0" bIns="0" rtlCol="0" anchor="t"/>
          <a:lstStyle/>
          <a:p>
            <a:pPr indent="0" marL="0">
              <a:buNone/>
            </a:pPr>
            <a:r>
              <a:rPr lang="en-US" sz="1500" b="1" dirty="0">
                <a:solidFill>
                  <a:srgbClr val="A8C9B8"/>
                </a:solidFill>
                <a:latin typeface="Inter" pitchFamily="34" charset="0"/>
                <a:ea typeface="Inter" pitchFamily="34" charset="-122"/>
                <a:cs typeface="Inter" pitchFamily="34" charset="-120"/>
              </a:rPr>
              <a:t>Por qué una OPA por el 100%</a:t>
            </a:r>
            <a:endParaRPr lang="en-US" sz="1500" dirty="0"/>
          </a:p>
        </p:txBody>
      </p:sp>
      <p:sp>
        <p:nvSpPr>
          <p:cNvPr id="43" name="Shape 40"/>
          <p:cNvSpPr/>
          <p:nvPr/>
        </p:nvSpPr>
        <p:spPr>
          <a:xfrm>
            <a:off x="7790688" y="2194560"/>
            <a:ext cx="310896" cy="310896"/>
          </a:xfrm>
          <a:prstGeom prst="rect">
            <a:avLst/>
          </a:prstGeom>
          <a:solidFill>
            <a:srgbClr val="1F4B3F"/>
          </a:solidFill>
          <a:ln/>
        </p:spPr>
      </p:sp>
      <p:sp>
        <p:nvSpPr>
          <p:cNvPr id="44" name="Text 41"/>
          <p:cNvSpPr txBox="1"/>
          <p:nvPr/>
        </p:nvSpPr>
        <p:spPr>
          <a:xfrm>
            <a:off x="7790688" y="2203704"/>
            <a:ext cx="310896"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1</a:t>
            </a:r>
            <a:endParaRPr lang="en-US" sz="1200" dirty="0"/>
          </a:p>
        </p:txBody>
      </p:sp>
      <p:sp>
        <p:nvSpPr>
          <p:cNvPr id="45" name="Text 42"/>
          <p:cNvSpPr txBox="1"/>
          <p:nvPr/>
        </p:nvSpPr>
        <p:spPr>
          <a:xfrm>
            <a:off x="8211312" y="2203704"/>
            <a:ext cx="3291840" cy="292608"/>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Es obligatoria</a:t>
            </a:r>
            <a:endParaRPr lang="en-US" sz="1250" dirty="0"/>
          </a:p>
        </p:txBody>
      </p:sp>
      <p:sp>
        <p:nvSpPr>
          <p:cNvPr id="46" name="Text 43"/>
          <p:cNvSpPr txBox="1"/>
          <p:nvPr/>
        </p:nvSpPr>
        <p:spPr>
          <a:xfrm>
            <a:off x="7790688" y="2560320"/>
            <a:ext cx="3657600" cy="548640"/>
          </a:xfrm>
          <a:prstGeom prst="rect">
            <a:avLst/>
          </a:prstGeom>
          <a:noFill/>
          <a:ln/>
        </p:spPr>
        <p:txBody>
          <a:bodyPr wrap="square" lIns="0" tIns="0" rIns="0" bIns="0" rtlCol="0" anchor="t"/>
          <a:lstStyle/>
          <a:p>
            <a:pPr indent="0" marL="0">
              <a:buNone/>
            </a:pPr>
            <a:r>
              <a:rPr lang="en-US" sz="1100" dirty="0">
                <a:solidFill>
                  <a:srgbClr val="D9D9D6"/>
                </a:solidFill>
                <a:latin typeface="Inter" pitchFamily="34" charset="0"/>
                <a:ea typeface="Inter" pitchFamily="34" charset="-122"/>
                <a:cs typeface="Inter" pitchFamily="34" charset="-120"/>
              </a:rPr>
              <a:t>Superar el 30% de una cotizada obliga a ofrecer comprar a todos los accionistas.</a:t>
            </a:r>
            <a:endParaRPr lang="en-US" sz="1100" dirty="0"/>
          </a:p>
        </p:txBody>
      </p:sp>
      <p:sp>
        <p:nvSpPr>
          <p:cNvPr id="47" name="Shape 44"/>
          <p:cNvSpPr/>
          <p:nvPr/>
        </p:nvSpPr>
        <p:spPr>
          <a:xfrm>
            <a:off x="7790688" y="3172968"/>
            <a:ext cx="310896" cy="310896"/>
          </a:xfrm>
          <a:prstGeom prst="rect">
            <a:avLst/>
          </a:prstGeom>
          <a:solidFill>
            <a:srgbClr val="1F4B3F"/>
          </a:solidFill>
          <a:ln/>
        </p:spPr>
      </p:sp>
      <p:sp>
        <p:nvSpPr>
          <p:cNvPr id="48" name="Text 45"/>
          <p:cNvSpPr txBox="1"/>
          <p:nvPr/>
        </p:nvSpPr>
        <p:spPr>
          <a:xfrm>
            <a:off x="7790688" y="3182112"/>
            <a:ext cx="310896"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2</a:t>
            </a:r>
            <a:endParaRPr lang="en-US" sz="1200" dirty="0"/>
          </a:p>
        </p:txBody>
      </p:sp>
      <p:sp>
        <p:nvSpPr>
          <p:cNvPr id="49" name="Text 46"/>
          <p:cNvSpPr txBox="1"/>
          <p:nvPr/>
        </p:nvSpPr>
        <p:spPr>
          <a:xfrm>
            <a:off x="8211312" y="3182112"/>
            <a:ext cx="3291840" cy="292608"/>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Exclusión de bolsa</a:t>
            </a:r>
            <a:endParaRPr lang="en-US" sz="1250" dirty="0"/>
          </a:p>
        </p:txBody>
      </p:sp>
      <p:sp>
        <p:nvSpPr>
          <p:cNvPr id="50" name="Text 47"/>
          <p:cNvSpPr txBox="1"/>
          <p:nvPr/>
        </p:nvSpPr>
        <p:spPr>
          <a:xfrm>
            <a:off x="7790688" y="3538728"/>
            <a:ext cx="3657600" cy="548640"/>
          </a:xfrm>
          <a:prstGeom prst="rect">
            <a:avLst/>
          </a:prstGeom>
          <a:noFill/>
          <a:ln/>
        </p:spPr>
        <p:txBody>
          <a:bodyPr wrap="square" lIns="0" tIns="0" rIns="0" bIns="0" rtlCol="0" anchor="t"/>
          <a:lstStyle/>
          <a:p>
            <a:pPr indent="0" marL="0">
              <a:buNone/>
            </a:pPr>
            <a:r>
              <a:rPr lang="en-US" sz="1100" dirty="0">
                <a:solidFill>
                  <a:srgbClr val="D9D9D6"/>
                </a:solidFill>
                <a:latin typeface="Inter" pitchFamily="34" charset="0"/>
                <a:ea typeface="Inter" pitchFamily="34" charset="-122"/>
                <a:cs typeface="Inter" pitchFamily="34" charset="-120"/>
              </a:rPr>
              <a:t>Con el 90% se fuerza la venta del resto e Inditex deja de cotizar.</a:t>
            </a:r>
            <a:endParaRPr lang="en-US" sz="1100" dirty="0"/>
          </a:p>
        </p:txBody>
      </p:sp>
      <p:sp>
        <p:nvSpPr>
          <p:cNvPr id="51" name="Shape 48"/>
          <p:cNvSpPr/>
          <p:nvPr/>
        </p:nvSpPr>
        <p:spPr>
          <a:xfrm>
            <a:off x="7790688" y="4151376"/>
            <a:ext cx="310896" cy="310896"/>
          </a:xfrm>
          <a:prstGeom prst="rect">
            <a:avLst/>
          </a:prstGeom>
          <a:solidFill>
            <a:srgbClr val="1F4B3F"/>
          </a:solidFill>
          <a:ln/>
        </p:spPr>
      </p:sp>
      <p:sp>
        <p:nvSpPr>
          <p:cNvPr id="52" name="Text 49"/>
          <p:cNvSpPr txBox="1"/>
          <p:nvPr/>
        </p:nvSpPr>
        <p:spPr>
          <a:xfrm>
            <a:off x="7790688" y="4160520"/>
            <a:ext cx="310896"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3</a:t>
            </a:r>
            <a:endParaRPr lang="en-US" sz="1200" dirty="0"/>
          </a:p>
        </p:txBody>
      </p:sp>
      <p:sp>
        <p:nvSpPr>
          <p:cNvPr id="53" name="Text 50"/>
          <p:cNvSpPr txBox="1"/>
          <p:nvPr/>
        </p:nvSpPr>
        <p:spPr>
          <a:xfrm>
            <a:off x="8211312" y="4160520"/>
            <a:ext cx="3291840" cy="292608"/>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Acceso a la caja</a:t>
            </a:r>
            <a:endParaRPr lang="en-US" sz="1250" dirty="0"/>
          </a:p>
        </p:txBody>
      </p:sp>
      <p:sp>
        <p:nvSpPr>
          <p:cNvPr id="54" name="Text 51"/>
          <p:cNvSpPr txBox="1"/>
          <p:nvPr/>
        </p:nvSpPr>
        <p:spPr>
          <a:xfrm>
            <a:off x="7790688" y="4517136"/>
            <a:ext cx="3657600" cy="548640"/>
          </a:xfrm>
          <a:prstGeom prst="rect">
            <a:avLst/>
          </a:prstGeom>
          <a:noFill/>
          <a:ln/>
        </p:spPr>
        <p:txBody>
          <a:bodyPr wrap="square" lIns="0" tIns="0" rIns="0" bIns="0" rtlCol="0" anchor="t"/>
          <a:lstStyle/>
          <a:p>
            <a:pPr indent="0" marL="0">
              <a:buNone/>
            </a:pPr>
            <a:r>
              <a:rPr lang="en-US" sz="1100" dirty="0">
                <a:solidFill>
                  <a:srgbClr val="D9D9D6"/>
                </a:solidFill>
                <a:latin typeface="Inter" pitchFamily="34" charset="0"/>
                <a:ea typeface="Inter" pitchFamily="34" charset="-122"/>
                <a:cs typeface="Inter" pitchFamily="34" charset="-120"/>
              </a:rPr>
              <a:t>Sin minoritarios, Inditex sube dividendos a la BidCo y se fusiona con ella.</a:t>
            </a:r>
            <a:endParaRPr lang="en-US" sz="1100" dirty="0"/>
          </a:p>
        </p:txBody>
      </p:sp>
      <p:sp>
        <p:nvSpPr>
          <p:cNvPr id="55" name="Shape 52"/>
          <p:cNvSpPr/>
          <p:nvPr/>
        </p:nvSpPr>
        <p:spPr>
          <a:xfrm>
            <a:off x="7790688" y="5129784"/>
            <a:ext cx="310896" cy="310896"/>
          </a:xfrm>
          <a:prstGeom prst="rect">
            <a:avLst/>
          </a:prstGeom>
          <a:solidFill>
            <a:srgbClr val="1F4B3F"/>
          </a:solidFill>
          <a:ln/>
        </p:spPr>
      </p:sp>
      <p:sp>
        <p:nvSpPr>
          <p:cNvPr id="56" name="Text 53"/>
          <p:cNvSpPr txBox="1"/>
          <p:nvPr/>
        </p:nvSpPr>
        <p:spPr>
          <a:xfrm>
            <a:off x="7790688" y="5138928"/>
            <a:ext cx="310896"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4</a:t>
            </a:r>
            <a:endParaRPr lang="en-US" sz="1200" dirty="0"/>
          </a:p>
        </p:txBody>
      </p:sp>
      <p:sp>
        <p:nvSpPr>
          <p:cNvPr id="57" name="Text 54"/>
          <p:cNvSpPr txBox="1"/>
          <p:nvPr/>
        </p:nvSpPr>
        <p:spPr>
          <a:xfrm>
            <a:off x="8211312" y="5138928"/>
            <a:ext cx="3291840" cy="292608"/>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Grupo fiscal</a:t>
            </a:r>
            <a:endParaRPr lang="en-US" sz="1250" dirty="0"/>
          </a:p>
        </p:txBody>
      </p:sp>
      <p:sp>
        <p:nvSpPr>
          <p:cNvPr id="58" name="Text 55"/>
          <p:cNvSpPr txBox="1"/>
          <p:nvPr/>
        </p:nvSpPr>
        <p:spPr>
          <a:xfrm>
            <a:off x="7790688" y="5495544"/>
            <a:ext cx="3657600" cy="548640"/>
          </a:xfrm>
          <a:prstGeom prst="rect">
            <a:avLst/>
          </a:prstGeom>
          <a:noFill/>
          <a:ln/>
        </p:spPr>
        <p:txBody>
          <a:bodyPr wrap="square" lIns="0" tIns="0" rIns="0" bIns="0" rtlCol="0" anchor="t"/>
          <a:lstStyle/>
          <a:p>
            <a:pPr indent="0" marL="0">
              <a:buNone/>
            </a:pPr>
            <a:r>
              <a:rPr lang="en-US" sz="1100" dirty="0">
                <a:solidFill>
                  <a:srgbClr val="D9D9D6"/>
                </a:solidFill>
                <a:latin typeface="Inter" pitchFamily="34" charset="0"/>
                <a:ea typeface="Inter" pitchFamily="34" charset="-122"/>
                <a:cs typeface="Inter" pitchFamily="34" charset="-120"/>
              </a:rPr>
              <a:t>Con más del 75%, los intereses se compensan con los beneficios de Inditex.</a:t>
            </a:r>
            <a:endParaRPr lang="en-US" sz="1100" dirty="0"/>
          </a:p>
        </p:txBody>
      </p:sp>
      <p:sp>
        <p:nvSpPr>
          <p:cNvPr id="59" name="Text 56"/>
          <p:cNvSpPr txBox="1"/>
          <p:nvPr/>
        </p:nvSpPr>
        <p:spPr>
          <a:xfrm>
            <a:off x="548640" y="6327648"/>
            <a:ext cx="7863840" cy="228600"/>
          </a:xfrm>
          <a:prstGeom prst="rect">
            <a:avLst/>
          </a:prstGeom>
          <a:noFill/>
          <a:ln/>
        </p:spPr>
        <p:txBody>
          <a:bodyPr wrap="square" lIns="0" tIns="0" rIns="0" bIns="0" rtlCol="0" anchor="t"/>
          <a:lstStyle/>
          <a:p>
            <a:pPr indent="0" marL="0">
              <a:buNone/>
            </a:pPr>
            <a:r>
              <a:rPr lang="en-US" sz="900" dirty="0">
                <a:solidFill>
                  <a:srgbClr val="6E7378"/>
                </a:solidFill>
                <a:latin typeface="Inter" pitchFamily="34" charset="0"/>
                <a:ea typeface="Inter" pitchFamily="34" charset="-122"/>
                <a:cs typeface="Inter" pitchFamily="34" charset="-120"/>
              </a:rPr>
              <a:t>Fuente: RD 1066/2007 de OPAs (OPA obligatoria, exclusión y venta forzosa); art. 58 Ley 27/2014 (LIS).</a:t>
            </a:r>
            <a:endParaRPr lang="en-US" sz="900" dirty="0"/>
          </a:p>
        </p:txBody>
      </p:sp>
      <p:sp>
        <p:nvSpPr>
          <p:cNvPr id="60" name="Text 57"/>
          <p:cNvSpPr txBox="1"/>
          <p:nvPr/>
        </p:nvSpPr>
        <p:spPr>
          <a:xfrm>
            <a:off x="8595360" y="6327648"/>
            <a:ext cx="3044952" cy="228600"/>
          </a:xfrm>
          <a:prstGeom prst="rect">
            <a:avLst/>
          </a:prstGeom>
          <a:noFill/>
          <a:ln/>
        </p:spPr>
        <p:txBody>
          <a:bodyPr wrap="square" lIns="0" tIns="0" rIns="0" bIns="0" rtlCol="0" anchor="t"/>
          <a:lstStyle/>
          <a:p>
            <a:pPr algn="r" indent="0" marL="0">
              <a:buNone/>
            </a:pPr>
            <a:r>
              <a:rPr lang="en-US" sz="900" dirty="0">
                <a:solidFill>
                  <a:srgbClr val="6E7378"/>
                </a:solidFill>
                <a:latin typeface="Inter" pitchFamily="34" charset="0"/>
                <a:ea typeface="Inter" pitchFamily="34" charset="-122"/>
                <a:cs typeface="Inter" pitchFamily="34" charset="-120"/>
              </a:rPr>
              <a:t>Project Galicia  ·  Estrictamente confidencial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79476"/>
            <a:ext cx="7772400" cy="228600"/>
          </a:xfrm>
          <a:prstGeom prst="rect">
            <a:avLst/>
          </a:prstGeom>
          <a:noFill/>
          <a:ln/>
        </p:spPr>
        <p:txBody>
          <a:bodyPr wrap="square" lIns="0" tIns="0" rIns="0" bIns="0" rtlCol="0" anchor="ctr"/>
          <a:lstStyle/>
          <a:p>
            <a:pPr indent="0" marL="0">
              <a:buNone/>
            </a:pPr>
            <a:r>
              <a:rPr lang="en-US" sz="1100" b="1" spc="200" kern="0" dirty="0">
                <a:solidFill>
                  <a:srgbClr val="1F4B3F"/>
                </a:solidFill>
                <a:latin typeface="Inter" pitchFamily="34" charset="0"/>
                <a:ea typeface="Inter" pitchFamily="34" charset="-122"/>
                <a:cs typeface="Inter" pitchFamily="34" charset="-120"/>
              </a:rPr>
              <a:t>02  ESTRUCTURA DE LA COMPRA</a:t>
            </a:r>
            <a:endParaRPr lang="en-US" sz="1100" dirty="0"/>
          </a:p>
        </p:txBody>
      </p:sp>
      <p:pic>
        <p:nvPicPr>
          <p:cNvPr id="3" name="Image 0" descr="/tmp/claude-0/-home-claude/8d7de6a3-f167-5c95-8bc2-67944307bfd8/scratchpad/canva/img/HLP_monograma.png">    </p:cNvPr>
          <p:cNvPicPr>
            <a:picLocks noChangeAspect="1"/>
          </p:cNvPicPr>
          <p:nvPr/>
        </p:nvPicPr>
        <p:blipFill>
          <a:blip r:embed="rId1"/>
          <a:stretch>
            <a:fillRect/>
          </a:stretch>
        </p:blipFill>
        <p:spPr>
          <a:xfrm>
            <a:off x="11130991" y="237744"/>
            <a:ext cx="512064" cy="512064"/>
          </a:xfrm>
          <a:prstGeom prst="rect">
            <a:avLst/>
          </a:prstGeom>
        </p:spPr>
      </p:pic>
      <p:sp>
        <p:nvSpPr>
          <p:cNvPr id="4" name="Text 1"/>
          <p:cNvSpPr txBox="1"/>
          <p:nvPr/>
        </p:nvSpPr>
        <p:spPr>
          <a:xfrm>
            <a:off x="548640" y="786384"/>
            <a:ext cx="11091672" cy="658368"/>
          </a:xfrm>
          <a:prstGeom prst="rect">
            <a:avLst/>
          </a:prstGeom>
          <a:noFill/>
          <a:ln/>
        </p:spPr>
        <p:txBody>
          <a:bodyPr wrap="square" lIns="0" tIns="0" rIns="0" bIns="0" rtlCol="0" anchor="t"/>
          <a:lstStyle/>
          <a:p>
            <a:pPr indent="0" marL="0">
              <a:lnSpc>
                <a:spcPct val="92000"/>
              </a:lnSpc>
              <a:buNone/>
            </a:pPr>
            <a:r>
              <a:rPr lang="en-US" sz="2200" dirty="0">
                <a:solidFill>
                  <a:srgbClr val="1A1D21"/>
                </a:solidFill>
                <a:latin typeface="Lora" pitchFamily="34" charset="0"/>
                <a:ea typeface="Lora" pitchFamily="34" charset="-122"/>
                <a:cs typeface="Lora" pitchFamily="34" charset="-120"/>
              </a:rPr>
              <a:t>Amancio Ortega reinvierte el 25% de Inditex: sin su acuerdo no hay operación</a:t>
            </a:r>
            <a:endParaRPr lang="en-US" sz="2200" dirty="0"/>
          </a:p>
        </p:txBody>
      </p:sp>
      <p:sp>
        <p:nvSpPr>
          <p:cNvPr id="5" name="Text 2"/>
          <p:cNvSpPr txBox="1"/>
          <p:nvPr/>
        </p:nvSpPr>
        <p:spPr>
          <a:xfrm>
            <a:off x="548640" y="1572768"/>
            <a:ext cx="6858000" cy="228600"/>
          </a:xfrm>
          <a:prstGeom prst="rect">
            <a:avLst/>
          </a:prstGeom>
          <a:noFill/>
          <a:ln/>
        </p:spPr>
        <p:txBody>
          <a:bodyPr wrap="square" lIns="0" tIns="0" rIns="0" bIns="0" rtlCol="0" anchor="t"/>
          <a:lstStyle/>
          <a:p>
            <a:pPr indent="0" marL="0">
              <a:buNone/>
            </a:pPr>
            <a:r>
              <a:rPr lang="en-US" sz="1050" b="1" spc="150" kern="0" dirty="0">
                <a:solidFill>
                  <a:srgbClr val="1F4B3F"/>
                </a:solidFill>
                <a:latin typeface="Inter" pitchFamily="34" charset="0"/>
                <a:ea typeface="Inter" pitchFamily="34" charset="-122"/>
                <a:cs typeface="Inter" pitchFamily="34" charset="-120"/>
              </a:rPr>
              <a:t>QUIÉN VENDE Y CÓMO COBRA A €63,73 POR ACCIÓN</a:t>
            </a:r>
            <a:endParaRPr lang="en-US" sz="1050" dirty="0"/>
          </a:p>
        </p:txBody>
      </p:sp>
      <p:sp>
        <p:nvSpPr>
          <p:cNvPr id="6" name="Text 3"/>
          <p:cNvSpPr txBox="1"/>
          <p:nvPr/>
        </p:nvSpPr>
        <p:spPr>
          <a:xfrm>
            <a:off x="548640" y="1847088"/>
            <a:ext cx="2514600" cy="420624"/>
          </a:xfrm>
          <a:prstGeom prst="rect">
            <a:avLst/>
          </a:prstGeom>
          <a:solidFill>
            <a:srgbClr val="1A1D21"/>
          </a:solidFill>
          <a:ln/>
        </p:spPr>
        <p:txBody>
          <a:bodyPr wrap="square" lIns="0" tIns="88900" rIns="88900" bIns="0" rtlCol="0" anchor="ctr"/>
          <a:lstStyle/>
          <a:p>
            <a:pPr algn="l" indent="0" marL="0">
              <a:buNone/>
            </a:pPr>
            <a:r>
              <a:rPr lang="en-US" sz="1200" b="1" dirty="0">
                <a:solidFill>
                  <a:srgbClr val="FFFFFF"/>
                </a:solidFill>
                <a:latin typeface="Inter" pitchFamily="34" charset="0"/>
                <a:ea typeface="Inter" pitchFamily="34" charset="-122"/>
                <a:cs typeface="Inter" pitchFamily="34" charset="-120"/>
              </a:rPr>
              <a:t>Accionista</a:t>
            </a:r>
            <a:endParaRPr lang="en-US" sz="1200" dirty="0"/>
          </a:p>
        </p:txBody>
      </p:sp>
      <p:sp>
        <p:nvSpPr>
          <p:cNvPr id="7" name="Text 4"/>
          <p:cNvSpPr txBox="1"/>
          <p:nvPr/>
        </p:nvSpPr>
        <p:spPr>
          <a:xfrm>
            <a:off x="3063240" y="1847088"/>
            <a:ext cx="1143000" cy="420624"/>
          </a:xfrm>
          <a:prstGeom prst="rect">
            <a:avLst/>
          </a:prstGeom>
          <a:solidFill>
            <a:srgbClr val="1A1D21"/>
          </a:solidFill>
          <a:ln/>
        </p:spPr>
        <p:txBody>
          <a:bodyPr wrap="square" lIns="0" tIns="88900" rIns="88900" bIns="0" rtlCol="0" anchor="ctr"/>
          <a:lstStyle/>
          <a:p>
            <a:pPr algn="r" indent="0" marL="0">
              <a:buNone/>
            </a:pPr>
            <a:r>
              <a:rPr lang="en-US" sz="1200" b="1" dirty="0">
                <a:solidFill>
                  <a:srgbClr val="FFFFFF"/>
                </a:solidFill>
                <a:latin typeface="Inter" pitchFamily="34" charset="0"/>
                <a:ea typeface="Inter" pitchFamily="34" charset="-122"/>
                <a:cs typeface="Inter" pitchFamily="34" charset="-120"/>
              </a:rPr>
              <a:t>% de Inditex</a:t>
            </a:r>
            <a:endParaRPr lang="en-US" sz="1200" dirty="0"/>
          </a:p>
        </p:txBody>
      </p:sp>
      <p:sp>
        <p:nvSpPr>
          <p:cNvPr id="8" name="Text 5"/>
          <p:cNvSpPr txBox="1"/>
          <p:nvPr/>
        </p:nvSpPr>
        <p:spPr>
          <a:xfrm>
            <a:off x="4206240" y="1847088"/>
            <a:ext cx="1143000" cy="420624"/>
          </a:xfrm>
          <a:prstGeom prst="rect">
            <a:avLst/>
          </a:prstGeom>
          <a:solidFill>
            <a:srgbClr val="1A1D21"/>
          </a:solidFill>
          <a:ln/>
        </p:spPr>
        <p:txBody>
          <a:bodyPr wrap="square" lIns="0" tIns="88900" rIns="88900" bIns="0" rtlCol="0" anchor="ctr"/>
          <a:lstStyle/>
          <a:p>
            <a:pPr algn="r" indent="0" marL="0">
              <a:buNone/>
            </a:pPr>
            <a:r>
              <a:rPr lang="en-US" sz="1200" b="1" dirty="0">
                <a:solidFill>
                  <a:srgbClr val="FFFFFF"/>
                </a:solidFill>
                <a:latin typeface="Inter" pitchFamily="34" charset="0"/>
                <a:ea typeface="Inter" pitchFamily="34" charset="-122"/>
                <a:cs typeface="Inter" pitchFamily="34" charset="-120"/>
              </a:rPr>
              <a:t>€m</a:t>
            </a:r>
            <a:endParaRPr lang="en-US" sz="1200" dirty="0"/>
          </a:p>
        </p:txBody>
      </p:sp>
      <p:sp>
        <p:nvSpPr>
          <p:cNvPr id="9" name="Text 6"/>
          <p:cNvSpPr txBox="1"/>
          <p:nvPr/>
        </p:nvSpPr>
        <p:spPr>
          <a:xfrm>
            <a:off x="5349240" y="1847088"/>
            <a:ext cx="2057400" cy="420624"/>
          </a:xfrm>
          <a:prstGeom prst="rect">
            <a:avLst/>
          </a:prstGeom>
          <a:solidFill>
            <a:srgbClr val="1A1D21"/>
          </a:solidFill>
          <a:ln/>
        </p:spPr>
        <p:txBody>
          <a:bodyPr wrap="square" lIns="0" tIns="88900" rIns="88900" bIns="0" rtlCol="0" anchor="ctr"/>
          <a:lstStyle/>
          <a:p>
            <a:pPr algn="l" indent="0" marL="0">
              <a:buNone/>
            </a:pPr>
            <a:r>
              <a:rPr lang="en-US" sz="1200" b="1" dirty="0">
                <a:solidFill>
                  <a:srgbClr val="FFFFFF"/>
                </a:solidFill>
                <a:latin typeface="Inter" pitchFamily="34" charset="0"/>
                <a:ea typeface="Inter" pitchFamily="34" charset="-122"/>
                <a:cs typeface="Inter" pitchFamily="34" charset="-120"/>
              </a:rPr>
              <a:t>Cómo cobra</a:t>
            </a:r>
            <a:endParaRPr lang="en-US" sz="1200" dirty="0"/>
          </a:p>
        </p:txBody>
      </p:sp>
      <p:sp>
        <p:nvSpPr>
          <p:cNvPr id="10" name="Text 7"/>
          <p:cNvSpPr txBox="1"/>
          <p:nvPr/>
        </p:nvSpPr>
        <p:spPr>
          <a:xfrm>
            <a:off x="548640" y="2267712"/>
            <a:ext cx="2514600" cy="420624"/>
          </a:xfrm>
          <a:prstGeom prst="rect">
            <a:avLst/>
          </a:prstGeom>
          <a:solidFill>
            <a:srgbClr val="FFFFFF"/>
          </a:solidFill>
          <a:ln/>
        </p:spPr>
        <p:txBody>
          <a:bodyPr wrap="square" lIns="0" tIns="88900" rIns="88900" bIns="0" rtlCol="0" anchor="ctr"/>
          <a:lstStyle/>
          <a:p>
            <a:pPr algn="l" indent="0" marL="0">
              <a:buNone/>
            </a:pPr>
            <a:r>
              <a:rPr lang="en-US" sz="1250" dirty="0">
                <a:solidFill>
                  <a:srgbClr val="1F2124"/>
                </a:solidFill>
                <a:latin typeface="Inter" pitchFamily="34" charset="0"/>
                <a:ea typeface="Inter" pitchFamily="34" charset="-122"/>
                <a:cs typeface="Inter" pitchFamily="34" charset="-120"/>
              </a:rPr>
              <a:t>Amancio Ortega · rollover</a:t>
            </a:r>
            <a:endParaRPr lang="en-US" sz="1250" dirty="0"/>
          </a:p>
        </p:txBody>
      </p:sp>
      <p:sp>
        <p:nvSpPr>
          <p:cNvPr id="11" name="Text 8"/>
          <p:cNvSpPr txBox="1"/>
          <p:nvPr/>
        </p:nvSpPr>
        <p:spPr>
          <a:xfrm>
            <a:off x="3063240" y="2267712"/>
            <a:ext cx="1143000" cy="420624"/>
          </a:xfrm>
          <a:prstGeom prst="rect">
            <a:avLst/>
          </a:prstGeom>
          <a:solidFill>
            <a:srgbClr val="FFFFFF"/>
          </a:solidFill>
          <a:ln/>
        </p:spPr>
        <p:txBody>
          <a:bodyPr wrap="square" lIns="0" tIns="88900" rIns="88900" bIns="0" rtlCol="0" anchor="ctr"/>
          <a:lstStyle/>
          <a:p>
            <a:pPr algn="r" indent="0" marL="0">
              <a:buNone/>
            </a:pPr>
            <a:r>
              <a:rPr lang="en-US" sz="1250" dirty="0">
                <a:solidFill>
                  <a:srgbClr val="1F2124"/>
                </a:solidFill>
                <a:latin typeface="Inter" pitchFamily="34" charset="0"/>
                <a:ea typeface="Inter" pitchFamily="34" charset="-122"/>
                <a:cs typeface="Inter" pitchFamily="34" charset="-120"/>
              </a:rPr>
              <a:t>25,0%</a:t>
            </a:r>
            <a:endParaRPr lang="en-US" sz="1250" dirty="0"/>
          </a:p>
        </p:txBody>
      </p:sp>
      <p:sp>
        <p:nvSpPr>
          <p:cNvPr id="12" name="Text 9"/>
          <p:cNvSpPr txBox="1"/>
          <p:nvPr/>
        </p:nvSpPr>
        <p:spPr>
          <a:xfrm>
            <a:off x="4206240" y="2267712"/>
            <a:ext cx="1143000" cy="420624"/>
          </a:xfrm>
          <a:prstGeom prst="rect">
            <a:avLst/>
          </a:prstGeom>
          <a:solidFill>
            <a:srgbClr val="FFFFFF"/>
          </a:solidFill>
          <a:ln/>
        </p:spPr>
        <p:txBody>
          <a:bodyPr wrap="square" lIns="0" tIns="88900" rIns="88900" bIns="0" rtlCol="0" anchor="ctr"/>
          <a:lstStyle/>
          <a:p>
            <a:pPr algn="r" indent="0" marL="0">
              <a:buNone/>
            </a:pPr>
            <a:r>
              <a:rPr lang="en-US" sz="1250" dirty="0">
                <a:solidFill>
                  <a:srgbClr val="1F2124"/>
                </a:solidFill>
                <a:latin typeface="Inter" pitchFamily="34" charset="0"/>
                <a:ea typeface="Inter" pitchFamily="34" charset="-122"/>
                <a:cs typeface="Inter" pitchFamily="34" charset="-120"/>
              </a:rPr>
              <a:t>49.658</a:t>
            </a:r>
            <a:endParaRPr lang="en-US" sz="1250" dirty="0"/>
          </a:p>
        </p:txBody>
      </p:sp>
      <p:sp>
        <p:nvSpPr>
          <p:cNvPr id="13" name="Text 10"/>
          <p:cNvSpPr txBox="1"/>
          <p:nvPr/>
        </p:nvSpPr>
        <p:spPr>
          <a:xfrm>
            <a:off x="5349240" y="2267712"/>
            <a:ext cx="2057400" cy="420624"/>
          </a:xfrm>
          <a:prstGeom prst="rect">
            <a:avLst/>
          </a:prstGeom>
          <a:solidFill>
            <a:srgbClr val="FFFFFF"/>
          </a:solidFill>
          <a:ln/>
        </p:spPr>
        <p:txBody>
          <a:bodyPr wrap="square" lIns="0" tIns="88900" rIns="88900" bIns="0" rtlCol="0" anchor="ctr"/>
          <a:lstStyle/>
          <a:p>
            <a:pPr algn="l" indent="0" marL="0">
              <a:buNone/>
            </a:pPr>
            <a:r>
              <a:rPr lang="en-US" sz="1250" dirty="0">
                <a:solidFill>
                  <a:srgbClr val="1F2124"/>
                </a:solidFill>
                <a:latin typeface="Inter" pitchFamily="34" charset="0"/>
                <a:ea typeface="Inter" pitchFamily="34" charset="-122"/>
                <a:cs typeface="Inter" pitchFamily="34" charset="-120"/>
              </a:rPr>
              <a:t>Acciones de la TopCo</a:t>
            </a:r>
            <a:endParaRPr lang="en-US" sz="1250" dirty="0"/>
          </a:p>
        </p:txBody>
      </p:sp>
      <p:sp>
        <p:nvSpPr>
          <p:cNvPr id="14" name="Text 11"/>
          <p:cNvSpPr txBox="1"/>
          <p:nvPr/>
        </p:nvSpPr>
        <p:spPr>
          <a:xfrm>
            <a:off x="548640" y="2688336"/>
            <a:ext cx="2514600" cy="420624"/>
          </a:xfrm>
          <a:prstGeom prst="rect">
            <a:avLst/>
          </a:prstGeom>
          <a:solidFill>
            <a:srgbClr val="F3F3F2"/>
          </a:solidFill>
          <a:ln/>
        </p:spPr>
        <p:txBody>
          <a:bodyPr wrap="square" lIns="0" tIns="88900" rIns="88900" bIns="0" rtlCol="0" anchor="ctr"/>
          <a:lstStyle/>
          <a:p>
            <a:pPr algn="l" indent="0" marL="0">
              <a:buNone/>
            </a:pPr>
            <a:r>
              <a:rPr lang="en-US" sz="1250" dirty="0">
                <a:solidFill>
                  <a:srgbClr val="1F2124"/>
                </a:solidFill>
                <a:latin typeface="Inter" pitchFamily="34" charset="0"/>
                <a:ea typeface="Inter" pitchFamily="34" charset="-122"/>
                <a:cs typeface="Inter" pitchFamily="34" charset="-120"/>
              </a:rPr>
              <a:t>Amancio Ortega · venta</a:t>
            </a:r>
            <a:endParaRPr lang="en-US" sz="1250" dirty="0"/>
          </a:p>
        </p:txBody>
      </p:sp>
      <p:sp>
        <p:nvSpPr>
          <p:cNvPr id="15" name="Text 12"/>
          <p:cNvSpPr txBox="1"/>
          <p:nvPr/>
        </p:nvSpPr>
        <p:spPr>
          <a:xfrm>
            <a:off x="3063240" y="2688336"/>
            <a:ext cx="1143000" cy="420624"/>
          </a:xfrm>
          <a:prstGeom prst="rect">
            <a:avLst/>
          </a:prstGeom>
          <a:solidFill>
            <a:srgbClr val="F3F3F2"/>
          </a:solidFill>
          <a:ln/>
        </p:spPr>
        <p:txBody>
          <a:bodyPr wrap="square" lIns="0" tIns="88900" rIns="88900" bIns="0" rtlCol="0" anchor="ctr"/>
          <a:lstStyle/>
          <a:p>
            <a:pPr algn="r" indent="0" marL="0">
              <a:buNone/>
            </a:pPr>
            <a:r>
              <a:rPr lang="en-US" sz="1250" dirty="0">
                <a:solidFill>
                  <a:srgbClr val="1F2124"/>
                </a:solidFill>
                <a:latin typeface="Inter" pitchFamily="34" charset="0"/>
                <a:ea typeface="Inter" pitchFamily="34" charset="-122"/>
                <a:cs typeface="Inter" pitchFamily="34" charset="-120"/>
              </a:rPr>
              <a:t>34,3%</a:t>
            </a:r>
            <a:endParaRPr lang="en-US" sz="1250" dirty="0"/>
          </a:p>
        </p:txBody>
      </p:sp>
      <p:sp>
        <p:nvSpPr>
          <p:cNvPr id="16" name="Text 13"/>
          <p:cNvSpPr txBox="1"/>
          <p:nvPr/>
        </p:nvSpPr>
        <p:spPr>
          <a:xfrm>
            <a:off x="4206240" y="2688336"/>
            <a:ext cx="1143000" cy="420624"/>
          </a:xfrm>
          <a:prstGeom prst="rect">
            <a:avLst/>
          </a:prstGeom>
          <a:solidFill>
            <a:srgbClr val="F3F3F2"/>
          </a:solidFill>
          <a:ln/>
        </p:spPr>
        <p:txBody>
          <a:bodyPr wrap="square" lIns="0" tIns="88900" rIns="88900" bIns="0" rtlCol="0" anchor="ctr"/>
          <a:lstStyle/>
          <a:p>
            <a:pPr algn="r" indent="0" marL="0">
              <a:buNone/>
            </a:pPr>
            <a:r>
              <a:rPr lang="en-US" sz="1250" dirty="0">
                <a:solidFill>
                  <a:srgbClr val="1F2124"/>
                </a:solidFill>
                <a:latin typeface="Inter" pitchFamily="34" charset="0"/>
                <a:ea typeface="Inter" pitchFamily="34" charset="-122"/>
                <a:cs typeface="Inter" pitchFamily="34" charset="-120"/>
              </a:rPr>
              <a:t>68.131</a:t>
            </a:r>
            <a:endParaRPr lang="en-US" sz="1250" dirty="0"/>
          </a:p>
        </p:txBody>
      </p:sp>
      <p:sp>
        <p:nvSpPr>
          <p:cNvPr id="17" name="Text 14"/>
          <p:cNvSpPr txBox="1"/>
          <p:nvPr/>
        </p:nvSpPr>
        <p:spPr>
          <a:xfrm>
            <a:off x="5349240" y="2688336"/>
            <a:ext cx="2057400" cy="420624"/>
          </a:xfrm>
          <a:prstGeom prst="rect">
            <a:avLst/>
          </a:prstGeom>
          <a:solidFill>
            <a:srgbClr val="F3F3F2"/>
          </a:solidFill>
          <a:ln/>
        </p:spPr>
        <p:txBody>
          <a:bodyPr wrap="square" lIns="0" tIns="88900" rIns="88900" bIns="0" rtlCol="0" anchor="ctr"/>
          <a:lstStyle/>
          <a:p>
            <a:pPr algn="l" indent="0" marL="0">
              <a:buNone/>
            </a:pPr>
            <a:r>
              <a:rPr lang="en-US" sz="1250" dirty="0">
                <a:solidFill>
                  <a:srgbClr val="1F2124"/>
                </a:solidFill>
                <a:latin typeface="Inter" pitchFamily="34" charset="0"/>
                <a:ea typeface="Inter" pitchFamily="34" charset="-122"/>
                <a:cs typeface="Inter" pitchFamily="34" charset="-120"/>
              </a:rPr>
              <a:t>Efectivo</a:t>
            </a:r>
            <a:endParaRPr lang="en-US" sz="1250" dirty="0"/>
          </a:p>
        </p:txBody>
      </p:sp>
      <p:sp>
        <p:nvSpPr>
          <p:cNvPr id="18" name="Text 15"/>
          <p:cNvSpPr txBox="1"/>
          <p:nvPr/>
        </p:nvSpPr>
        <p:spPr>
          <a:xfrm>
            <a:off x="548640" y="3108960"/>
            <a:ext cx="2514600" cy="420624"/>
          </a:xfrm>
          <a:prstGeom prst="rect">
            <a:avLst/>
          </a:prstGeom>
          <a:solidFill>
            <a:srgbClr val="FFFFFF"/>
          </a:solidFill>
          <a:ln/>
        </p:spPr>
        <p:txBody>
          <a:bodyPr wrap="square" lIns="0" tIns="88900" rIns="88900" bIns="0" rtlCol="0" anchor="ctr"/>
          <a:lstStyle/>
          <a:p>
            <a:pPr algn="l" indent="0" marL="0">
              <a:buNone/>
            </a:pPr>
            <a:r>
              <a:rPr lang="en-US" sz="1250" dirty="0">
                <a:solidFill>
                  <a:srgbClr val="1F2124"/>
                </a:solidFill>
                <a:latin typeface="Inter" pitchFamily="34" charset="0"/>
                <a:ea typeface="Inter" pitchFamily="34" charset="-122"/>
                <a:cs typeface="Inter" pitchFamily="34" charset="-120"/>
              </a:rPr>
              <a:t>Sandra Ortega</a:t>
            </a:r>
            <a:endParaRPr lang="en-US" sz="1250" dirty="0"/>
          </a:p>
        </p:txBody>
      </p:sp>
      <p:sp>
        <p:nvSpPr>
          <p:cNvPr id="19" name="Text 16"/>
          <p:cNvSpPr txBox="1"/>
          <p:nvPr/>
        </p:nvSpPr>
        <p:spPr>
          <a:xfrm>
            <a:off x="3063240" y="3108960"/>
            <a:ext cx="1143000" cy="420624"/>
          </a:xfrm>
          <a:prstGeom prst="rect">
            <a:avLst/>
          </a:prstGeom>
          <a:solidFill>
            <a:srgbClr val="FFFFFF"/>
          </a:solidFill>
          <a:ln/>
        </p:spPr>
        <p:txBody>
          <a:bodyPr wrap="square" lIns="0" tIns="88900" rIns="88900" bIns="0" rtlCol="0" anchor="ctr"/>
          <a:lstStyle/>
          <a:p>
            <a:pPr algn="r" indent="0" marL="0">
              <a:buNone/>
            </a:pPr>
            <a:r>
              <a:rPr lang="en-US" sz="1250" dirty="0">
                <a:solidFill>
                  <a:srgbClr val="1F2124"/>
                </a:solidFill>
                <a:latin typeface="Inter" pitchFamily="34" charset="0"/>
                <a:ea typeface="Inter" pitchFamily="34" charset="-122"/>
                <a:cs typeface="Inter" pitchFamily="34" charset="-120"/>
              </a:rPr>
              <a:t>5,05%</a:t>
            </a:r>
            <a:endParaRPr lang="en-US" sz="1250" dirty="0"/>
          </a:p>
        </p:txBody>
      </p:sp>
      <p:sp>
        <p:nvSpPr>
          <p:cNvPr id="20" name="Text 17"/>
          <p:cNvSpPr txBox="1"/>
          <p:nvPr/>
        </p:nvSpPr>
        <p:spPr>
          <a:xfrm>
            <a:off x="4206240" y="3108960"/>
            <a:ext cx="1143000" cy="420624"/>
          </a:xfrm>
          <a:prstGeom prst="rect">
            <a:avLst/>
          </a:prstGeom>
          <a:solidFill>
            <a:srgbClr val="FFFFFF"/>
          </a:solidFill>
          <a:ln/>
        </p:spPr>
        <p:txBody>
          <a:bodyPr wrap="square" lIns="0" tIns="88900" rIns="88900" bIns="0" rtlCol="0" anchor="ctr"/>
          <a:lstStyle/>
          <a:p>
            <a:pPr algn="r" indent="0" marL="0">
              <a:buNone/>
            </a:pPr>
            <a:r>
              <a:rPr lang="en-US" sz="1250" dirty="0">
                <a:solidFill>
                  <a:srgbClr val="1F2124"/>
                </a:solidFill>
                <a:latin typeface="Inter" pitchFamily="34" charset="0"/>
                <a:ea typeface="Inter" pitchFamily="34" charset="-122"/>
                <a:cs typeface="Inter" pitchFamily="34" charset="-120"/>
              </a:rPr>
              <a:t>10.031</a:t>
            </a:r>
            <a:endParaRPr lang="en-US" sz="1250" dirty="0"/>
          </a:p>
        </p:txBody>
      </p:sp>
      <p:sp>
        <p:nvSpPr>
          <p:cNvPr id="21" name="Text 18"/>
          <p:cNvSpPr txBox="1"/>
          <p:nvPr/>
        </p:nvSpPr>
        <p:spPr>
          <a:xfrm>
            <a:off x="5349240" y="3108960"/>
            <a:ext cx="2057400" cy="420624"/>
          </a:xfrm>
          <a:prstGeom prst="rect">
            <a:avLst/>
          </a:prstGeom>
          <a:solidFill>
            <a:srgbClr val="FFFFFF"/>
          </a:solidFill>
          <a:ln/>
        </p:spPr>
        <p:txBody>
          <a:bodyPr wrap="square" lIns="0" tIns="88900" rIns="88900" bIns="0" rtlCol="0" anchor="ctr"/>
          <a:lstStyle/>
          <a:p>
            <a:pPr algn="l" indent="0" marL="0">
              <a:buNone/>
            </a:pPr>
            <a:r>
              <a:rPr lang="en-US" sz="1250" dirty="0">
                <a:solidFill>
                  <a:srgbClr val="1F2124"/>
                </a:solidFill>
                <a:latin typeface="Inter" pitchFamily="34" charset="0"/>
                <a:ea typeface="Inter" pitchFamily="34" charset="-122"/>
                <a:cs typeface="Inter" pitchFamily="34" charset="-120"/>
              </a:rPr>
              <a:t>Efectivo + vendor loan</a:t>
            </a:r>
            <a:endParaRPr lang="en-US" sz="1250" dirty="0"/>
          </a:p>
        </p:txBody>
      </p:sp>
      <p:sp>
        <p:nvSpPr>
          <p:cNvPr id="22" name="Text 19"/>
          <p:cNvSpPr txBox="1"/>
          <p:nvPr/>
        </p:nvSpPr>
        <p:spPr>
          <a:xfrm>
            <a:off x="548640" y="3529584"/>
            <a:ext cx="2514600" cy="420624"/>
          </a:xfrm>
          <a:prstGeom prst="rect">
            <a:avLst/>
          </a:prstGeom>
          <a:solidFill>
            <a:srgbClr val="F3F3F2"/>
          </a:solidFill>
          <a:ln/>
        </p:spPr>
        <p:txBody>
          <a:bodyPr wrap="square" lIns="0" tIns="88900" rIns="88900" bIns="0" rtlCol="0" anchor="ctr"/>
          <a:lstStyle/>
          <a:p>
            <a:pPr algn="l" indent="0" marL="0">
              <a:buNone/>
            </a:pPr>
            <a:r>
              <a:rPr lang="en-US" sz="1250" dirty="0">
                <a:solidFill>
                  <a:srgbClr val="1F2124"/>
                </a:solidFill>
                <a:latin typeface="Inter" pitchFamily="34" charset="0"/>
                <a:ea typeface="Inter" pitchFamily="34" charset="-122"/>
                <a:cs typeface="Inter" pitchFamily="34" charset="-120"/>
              </a:rPr>
              <a:t>Free float (bolsa)</a:t>
            </a:r>
            <a:endParaRPr lang="en-US" sz="1250" dirty="0"/>
          </a:p>
        </p:txBody>
      </p:sp>
      <p:sp>
        <p:nvSpPr>
          <p:cNvPr id="23" name="Text 20"/>
          <p:cNvSpPr txBox="1"/>
          <p:nvPr/>
        </p:nvSpPr>
        <p:spPr>
          <a:xfrm>
            <a:off x="3063240" y="3529584"/>
            <a:ext cx="1143000" cy="420624"/>
          </a:xfrm>
          <a:prstGeom prst="rect">
            <a:avLst/>
          </a:prstGeom>
          <a:solidFill>
            <a:srgbClr val="F3F3F2"/>
          </a:solidFill>
          <a:ln/>
        </p:spPr>
        <p:txBody>
          <a:bodyPr wrap="square" lIns="0" tIns="88900" rIns="88900" bIns="0" rtlCol="0" anchor="ctr"/>
          <a:lstStyle/>
          <a:p>
            <a:pPr algn="r" indent="0" marL="0">
              <a:buNone/>
            </a:pPr>
            <a:r>
              <a:rPr lang="en-US" sz="1250" dirty="0">
                <a:solidFill>
                  <a:srgbClr val="1F2124"/>
                </a:solidFill>
                <a:latin typeface="Inter" pitchFamily="34" charset="0"/>
                <a:ea typeface="Inter" pitchFamily="34" charset="-122"/>
                <a:cs typeface="Inter" pitchFamily="34" charset="-120"/>
              </a:rPr>
              <a:t>35,65%</a:t>
            </a:r>
            <a:endParaRPr lang="en-US" sz="1250" dirty="0"/>
          </a:p>
        </p:txBody>
      </p:sp>
      <p:sp>
        <p:nvSpPr>
          <p:cNvPr id="24" name="Text 21"/>
          <p:cNvSpPr txBox="1"/>
          <p:nvPr/>
        </p:nvSpPr>
        <p:spPr>
          <a:xfrm>
            <a:off x="4206240" y="3529584"/>
            <a:ext cx="1143000" cy="420624"/>
          </a:xfrm>
          <a:prstGeom prst="rect">
            <a:avLst/>
          </a:prstGeom>
          <a:solidFill>
            <a:srgbClr val="F3F3F2"/>
          </a:solidFill>
          <a:ln/>
        </p:spPr>
        <p:txBody>
          <a:bodyPr wrap="square" lIns="0" tIns="88900" rIns="88900" bIns="0" rtlCol="0" anchor="ctr"/>
          <a:lstStyle/>
          <a:p>
            <a:pPr algn="r" indent="0" marL="0">
              <a:buNone/>
            </a:pPr>
            <a:r>
              <a:rPr lang="en-US" sz="1250" dirty="0">
                <a:solidFill>
                  <a:srgbClr val="1F2124"/>
                </a:solidFill>
                <a:latin typeface="Inter" pitchFamily="34" charset="0"/>
                <a:ea typeface="Inter" pitchFamily="34" charset="-122"/>
                <a:cs typeface="Inter" pitchFamily="34" charset="-120"/>
              </a:rPr>
              <a:t>70.813</a:t>
            </a:r>
            <a:endParaRPr lang="en-US" sz="1250" dirty="0"/>
          </a:p>
        </p:txBody>
      </p:sp>
      <p:sp>
        <p:nvSpPr>
          <p:cNvPr id="25" name="Text 22"/>
          <p:cNvSpPr txBox="1"/>
          <p:nvPr/>
        </p:nvSpPr>
        <p:spPr>
          <a:xfrm>
            <a:off x="5349240" y="3529584"/>
            <a:ext cx="2057400" cy="420624"/>
          </a:xfrm>
          <a:prstGeom prst="rect">
            <a:avLst/>
          </a:prstGeom>
          <a:solidFill>
            <a:srgbClr val="F3F3F2"/>
          </a:solidFill>
          <a:ln/>
        </p:spPr>
        <p:txBody>
          <a:bodyPr wrap="square" lIns="0" tIns="88900" rIns="88900" bIns="0" rtlCol="0" anchor="ctr"/>
          <a:lstStyle/>
          <a:p>
            <a:pPr algn="l" indent="0" marL="0">
              <a:buNone/>
            </a:pPr>
            <a:r>
              <a:rPr lang="en-US" sz="1250" dirty="0">
                <a:solidFill>
                  <a:srgbClr val="1F2124"/>
                </a:solidFill>
                <a:latin typeface="Inter" pitchFamily="34" charset="0"/>
                <a:ea typeface="Inter" pitchFamily="34" charset="-122"/>
                <a:cs typeface="Inter" pitchFamily="34" charset="-120"/>
              </a:rPr>
              <a:t>Efectivo</a:t>
            </a:r>
            <a:endParaRPr lang="en-US" sz="1250" dirty="0"/>
          </a:p>
        </p:txBody>
      </p:sp>
      <p:sp>
        <p:nvSpPr>
          <p:cNvPr id="26" name="Text 23"/>
          <p:cNvSpPr txBox="1"/>
          <p:nvPr/>
        </p:nvSpPr>
        <p:spPr>
          <a:xfrm>
            <a:off x="548640" y="3950208"/>
            <a:ext cx="2514600" cy="420624"/>
          </a:xfrm>
          <a:prstGeom prst="rect">
            <a:avLst/>
          </a:prstGeom>
          <a:solidFill>
            <a:srgbClr val="E8E8E6"/>
          </a:solidFill>
          <a:ln/>
        </p:spPr>
        <p:txBody>
          <a:bodyPr wrap="square" lIns="0" tIns="88900" rIns="88900" bIns="0" rtlCol="0" anchor="ctr"/>
          <a:lstStyle/>
          <a:p>
            <a:pPr algn="l" indent="0" marL="0">
              <a:buNone/>
            </a:pPr>
            <a:r>
              <a:rPr lang="en-US" sz="1250" b="1" dirty="0">
                <a:solidFill>
                  <a:srgbClr val="1F2124"/>
                </a:solidFill>
                <a:latin typeface="Inter" pitchFamily="34" charset="0"/>
                <a:ea typeface="Inter" pitchFamily="34" charset="-122"/>
                <a:cs typeface="Inter" pitchFamily="34" charset="-120"/>
              </a:rPr>
              <a:t>Total</a:t>
            </a:r>
            <a:endParaRPr lang="en-US" sz="1250" dirty="0"/>
          </a:p>
        </p:txBody>
      </p:sp>
      <p:sp>
        <p:nvSpPr>
          <p:cNvPr id="27" name="Text 24"/>
          <p:cNvSpPr txBox="1"/>
          <p:nvPr/>
        </p:nvSpPr>
        <p:spPr>
          <a:xfrm>
            <a:off x="3063240" y="3950208"/>
            <a:ext cx="1143000" cy="420624"/>
          </a:xfrm>
          <a:prstGeom prst="rect">
            <a:avLst/>
          </a:prstGeom>
          <a:solidFill>
            <a:srgbClr val="E8E8E6"/>
          </a:solidFill>
          <a:ln/>
        </p:spPr>
        <p:txBody>
          <a:bodyPr wrap="square" lIns="0" tIns="88900" rIns="88900" bIns="0" rtlCol="0" anchor="ctr"/>
          <a:lstStyle/>
          <a:p>
            <a:pPr algn="r" indent="0" marL="0">
              <a:buNone/>
            </a:pPr>
            <a:r>
              <a:rPr lang="en-US" sz="1250" b="1" dirty="0">
                <a:solidFill>
                  <a:srgbClr val="1F2124"/>
                </a:solidFill>
                <a:latin typeface="Inter" pitchFamily="34" charset="0"/>
                <a:ea typeface="Inter" pitchFamily="34" charset="-122"/>
                <a:cs typeface="Inter" pitchFamily="34" charset="-120"/>
              </a:rPr>
              <a:t>100%</a:t>
            </a:r>
            <a:endParaRPr lang="en-US" sz="1250" dirty="0"/>
          </a:p>
        </p:txBody>
      </p:sp>
      <p:sp>
        <p:nvSpPr>
          <p:cNvPr id="28" name="Text 25"/>
          <p:cNvSpPr txBox="1"/>
          <p:nvPr/>
        </p:nvSpPr>
        <p:spPr>
          <a:xfrm>
            <a:off x="4206240" y="3950208"/>
            <a:ext cx="1143000" cy="420624"/>
          </a:xfrm>
          <a:prstGeom prst="rect">
            <a:avLst/>
          </a:prstGeom>
          <a:solidFill>
            <a:srgbClr val="E8E8E6"/>
          </a:solidFill>
          <a:ln/>
        </p:spPr>
        <p:txBody>
          <a:bodyPr wrap="square" lIns="0" tIns="88900" rIns="88900" bIns="0" rtlCol="0" anchor="ctr"/>
          <a:lstStyle/>
          <a:p>
            <a:pPr algn="r" indent="0" marL="0">
              <a:buNone/>
            </a:pPr>
            <a:r>
              <a:rPr lang="en-US" sz="1250" b="1" dirty="0">
                <a:solidFill>
                  <a:srgbClr val="1F2124"/>
                </a:solidFill>
                <a:latin typeface="Inter" pitchFamily="34" charset="0"/>
                <a:ea typeface="Inter" pitchFamily="34" charset="-122"/>
                <a:cs typeface="Inter" pitchFamily="34" charset="-120"/>
              </a:rPr>
              <a:t>198.634</a:t>
            </a:r>
            <a:endParaRPr lang="en-US" sz="1250" dirty="0"/>
          </a:p>
        </p:txBody>
      </p:sp>
      <p:sp>
        <p:nvSpPr>
          <p:cNvPr id="29" name="Text 26"/>
          <p:cNvSpPr txBox="1"/>
          <p:nvPr/>
        </p:nvSpPr>
        <p:spPr>
          <a:xfrm>
            <a:off x="5349240" y="3950208"/>
            <a:ext cx="2057400" cy="420624"/>
          </a:xfrm>
          <a:prstGeom prst="rect">
            <a:avLst/>
          </a:prstGeom>
          <a:solidFill>
            <a:srgbClr val="E8E8E6"/>
          </a:solidFill>
          <a:ln/>
        </p:spPr>
        <p:txBody>
          <a:bodyPr wrap="square" lIns="0" tIns="88900" rIns="88900" bIns="0" rtlCol="0" anchor="ctr"/>
          <a:lstStyle/>
          <a:p>
            <a:pPr algn="l" indent="0" marL="0">
              <a:buNone/>
            </a:pPr>
            <a:r>
              <a:rPr lang="en-US" sz="1250" b="1" dirty="0">
                <a:solidFill>
                  <a:srgbClr val="1F2124"/>
                </a:solidFill>
                <a:latin typeface="Inter" pitchFamily="34" charset="0"/>
                <a:ea typeface="Inter" pitchFamily="34" charset="-122"/>
                <a:cs typeface="Inter" pitchFamily="34" charset="-120"/>
              </a:rPr>
              <a:t>148.975 en efectivo</a:t>
            </a:r>
            <a:endParaRPr lang="en-US" sz="1250" dirty="0"/>
          </a:p>
        </p:txBody>
      </p:sp>
      <p:sp>
        <p:nvSpPr>
          <p:cNvPr id="30" name="Text 27"/>
          <p:cNvSpPr txBox="1"/>
          <p:nvPr/>
        </p:nvSpPr>
        <p:spPr>
          <a:xfrm>
            <a:off x="548640" y="4553712"/>
            <a:ext cx="6858000" cy="228600"/>
          </a:xfrm>
          <a:prstGeom prst="rect">
            <a:avLst/>
          </a:prstGeom>
          <a:noFill/>
          <a:ln/>
        </p:spPr>
        <p:txBody>
          <a:bodyPr wrap="square" lIns="0" tIns="0" rIns="0" bIns="0" rtlCol="0" anchor="t"/>
          <a:lstStyle/>
          <a:p>
            <a:pPr indent="0" marL="0">
              <a:buNone/>
            </a:pPr>
            <a:r>
              <a:rPr lang="en-US" sz="1050" b="1" spc="150" kern="0" dirty="0">
                <a:solidFill>
                  <a:srgbClr val="1F4B3F"/>
                </a:solidFill>
                <a:latin typeface="Inter" pitchFamily="34" charset="0"/>
                <a:ea typeface="Inter" pitchFamily="34" charset="-122"/>
                <a:cs typeface="Inter" pitchFamily="34" charset="-120"/>
              </a:rPr>
              <a:t>CÓMO SE PAGA EL 100% DE INDITEX</a:t>
            </a:r>
            <a:endParaRPr lang="en-US" sz="1050" dirty="0"/>
          </a:p>
        </p:txBody>
      </p:sp>
      <p:sp>
        <p:nvSpPr>
          <p:cNvPr id="31" name="Shape 28"/>
          <p:cNvSpPr/>
          <p:nvPr/>
        </p:nvSpPr>
        <p:spPr>
          <a:xfrm>
            <a:off x="548640" y="4828032"/>
            <a:ext cx="1714500" cy="438912"/>
          </a:xfrm>
          <a:prstGeom prst="rect">
            <a:avLst/>
          </a:prstGeom>
          <a:solidFill>
            <a:srgbClr val="1F4B3F"/>
          </a:solidFill>
          <a:ln/>
        </p:spPr>
      </p:sp>
      <p:sp>
        <p:nvSpPr>
          <p:cNvPr id="32" name="Text 29"/>
          <p:cNvSpPr txBox="1"/>
          <p:nvPr/>
        </p:nvSpPr>
        <p:spPr>
          <a:xfrm>
            <a:off x="640080" y="4828032"/>
            <a:ext cx="1577340" cy="438912"/>
          </a:xfrm>
          <a:prstGeom prst="rect">
            <a:avLst/>
          </a:prstGeom>
          <a:noFill/>
          <a:ln/>
        </p:spPr>
        <p:txBody>
          <a:bodyPr wrap="square" lIns="0" tIns="0" rIns="0" bIns="0" rtlCol="0" anchor="ctr"/>
          <a:lstStyle/>
          <a:p>
            <a:pPr indent="0" marL="0">
              <a:buNone/>
            </a:pPr>
            <a:r>
              <a:rPr lang="en-US" sz="1100" b="1" dirty="0">
                <a:solidFill>
                  <a:srgbClr val="FFFFFF"/>
                </a:solidFill>
                <a:latin typeface="Inter" pitchFamily="34" charset="0"/>
                <a:ea typeface="Inter" pitchFamily="34" charset="-122"/>
                <a:cs typeface="Inter" pitchFamily="34" charset="-120"/>
              </a:rPr>
              <a:t>Rollover · 25%</a:t>
            </a:r>
            <a:endParaRPr lang="en-US" sz="1100" dirty="0"/>
          </a:p>
        </p:txBody>
      </p:sp>
      <p:sp>
        <p:nvSpPr>
          <p:cNvPr id="33" name="Shape 30"/>
          <p:cNvSpPr/>
          <p:nvPr/>
        </p:nvSpPr>
        <p:spPr>
          <a:xfrm>
            <a:off x="2263140" y="4828032"/>
            <a:ext cx="2352294" cy="438912"/>
          </a:xfrm>
          <a:prstGeom prst="rect">
            <a:avLst/>
          </a:prstGeom>
          <a:solidFill>
            <a:srgbClr val="1A1D21"/>
          </a:solidFill>
          <a:ln/>
        </p:spPr>
      </p:sp>
      <p:sp>
        <p:nvSpPr>
          <p:cNvPr id="34" name="Text 31"/>
          <p:cNvSpPr txBox="1"/>
          <p:nvPr/>
        </p:nvSpPr>
        <p:spPr>
          <a:xfrm>
            <a:off x="2354580" y="4828032"/>
            <a:ext cx="2215134" cy="438912"/>
          </a:xfrm>
          <a:prstGeom prst="rect">
            <a:avLst/>
          </a:prstGeom>
          <a:noFill/>
          <a:ln/>
        </p:spPr>
        <p:txBody>
          <a:bodyPr wrap="square" lIns="0" tIns="0" rIns="0" bIns="0" rtlCol="0" anchor="ctr"/>
          <a:lstStyle/>
          <a:p>
            <a:pPr indent="0" marL="0">
              <a:buNone/>
            </a:pPr>
            <a:r>
              <a:rPr lang="en-US" sz="1100" b="1" dirty="0">
                <a:solidFill>
                  <a:srgbClr val="FFFFFF"/>
                </a:solidFill>
                <a:latin typeface="Inter" pitchFamily="34" charset="0"/>
                <a:ea typeface="Inter" pitchFamily="34" charset="-122"/>
                <a:cs typeface="Inter" pitchFamily="34" charset="-120"/>
              </a:rPr>
              <a:t>Amancio · 34,3%</a:t>
            </a:r>
            <a:endParaRPr lang="en-US" sz="1100" dirty="0"/>
          </a:p>
        </p:txBody>
      </p:sp>
      <p:sp>
        <p:nvSpPr>
          <p:cNvPr id="35" name="Shape 32"/>
          <p:cNvSpPr/>
          <p:nvPr/>
        </p:nvSpPr>
        <p:spPr>
          <a:xfrm>
            <a:off x="4615434" y="4828032"/>
            <a:ext cx="346329" cy="438912"/>
          </a:xfrm>
          <a:prstGeom prst="rect">
            <a:avLst/>
          </a:prstGeom>
          <a:solidFill>
            <a:srgbClr val="7D848C"/>
          </a:solidFill>
          <a:ln/>
        </p:spPr>
      </p:sp>
      <p:sp>
        <p:nvSpPr>
          <p:cNvPr id="36" name="Shape 33"/>
          <p:cNvSpPr/>
          <p:nvPr/>
        </p:nvSpPr>
        <p:spPr>
          <a:xfrm>
            <a:off x="4961763" y="4828032"/>
            <a:ext cx="2444877" cy="438912"/>
          </a:xfrm>
          <a:prstGeom prst="rect">
            <a:avLst/>
          </a:prstGeom>
          <a:solidFill>
            <a:srgbClr val="BFC4CA"/>
          </a:solidFill>
          <a:ln/>
        </p:spPr>
      </p:sp>
      <p:sp>
        <p:nvSpPr>
          <p:cNvPr id="37" name="Text 34"/>
          <p:cNvSpPr txBox="1"/>
          <p:nvPr/>
        </p:nvSpPr>
        <p:spPr>
          <a:xfrm>
            <a:off x="5053203" y="4828032"/>
            <a:ext cx="2307717" cy="438912"/>
          </a:xfrm>
          <a:prstGeom prst="rect">
            <a:avLst/>
          </a:prstGeom>
          <a:noFill/>
          <a:ln/>
        </p:spPr>
        <p:txBody>
          <a:bodyPr wrap="square" lIns="0" tIns="0" rIns="0" bIns="0" rtlCol="0" anchor="ctr"/>
          <a:lstStyle/>
          <a:p>
            <a:pPr indent="0" marL="0">
              <a:buNone/>
            </a:pPr>
            <a:r>
              <a:rPr lang="en-US" sz="1100" b="1" dirty="0">
                <a:solidFill>
                  <a:srgbClr val="1A1D21"/>
                </a:solidFill>
                <a:latin typeface="Inter" pitchFamily="34" charset="0"/>
                <a:ea typeface="Inter" pitchFamily="34" charset="-122"/>
                <a:cs typeface="Inter" pitchFamily="34" charset="-120"/>
              </a:rPr>
              <a:t>Free float · 35,65%</a:t>
            </a:r>
            <a:endParaRPr lang="en-US" sz="1100" dirty="0"/>
          </a:p>
        </p:txBody>
      </p:sp>
      <p:sp>
        <p:nvSpPr>
          <p:cNvPr id="38" name="Text 35"/>
          <p:cNvSpPr txBox="1"/>
          <p:nvPr/>
        </p:nvSpPr>
        <p:spPr>
          <a:xfrm>
            <a:off x="4432554" y="5294376"/>
            <a:ext cx="712089" cy="201168"/>
          </a:xfrm>
          <a:prstGeom prst="rect">
            <a:avLst/>
          </a:prstGeom>
          <a:noFill/>
          <a:ln/>
        </p:spPr>
        <p:txBody>
          <a:bodyPr wrap="square" lIns="0" tIns="0" rIns="0" bIns="0" rtlCol="0" anchor="t"/>
          <a:lstStyle/>
          <a:p>
            <a:pPr algn="ctr" indent="0" marL="0">
              <a:buNone/>
            </a:pPr>
            <a:r>
              <a:rPr lang="en-US" sz="900" dirty="0">
                <a:solidFill>
                  <a:srgbClr val="6E7378"/>
                </a:solidFill>
                <a:latin typeface="Inter" pitchFamily="34" charset="0"/>
                <a:ea typeface="Inter" pitchFamily="34" charset="-122"/>
                <a:cs typeface="Inter" pitchFamily="34" charset="-120"/>
              </a:rPr>
              <a:t>Sandra</a:t>
            </a:r>
            <a:endParaRPr lang="en-US" sz="900" dirty="0"/>
          </a:p>
        </p:txBody>
      </p:sp>
      <p:sp>
        <p:nvSpPr>
          <p:cNvPr id="39" name="Shape 36"/>
          <p:cNvSpPr/>
          <p:nvPr/>
        </p:nvSpPr>
        <p:spPr>
          <a:xfrm>
            <a:off x="548640" y="5559552"/>
            <a:ext cx="1668780" cy="0"/>
          </a:xfrm>
          <a:prstGeom prst="line">
            <a:avLst/>
          </a:prstGeom>
          <a:noFill/>
          <a:ln w="19050">
            <a:solidFill>
              <a:srgbClr val="1F4B3F"/>
            </a:solidFill>
            <a:prstDash val="solid"/>
          </a:ln>
        </p:spPr>
      </p:sp>
      <p:sp>
        <p:nvSpPr>
          <p:cNvPr id="40" name="Text 37"/>
          <p:cNvSpPr txBox="1"/>
          <p:nvPr/>
        </p:nvSpPr>
        <p:spPr>
          <a:xfrm>
            <a:off x="548640" y="5614416"/>
            <a:ext cx="1714500" cy="256032"/>
          </a:xfrm>
          <a:prstGeom prst="rect">
            <a:avLst/>
          </a:prstGeom>
          <a:noFill/>
          <a:ln/>
        </p:spPr>
        <p:txBody>
          <a:bodyPr wrap="square" lIns="0" tIns="0" rIns="0" bIns="0" rtlCol="0" anchor="t"/>
          <a:lstStyle/>
          <a:p>
            <a:pPr indent="0" marL="0">
              <a:buNone/>
            </a:pPr>
            <a:r>
              <a:rPr lang="en-US" sz="1100" b="1" dirty="0">
                <a:solidFill>
                  <a:srgbClr val="1F4B3F"/>
                </a:solidFill>
                <a:latin typeface="Inter" pitchFamily="34" charset="0"/>
                <a:ea typeface="Inter" pitchFamily="34" charset="-122"/>
                <a:cs typeface="Inter" pitchFamily="34" charset="-120"/>
              </a:rPr>
              <a:t>€49.658m en acciones</a:t>
            </a:r>
            <a:endParaRPr lang="en-US" sz="1100" dirty="0"/>
          </a:p>
        </p:txBody>
      </p:sp>
      <p:sp>
        <p:nvSpPr>
          <p:cNvPr id="41" name="Shape 38"/>
          <p:cNvSpPr/>
          <p:nvPr/>
        </p:nvSpPr>
        <p:spPr>
          <a:xfrm>
            <a:off x="2308860" y="5559552"/>
            <a:ext cx="5097780" cy="0"/>
          </a:xfrm>
          <a:prstGeom prst="line">
            <a:avLst/>
          </a:prstGeom>
          <a:noFill/>
          <a:ln w="19050">
            <a:solidFill>
              <a:srgbClr val="1A1D21"/>
            </a:solidFill>
            <a:prstDash val="solid"/>
          </a:ln>
        </p:spPr>
      </p:sp>
      <p:sp>
        <p:nvSpPr>
          <p:cNvPr id="42" name="Text 39"/>
          <p:cNvSpPr txBox="1"/>
          <p:nvPr/>
        </p:nvSpPr>
        <p:spPr>
          <a:xfrm>
            <a:off x="2308860" y="5614416"/>
            <a:ext cx="5029200" cy="256032"/>
          </a:xfrm>
          <a:prstGeom prst="rect">
            <a:avLst/>
          </a:prstGeom>
          <a:noFill/>
          <a:ln/>
        </p:spPr>
        <p:txBody>
          <a:bodyPr wrap="square" lIns="0" tIns="0" rIns="0" bIns="0" rtlCol="0" anchor="t"/>
          <a:lstStyle/>
          <a:p>
            <a:pPr indent="0" marL="0">
              <a:buNone/>
            </a:pPr>
            <a:r>
              <a:rPr lang="en-US" sz="1100" b="1" dirty="0">
                <a:solidFill>
                  <a:srgbClr val="1A1D21"/>
                </a:solidFill>
                <a:latin typeface="Inter" pitchFamily="34" charset="0"/>
                <a:ea typeface="Inter" pitchFamily="34" charset="-122"/>
                <a:cs typeface="Inter" pitchFamily="34" charset="-120"/>
              </a:rPr>
              <a:t>€148.975m en efectivo (75%)</a:t>
            </a:r>
            <a:endParaRPr lang="en-US" sz="1100" dirty="0"/>
          </a:p>
        </p:txBody>
      </p:sp>
      <p:sp>
        <p:nvSpPr>
          <p:cNvPr id="43" name="Text 40"/>
          <p:cNvSpPr txBox="1"/>
          <p:nvPr/>
        </p:nvSpPr>
        <p:spPr>
          <a:xfrm>
            <a:off x="548640" y="5916168"/>
            <a:ext cx="6858000" cy="256032"/>
          </a:xfrm>
          <a:prstGeom prst="rect">
            <a:avLst/>
          </a:prstGeom>
          <a:noFill/>
          <a:ln/>
        </p:spPr>
        <p:txBody>
          <a:bodyPr wrap="square" lIns="0" tIns="0" rIns="0" bIns="0" rtlCol="0" anchor="t"/>
          <a:lstStyle/>
          <a:p>
            <a:pPr indent="0" marL="0">
              <a:buNone/>
            </a:pPr>
            <a:r>
              <a:rPr lang="en-US" sz="1050" dirty="0">
                <a:solidFill>
                  <a:srgbClr val="6E7378"/>
                </a:solidFill>
                <a:latin typeface="Inter" pitchFamily="34" charset="0"/>
                <a:ea typeface="Inter" pitchFamily="34" charset="-122"/>
                <a:cs typeface="Inter" pitchFamily="34" charset="-120"/>
              </a:rPr>
              <a:t>Sandra Ortega vende todo su 5,05%, sale del capital y concede a la TopCo un vendor loan de €10.925m.</a:t>
            </a:r>
            <a:endParaRPr lang="en-US" sz="1050" dirty="0"/>
          </a:p>
        </p:txBody>
      </p:sp>
      <p:sp>
        <p:nvSpPr>
          <p:cNvPr id="44" name="Shape 41"/>
          <p:cNvSpPr/>
          <p:nvPr/>
        </p:nvSpPr>
        <p:spPr>
          <a:xfrm>
            <a:off x="7726680" y="1572768"/>
            <a:ext cx="3913632" cy="4599432"/>
          </a:xfrm>
          <a:prstGeom prst="rect">
            <a:avLst>
              <a:gd name="adj" fmla="val 1402"/>
            </a:avLst>
          </a:prstGeom>
          <a:solidFill>
            <a:srgbClr val="1A1D21"/>
          </a:solidFill>
          <a:ln/>
        </p:spPr>
      </p:sp>
      <p:sp>
        <p:nvSpPr>
          <p:cNvPr id="45" name="Text 42"/>
          <p:cNvSpPr txBox="1"/>
          <p:nvPr/>
        </p:nvSpPr>
        <p:spPr>
          <a:xfrm>
            <a:off x="7927848" y="1719072"/>
            <a:ext cx="3566160" cy="292608"/>
          </a:xfrm>
          <a:prstGeom prst="rect">
            <a:avLst/>
          </a:prstGeom>
          <a:noFill/>
          <a:ln/>
        </p:spPr>
        <p:txBody>
          <a:bodyPr wrap="square" lIns="0" tIns="0" rIns="0" bIns="0" rtlCol="0" anchor="t"/>
          <a:lstStyle/>
          <a:p>
            <a:pPr indent="0" marL="0">
              <a:buNone/>
            </a:pPr>
            <a:r>
              <a:rPr lang="en-US" sz="1500" b="1" dirty="0">
                <a:solidFill>
                  <a:srgbClr val="A8C9B8"/>
                </a:solidFill>
                <a:latin typeface="Inter" pitchFamily="34" charset="0"/>
                <a:ea typeface="Inter" pitchFamily="34" charset="-122"/>
                <a:cs typeface="Inter" pitchFamily="34" charset="-120"/>
              </a:rPr>
              <a:t>Por qué el rollover</a:t>
            </a:r>
            <a:endParaRPr lang="en-US" sz="1500" dirty="0"/>
          </a:p>
        </p:txBody>
      </p:sp>
      <p:sp>
        <p:nvSpPr>
          <p:cNvPr id="46" name="Shape 43"/>
          <p:cNvSpPr/>
          <p:nvPr/>
        </p:nvSpPr>
        <p:spPr>
          <a:xfrm>
            <a:off x="7927848" y="2194560"/>
            <a:ext cx="310896" cy="310896"/>
          </a:xfrm>
          <a:prstGeom prst="rect">
            <a:avLst/>
          </a:prstGeom>
          <a:solidFill>
            <a:srgbClr val="1F4B3F"/>
          </a:solidFill>
          <a:ln/>
        </p:spPr>
      </p:sp>
      <p:sp>
        <p:nvSpPr>
          <p:cNvPr id="47" name="Text 44"/>
          <p:cNvSpPr txBox="1"/>
          <p:nvPr/>
        </p:nvSpPr>
        <p:spPr>
          <a:xfrm>
            <a:off x="7927848" y="2203704"/>
            <a:ext cx="310896"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1</a:t>
            </a:r>
            <a:endParaRPr lang="en-US" sz="1200" dirty="0"/>
          </a:p>
        </p:txBody>
      </p:sp>
      <p:sp>
        <p:nvSpPr>
          <p:cNvPr id="48" name="Text 45"/>
          <p:cNvSpPr txBox="1"/>
          <p:nvPr/>
        </p:nvSpPr>
        <p:spPr>
          <a:xfrm>
            <a:off x="8348472" y="2203704"/>
            <a:ext cx="3200400" cy="292608"/>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Condición necesaria</a:t>
            </a:r>
            <a:endParaRPr lang="en-US" sz="1250" dirty="0"/>
          </a:p>
        </p:txBody>
      </p:sp>
      <p:sp>
        <p:nvSpPr>
          <p:cNvPr id="49" name="Text 46"/>
          <p:cNvSpPr txBox="1"/>
          <p:nvPr/>
        </p:nvSpPr>
        <p:spPr>
          <a:xfrm>
            <a:off x="7927848" y="2560320"/>
            <a:ext cx="3520440" cy="548640"/>
          </a:xfrm>
          <a:prstGeom prst="rect">
            <a:avLst/>
          </a:prstGeom>
          <a:noFill/>
          <a:ln/>
        </p:spPr>
        <p:txBody>
          <a:bodyPr wrap="square" lIns="0" tIns="0" rIns="0" bIns="0" rtlCol="0" anchor="t"/>
          <a:lstStyle/>
          <a:p>
            <a:pPr indent="0" marL="0">
              <a:buNone/>
            </a:pPr>
            <a:r>
              <a:rPr lang="en-US" sz="1100" dirty="0">
                <a:solidFill>
                  <a:srgbClr val="D9D9D6"/>
                </a:solidFill>
                <a:latin typeface="Inter" pitchFamily="34" charset="0"/>
                <a:ea typeface="Inter" pitchFamily="34" charset="-122"/>
                <a:cs typeface="Inter" pitchFamily="34" charset="-120"/>
              </a:rPr>
              <a:t>Amancio controla el 59,3%: la operación solo es viable con él como socio.</a:t>
            </a:r>
            <a:endParaRPr lang="en-US" sz="1100" dirty="0"/>
          </a:p>
        </p:txBody>
      </p:sp>
      <p:sp>
        <p:nvSpPr>
          <p:cNvPr id="50" name="Shape 47"/>
          <p:cNvSpPr/>
          <p:nvPr/>
        </p:nvSpPr>
        <p:spPr>
          <a:xfrm>
            <a:off x="7927848" y="3172968"/>
            <a:ext cx="310896" cy="310896"/>
          </a:xfrm>
          <a:prstGeom prst="rect">
            <a:avLst/>
          </a:prstGeom>
          <a:solidFill>
            <a:srgbClr val="1F4B3F"/>
          </a:solidFill>
          <a:ln/>
        </p:spPr>
      </p:sp>
      <p:sp>
        <p:nvSpPr>
          <p:cNvPr id="51" name="Text 48"/>
          <p:cNvSpPr txBox="1"/>
          <p:nvPr/>
        </p:nvSpPr>
        <p:spPr>
          <a:xfrm>
            <a:off x="7927848" y="3182112"/>
            <a:ext cx="310896"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2</a:t>
            </a:r>
            <a:endParaRPr lang="en-US" sz="1200" dirty="0"/>
          </a:p>
        </p:txBody>
      </p:sp>
      <p:sp>
        <p:nvSpPr>
          <p:cNvPr id="52" name="Text 49"/>
          <p:cNvSpPr txBox="1"/>
          <p:nvPr/>
        </p:nvSpPr>
        <p:spPr>
          <a:xfrm>
            <a:off x="8348472" y="3182112"/>
            <a:ext cx="3200400" cy="292608"/>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Para Amancio</a:t>
            </a:r>
            <a:endParaRPr lang="en-US" sz="1250" dirty="0"/>
          </a:p>
        </p:txBody>
      </p:sp>
      <p:sp>
        <p:nvSpPr>
          <p:cNvPr id="53" name="Text 50"/>
          <p:cNvSpPr txBox="1"/>
          <p:nvPr/>
        </p:nvSpPr>
        <p:spPr>
          <a:xfrm>
            <a:off x="7927848" y="3538728"/>
            <a:ext cx="3520440" cy="548640"/>
          </a:xfrm>
          <a:prstGeom prst="rect">
            <a:avLst/>
          </a:prstGeom>
          <a:noFill/>
          <a:ln/>
        </p:spPr>
        <p:txBody>
          <a:bodyPr wrap="square" lIns="0" tIns="0" rIns="0" bIns="0" rtlCol="0" anchor="t"/>
          <a:lstStyle/>
          <a:p>
            <a:pPr indent="0" marL="0">
              <a:buNone/>
            </a:pPr>
            <a:r>
              <a:rPr lang="en-US" sz="1100" dirty="0">
                <a:solidFill>
                  <a:srgbClr val="D9D9D6"/>
                </a:solidFill>
                <a:latin typeface="Inter" pitchFamily="34" charset="0"/>
                <a:ea typeface="Inter" pitchFamily="34" charset="-122"/>
                <a:cs typeface="Inter" pitchFamily="34" charset="-120"/>
              </a:rPr>
              <a:t>Mantiene el 43,4% de la TopCo, cobra €68.131m en efectivo y el canje no tributa.</a:t>
            </a:r>
            <a:endParaRPr lang="en-US" sz="1100" dirty="0"/>
          </a:p>
        </p:txBody>
      </p:sp>
      <p:sp>
        <p:nvSpPr>
          <p:cNvPr id="54" name="Shape 51"/>
          <p:cNvSpPr/>
          <p:nvPr/>
        </p:nvSpPr>
        <p:spPr>
          <a:xfrm>
            <a:off x="7927848" y="4151376"/>
            <a:ext cx="310896" cy="310896"/>
          </a:xfrm>
          <a:prstGeom prst="rect">
            <a:avLst/>
          </a:prstGeom>
          <a:solidFill>
            <a:srgbClr val="1F4B3F"/>
          </a:solidFill>
          <a:ln/>
        </p:spPr>
      </p:sp>
      <p:sp>
        <p:nvSpPr>
          <p:cNvPr id="55" name="Text 52"/>
          <p:cNvSpPr txBox="1"/>
          <p:nvPr/>
        </p:nvSpPr>
        <p:spPr>
          <a:xfrm>
            <a:off x="7927848" y="4160520"/>
            <a:ext cx="310896"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3</a:t>
            </a:r>
            <a:endParaRPr lang="en-US" sz="1200" dirty="0"/>
          </a:p>
        </p:txBody>
      </p:sp>
      <p:sp>
        <p:nvSpPr>
          <p:cNvPr id="56" name="Text 53"/>
          <p:cNvSpPr txBox="1"/>
          <p:nvPr/>
        </p:nvSpPr>
        <p:spPr>
          <a:xfrm>
            <a:off x="8348472" y="4160520"/>
            <a:ext cx="3200400" cy="292608"/>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Para el consorcio</a:t>
            </a:r>
            <a:endParaRPr lang="en-US" sz="1250" dirty="0"/>
          </a:p>
        </p:txBody>
      </p:sp>
      <p:sp>
        <p:nvSpPr>
          <p:cNvPr id="57" name="Text 54"/>
          <p:cNvSpPr txBox="1"/>
          <p:nvPr/>
        </p:nvSpPr>
        <p:spPr>
          <a:xfrm>
            <a:off x="7927848" y="4517136"/>
            <a:ext cx="3520440" cy="548640"/>
          </a:xfrm>
          <a:prstGeom prst="rect">
            <a:avLst/>
          </a:prstGeom>
          <a:noFill/>
          <a:ln/>
        </p:spPr>
        <p:txBody>
          <a:bodyPr wrap="square" lIns="0" tIns="0" rIns="0" bIns="0" rtlCol="0" anchor="t"/>
          <a:lstStyle/>
          <a:p>
            <a:pPr indent="0" marL="0">
              <a:buNone/>
            </a:pPr>
            <a:r>
              <a:rPr lang="en-US" sz="1100" dirty="0">
                <a:solidFill>
                  <a:srgbClr val="D9D9D6"/>
                </a:solidFill>
                <a:latin typeface="Inter" pitchFamily="34" charset="0"/>
                <a:ea typeface="Inter" pitchFamily="34" charset="-122"/>
                <a:cs typeface="Inter" pitchFamily="34" charset="-120"/>
              </a:rPr>
              <a:t>Reduce en €49.658m el efectivo que hay que levantar.</a:t>
            </a:r>
            <a:endParaRPr lang="en-US" sz="1100" dirty="0"/>
          </a:p>
        </p:txBody>
      </p:sp>
      <p:sp>
        <p:nvSpPr>
          <p:cNvPr id="58" name="Shape 55"/>
          <p:cNvSpPr/>
          <p:nvPr/>
        </p:nvSpPr>
        <p:spPr>
          <a:xfrm>
            <a:off x="7927848" y="5129784"/>
            <a:ext cx="310896" cy="310896"/>
          </a:xfrm>
          <a:prstGeom prst="rect">
            <a:avLst/>
          </a:prstGeom>
          <a:solidFill>
            <a:srgbClr val="1F4B3F"/>
          </a:solidFill>
          <a:ln/>
        </p:spPr>
      </p:sp>
      <p:sp>
        <p:nvSpPr>
          <p:cNvPr id="59" name="Text 56"/>
          <p:cNvSpPr txBox="1"/>
          <p:nvPr/>
        </p:nvSpPr>
        <p:spPr>
          <a:xfrm>
            <a:off x="7927848" y="5138928"/>
            <a:ext cx="310896"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4</a:t>
            </a:r>
            <a:endParaRPr lang="en-US" sz="1200" dirty="0"/>
          </a:p>
        </p:txBody>
      </p:sp>
      <p:sp>
        <p:nvSpPr>
          <p:cNvPr id="60" name="Text 57"/>
          <p:cNvSpPr txBox="1"/>
          <p:nvPr/>
        </p:nvSpPr>
        <p:spPr>
          <a:xfrm>
            <a:off x="8348472" y="5138928"/>
            <a:ext cx="3200400" cy="292608"/>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Alineación</a:t>
            </a:r>
            <a:endParaRPr lang="en-US" sz="1250" dirty="0"/>
          </a:p>
        </p:txBody>
      </p:sp>
      <p:sp>
        <p:nvSpPr>
          <p:cNvPr id="61" name="Text 58"/>
          <p:cNvSpPr txBox="1"/>
          <p:nvPr/>
        </p:nvSpPr>
        <p:spPr>
          <a:xfrm>
            <a:off x="7927848" y="5495544"/>
            <a:ext cx="3520440" cy="548640"/>
          </a:xfrm>
          <a:prstGeom prst="rect">
            <a:avLst/>
          </a:prstGeom>
          <a:noFill/>
          <a:ln/>
        </p:spPr>
        <p:txBody>
          <a:bodyPr wrap="square" lIns="0" tIns="0" rIns="0" bIns="0" rtlCol="0" anchor="t"/>
          <a:lstStyle/>
          <a:p>
            <a:pPr indent="0" marL="0">
              <a:buNone/>
            </a:pPr>
            <a:r>
              <a:rPr lang="en-US" sz="1100" dirty="0">
                <a:solidFill>
                  <a:srgbClr val="D9D9D6"/>
                </a:solidFill>
                <a:latin typeface="Inter" pitchFamily="34" charset="0"/>
                <a:ea typeface="Inter" pitchFamily="34" charset="-122"/>
                <a:cs typeface="Inter" pitchFamily="34" charset="-120"/>
              </a:rPr>
              <a:t>El fundador gana lo mismo que el fondo: 2,05x hasta 2032 (€49.658m → €101.609m).</a:t>
            </a:r>
            <a:endParaRPr lang="en-US" sz="1100" dirty="0"/>
          </a:p>
        </p:txBody>
      </p:sp>
      <p:sp>
        <p:nvSpPr>
          <p:cNvPr id="62" name="Text 59"/>
          <p:cNvSpPr txBox="1"/>
          <p:nvPr/>
        </p:nvSpPr>
        <p:spPr>
          <a:xfrm>
            <a:off x="548640" y="6327648"/>
            <a:ext cx="7863840" cy="228600"/>
          </a:xfrm>
          <a:prstGeom prst="rect">
            <a:avLst/>
          </a:prstGeom>
          <a:noFill/>
          <a:ln/>
        </p:spPr>
        <p:txBody>
          <a:bodyPr wrap="square" lIns="0" tIns="0" rIns="0" bIns="0" rtlCol="0" anchor="t"/>
          <a:lstStyle/>
          <a:p>
            <a:pPr indent="0" marL="0">
              <a:buNone/>
            </a:pPr>
            <a:r>
              <a:rPr lang="en-US" sz="900" dirty="0">
                <a:solidFill>
                  <a:srgbClr val="6E7378"/>
                </a:solidFill>
                <a:latin typeface="Inter" pitchFamily="34" charset="0"/>
                <a:ea typeface="Inter" pitchFamily="34" charset="-122"/>
                <a:cs typeface="Inter" pitchFamily="34" charset="-120"/>
              </a:rPr>
              <a:t>Fuente: art. 87 Ley 27/2014 (LIS), régimen de neutralidad fiscal del canje de valores.</a:t>
            </a:r>
            <a:endParaRPr lang="en-US" sz="900" dirty="0"/>
          </a:p>
        </p:txBody>
      </p:sp>
      <p:sp>
        <p:nvSpPr>
          <p:cNvPr id="63" name="Text 60"/>
          <p:cNvSpPr txBox="1"/>
          <p:nvPr/>
        </p:nvSpPr>
        <p:spPr>
          <a:xfrm>
            <a:off x="8595360" y="6327648"/>
            <a:ext cx="3044952" cy="228600"/>
          </a:xfrm>
          <a:prstGeom prst="rect">
            <a:avLst/>
          </a:prstGeom>
          <a:noFill/>
          <a:ln/>
        </p:spPr>
        <p:txBody>
          <a:bodyPr wrap="square" lIns="0" tIns="0" rIns="0" bIns="0" rtlCol="0" anchor="t"/>
          <a:lstStyle/>
          <a:p>
            <a:pPr algn="r" indent="0" marL="0">
              <a:buNone/>
            </a:pPr>
            <a:r>
              <a:rPr lang="en-US" sz="900" dirty="0">
                <a:solidFill>
                  <a:srgbClr val="6E7378"/>
                </a:solidFill>
                <a:latin typeface="Inter" pitchFamily="34" charset="0"/>
                <a:ea typeface="Inter" pitchFamily="34" charset="-122"/>
                <a:cs typeface="Inter" pitchFamily="34" charset="-120"/>
              </a:rPr>
              <a:t>Project Galicia  ·  Estrictamente confidencial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79476"/>
            <a:ext cx="7772400" cy="228600"/>
          </a:xfrm>
          <a:prstGeom prst="rect">
            <a:avLst/>
          </a:prstGeom>
          <a:noFill/>
          <a:ln/>
        </p:spPr>
        <p:txBody>
          <a:bodyPr wrap="square" lIns="0" tIns="0" rIns="0" bIns="0" rtlCol="0" anchor="ctr"/>
          <a:lstStyle/>
          <a:p>
            <a:pPr indent="0" marL="0">
              <a:buNone/>
            </a:pPr>
            <a:r>
              <a:rPr lang="en-US" sz="1100" b="1" spc="200" kern="0" dirty="0">
                <a:solidFill>
                  <a:srgbClr val="1F4B3F"/>
                </a:solidFill>
                <a:latin typeface="Inter" pitchFamily="34" charset="0"/>
                <a:ea typeface="Inter" pitchFamily="34" charset="-122"/>
                <a:cs typeface="Inter" pitchFamily="34" charset="-120"/>
              </a:rPr>
              <a:t>02  ESTRUCTURA DE LA COMPRA</a:t>
            </a:r>
            <a:endParaRPr lang="en-US" sz="1100" dirty="0"/>
          </a:p>
        </p:txBody>
      </p:sp>
      <p:pic>
        <p:nvPicPr>
          <p:cNvPr id="3" name="Image 0" descr="/tmp/claude-0/-home-claude/8d7de6a3-f167-5c95-8bc2-67944307bfd8/scratchpad/canva/img/HLP_monograma.png">    </p:cNvPr>
          <p:cNvPicPr>
            <a:picLocks noChangeAspect="1"/>
          </p:cNvPicPr>
          <p:nvPr/>
        </p:nvPicPr>
        <p:blipFill>
          <a:blip r:embed="rId1"/>
          <a:stretch>
            <a:fillRect/>
          </a:stretch>
        </p:blipFill>
        <p:spPr>
          <a:xfrm>
            <a:off x="11130991" y="237744"/>
            <a:ext cx="512064" cy="512064"/>
          </a:xfrm>
          <a:prstGeom prst="rect">
            <a:avLst/>
          </a:prstGeom>
        </p:spPr>
      </p:pic>
      <p:sp>
        <p:nvSpPr>
          <p:cNvPr id="4" name="Text 1"/>
          <p:cNvSpPr txBox="1"/>
          <p:nvPr/>
        </p:nvSpPr>
        <p:spPr>
          <a:xfrm>
            <a:off x="548640" y="786384"/>
            <a:ext cx="11091672" cy="658368"/>
          </a:xfrm>
          <a:prstGeom prst="rect">
            <a:avLst/>
          </a:prstGeom>
          <a:noFill/>
          <a:ln/>
        </p:spPr>
        <p:txBody>
          <a:bodyPr wrap="square" lIns="0" tIns="0" rIns="0" bIns="0" rtlCol="0" anchor="t"/>
          <a:lstStyle/>
          <a:p>
            <a:pPr indent="0" marL="0">
              <a:lnSpc>
                <a:spcPct val="92000"/>
              </a:lnSpc>
              <a:buNone/>
            </a:pPr>
            <a:r>
              <a:rPr lang="en-US" sz="2200" dirty="0">
                <a:solidFill>
                  <a:srgbClr val="1A1D21"/>
                </a:solidFill>
                <a:latin typeface="Lora" pitchFamily="34" charset="0"/>
                <a:ea typeface="Lora" pitchFamily="34" charset="-122"/>
                <a:cs typeface="Lora" pitchFamily="34" charset="-120"/>
              </a:rPr>
              <a:t>Tres sociedades ordenan el riesgo y, tras la OPA, la deuda baja hasta la caja de Inditex</a:t>
            </a:r>
            <a:endParaRPr lang="en-US" sz="2200" dirty="0"/>
          </a:p>
        </p:txBody>
      </p:sp>
      <p:sp>
        <p:nvSpPr>
          <p:cNvPr id="5" name="Shape 2"/>
          <p:cNvSpPr/>
          <p:nvPr/>
        </p:nvSpPr>
        <p:spPr>
          <a:xfrm>
            <a:off x="3246120" y="1645920"/>
            <a:ext cx="2194560" cy="731520"/>
          </a:xfrm>
          <a:prstGeom prst="rect">
            <a:avLst>
              <a:gd name="adj" fmla="val 7500"/>
            </a:avLst>
          </a:prstGeom>
          <a:solidFill>
            <a:srgbClr val="1A1D21"/>
          </a:solidFill>
          <a:ln/>
        </p:spPr>
      </p:sp>
      <p:sp>
        <p:nvSpPr>
          <p:cNvPr id="6" name="Text 3"/>
          <p:cNvSpPr txBox="1"/>
          <p:nvPr/>
        </p:nvSpPr>
        <p:spPr>
          <a:xfrm>
            <a:off x="3246120" y="1719072"/>
            <a:ext cx="2194560" cy="320040"/>
          </a:xfrm>
          <a:prstGeom prst="rect">
            <a:avLst/>
          </a:prstGeom>
          <a:noFill/>
          <a:ln/>
        </p:spPr>
        <p:txBody>
          <a:bodyPr wrap="square" lIns="0" tIns="0" rIns="0" bIns="0" rtlCol="0" anchor="t"/>
          <a:lstStyle/>
          <a:p>
            <a:pPr algn="ctr" indent="0" marL="0">
              <a:buNone/>
            </a:pPr>
            <a:r>
              <a:rPr lang="en-US" sz="1500" b="1" dirty="0">
                <a:solidFill>
                  <a:srgbClr val="FFFFFF"/>
                </a:solidFill>
                <a:latin typeface="Inter" pitchFamily="34" charset="0"/>
                <a:ea typeface="Inter" pitchFamily="34" charset="-122"/>
                <a:cs typeface="Inter" pitchFamily="34" charset="-120"/>
              </a:rPr>
              <a:t>TopCo</a:t>
            </a:r>
            <a:endParaRPr lang="en-US" sz="1500" dirty="0"/>
          </a:p>
        </p:txBody>
      </p:sp>
      <p:sp>
        <p:nvSpPr>
          <p:cNvPr id="7" name="Text 4"/>
          <p:cNvSpPr txBox="1"/>
          <p:nvPr/>
        </p:nvSpPr>
        <p:spPr>
          <a:xfrm>
            <a:off x="3246120" y="2048256"/>
            <a:ext cx="2194560" cy="274320"/>
          </a:xfrm>
          <a:prstGeom prst="rect">
            <a:avLst/>
          </a:prstGeom>
          <a:noFill/>
          <a:ln/>
        </p:spPr>
        <p:txBody>
          <a:bodyPr wrap="square" lIns="0" tIns="0" rIns="0" bIns="0" rtlCol="0" anchor="t"/>
          <a:lstStyle/>
          <a:p>
            <a:pPr algn="ctr" indent="0" marL="0">
              <a:buNone/>
            </a:pPr>
            <a:r>
              <a:rPr lang="en-US" sz="1100" dirty="0">
                <a:solidFill>
                  <a:srgbClr val="BFC4CA"/>
                </a:solidFill>
                <a:latin typeface="Inter" pitchFamily="34" charset="0"/>
                <a:ea typeface="Inter" pitchFamily="34" charset="-122"/>
                <a:cs typeface="Inter" pitchFamily="34" charset="-120"/>
              </a:rPr>
              <a:t>Equity €114.351m</a:t>
            </a:r>
            <a:endParaRPr lang="en-US" sz="1100" dirty="0"/>
          </a:p>
        </p:txBody>
      </p:sp>
      <p:sp>
        <p:nvSpPr>
          <p:cNvPr id="8" name="Shape 5"/>
          <p:cNvSpPr/>
          <p:nvPr/>
        </p:nvSpPr>
        <p:spPr>
          <a:xfrm>
            <a:off x="3246120" y="2743200"/>
            <a:ext cx="2194560" cy="731520"/>
          </a:xfrm>
          <a:prstGeom prst="rect">
            <a:avLst>
              <a:gd name="adj" fmla="val 7500"/>
            </a:avLst>
          </a:prstGeom>
          <a:solidFill>
            <a:srgbClr val="3A3F45"/>
          </a:solidFill>
          <a:ln/>
        </p:spPr>
      </p:sp>
      <p:sp>
        <p:nvSpPr>
          <p:cNvPr id="9" name="Text 6"/>
          <p:cNvSpPr txBox="1"/>
          <p:nvPr/>
        </p:nvSpPr>
        <p:spPr>
          <a:xfrm>
            <a:off x="3246120" y="2816352"/>
            <a:ext cx="2194560" cy="320040"/>
          </a:xfrm>
          <a:prstGeom prst="rect">
            <a:avLst/>
          </a:prstGeom>
          <a:noFill/>
          <a:ln/>
        </p:spPr>
        <p:txBody>
          <a:bodyPr wrap="square" lIns="0" tIns="0" rIns="0" bIns="0" rtlCol="0" anchor="t"/>
          <a:lstStyle/>
          <a:p>
            <a:pPr algn="ctr" indent="0" marL="0">
              <a:buNone/>
            </a:pPr>
            <a:r>
              <a:rPr lang="en-US" sz="1500" b="1" dirty="0">
                <a:solidFill>
                  <a:srgbClr val="FFFFFF"/>
                </a:solidFill>
                <a:latin typeface="Inter" pitchFamily="34" charset="0"/>
                <a:ea typeface="Inter" pitchFamily="34" charset="-122"/>
                <a:cs typeface="Inter" pitchFamily="34" charset="-120"/>
              </a:rPr>
              <a:t>MidCo</a:t>
            </a:r>
            <a:endParaRPr lang="en-US" sz="1500" dirty="0"/>
          </a:p>
        </p:txBody>
      </p:sp>
      <p:sp>
        <p:nvSpPr>
          <p:cNvPr id="10" name="Text 7"/>
          <p:cNvSpPr txBox="1"/>
          <p:nvPr/>
        </p:nvSpPr>
        <p:spPr>
          <a:xfrm>
            <a:off x="3246120" y="3145536"/>
            <a:ext cx="2194560" cy="274320"/>
          </a:xfrm>
          <a:prstGeom prst="rect">
            <a:avLst/>
          </a:prstGeom>
          <a:noFill/>
          <a:ln/>
        </p:spPr>
        <p:txBody>
          <a:bodyPr wrap="square" lIns="0" tIns="0" rIns="0" bIns="0" rtlCol="0" anchor="t"/>
          <a:lstStyle/>
          <a:p>
            <a:pPr algn="ctr" indent="0" marL="0">
              <a:buNone/>
            </a:pPr>
            <a:r>
              <a:rPr lang="en-US" sz="1100" dirty="0">
                <a:solidFill>
                  <a:srgbClr val="BFC4CA"/>
                </a:solidFill>
                <a:latin typeface="Inter" pitchFamily="34" charset="0"/>
                <a:ea typeface="Inter" pitchFamily="34" charset="-122"/>
                <a:cs typeface="Inter" pitchFamily="34" charset="-120"/>
              </a:rPr>
              <a:t>Holding intermedia</a:t>
            </a:r>
            <a:endParaRPr lang="en-US" sz="1100" dirty="0"/>
          </a:p>
        </p:txBody>
      </p:sp>
      <p:sp>
        <p:nvSpPr>
          <p:cNvPr id="11" name="Shape 8"/>
          <p:cNvSpPr/>
          <p:nvPr/>
        </p:nvSpPr>
        <p:spPr>
          <a:xfrm>
            <a:off x="3118104" y="3730752"/>
            <a:ext cx="2450592" cy="2103120"/>
          </a:xfrm>
          <a:prstGeom prst="rect">
            <a:avLst>
              <a:gd name="adj" fmla="val 2609"/>
            </a:avLst>
          </a:prstGeom>
          <a:ln w="19050">
            <a:solidFill>
              <a:srgbClr val="1F4B3F"/>
            </a:solidFill>
            <a:prstDash val="dash"/>
          </a:ln>
        </p:spPr>
      </p:sp>
      <p:sp>
        <p:nvSpPr>
          <p:cNvPr id="12" name="Shape 9"/>
          <p:cNvSpPr/>
          <p:nvPr/>
        </p:nvSpPr>
        <p:spPr>
          <a:xfrm>
            <a:off x="3246120" y="3840480"/>
            <a:ext cx="2194560" cy="731520"/>
          </a:xfrm>
          <a:prstGeom prst="rect">
            <a:avLst>
              <a:gd name="adj" fmla="val 7500"/>
            </a:avLst>
          </a:prstGeom>
          <a:solidFill>
            <a:srgbClr val="163A30"/>
          </a:solidFill>
          <a:ln/>
        </p:spPr>
      </p:sp>
      <p:sp>
        <p:nvSpPr>
          <p:cNvPr id="13" name="Text 10"/>
          <p:cNvSpPr txBox="1"/>
          <p:nvPr/>
        </p:nvSpPr>
        <p:spPr>
          <a:xfrm>
            <a:off x="3246120" y="3913632"/>
            <a:ext cx="2194560" cy="320040"/>
          </a:xfrm>
          <a:prstGeom prst="rect">
            <a:avLst/>
          </a:prstGeom>
          <a:noFill/>
          <a:ln/>
        </p:spPr>
        <p:txBody>
          <a:bodyPr wrap="square" lIns="0" tIns="0" rIns="0" bIns="0" rtlCol="0" anchor="t"/>
          <a:lstStyle/>
          <a:p>
            <a:pPr algn="ctr" indent="0" marL="0">
              <a:buNone/>
            </a:pPr>
            <a:r>
              <a:rPr lang="en-US" sz="1500" b="1" dirty="0">
                <a:solidFill>
                  <a:srgbClr val="FFFFFF"/>
                </a:solidFill>
                <a:latin typeface="Inter" pitchFamily="34" charset="0"/>
                <a:ea typeface="Inter" pitchFamily="34" charset="-122"/>
                <a:cs typeface="Inter" pitchFamily="34" charset="-120"/>
              </a:rPr>
              <a:t>BidCo</a:t>
            </a:r>
            <a:endParaRPr lang="en-US" sz="1500" dirty="0"/>
          </a:p>
        </p:txBody>
      </p:sp>
      <p:sp>
        <p:nvSpPr>
          <p:cNvPr id="14" name="Text 11"/>
          <p:cNvSpPr txBox="1"/>
          <p:nvPr/>
        </p:nvSpPr>
        <p:spPr>
          <a:xfrm>
            <a:off x="3246120" y="4242816"/>
            <a:ext cx="2194560" cy="274320"/>
          </a:xfrm>
          <a:prstGeom prst="rect">
            <a:avLst/>
          </a:prstGeom>
          <a:noFill/>
          <a:ln/>
        </p:spPr>
        <p:txBody>
          <a:bodyPr wrap="square" lIns="0" tIns="0" rIns="0" bIns="0" rtlCol="0" anchor="t"/>
          <a:lstStyle/>
          <a:p>
            <a:pPr algn="ctr" indent="0" marL="0">
              <a:buNone/>
            </a:pPr>
            <a:r>
              <a:rPr lang="en-US" sz="1100" dirty="0">
                <a:solidFill>
                  <a:srgbClr val="BFC4CA"/>
                </a:solidFill>
                <a:latin typeface="Inter" pitchFamily="34" charset="0"/>
                <a:ea typeface="Inter" pitchFamily="34" charset="-122"/>
                <a:cs typeface="Inter" pitchFamily="34" charset="-120"/>
              </a:rPr>
              <a:t>Lanza la OPA</a:t>
            </a:r>
            <a:endParaRPr lang="en-US" sz="1100" dirty="0"/>
          </a:p>
        </p:txBody>
      </p:sp>
      <p:sp>
        <p:nvSpPr>
          <p:cNvPr id="15" name="Shape 12"/>
          <p:cNvSpPr/>
          <p:nvPr/>
        </p:nvSpPr>
        <p:spPr>
          <a:xfrm>
            <a:off x="3246120" y="4937760"/>
            <a:ext cx="2194560" cy="777240"/>
          </a:xfrm>
          <a:prstGeom prst="rect">
            <a:avLst>
              <a:gd name="adj" fmla="val 7059"/>
            </a:avLst>
          </a:prstGeom>
          <a:solidFill>
            <a:srgbClr val="E7EFEA"/>
          </a:solidFill>
          <a:ln w="12700">
            <a:solidFill>
              <a:srgbClr val="1F4B3F"/>
            </a:solidFill>
            <a:prstDash val="solid"/>
          </a:ln>
        </p:spPr>
      </p:sp>
      <p:sp>
        <p:nvSpPr>
          <p:cNvPr id="16" name="Text 13"/>
          <p:cNvSpPr txBox="1"/>
          <p:nvPr/>
        </p:nvSpPr>
        <p:spPr>
          <a:xfrm>
            <a:off x="3246120" y="5010912"/>
            <a:ext cx="2194560" cy="320040"/>
          </a:xfrm>
          <a:prstGeom prst="rect">
            <a:avLst/>
          </a:prstGeom>
          <a:noFill/>
          <a:ln/>
        </p:spPr>
        <p:txBody>
          <a:bodyPr wrap="square" lIns="0" tIns="0" rIns="0" bIns="0" rtlCol="0" anchor="t"/>
          <a:lstStyle/>
          <a:p>
            <a:pPr algn="ctr" indent="0" marL="0">
              <a:buNone/>
            </a:pPr>
            <a:r>
              <a:rPr lang="en-US" sz="1500" b="1" dirty="0">
                <a:solidFill>
                  <a:srgbClr val="1A1D21"/>
                </a:solidFill>
                <a:latin typeface="Inter" pitchFamily="34" charset="0"/>
                <a:ea typeface="Inter" pitchFamily="34" charset="-122"/>
                <a:cs typeface="Inter" pitchFamily="34" charset="-120"/>
              </a:rPr>
              <a:t>Inditex · 100%</a:t>
            </a:r>
            <a:endParaRPr lang="en-US" sz="1500" dirty="0"/>
          </a:p>
        </p:txBody>
      </p:sp>
      <p:sp>
        <p:nvSpPr>
          <p:cNvPr id="17" name="Text 14"/>
          <p:cNvSpPr txBox="1"/>
          <p:nvPr/>
        </p:nvSpPr>
        <p:spPr>
          <a:xfrm>
            <a:off x="3246120" y="5349240"/>
            <a:ext cx="2194560" cy="274320"/>
          </a:xfrm>
          <a:prstGeom prst="rect">
            <a:avLst/>
          </a:prstGeom>
          <a:noFill/>
          <a:ln/>
        </p:spPr>
        <p:txBody>
          <a:bodyPr wrap="square" lIns="0" tIns="0" rIns="0" bIns="0" rtlCol="0" anchor="t"/>
          <a:lstStyle/>
          <a:p>
            <a:pPr algn="ctr" indent="0" marL="0">
              <a:buNone/>
            </a:pPr>
            <a:r>
              <a:rPr lang="en-US" sz="1050" dirty="0">
                <a:solidFill>
                  <a:srgbClr val="1F2124"/>
                </a:solidFill>
                <a:latin typeface="Inter" pitchFamily="34" charset="0"/>
                <a:ea typeface="Inter" pitchFamily="34" charset="-122"/>
                <a:cs typeface="Inter" pitchFamily="34" charset="-120"/>
              </a:rPr>
              <a:t>EBITDA €9.433m</a:t>
            </a:r>
            <a:endParaRPr lang="en-US" sz="1050" dirty="0"/>
          </a:p>
        </p:txBody>
      </p:sp>
      <p:sp>
        <p:nvSpPr>
          <p:cNvPr id="18" name="Text 15"/>
          <p:cNvSpPr txBox="1"/>
          <p:nvPr/>
        </p:nvSpPr>
        <p:spPr>
          <a:xfrm>
            <a:off x="3118104" y="5870448"/>
            <a:ext cx="2450592" cy="256032"/>
          </a:xfrm>
          <a:prstGeom prst="rect">
            <a:avLst/>
          </a:prstGeom>
          <a:noFill/>
          <a:ln/>
        </p:spPr>
        <p:txBody>
          <a:bodyPr wrap="square" lIns="0" tIns="0" rIns="0" bIns="0" rtlCol="0" anchor="t"/>
          <a:lstStyle/>
          <a:p>
            <a:pPr algn="ctr" indent="0" marL="0">
              <a:buNone/>
            </a:pPr>
            <a:r>
              <a:rPr lang="en-US" sz="1050" b="1" dirty="0">
                <a:solidFill>
                  <a:srgbClr val="1F4B3F"/>
                </a:solidFill>
                <a:latin typeface="Inter" pitchFamily="34" charset="0"/>
                <a:ea typeface="Inter" pitchFamily="34" charset="-122"/>
                <a:cs typeface="Inter" pitchFamily="34" charset="-120"/>
              </a:rPr>
              <a:t>Se fusionan tras la OPA</a:t>
            </a:r>
            <a:endParaRPr lang="en-US" sz="1050" dirty="0"/>
          </a:p>
        </p:txBody>
      </p:sp>
      <p:sp>
        <p:nvSpPr>
          <p:cNvPr id="19" name="Shape 16"/>
          <p:cNvSpPr/>
          <p:nvPr/>
        </p:nvSpPr>
        <p:spPr>
          <a:xfrm>
            <a:off x="4343400" y="2377440"/>
            <a:ext cx="0" cy="365760"/>
          </a:xfrm>
          <a:prstGeom prst="line">
            <a:avLst/>
          </a:prstGeom>
          <a:noFill/>
          <a:ln w="15875">
            <a:solidFill>
              <a:srgbClr val="6E7378"/>
            </a:solidFill>
            <a:prstDash val="solid"/>
            <a:tailEnd type="triangle"/>
          </a:ln>
        </p:spPr>
      </p:sp>
      <p:sp>
        <p:nvSpPr>
          <p:cNvPr id="20" name="Shape 17"/>
          <p:cNvSpPr/>
          <p:nvPr/>
        </p:nvSpPr>
        <p:spPr>
          <a:xfrm>
            <a:off x="4343400" y="3474720"/>
            <a:ext cx="0" cy="365760"/>
          </a:xfrm>
          <a:prstGeom prst="line">
            <a:avLst/>
          </a:prstGeom>
          <a:noFill/>
          <a:ln w="15875">
            <a:solidFill>
              <a:srgbClr val="6E7378"/>
            </a:solidFill>
            <a:prstDash val="solid"/>
            <a:tailEnd type="triangle"/>
          </a:ln>
        </p:spPr>
      </p:sp>
      <p:sp>
        <p:nvSpPr>
          <p:cNvPr id="21" name="Shape 18"/>
          <p:cNvSpPr/>
          <p:nvPr/>
        </p:nvSpPr>
        <p:spPr>
          <a:xfrm>
            <a:off x="4343400" y="4572000"/>
            <a:ext cx="0" cy="365760"/>
          </a:xfrm>
          <a:prstGeom prst="line">
            <a:avLst/>
          </a:prstGeom>
          <a:noFill/>
          <a:ln w="15875">
            <a:solidFill>
              <a:srgbClr val="6E7378"/>
            </a:solidFill>
            <a:prstDash val="solid"/>
            <a:tailEnd type="triangle"/>
          </a:ln>
        </p:spPr>
      </p:sp>
      <p:sp>
        <p:nvSpPr>
          <p:cNvPr id="22" name="Shape 19"/>
          <p:cNvSpPr/>
          <p:nvPr/>
        </p:nvSpPr>
        <p:spPr>
          <a:xfrm>
            <a:off x="548640" y="1508760"/>
            <a:ext cx="2331720" cy="1005840"/>
          </a:xfrm>
          <a:prstGeom prst="rect">
            <a:avLst>
              <a:gd name="adj" fmla="val 5455"/>
            </a:avLst>
          </a:prstGeom>
          <a:solidFill>
            <a:srgbClr val="F3F3F2"/>
          </a:solidFill>
          <a:ln/>
        </p:spPr>
      </p:sp>
      <p:sp>
        <p:nvSpPr>
          <p:cNvPr id="23" name="Text 20"/>
          <p:cNvSpPr txBox="1"/>
          <p:nvPr/>
        </p:nvSpPr>
        <p:spPr>
          <a:xfrm>
            <a:off x="685800" y="1581912"/>
            <a:ext cx="2057400" cy="274320"/>
          </a:xfrm>
          <a:prstGeom prst="rect">
            <a:avLst/>
          </a:prstGeom>
          <a:noFill/>
          <a:ln/>
        </p:spPr>
        <p:txBody>
          <a:bodyPr wrap="square" lIns="0" tIns="0" rIns="0" bIns="0" rtlCol="0" anchor="t"/>
          <a:lstStyle/>
          <a:p>
            <a:pPr indent="0" marL="0">
              <a:buNone/>
            </a:pPr>
            <a:r>
              <a:rPr lang="en-US" sz="1250" b="1" dirty="0">
                <a:solidFill>
                  <a:srgbClr val="1A1D21"/>
                </a:solidFill>
                <a:latin typeface="Inter" pitchFamily="34" charset="0"/>
                <a:ea typeface="Inter" pitchFamily="34" charset="-122"/>
                <a:cs typeface="Inter" pitchFamily="34" charset="-120"/>
              </a:rPr>
              <a:t>Accionistas</a:t>
            </a:r>
            <a:endParaRPr lang="en-US" sz="1250" dirty="0"/>
          </a:p>
        </p:txBody>
      </p:sp>
      <p:sp>
        <p:nvSpPr>
          <p:cNvPr id="24" name="Text 21"/>
          <p:cNvSpPr txBox="1"/>
          <p:nvPr/>
        </p:nvSpPr>
        <p:spPr>
          <a:xfrm>
            <a:off x="685800" y="1874520"/>
            <a:ext cx="2057400" cy="594360"/>
          </a:xfrm>
          <a:prstGeom prst="rect">
            <a:avLst/>
          </a:prstGeom>
          <a:noFill/>
          <a:ln/>
        </p:spPr>
        <p:txBody>
          <a:bodyPr wrap="square" lIns="0" tIns="0" rIns="0" bIns="0" rtlCol="0" anchor="t"/>
          <a:lstStyle/>
          <a:p>
            <a:pPr indent="0" marL="0">
              <a:buNone/>
            </a:pPr>
            <a:r>
              <a:rPr lang="en-US" sz="1050" dirty="0">
                <a:solidFill>
                  <a:srgbClr val="1F2124"/>
                </a:solidFill>
                <a:latin typeface="Inter" pitchFamily="34" charset="0"/>
                <a:ea typeface="Inter" pitchFamily="34" charset="-122"/>
                <a:cs typeface="Inter" pitchFamily="34" charset="-120"/>
              </a:rPr>
              <a:t>Amancio 43,4% · GP 8,5% · LPs 48,1%</a:t>
            </a:r>
            <a:endParaRPr lang="en-US" sz="1050" dirty="0"/>
          </a:p>
        </p:txBody>
      </p:sp>
      <p:sp>
        <p:nvSpPr>
          <p:cNvPr id="25" name="Shape 22"/>
          <p:cNvSpPr/>
          <p:nvPr/>
        </p:nvSpPr>
        <p:spPr>
          <a:xfrm>
            <a:off x="548640" y="3703320"/>
            <a:ext cx="2331720" cy="1005840"/>
          </a:xfrm>
          <a:prstGeom prst="rect">
            <a:avLst>
              <a:gd name="adj" fmla="val 5455"/>
            </a:avLst>
          </a:prstGeom>
          <a:solidFill>
            <a:srgbClr val="F3F3F2"/>
          </a:solidFill>
          <a:ln/>
        </p:spPr>
      </p:sp>
      <p:sp>
        <p:nvSpPr>
          <p:cNvPr id="26" name="Text 23"/>
          <p:cNvSpPr txBox="1"/>
          <p:nvPr/>
        </p:nvSpPr>
        <p:spPr>
          <a:xfrm>
            <a:off x="685800" y="3776472"/>
            <a:ext cx="2057400" cy="274320"/>
          </a:xfrm>
          <a:prstGeom prst="rect">
            <a:avLst/>
          </a:prstGeom>
          <a:noFill/>
          <a:ln/>
        </p:spPr>
        <p:txBody>
          <a:bodyPr wrap="square" lIns="0" tIns="0" rIns="0" bIns="0" rtlCol="0" anchor="t"/>
          <a:lstStyle/>
          <a:p>
            <a:pPr indent="0" marL="0">
              <a:buNone/>
            </a:pPr>
            <a:r>
              <a:rPr lang="en-US" sz="1250" b="1" dirty="0">
                <a:solidFill>
                  <a:srgbClr val="1A1D21"/>
                </a:solidFill>
                <a:latin typeface="Inter" pitchFamily="34" charset="0"/>
                <a:ea typeface="Inter" pitchFamily="34" charset="-122"/>
                <a:cs typeface="Inter" pitchFamily="34" charset="-120"/>
              </a:rPr>
              <a:t>Vendedores en la OPA</a:t>
            </a:r>
            <a:endParaRPr lang="en-US" sz="1250" dirty="0"/>
          </a:p>
        </p:txBody>
      </p:sp>
      <p:sp>
        <p:nvSpPr>
          <p:cNvPr id="27" name="Text 24"/>
          <p:cNvSpPr txBox="1"/>
          <p:nvPr/>
        </p:nvSpPr>
        <p:spPr>
          <a:xfrm>
            <a:off x="685800" y="4069080"/>
            <a:ext cx="2057400" cy="594360"/>
          </a:xfrm>
          <a:prstGeom prst="rect">
            <a:avLst/>
          </a:prstGeom>
          <a:noFill/>
          <a:ln/>
        </p:spPr>
        <p:txBody>
          <a:bodyPr wrap="square" lIns="0" tIns="0" rIns="0" bIns="0" rtlCol="0" anchor="t"/>
          <a:lstStyle/>
          <a:p>
            <a:pPr indent="0" marL="0">
              <a:buNone/>
            </a:pPr>
            <a:r>
              <a:rPr lang="en-US" sz="1050" dirty="0">
                <a:solidFill>
                  <a:srgbClr val="1F2124"/>
                </a:solidFill>
                <a:latin typeface="Inter" pitchFamily="34" charset="0"/>
                <a:ea typeface="Inter" pitchFamily="34" charset="-122"/>
                <a:cs typeface="Inter" pitchFamily="34" charset="-120"/>
              </a:rPr>
              <a:t>€148.975m en efectivo</a:t>
            </a:r>
            <a:endParaRPr lang="en-US" sz="1050" dirty="0"/>
          </a:p>
        </p:txBody>
      </p:sp>
      <p:sp>
        <p:nvSpPr>
          <p:cNvPr id="28" name="Shape 25"/>
          <p:cNvSpPr/>
          <p:nvPr/>
        </p:nvSpPr>
        <p:spPr>
          <a:xfrm>
            <a:off x="2880360" y="2011680"/>
            <a:ext cx="365760" cy="0"/>
          </a:xfrm>
          <a:prstGeom prst="line">
            <a:avLst/>
          </a:prstGeom>
          <a:noFill/>
          <a:ln w="15875">
            <a:solidFill>
              <a:srgbClr val="6E7378"/>
            </a:solidFill>
            <a:prstDash val="solid"/>
            <a:tailEnd type="triangle"/>
          </a:ln>
        </p:spPr>
      </p:sp>
      <p:sp>
        <p:nvSpPr>
          <p:cNvPr id="29" name="Shape 26"/>
          <p:cNvSpPr/>
          <p:nvPr/>
        </p:nvSpPr>
        <p:spPr>
          <a:xfrm>
            <a:off x="2880360" y="4206240"/>
            <a:ext cx="365760" cy="0"/>
          </a:xfrm>
          <a:prstGeom prst="line">
            <a:avLst/>
          </a:prstGeom>
          <a:noFill/>
          <a:ln w="15875">
            <a:solidFill>
              <a:srgbClr val="6E7378"/>
            </a:solidFill>
            <a:prstDash val="solid"/>
            <a:headEnd type="triangle"/>
          </a:ln>
        </p:spPr>
      </p:sp>
      <p:sp>
        <p:nvSpPr>
          <p:cNvPr id="30" name="Shape 27"/>
          <p:cNvSpPr/>
          <p:nvPr/>
        </p:nvSpPr>
        <p:spPr>
          <a:xfrm>
            <a:off x="5806440" y="1508760"/>
            <a:ext cx="2514600" cy="1005840"/>
          </a:xfrm>
          <a:prstGeom prst="rect">
            <a:avLst>
              <a:gd name="adj" fmla="val 5455"/>
            </a:avLst>
          </a:prstGeom>
          <a:solidFill>
            <a:srgbClr val="F3F3F2"/>
          </a:solidFill>
          <a:ln/>
        </p:spPr>
      </p:sp>
      <p:sp>
        <p:nvSpPr>
          <p:cNvPr id="31" name="Text 28"/>
          <p:cNvSpPr txBox="1"/>
          <p:nvPr/>
        </p:nvSpPr>
        <p:spPr>
          <a:xfrm>
            <a:off x="5943600" y="1581912"/>
            <a:ext cx="2240280" cy="274320"/>
          </a:xfrm>
          <a:prstGeom prst="rect">
            <a:avLst/>
          </a:prstGeom>
          <a:noFill/>
          <a:ln/>
        </p:spPr>
        <p:txBody>
          <a:bodyPr wrap="square" lIns="0" tIns="0" rIns="0" bIns="0" rtlCol="0" anchor="t"/>
          <a:lstStyle/>
          <a:p>
            <a:pPr indent="0" marL="0">
              <a:buNone/>
            </a:pPr>
            <a:r>
              <a:rPr lang="en-US" sz="1250" b="1" dirty="0">
                <a:solidFill>
                  <a:srgbClr val="1A1D21"/>
                </a:solidFill>
                <a:latin typeface="Inter" pitchFamily="34" charset="0"/>
                <a:ea typeface="Inter" pitchFamily="34" charset="-122"/>
                <a:cs typeface="Inter" pitchFamily="34" charset="-120"/>
              </a:rPr>
              <a:t>Vendor loan · Sandra Ortega</a:t>
            </a:r>
            <a:endParaRPr lang="en-US" sz="1250" dirty="0"/>
          </a:p>
        </p:txBody>
      </p:sp>
      <p:sp>
        <p:nvSpPr>
          <p:cNvPr id="32" name="Text 29"/>
          <p:cNvSpPr txBox="1"/>
          <p:nvPr/>
        </p:nvSpPr>
        <p:spPr>
          <a:xfrm>
            <a:off x="5943600" y="1874520"/>
            <a:ext cx="2240280" cy="594360"/>
          </a:xfrm>
          <a:prstGeom prst="rect">
            <a:avLst/>
          </a:prstGeom>
          <a:noFill/>
          <a:ln/>
        </p:spPr>
        <p:txBody>
          <a:bodyPr wrap="square" lIns="0" tIns="0" rIns="0" bIns="0" rtlCol="0" anchor="t"/>
          <a:lstStyle/>
          <a:p>
            <a:pPr indent="0" marL="0">
              <a:buNone/>
            </a:pPr>
            <a:r>
              <a:rPr lang="en-US" sz="1050" dirty="0">
                <a:solidFill>
                  <a:srgbClr val="1F2124"/>
                </a:solidFill>
                <a:latin typeface="Inter" pitchFamily="34" charset="0"/>
                <a:ea typeface="Inter" pitchFamily="34" charset="-122"/>
                <a:cs typeface="Inter" pitchFamily="34" charset="-120"/>
              </a:rPr>
              <a:t>€10.925m al 5%. Sale del capital: sin acciones ni votos.</a:t>
            </a:r>
            <a:endParaRPr lang="en-US" sz="1050" dirty="0"/>
          </a:p>
        </p:txBody>
      </p:sp>
      <p:sp>
        <p:nvSpPr>
          <p:cNvPr id="33" name="Shape 30"/>
          <p:cNvSpPr/>
          <p:nvPr/>
        </p:nvSpPr>
        <p:spPr>
          <a:xfrm>
            <a:off x="5806440" y="2606040"/>
            <a:ext cx="2514600" cy="1005840"/>
          </a:xfrm>
          <a:prstGeom prst="rect">
            <a:avLst>
              <a:gd name="adj" fmla="val 5455"/>
            </a:avLst>
          </a:prstGeom>
          <a:solidFill>
            <a:srgbClr val="F3F3F2"/>
          </a:solidFill>
          <a:ln/>
        </p:spPr>
      </p:sp>
      <p:sp>
        <p:nvSpPr>
          <p:cNvPr id="34" name="Text 31"/>
          <p:cNvSpPr txBox="1"/>
          <p:nvPr/>
        </p:nvSpPr>
        <p:spPr>
          <a:xfrm>
            <a:off x="5943600" y="2679192"/>
            <a:ext cx="2240280" cy="274320"/>
          </a:xfrm>
          <a:prstGeom prst="rect">
            <a:avLst/>
          </a:prstGeom>
          <a:noFill/>
          <a:ln/>
        </p:spPr>
        <p:txBody>
          <a:bodyPr wrap="square" lIns="0" tIns="0" rIns="0" bIns="0" rtlCol="0" anchor="t"/>
          <a:lstStyle/>
          <a:p>
            <a:pPr indent="0" marL="0">
              <a:buNone/>
            </a:pPr>
            <a:r>
              <a:rPr lang="en-US" sz="1250" b="1" dirty="0">
                <a:solidFill>
                  <a:srgbClr val="1A1D21"/>
                </a:solidFill>
                <a:latin typeface="Inter" pitchFamily="34" charset="0"/>
                <a:ea typeface="Inter" pitchFamily="34" charset="-122"/>
                <a:cs typeface="Inter" pitchFamily="34" charset="-120"/>
              </a:rPr>
              <a:t>Mezzanine</a:t>
            </a:r>
            <a:endParaRPr lang="en-US" sz="1250" dirty="0"/>
          </a:p>
        </p:txBody>
      </p:sp>
      <p:sp>
        <p:nvSpPr>
          <p:cNvPr id="35" name="Text 32"/>
          <p:cNvSpPr txBox="1"/>
          <p:nvPr/>
        </p:nvSpPr>
        <p:spPr>
          <a:xfrm>
            <a:off x="5943600" y="2971800"/>
            <a:ext cx="2240280" cy="594360"/>
          </a:xfrm>
          <a:prstGeom prst="rect">
            <a:avLst/>
          </a:prstGeom>
          <a:noFill/>
          <a:ln/>
        </p:spPr>
        <p:txBody>
          <a:bodyPr wrap="square" lIns="0" tIns="0" rIns="0" bIns="0" rtlCol="0" anchor="t"/>
          <a:lstStyle/>
          <a:p>
            <a:pPr indent="0" marL="0">
              <a:buNone/>
            </a:pPr>
            <a:r>
              <a:rPr lang="en-US" sz="1050" dirty="0">
                <a:solidFill>
                  <a:srgbClr val="1F2124"/>
                </a:solidFill>
                <a:latin typeface="Inter" pitchFamily="34" charset="0"/>
                <a:ea typeface="Inter" pitchFamily="34" charset="-122"/>
                <a:cs typeface="Inter" pitchFamily="34" charset="-120"/>
              </a:rPr>
              <a:t>€14.150m · 10,5% PIK · club de 9 fondos</a:t>
            </a:r>
            <a:endParaRPr lang="en-US" sz="1050" dirty="0"/>
          </a:p>
        </p:txBody>
      </p:sp>
      <p:sp>
        <p:nvSpPr>
          <p:cNvPr id="36" name="Shape 33"/>
          <p:cNvSpPr/>
          <p:nvPr/>
        </p:nvSpPr>
        <p:spPr>
          <a:xfrm>
            <a:off x="5806440" y="3703320"/>
            <a:ext cx="2514600" cy="1005840"/>
          </a:xfrm>
          <a:prstGeom prst="rect">
            <a:avLst>
              <a:gd name="adj" fmla="val 5455"/>
            </a:avLst>
          </a:prstGeom>
          <a:solidFill>
            <a:srgbClr val="EDEDEB"/>
          </a:solidFill>
          <a:ln/>
        </p:spPr>
      </p:sp>
      <p:sp>
        <p:nvSpPr>
          <p:cNvPr id="37" name="Text 34"/>
          <p:cNvSpPr txBox="1"/>
          <p:nvPr/>
        </p:nvSpPr>
        <p:spPr>
          <a:xfrm>
            <a:off x="5943600" y="3776472"/>
            <a:ext cx="2240280" cy="274320"/>
          </a:xfrm>
          <a:prstGeom prst="rect">
            <a:avLst/>
          </a:prstGeom>
          <a:noFill/>
          <a:ln/>
        </p:spPr>
        <p:txBody>
          <a:bodyPr wrap="square" lIns="0" tIns="0" rIns="0" bIns="0" rtlCol="0" anchor="t"/>
          <a:lstStyle/>
          <a:p>
            <a:pPr indent="0" marL="0">
              <a:buNone/>
            </a:pPr>
            <a:r>
              <a:rPr lang="en-US" sz="1250" b="1" dirty="0">
                <a:solidFill>
                  <a:srgbClr val="1A1D21"/>
                </a:solidFill>
                <a:latin typeface="Inter" pitchFamily="34" charset="0"/>
                <a:ea typeface="Inter" pitchFamily="34" charset="-122"/>
                <a:cs typeface="Inter" pitchFamily="34" charset="-120"/>
              </a:rPr>
              <a:t>Deuda senior · 5,5x</a:t>
            </a:r>
            <a:endParaRPr lang="en-US" sz="1250" dirty="0"/>
          </a:p>
        </p:txBody>
      </p:sp>
      <p:sp>
        <p:nvSpPr>
          <p:cNvPr id="38" name="Text 35"/>
          <p:cNvSpPr txBox="1"/>
          <p:nvPr/>
        </p:nvSpPr>
        <p:spPr>
          <a:xfrm>
            <a:off x="5943600" y="4069080"/>
            <a:ext cx="2240280" cy="594360"/>
          </a:xfrm>
          <a:prstGeom prst="rect">
            <a:avLst/>
          </a:prstGeom>
          <a:noFill/>
          <a:ln/>
        </p:spPr>
        <p:txBody>
          <a:bodyPr wrap="square" lIns="0" tIns="0" rIns="0" bIns="0" rtlCol="0" anchor="t"/>
          <a:lstStyle/>
          <a:p>
            <a:pPr indent="0" marL="0">
              <a:buNone/>
            </a:pPr>
            <a:r>
              <a:rPr lang="en-US" sz="1050" dirty="0">
                <a:solidFill>
                  <a:srgbClr val="1F2124"/>
                </a:solidFill>
                <a:latin typeface="Inter" pitchFamily="34" charset="0"/>
                <a:ea typeface="Inter" pitchFamily="34" charset="-122"/>
                <a:cs typeface="Inter" pitchFamily="34" charset="-120"/>
              </a:rPr>
              <a:t>TLA €18.866m · TLB €33.016m · RCF €1.000m</a:t>
            </a:r>
            <a:endParaRPr lang="en-US" sz="1050" dirty="0"/>
          </a:p>
        </p:txBody>
      </p:sp>
      <p:sp>
        <p:nvSpPr>
          <p:cNvPr id="39" name="Shape 36"/>
          <p:cNvSpPr/>
          <p:nvPr/>
        </p:nvSpPr>
        <p:spPr>
          <a:xfrm>
            <a:off x="5440680" y="2011680"/>
            <a:ext cx="365760" cy="0"/>
          </a:xfrm>
          <a:prstGeom prst="line">
            <a:avLst/>
          </a:prstGeom>
          <a:noFill/>
          <a:ln w="15875">
            <a:solidFill>
              <a:srgbClr val="6E7378"/>
            </a:solidFill>
            <a:prstDash val="solid"/>
            <a:headEnd type="triangle"/>
          </a:ln>
        </p:spPr>
      </p:sp>
      <p:sp>
        <p:nvSpPr>
          <p:cNvPr id="40" name="Shape 37"/>
          <p:cNvSpPr/>
          <p:nvPr/>
        </p:nvSpPr>
        <p:spPr>
          <a:xfrm>
            <a:off x="5440680" y="3108960"/>
            <a:ext cx="365760" cy="0"/>
          </a:xfrm>
          <a:prstGeom prst="line">
            <a:avLst/>
          </a:prstGeom>
          <a:noFill/>
          <a:ln w="15875">
            <a:solidFill>
              <a:srgbClr val="6E7378"/>
            </a:solidFill>
            <a:prstDash val="solid"/>
            <a:headEnd type="triangle"/>
          </a:ln>
        </p:spPr>
      </p:sp>
      <p:sp>
        <p:nvSpPr>
          <p:cNvPr id="41" name="Shape 38"/>
          <p:cNvSpPr/>
          <p:nvPr/>
        </p:nvSpPr>
        <p:spPr>
          <a:xfrm>
            <a:off x="5440680" y="4206240"/>
            <a:ext cx="365760" cy="0"/>
          </a:xfrm>
          <a:prstGeom prst="line">
            <a:avLst/>
          </a:prstGeom>
          <a:noFill/>
          <a:ln w="15875">
            <a:solidFill>
              <a:srgbClr val="6E7378"/>
            </a:solidFill>
            <a:prstDash val="solid"/>
            <a:headEnd type="triangle"/>
          </a:ln>
        </p:spPr>
      </p:sp>
      <p:sp>
        <p:nvSpPr>
          <p:cNvPr id="42" name="Text 39"/>
          <p:cNvSpPr txBox="1"/>
          <p:nvPr/>
        </p:nvSpPr>
        <p:spPr>
          <a:xfrm>
            <a:off x="5806440" y="4846320"/>
            <a:ext cx="2514600" cy="502920"/>
          </a:xfrm>
          <a:prstGeom prst="rect">
            <a:avLst/>
          </a:prstGeom>
          <a:noFill/>
          <a:ln/>
        </p:spPr>
        <p:txBody>
          <a:bodyPr wrap="square" lIns="0" tIns="0" rIns="0" bIns="0" rtlCol="0" anchor="t"/>
          <a:lstStyle/>
          <a:p>
            <a:pPr indent="0" marL="0">
              <a:buNone/>
            </a:pPr>
            <a:r>
              <a:rPr lang="en-US" sz="1050" b="1" dirty="0">
                <a:solidFill>
                  <a:srgbClr val="1F4B3F"/>
                </a:solidFill>
                <a:latin typeface="Inter" pitchFamily="34" charset="0"/>
                <a:ea typeface="Inter" pitchFamily="34" charset="-122"/>
                <a:cs typeface="Inter" pitchFamily="34" charset="-120"/>
              </a:rPr>
              <a:t>↑ Más arriesgada y cara cuanto más lejos de la caja de Inditex</a:t>
            </a:r>
            <a:endParaRPr lang="en-US" sz="1050" dirty="0"/>
          </a:p>
        </p:txBody>
      </p:sp>
      <p:sp>
        <p:nvSpPr>
          <p:cNvPr id="43" name="Shape 40"/>
          <p:cNvSpPr/>
          <p:nvPr/>
        </p:nvSpPr>
        <p:spPr>
          <a:xfrm>
            <a:off x="8595360" y="1508760"/>
            <a:ext cx="3044952" cy="4617720"/>
          </a:xfrm>
          <a:prstGeom prst="rect">
            <a:avLst>
              <a:gd name="adj" fmla="val 1802"/>
            </a:avLst>
          </a:prstGeom>
          <a:solidFill>
            <a:srgbClr val="1A1D21"/>
          </a:solidFill>
          <a:ln/>
        </p:spPr>
      </p:sp>
      <p:sp>
        <p:nvSpPr>
          <p:cNvPr id="44" name="Text 41"/>
          <p:cNvSpPr txBox="1"/>
          <p:nvPr/>
        </p:nvSpPr>
        <p:spPr>
          <a:xfrm>
            <a:off x="8796528" y="1645920"/>
            <a:ext cx="2697480" cy="292608"/>
          </a:xfrm>
          <a:prstGeom prst="rect">
            <a:avLst/>
          </a:prstGeom>
          <a:noFill/>
          <a:ln/>
        </p:spPr>
        <p:txBody>
          <a:bodyPr wrap="square" lIns="0" tIns="0" rIns="0" bIns="0" rtlCol="0" anchor="t"/>
          <a:lstStyle/>
          <a:p>
            <a:pPr indent="0" marL="0">
              <a:buNone/>
            </a:pPr>
            <a:r>
              <a:rPr lang="en-US" sz="1500" b="1" dirty="0">
                <a:solidFill>
                  <a:srgbClr val="A8C9B8"/>
                </a:solidFill>
                <a:latin typeface="Inter" pitchFamily="34" charset="0"/>
                <a:ea typeface="Inter" pitchFamily="34" charset="-122"/>
                <a:cs typeface="Inter" pitchFamily="34" charset="-120"/>
              </a:rPr>
              <a:t>Debt push-down</a:t>
            </a:r>
            <a:endParaRPr lang="en-US" sz="1500" dirty="0"/>
          </a:p>
        </p:txBody>
      </p:sp>
      <p:sp>
        <p:nvSpPr>
          <p:cNvPr id="45" name="Shape 42"/>
          <p:cNvSpPr/>
          <p:nvPr/>
        </p:nvSpPr>
        <p:spPr>
          <a:xfrm>
            <a:off x="8796528" y="2084832"/>
            <a:ext cx="310896" cy="310896"/>
          </a:xfrm>
          <a:prstGeom prst="rect">
            <a:avLst/>
          </a:prstGeom>
          <a:solidFill>
            <a:srgbClr val="1F4B3F"/>
          </a:solidFill>
          <a:ln/>
        </p:spPr>
      </p:sp>
      <p:sp>
        <p:nvSpPr>
          <p:cNvPr id="46" name="Text 43"/>
          <p:cNvSpPr txBox="1"/>
          <p:nvPr/>
        </p:nvSpPr>
        <p:spPr>
          <a:xfrm>
            <a:off x="8796528" y="2093976"/>
            <a:ext cx="310896"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1</a:t>
            </a:r>
            <a:endParaRPr lang="en-US" sz="1200" dirty="0"/>
          </a:p>
        </p:txBody>
      </p:sp>
      <p:sp>
        <p:nvSpPr>
          <p:cNvPr id="47" name="Text 44"/>
          <p:cNvSpPr txBox="1"/>
          <p:nvPr/>
        </p:nvSpPr>
        <p:spPr>
          <a:xfrm>
            <a:off x="9217152" y="2093976"/>
            <a:ext cx="2331720" cy="292608"/>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Fusión BidCo–Inditex</a:t>
            </a:r>
            <a:endParaRPr lang="en-US" sz="1250" dirty="0"/>
          </a:p>
        </p:txBody>
      </p:sp>
      <p:sp>
        <p:nvSpPr>
          <p:cNvPr id="48" name="Text 45"/>
          <p:cNvSpPr txBox="1"/>
          <p:nvPr/>
        </p:nvSpPr>
        <p:spPr>
          <a:xfrm>
            <a:off x="8796528" y="2468880"/>
            <a:ext cx="2697480" cy="566928"/>
          </a:xfrm>
          <a:prstGeom prst="rect">
            <a:avLst/>
          </a:prstGeom>
          <a:noFill/>
          <a:ln/>
        </p:spPr>
        <p:txBody>
          <a:bodyPr wrap="square" lIns="0" tIns="0" rIns="0" bIns="0" rtlCol="0" anchor="t"/>
          <a:lstStyle/>
          <a:p>
            <a:pPr indent="0" marL="0">
              <a:buNone/>
            </a:pPr>
            <a:r>
              <a:rPr lang="en-US" sz="1050" dirty="0">
                <a:solidFill>
                  <a:srgbClr val="D9D9D6"/>
                </a:solidFill>
                <a:latin typeface="Inter" pitchFamily="34" charset="0"/>
                <a:ea typeface="Inter" pitchFamily="34" charset="-122"/>
                <a:cs typeface="Inter" pitchFamily="34" charset="-120"/>
              </a:rPr>
              <a:t>La deuda senior pasa a la sociedad que genera la caja para pagarla.</a:t>
            </a:r>
            <a:endParaRPr lang="en-US" sz="1050" dirty="0"/>
          </a:p>
        </p:txBody>
      </p:sp>
      <p:sp>
        <p:nvSpPr>
          <p:cNvPr id="49" name="Shape 46"/>
          <p:cNvSpPr/>
          <p:nvPr/>
        </p:nvSpPr>
        <p:spPr>
          <a:xfrm>
            <a:off x="8796528" y="3090672"/>
            <a:ext cx="310896" cy="310896"/>
          </a:xfrm>
          <a:prstGeom prst="rect">
            <a:avLst/>
          </a:prstGeom>
          <a:solidFill>
            <a:srgbClr val="1F4B3F"/>
          </a:solidFill>
          <a:ln/>
        </p:spPr>
      </p:sp>
      <p:sp>
        <p:nvSpPr>
          <p:cNvPr id="50" name="Text 47"/>
          <p:cNvSpPr txBox="1"/>
          <p:nvPr/>
        </p:nvSpPr>
        <p:spPr>
          <a:xfrm>
            <a:off x="8796528" y="3099816"/>
            <a:ext cx="310896"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2</a:t>
            </a:r>
            <a:endParaRPr lang="en-US" sz="1200" dirty="0"/>
          </a:p>
        </p:txBody>
      </p:sp>
      <p:sp>
        <p:nvSpPr>
          <p:cNvPr id="51" name="Text 48"/>
          <p:cNvSpPr txBox="1"/>
          <p:nvPr/>
        </p:nvSpPr>
        <p:spPr>
          <a:xfrm>
            <a:off x="9217152" y="3099816"/>
            <a:ext cx="2331720" cy="292608"/>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Fusión apalancada</a:t>
            </a:r>
            <a:endParaRPr lang="en-US" sz="1250" dirty="0"/>
          </a:p>
        </p:txBody>
      </p:sp>
      <p:sp>
        <p:nvSpPr>
          <p:cNvPr id="52" name="Text 49"/>
          <p:cNvSpPr txBox="1"/>
          <p:nvPr/>
        </p:nvSpPr>
        <p:spPr>
          <a:xfrm>
            <a:off x="8796528" y="3474720"/>
            <a:ext cx="2697480" cy="566928"/>
          </a:xfrm>
          <a:prstGeom prst="rect">
            <a:avLst/>
          </a:prstGeom>
          <a:noFill/>
          <a:ln/>
        </p:spPr>
        <p:txBody>
          <a:bodyPr wrap="square" lIns="0" tIns="0" rIns="0" bIns="0" rtlCol="0" anchor="t"/>
          <a:lstStyle/>
          <a:p>
            <a:pPr indent="0" marL="0">
              <a:buNone/>
            </a:pPr>
            <a:r>
              <a:rPr lang="en-US" sz="1050" dirty="0">
                <a:solidFill>
                  <a:srgbClr val="D9D9D6"/>
                </a:solidFill>
                <a:latin typeface="Inter" pitchFamily="34" charset="0"/>
                <a:ea typeface="Inter" pitchFamily="34" charset="-122"/>
                <a:cs typeface="Inter" pitchFamily="34" charset="-120"/>
              </a:rPr>
              <a:t>La ley exige un plan de repago de la deuda, un informe de los administradores y un informe de experto independiente.</a:t>
            </a:r>
            <a:endParaRPr lang="en-US" sz="1050" dirty="0"/>
          </a:p>
        </p:txBody>
      </p:sp>
      <p:sp>
        <p:nvSpPr>
          <p:cNvPr id="53" name="Shape 50"/>
          <p:cNvSpPr/>
          <p:nvPr/>
        </p:nvSpPr>
        <p:spPr>
          <a:xfrm>
            <a:off x="8796528" y="4096512"/>
            <a:ext cx="310896" cy="310896"/>
          </a:xfrm>
          <a:prstGeom prst="rect">
            <a:avLst/>
          </a:prstGeom>
          <a:solidFill>
            <a:srgbClr val="1F4B3F"/>
          </a:solidFill>
          <a:ln/>
        </p:spPr>
      </p:sp>
      <p:sp>
        <p:nvSpPr>
          <p:cNvPr id="54" name="Text 51"/>
          <p:cNvSpPr txBox="1"/>
          <p:nvPr/>
        </p:nvSpPr>
        <p:spPr>
          <a:xfrm>
            <a:off x="8796528" y="4105656"/>
            <a:ext cx="310896"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3</a:t>
            </a:r>
            <a:endParaRPr lang="en-US" sz="1200" dirty="0"/>
          </a:p>
        </p:txBody>
      </p:sp>
      <p:sp>
        <p:nvSpPr>
          <p:cNvPr id="55" name="Text 52"/>
          <p:cNvSpPr txBox="1"/>
          <p:nvPr/>
        </p:nvSpPr>
        <p:spPr>
          <a:xfrm>
            <a:off x="9217152" y="4105656"/>
            <a:ext cx="2331720" cy="292608"/>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Efecto fiscal</a:t>
            </a:r>
            <a:endParaRPr lang="en-US" sz="1250" dirty="0"/>
          </a:p>
        </p:txBody>
      </p:sp>
      <p:sp>
        <p:nvSpPr>
          <p:cNvPr id="56" name="Text 53"/>
          <p:cNvSpPr txBox="1"/>
          <p:nvPr/>
        </p:nvSpPr>
        <p:spPr>
          <a:xfrm>
            <a:off x="8796528" y="4480560"/>
            <a:ext cx="2697480" cy="566928"/>
          </a:xfrm>
          <a:prstGeom prst="rect">
            <a:avLst/>
          </a:prstGeom>
          <a:noFill/>
          <a:ln/>
        </p:spPr>
        <p:txBody>
          <a:bodyPr wrap="square" lIns="0" tIns="0" rIns="0" bIns="0" rtlCol="0" anchor="t"/>
          <a:lstStyle/>
          <a:p>
            <a:pPr indent="0" marL="0">
              <a:buNone/>
            </a:pPr>
            <a:r>
              <a:rPr lang="en-US" sz="1050" dirty="0">
                <a:solidFill>
                  <a:srgbClr val="D9D9D6"/>
                </a:solidFill>
                <a:latin typeface="Inter" pitchFamily="34" charset="0"/>
                <a:ea typeface="Inter" pitchFamily="34" charset="-122"/>
                <a:cs typeface="Inter" pitchFamily="34" charset="-120"/>
              </a:rPr>
              <a:t>En el grupo fiscal los intereses se deducen contra los beneficios de Inditex, hasta el 30% del EBITDA.</a:t>
            </a:r>
            <a:endParaRPr lang="en-US" sz="1050" dirty="0"/>
          </a:p>
        </p:txBody>
      </p:sp>
      <p:sp>
        <p:nvSpPr>
          <p:cNvPr id="57" name="Shape 54"/>
          <p:cNvSpPr/>
          <p:nvPr/>
        </p:nvSpPr>
        <p:spPr>
          <a:xfrm>
            <a:off x="8796528" y="5102352"/>
            <a:ext cx="310896" cy="310896"/>
          </a:xfrm>
          <a:prstGeom prst="rect">
            <a:avLst/>
          </a:prstGeom>
          <a:solidFill>
            <a:srgbClr val="1F4B3F"/>
          </a:solidFill>
          <a:ln/>
        </p:spPr>
      </p:sp>
      <p:sp>
        <p:nvSpPr>
          <p:cNvPr id="58" name="Text 55"/>
          <p:cNvSpPr txBox="1"/>
          <p:nvPr/>
        </p:nvSpPr>
        <p:spPr>
          <a:xfrm>
            <a:off x="8796528" y="5111496"/>
            <a:ext cx="310896"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4</a:t>
            </a:r>
            <a:endParaRPr lang="en-US" sz="1200" dirty="0"/>
          </a:p>
        </p:txBody>
      </p:sp>
      <p:sp>
        <p:nvSpPr>
          <p:cNvPr id="59" name="Text 56"/>
          <p:cNvSpPr txBox="1"/>
          <p:nvPr/>
        </p:nvSpPr>
        <p:spPr>
          <a:xfrm>
            <a:off x="9217152" y="5111496"/>
            <a:ext cx="2331720" cy="292608"/>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Deuda de adquisición</a:t>
            </a:r>
            <a:endParaRPr lang="en-US" sz="1250" dirty="0"/>
          </a:p>
        </p:txBody>
      </p:sp>
      <p:sp>
        <p:nvSpPr>
          <p:cNvPr id="60" name="Text 57"/>
          <p:cNvSpPr txBox="1"/>
          <p:nvPr/>
        </p:nvSpPr>
        <p:spPr>
          <a:xfrm>
            <a:off x="8796528" y="5486400"/>
            <a:ext cx="2697480" cy="566928"/>
          </a:xfrm>
          <a:prstGeom prst="rect">
            <a:avLst/>
          </a:prstGeom>
          <a:noFill/>
          <a:ln/>
        </p:spPr>
        <p:txBody>
          <a:bodyPr wrap="square" lIns="0" tIns="0" rIns="0" bIns="0" rtlCol="0" anchor="t"/>
          <a:lstStyle/>
          <a:p>
            <a:pPr indent="0" marL="0">
              <a:buNone/>
            </a:pPr>
            <a:r>
              <a:rPr lang="en-US" sz="1050" dirty="0">
                <a:solidFill>
                  <a:srgbClr val="D9D9D6"/>
                </a:solidFill>
                <a:latin typeface="Inter" pitchFamily="34" charset="0"/>
                <a:ea typeface="Inter" pitchFamily="34" charset="-122"/>
                <a:cs typeface="Inter" pitchFamily="34" charset="-120"/>
              </a:rPr>
              <a:t>38,7% del precio, por debajo del límite del 70% para deducir sus intereses.</a:t>
            </a:r>
            <a:endParaRPr lang="en-US" sz="1050" dirty="0"/>
          </a:p>
        </p:txBody>
      </p:sp>
      <p:sp>
        <p:nvSpPr>
          <p:cNvPr id="61" name="Text 58"/>
          <p:cNvSpPr txBox="1"/>
          <p:nvPr/>
        </p:nvSpPr>
        <p:spPr>
          <a:xfrm>
            <a:off x="548640" y="6327648"/>
            <a:ext cx="7863840" cy="228600"/>
          </a:xfrm>
          <a:prstGeom prst="rect">
            <a:avLst/>
          </a:prstGeom>
          <a:noFill/>
          <a:ln/>
        </p:spPr>
        <p:txBody>
          <a:bodyPr wrap="square" lIns="0" tIns="0" rIns="0" bIns="0" rtlCol="0" anchor="t"/>
          <a:lstStyle/>
          <a:p>
            <a:pPr indent="0" marL="0">
              <a:buNone/>
            </a:pPr>
            <a:r>
              <a:rPr lang="en-US" sz="900" dirty="0">
                <a:solidFill>
                  <a:srgbClr val="6E7378"/>
                </a:solidFill>
                <a:latin typeface="Inter" pitchFamily="34" charset="0"/>
                <a:ea typeface="Inter" pitchFamily="34" charset="-122"/>
                <a:cs typeface="Inter" pitchFamily="34" charset="-120"/>
              </a:rPr>
              <a:t>Fuente: art. 42 RDL 5/2023 (fusión apalancada); arts. 16.1, 16.5 y 58 Ley 27/2014 (LIS); art. 150 Ley de Sociedades de Capital.</a:t>
            </a:r>
            <a:endParaRPr lang="en-US" sz="900" dirty="0"/>
          </a:p>
        </p:txBody>
      </p:sp>
      <p:sp>
        <p:nvSpPr>
          <p:cNvPr id="62" name="Text 59"/>
          <p:cNvSpPr txBox="1"/>
          <p:nvPr/>
        </p:nvSpPr>
        <p:spPr>
          <a:xfrm>
            <a:off x="8595360" y="6327648"/>
            <a:ext cx="3044952" cy="228600"/>
          </a:xfrm>
          <a:prstGeom prst="rect">
            <a:avLst/>
          </a:prstGeom>
          <a:noFill/>
          <a:ln/>
        </p:spPr>
        <p:txBody>
          <a:bodyPr wrap="square" lIns="0" tIns="0" rIns="0" bIns="0" rtlCol="0" anchor="t"/>
          <a:lstStyle/>
          <a:p>
            <a:pPr algn="r" indent="0" marL="0">
              <a:buNone/>
            </a:pPr>
            <a:r>
              <a:rPr lang="en-US" sz="900" dirty="0">
                <a:solidFill>
                  <a:srgbClr val="6E7378"/>
                </a:solidFill>
                <a:latin typeface="Inter" pitchFamily="34" charset="0"/>
                <a:ea typeface="Inter" pitchFamily="34" charset="-122"/>
                <a:cs typeface="Inter" pitchFamily="34" charset="-120"/>
              </a:rPr>
              <a:t>Project Galicia  ·  Estrictamente confidencial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79476"/>
            <a:ext cx="7772400" cy="228600"/>
          </a:xfrm>
          <a:prstGeom prst="rect">
            <a:avLst/>
          </a:prstGeom>
          <a:noFill/>
          <a:ln/>
        </p:spPr>
        <p:txBody>
          <a:bodyPr wrap="square" lIns="0" tIns="0" rIns="0" bIns="0" rtlCol="0" anchor="ctr"/>
          <a:lstStyle/>
          <a:p>
            <a:pPr indent="0" marL="0">
              <a:buNone/>
            </a:pPr>
            <a:r>
              <a:rPr lang="en-US" sz="1100" b="1" spc="200" kern="0" dirty="0">
                <a:solidFill>
                  <a:srgbClr val="1F4B3F"/>
                </a:solidFill>
                <a:latin typeface="Inter" pitchFamily="34" charset="0"/>
                <a:ea typeface="Inter" pitchFamily="34" charset="-122"/>
                <a:cs typeface="Inter" pitchFamily="34" charset="-120"/>
              </a:rPr>
              <a:t>02  ESTRUCTURA DE LA COMPRA</a:t>
            </a:r>
            <a:endParaRPr lang="en-US" sz="1100" dirty="0"/>
          </a:p>
        </p:txBody>
      </p:sp>
      <p:pic>
        <p:nvPicPr>
          <p:cNvPr id="3" name="Image 0" descr="/tmp/claude-0/-home-claude/8d7de6a3-f167-5c95-8bc2-67944307bfd8/scratchpad/canva/img/HLP_monograma.png">    </p:cNvPr>
          <p:cNvPicPr>
            <a:picLocks noChangeAspect="1"/>
          </p:cNvPicPr>
          <p:nvPr/>
        </p:nvPicPr>
        <p:blipFill>
          <a:blip r:embed="rId1"/>
          <a:stretch>
            <a:fillRect/>
          </a:stretch>
        </p:blipFill>
        <p:spPr>
          <a:xfrm>
            <a:off x="11130991" y="237744"/>
            <a:ext cx="512064" cy="512064"/>
          </a:xfrm>
          <a:prstGeom prst="rect">
            <a:avLst/>
          </a:prstGeom>
        </p:spPr>
      </p:pic>
      <p:sp>
        <p:nvSpPr>
          <p:cNvPr id="4" name="Text 1"/>
          <p:cNvSpPr txBox="1"/>
          <p:nvPr/>
        </p:nvSpPr>
        <p:spPr>
          <a:xfrm>
            <a:off x="548640" y="786384"/>
            <a:ext cx="11091672" cy="658368"/>
          </a:xfrm>
          <a:prstGeom prst="rect">
            <a:avLst/>
          </a:prstGeom>
          <a:noFill/>
          <a:ln/>
        </p:spPr>
        <p:txBody>
          <a:bodyPr wrap="square" lIns="0" tIns="0" rIns="0" bIns="0" rtlCol="0" anchor="t"/>
          <a:lstStyle/>
          <a:p>
            <a:pPr indent="0" marL="0">
              <a:lnSpc>
                <a:spcPct val="92000"/>
              </a:lnSpc>
              <a:buNone/>
            </a:pPr>
            <a:r>
              <a:rPr lang="en-US" sz="2200" dirty="0">
                <a:solidFill>
                  <a:srgbClr val="1A1D21"/>
                </a:solidFill>
                <a:latin typeface="Lora" pitchFamily="34" charset="0"/>
                <a:ea typeface="Lora" pitchFamily="34" charset="-122"/>
                <a:cs typeface="Lora" pitchFamily="34" charset="-120"/>
              </a:rPr>
              <a:t>TopCo en detalle: el consorcio controla el 56,6% y Amancio el 43,4%</a:t>
            </a:r>
            <a:endParaRPr lang="en-US" sz="2200" dirty="0"/>
          </a:p>
        </p:txBody>
      </p:sp>
      <p:sp>
        <p:nvSpPr>
          <p:cNvPr id="5" name="Shape 2"/>
          <p:cNvSpPr/>
          <p:nvPr/>
        </p:nvSpPr>
        <p:spPr>
          <a:xfrm>
            <a:off x="548640" y="1600200"/>
            <a:ext cx="2194560" cy="868680"/>
          </a:xfrm>
          <a:prstGeom prst="rect">
            <a:avLst>
              <a:gd name="adj" fmla="val 6316"/>
            </a:avLst>
          </a:prstGeom>
          <a:solidFill>
            <a:srgbClr val="F3F3F2"/>
          </a:solidFill>
          <a:ln/>
        </p:spPr>
      </p:sp>
      <p:sp>
        <p:nvSpPr>
          <p:cNvPr id="6" name="Text 3"/>
          <p:cNvSpPr txBox="1"/>
          <p:nvPr/>
        </p:nvSpPr>
        <p:spPr>
          <a:xfrm>
            <a:off x="658368" y="1691640"/>
            <a:ext cx="1975104" cy="310896"/>
          </a:xfrm>
          <a:prstGeom prst="rect">
            <a:avLst/>
          </a:prstGeom>
          <a:noFill/>
          <a:ln/>
        </p:spPr>
        <p:txBody>
          <a:bodyPr wrap="square" lIns="0" tIns="0" rIns="0" bIns="0" rtlCol="0" anchor="t"/>
          <a:lstStyle/>
          <a:p>
            <a:pPr algn="ctr" indent="0" marL="0">
              <a:buNone/>
            </a:pPr>
            <a:r>
              <a:rPr lang="en-US" sz="1300" b="1" dirty="0">
                <a:solidFill>
                  <a:srgbClr val="1A1D21"/>
                </a:solidFill>
                <a:latin typeface="Inter" pitchFamily="34" charset="0"/>
                <a:ea typeface="Inter" pitchFamily="34" charset="-122"/>
                <a:cs typeface="Inter" pitchFamily="34" charset="-120"/>
              </a:rPr>
              <a:t>Fondos de PE (GP)</a:t>
            </a:r>
            <a:endParaRPr lang="en-US" sz="1300" dirty="0"/>
          </a:p>
        </p:txBody>
      </p:sp>
      <p:sp>
        <p:nvSpPr>
          <p:cNvPr id="7" name="Text 4"/>
          <p:cNvSpPr txBox="1"/>
          <p:nvPr/>
        </p:nvSpPr>
        <p:spPr>
          <a:xfrm>
            <a:off x="658368" y="2029968"/>
            <a:ext cx="1975104" cy="384048"/>
          </a:xfrm>
          <a:prstGeom prst="rect">
            <a:avLst/>
          </a:prstGeom>
          <a:noFill/>
          <a:ln/>
        </p:spPr>
        <p:txBody>
          <a:bodyPr wrap="square" lIns="0" tIns="0" rIns="0" bIns="0" rtlCol="0" anchor="t"/>
          <a:lstStyle/>
          <a:p>
            <a:pPr algn="ctr" indent="0" marL="0">
              <a:buNone/>
            </a:pPr>
            <a:r>
              <a:rPr lang="en-US" sz="1050" dirty="0">
                <a:solidFill>
                  <a:srgbClr val="6E7378"/>
                </a:solidFill>
                <a:latin typeface="Inter" pitchFamily="34" charset="0"/>
                <a:ea typeface="Inter" pitchFamily="34" charset="-122"/>
                <a:cs typeface="Inter" pitchFamily="34" charset="-120"/>
              </a:rPr>
              <a:t>€9.704m · 15% del cheque</a:t>
            </a:r>
            <a:endParaRPr lang="en-US" sz="1050" dirty="0"/>
          </a:p>
        </p:txBody>
      </p:sp>
      <p:sp>
        <p:nvSpPr>
          <p:cNvPr id="8" name="Shape 5"/>
          <p:cNvSpPr/>
          <p:nvPr/>
        </p:nvSpPr>
        <p:spPr>
          <a:xfrm>
            <a:off x="2926080" y="1600200"/>
            <a:ext cx="2194560" cy="868680"/>
          </a:xfrm>
          <a:prstGeom prst="rect">
            <a:avLst>
              <a:gd name="adj" fmla="val 6316"/>
            </a:avLst>
          </a:prstGeom>
          <a:solidFill>
            <a:srgbClr val="F3F3F2"/>
          </a:solidFill>
          <a:ln/>
        </p:spPr>
      </p:sp>
      <p:sp>
        <p:nvSpPr>
          <p:cNvPr id="9" name="Text 6"/>
          <p:cNvSpPr txBox="1"/>
          <p:nvPr/>
        </p:nvSpPr>
        <p:spPr>
          <a:xfrm>
            <a:off x="3035808" y="1691640"/>
            <a:ext cx="1975104" cy="310896"/>
          </a:xfrm>
          <a:prstGeom prst="rect">
            <a:avLst/>
          </a:prstGeom>
          <a:noFill/>
          <a:ln/>
        </p:spPr>
        <p:txBody>
          <a:bodyPr wrap="square" lIns="0" tIns="0" rIns="0" bIns="0" rtlCol="0" anchor="t"/>
          <a:lstStyle/>
          <a:p>
            <a:pPr algn="ctr" indent="0" marL="0">
              <a:buNone/>
            </a:pPr>
            <a:r>
              <a:rPr lang="en-US" sz="1300" b="1" dirty="0">
                <a:solidFill>
                  <a:srgbClr val="1A1D21"/>
                </a:solidFill>
                <a:latin typeface="Inter" pitchFamily="34" charset="0"/>
                <a:ea typeface="Inter" pitchFamily="34" charset="-122"/>
                <a:cs typeface="Inter" pitchFamily="34" charset="-120"/>
              </a:rPr>
              <a:t>Co-inversores (LPs)</a:t>
            </a:r>
            <a:endParaRPr lang="en-US" sz="1300" dirty="0"/>
          </a:p>
        </p:txBody>
      </p:sp>
      <p:sp>
        <p:nvSpPr>
          <p:cNvPr id="10" name="Text 7"/>
          <p:cNvSpPr txBox="1"/>
          <p:nvPr/>
        </p:nvSpPr>
        <p:spPr>
          <a:xfrm>
            <a:off x="3035808" y="2029968"/>
            <a:ext cx="1975104" cy="384048"/>
          </a:xfrm>
          <a:prstGeom prst="rect">
            <a:avLst/>
          </a:prstGeom>
          <a:noFill/>
          <a:ln/>
        </p:spPr>
        <p:txBody>
          <a:bodyPr wrap="square" lIns="0" tIns="0" rIns="0" bIns="0" rtlCol="0" anchor="t"/>
          <a:lstStyle/>
          <a:p>
            <a:pPr algn="ctr" indent="0" marL="0">
              <a:buNone/>
            </a:pPr>
            <a:r>
              <a:rPr lang="en-US" sz="1050" dirty="0">
                <a:solidFill>
                  <a:srgbClr val="6E7378"/>
                </a:solidFill>
                <a:latin typeface="Inter" pitchFamily="34" charset="0"/>
                <a:ea typeface="Inter" pitchFamily="34" charset="-122"/>
                <a:cs typeface="Inter" pitchFamily="34" charset="-120"/>
              </a:rPr>
              <a:t>€54.989m · 85% del cheque</a:t>
            </a:r>
            <a:endParaRPr lang="en-US" sz="1050" dirty="0"/>
          </a:p>
        </p:txBody>
      </p:sp>
      <p:sp>
        <p:nvSpPr>
          <p:cNvPr id="11" name="Shape 8"/>
          <p:cNvSpPr/>
          <p:nvPr/>
        </p:nvSpPr>
        <p:spPr>
          <a:xfrm>
            <a:off x="1188720" y="2788920"/>
            <a:ext cx="3291840" cy="868680"/>
          </a:xfrm>
          <a:prstGeom prst="rect">
            <a:avLst>
              <a:gd name="adj" fmla="val 6316"/>
            </a:avLst>
          </a:prstGeom>
          <a:solidFill>
            <a:srgbClr val="1F4B3F"/>
          </a:solidFill>
          <a:ln/>
        </p:spPr>
      </p:sp>
      <p:sp>
        <p:nvSpPr>
          <p:cNvPr id="12" name="Text 9"/>
          <p:cNvSpPr txBox="1"/>
          <p:nvPr/>
        </p:nvSpPr>
        <p:spPr>
          <a:xfrm>
            <a:off x="1298448" y="2880360"/>
            <a:ext cx="3072384" cy="310896"/>
          </a:xfrm>
          <a:prstGeom prst="rect">
            <a:avLst/>
          </a:prstGeom>
          <a:noFill/>
          <a:ln/>
        </p:spPr>
        <p:txBody>
          <a:bodyPr wrap="square" lIns="0" tIns="0" rIns="0" bIns="0" rtlCol="0" anchor="t"/>
          <a:lstStyle/>
          <a:p>
            <a:pPr algn="ctr" indent="0" marL="0">
              <a:buNone/>
            </a:pPr>
            <a:r>
              <a:rPr lang="en-US" sz="1300" b="1" dirty="0">
                <a:solidFill>
                  <a:srgbClr val="FFFFFF"/>
                </a:solidFill>
                <a:latin typeface="Inter" pitchFamily="34" charset="0"/>
                <a:ea typeface="Inter" pitchFamily="34" charset="-122"/>
                <a:cs typeface="Inter" pitchFamily="34" charset="-120"/>
              </a:rPr>
              <a:t>Vehículo del consorcio</a:t>
            </a:r>
            <a:endParaRPr lang="en-US" sz="1300" dirty="0"/>
          </a:p>
        </p:txBody>
      </p:sp>
      <p:sp>
        <p:nvSpPr>
          <p:cNvPr id="13" name="Text 10"/>
          <p:cNvSpPr txBox="1"/>
          <p:nvPr/>
        </p:nvSpPr>
        <p:spPr>
          <a:xfrm>
            <a:off x="1298448" y="3218688"/>
            <a:ext cx="3072384" cy="384048"/>
          </a:xfrm>
          <a:prstGeom prst="rect">
            <a:avLst/>
          </a:prstGeom>
          <a:noFill/>
          <a:ln/>
        </p:spPr>
        <p:txBody>
          <a:bodyPr wrap="square" lIns="0" tIns="0" rIns="0" bIns="0" rtlCol="0" anchor="t"/>
          <a:lstStyle/>
          <a:p>
            <a:pPr algn="ctr" indent="0" marL="0">
              <a:buNone/>
            </a:pPr>
            <a:r>
              <a:rPr lang="en-US" sz="1050" dirty="0">
                <a:solidFill>
                  <a:srgbClr val="A8C9B8"/>
                </a:solidFill>
                <a:latin typeface="Inter" pitchFamily="34" charset="0"/>
                <a:ea typeface="Inter" pitchFamily="34" charset="-122"/>
                <a:cs typeface="Inter" pitchFamily="34" charset="-120"/>
              </a:rPr>
              <a:t>€64.693m · gestionado por el GP · aplica el waterfall</a:t>
            </a:r>
            <a:endParaRPr lang="en-US" sz="1050" dirty="0"/>
          </a:p>
        </p:txBody>
      </p:sp>
      <p:sp>
        <p:nvSpPr>
          <p:cNvPr id="14" name="Shape 11"/>
          <p:cNvSpPr/>
          <p:nvPr/>
        </p:nvSpPr>
        <p:spPr>
          <a:xfrm>
            <a:off x="4937760" y="2788920"/>
            <a:ext cx="2286000" cy="868680"/>
          </a:xfrm>
          <a:prstGeom prst="rect">
            <a:avLst>
              <a:gd name="adj" fmla="val 6316"/>
            </a:avLst>
          </a:prstGeom>
          <a:solidFill>
            <a:srgbClr val="F3F3F2"/>
          </a:solidFill>
          <a:ln/>
        </p:spPr>
      </p:sp>
      <p:sp>
        <p:nvSpPr>
          <p:cNvPr id="15" name="Text 12"/>
          <p:cNvSpPr txBox="1"/>
          <p:nvPr/>
        </p:nvSpPr>
        <p:spPr>
          <a:xfrm>
            <a:off x="5047488" y="2880360"/>
            <a:ext cx="2066544" cy="310896"/>
          </a:xfrm>
          <a:prstGeom prst="rect">
            <a:avLst/>
          </a:prstGeom>
          <a:noFill/>
          <a:ln/>
        </p:spPr>
        <p:txBody>
          <a:bodyPr wrap="square" lIns="0" tIns="0" rIns="0" bIns="0" rtlCol="0" anchor="t"/>
          <a:lstStyle/>
          <a:p>
            <a:pPr algn="ctr" indent="0" marL="0">
              <a:buNone/>
            </a:pPr>
            <a:r>
              <a:rPr lang="en-US" sz="1300" b="1" dirty="0">
                <a:solidFill>
                  <a:srgbClr val="1A1D21"/>
                </a:solidFill>
                <a:latin typeface="Inter" pitchFamily="34" charset="0"/>
                <a:ea typeface="Inter" pitchFamily="34" charset="-122"/>
                <a:cs typeface="Inter" pitchFamily="34" charset="-120"/>
              </a:rPr>
              <a:t>Pontegadea</a:t>
            </a:r>
            <a:endParaRPr lang="en-US" sz="1300" dirty="0"/>
          </a:p>
        </p:txBody>
      </p:sp>
      <p:sp>
        <p:nvSpPr>
          <p:cNvPr id="16" name="Text 13"/>
          <p:cNvSpPr txBox="1"/>
          <p:nvPr/>
        </p:nvSpPr>
        <p:spPr>
          <a:xfrm>
            <a:off x="5047488" y="3218688"/>
            <a:ext cx="2066544" cy="384048"/>
          </a:xfrm>
          <a:prstGeom prst="rect">
            <a:avLst/>
          </a:prstGeom>
          <a:noFill/>
          <a:ln/>
        </p:spPr>
        <p:txBody>
          <a:bodyPr wrap="square" lIns="0" tIns="0" rIns="0" bIns="0" rtlCol="0" anchor="t"/>
          <a:lstStyle/>
          <a:p>
            <a:pPr algn="ctr" indent="0" marL="0">
              <a:buNone/>
            </a:pPr>
            <a:r>
              <a:rPr lang="en-US" sz="1050" dirty="0">
                <a:solidFill>
                  <a:srgbClr val="6E7378"/>
                </a:solidFill>
                <a:latin typeface="Inter" pitchFamily="34" charset="0"/>
                <a:ea typeface="Inter" pitchFamily="34" charset="-122"/>
                <a:cs typeface="Inter" pitchFamily="34" charset="-120"/>
              </a:rPr>
              <a:t>Amancio Ortega · €49.658m en acciones</a:t>
            </a:r>
            <a:endParaRPr lang="en-US" sz="1050" dirty="0"/>
          </a:p>
        </p:txBody>
      </p:sp>
      <p:sp>
        <p:nvSpPr>
          <p:cNvPr id="17" name="Shape 14"/>
          <p:cNvSpPr/>
          <p:nvPr/>
        </p:nvSpPr>
        <p:spPr>
          <a:xfrm>
            <a:off x="1645920" y="2468880"/>
            <a:ext cx="0" cy="320040"/>
          </a:xfrm>
          <a:prstGeom prst="line">
            <a:avLst/>
          </a:prstGeom>
          <a:noFill/>
          <a:ln w="15875">
            <a:solidFill>
              <a:srgbClr val="6E7378"/>
            </a:solidFill>
            <a:prstDash val="solid"/>
            <a:tailEnd type="triangle"/>
          </a:ln>
        </p:spPr>
      </p:sp>
      <p:sp>
        <p:nvSpPr>
          <p:cNvPr id="18" name="Shape 15"/>
          <p:cNvSpPr/>
          <p:nvPr/>
        </p:nvSpPr>
        <p:spPr>
          <a:xfrm>
            <a:off x="4023360" y="2468880"/>
            <a:ext cx="0" cy="320040"/>
          </a:xfrm>
          <a:prstGeom prst="line">
            <a:avLst/>
          </a:prstGeom>
          <a:noFill/>
          <a:ln w="15875">
            <a:solidFill>
              <a:srgbClr val="6E7378"/>
            </a:solidFill>
            <a:prstDash val="solid"/>
            <a:tailEnd type="triangle"/>
          </a:ln>
        </p:spPr>
      </p:sp>
      <p:sp>
        <p:nvSpPr>
          <p:cNvPr id="19" name="Shape 16"/>
          <p:cNvSpPr/>
          <p:nvPr/>
        </p:nvSpPr>
        <p:spPr>
          <a:xfrm>
            <a:off x="2240280" y="4023360"/>
            <a:ext cx="4983480" cy="868680"/>
          </a:xfrm>
          <a:prstGeom prst="rect">
            <a:avLst>
              <a:gd name="adj" fmla="val 6316"/>
            </a:avLst>
          </a:prstGeom>
          <a:solidFill>
            <a:srgbClr val="1A1D21"/>
          </a:solidFill>
          <a:ln/>
        </p:spPr>
      </p:sp>
      <p:sp>
        <p:nvSpPr>
          <p:cNvPr id="20" name="Text 17"/>
          <p:cNvSpPr txBox="1"/>
          <p:nvPr/>
        </p:nvSpPr>
        <p:spPr>
          <a:xfrm>
            <a:off x="2350008" y="4114800"/>
            <a:ext cx="4764024" cy="310896"/>
          </a:xfrm>
          <a:prstGeom prst="rect">
            <a:avLst/>
          </a:prstGeom>
          <a:noFill/>
          <a:ln/>
        </p:spPr>
        <p:txBody>
          <a:bodyPr wrap="square" lIns="0" tIns="0" rIns="0" bIns="0" rtlCol="0" anchor="t"/>
          <a:lstStyle/>
          <a:p>
            <a:pPr algn="ctr" indent="0" marL="0">
              <a:buNone/>
            </a:pPr>
            <a:r>
              <a:rPr lang="en-US" sz="1300" b="1" dirty="0">
                <a:solidFill>
                  <a:srgbClr val="FFFFFF"/>
                </a:solidFill>
                <a:latin typeface="Inter" pitchFamily="34" charset="0"/>
                <a:ea typeface="Inter" pitchFamily="34" charset="-122"/>
                <a:cs typeface="Inter" pitchFamily="34" charset="-120"/>
              </a:rPr>
              <a:t>TopCo · €114.351m de equity</a:t>
            </a:r>
            <a:endParaRPr lang="en-US" sz="1300" dirty="0"/>
          </a:p>
        </p:txBody>
      </p:sp>
      <p:sp>
        <p:nvSpPr>
          <p:cNvPr id="21" name="Text 18"/>
          <p:cNvSpPr txBox="1"/>
          <p:nvPr/>
        </p:nvSpPr>
        <p:spPr>
          <a:xfrm>
            <a:off x="2350008" y="4453128"/>
            <a:ext cx="4764024" cy="384048"/>
          </a:xfrm>
          <a:prstGeom prst="rect">
            <a:avLst/>
          </a:prstGeom>
          <a:noFill/>
          <a:ln/>
        </p:spPr>
        <p:txBody>
          <a:bodyPr wrap="square" lIns="0" tIns="0" rIns="0" bIns="0" rtlCol="0" anchor="t"/>
          <a:lstStyle/>
          <a:p>
            <a:pPr algn="ctr" indent="0" marL="0">
              <a:buNone/>
            </a:pPr>
            <a:r>
              <a:rPr lang="en-US" sz="1050" dirty="0">
                <a:solidFill>
                  <a:srgbClr val="BFC4CA"/>
                </a:solidFill>
                <a:latin typeface="Inter" pitchFamily="34" charset="0"/>
                <a:ea typeface="Inter" pitchFamily="34" charset="-122"/>
                <a:cs typeface="Inter" pitchFamily="34" charset="-120"/>
              </a:rPr>
              <a:t>Acciones ordinarias · consorcio 56,6% · Amancio 43,4%</a:t>
            </a:r>
            <a:endParaRPr lang="en-US" sz="1050" dirty="0"/>
          </a:p>
        </p:txBody>
      </p:sp>
      <p:sp>
        <p:nvSpPr>
          <p:cNvPr id="22" name="Shape 19"/>
          <p:cNvSpPr/>
          <p:nvPr/>
        </p:nvSpPr>
        <p:spPr>
          <a:xfrm>
            <a:off x="2834640" y="3657600"/>
            <a:ext cx="0" cy="365760"/>
          </a:xfrm>
          <a:prstGeom prst="line">
            <a:avLst/>
          </a:prstGeom>
          <a:noFill/>
          <a:ln w="15875">
            <a:solidFill>
              <a:srgbClr val="6E7378"/>
            </a:solidFill>
            <a:prstDash val="solid"/>
            <a:tailEnd type="triangle"/>
          </a:ln>
        </p:spPr>
      </p:sp>
      <p:sp>
        <p:nvSpPr>
          <p:cNvPr id="23" name="Shape 20"/>
          <p:cNvSpPr/>
          <p:nvPr/>
        </p:nvSpPr>
        <p:spPr>
          <a:xfrm>
            <a:off x="6080760" y="3657600"/>
            <a:ext cx="0" cy="365760"/>
          </a:xfrm>
          <a:prstGeom prst="line">
            <a:avLst/>
          </a:prstGeom>
          <a:noFill/>
          <a:ln w="15875">
            <a:solidFill>
              <a:srgbClr val="6E7378"/>
            </a:solidFill>
            <a:prstDash val="solid"/>
            <a:tailEnd type="triangle"/>
          </a:ln>
        </p:spPr>
      </p:sp>
      <p:sp>
        <p:nvSpPr>
          <p:cNvPr id="24" name="Text 21"/>
          <p:cNvSpPr txBox="1"/>
          <p:nvPr/>
        </p:nvSpPr>
        <p:spPr>
          <a:xfrm>
            <a:off x="2926080" y="3712464"/>
            <a:ext cx="731520" cy="256032"/>
          </a:xfrm>
          <a:prstGeom prst="rect">
            <a:avLst/>
          </a:prstGeom>
          <a:noFill/>
          <a:ln/>
        </p:spPr>
        <p:txBody>
          <a:bodyPr wrap="square" lIns="0" tIns="0" rIns="0" bIns="0" rtlCol="0" anchor="t"/>
          <a:lstStyle/>
          <a:p>
            <a:pPr indent="0" marL="0">
              <a:buNone/>
            </a:pPr>
            <a:r>
              <a:rPr lang="en-US" sz="1100" b="1" dirty="0">
                <a:solidFill>
                  <a:srgbClr val="1F4B3F"/>
                </a:solidFill>
                <a:latin typeface="Inter" pitchFamily="34" charset="0"/>
                <a:ea typeface="Inter" pitchFamily="34" charset="-122"/>
                <a:cs typeface="Inter" pitchFamily="34" charset="-120"/>
              </a:rPr>
              <a:t>56,6%</a:t>
            </a:r>
            <a:endParaRPr lang="en-US" sz="1100" dirty="0"/>
          </a:p>
        </p:txBody>
      </p:sp>
      <p:sp>
        <p:nvSpPr>
          <p:cNvPr id="25" name="Text 22"/>
          <p:cNvSpPr txBox="1"/>
          <p:nvPr/>
        </p:nvSpPr>
        <p:spPr>
          <a:xfrm>
            <a:off x="6172200" y="3712464"/>
            <a:ext cx="731520" cy="256032"/>
          </a:xfrm>
          <a:prstGeom prst="rect">
            <a:avLst/>
          </a:prstGeom>
          <a:noFill/>
          <a:ln/>
        </p:spPr>
        <p:txBody>
          <a:bodyPr wrap="square" lIns="0" tIns="0" rIns="0" bIns="0" rtlCol="0" anchor="t"/>
          <a:lstStyle/>
          <a:p>
            <a:pPr indent="0" marL="0">
              <a:buNone/>
            </a:pPr>
            <a:r>
              <a:rPr lang="en-US" sz="1100" b="1" dirty="0">
                <a:solidFill>
                  <a:srgbClr val="1F4B3F"/>
                </a:solidFill>
                <a:latin typeface="Inter" pitchFamily="34" charset="0"/>
                <a:ea typeface="Inter" pitchFamily="34" charset="-122"/>
                <a:cs typeface="Inter" pitchFamily="34" charset="-120"/>
              </a:rPr>
              <a:t>43,4%</a:t>
            </a:r>
            <a:endParaRPr lang="en-US" sz="1100" dirty="0"/>
          </a:p>
        </p:txBody>
      </p:sp>
      <p:sp>
        <p:nvSpPr>
          <p:cNvPr id="26" name="Shape 23"/>
          <p:cNvSpPr/>
          <p:nvPr/>
        </p:nvSpPr>
        <p:spPr>
          <a:xfrm>
            <a:off x="548640" y="4023360"/>
            <a:ext cx="1508760" cy="868680"/>
          </a:xfrm>
          <a:prstGeom prst="rect">
            <a:avLst>
              <a:gd name="adj" fmla="val 6316"/>
            </a:avLst>
          </a:prstGeom>
          <a:solidFill>
            <a:srgbClr val="EDEDEB"/>
          </a:solidFill>
          <a:ln/>
        </p:spPr>
      </p:sp>
      <p:sp>
        <p:nvSpPr>
          <p:cNvPr id="27" name="Text 24"/>
          <p:cNvSpPr txBox="1"/>
          <p:nvPr/>
        </p:nvSpPr>
        <p:spPr>
          <a:xfrm>
            <a:off x="658368" y="4114800"/>
            <a:ext cx="1289304" cy="310896"/>
          </a:xfrm>
          <a:prstGeom prst="rect">
            <a:avLst/>
          </a:prstGeom>
          <a:noFill/>
          <a:ln/>
        </p:spPr>
        <p:txBody>
          <a:bodyPr wrap="square" lIns="0" tIns="0" rIns="0" bIns="0" rtlCol="0" anchor="t"/>
          <a:lstStyle/>
          <a:p>
            <a:pPr algn="ctr" indent="0" marL="0">
              <a:buNone/>
            </a:pPr>
            <a:r>
              <a:rPr lang="en-US" sz="1300" b="1" dirty="0">
                <a:solidFill>
                  <a:srgbClr val="1A1D21"/>
                </a:solidFill>
                <a:latin typeface="Inter" pitchFamily="34" charset="0"/>
                <a:ea typeface="Inter" pitchFamily="34" charset="-122"/>
                <a:cs typeface="Inter" pitchFamily="34" charset="-120"/>
              </a:rPr>
              <a:t>Vendor loan</a:t>
            </a:r>
            <a:endParaRPr lang="en-US" sz="1300" dirty="0"/>
          </a:p>
        </p:txBody>
      </p:sp>
      <p:sp>
        <p:nvSpPr>
          <p:cNvPr id="28" name="Text 25"/>
          <p:cNvSpPr txBox="1"/>
          <p:nvPr/>
        </p:nvSpPr>
        <p:spPr>
          <a:xfrm>
            <a:off x="658368" y="4453128"/>
            <a:ext cx="1289304" cy="384048"/>
          </a:xfrm>
          <a:prstGeom prst="rect">
            <a:avLst/>
          </a:prstGeom>
          <a:noFill/>
          <a:ln/>
        </p:spPr>
        <p:txBody>
          <a:bodyPr wrap="square" lIns="0" tIns="0" rIns="0" bIns="0" rtlCol="0" anchor="t"/>
          <a:lstStyle/>
          <a:p>
            <a:pPr algn="ctr" indent="0" marL="0">
              <a:buNone/>
            </a:pPr>
            <a:r>
              <a:rPr lang="en-US" sz="1050" dirty="0">
                <a:solidFill>
                  <a:srgbClr val="6E7378"/>
                </a:solidFill>
                <a:latin typeface="Inter" pitchFamily="34" charset="0"/>
                <a:ea typeface="Inter" pitchFamily="34" charset="-122"/>
                <a:cs typeface="Inter" pitchFamily="34" charset="-120"/>
              </a:rPr>
              <a:t>Sandra · €10.925m</a:t>
            </a:r>
            <a:endParaRPr lang="en-US" sz="1050" dirty="0"/>
          </a:p>
        </p:txBody>
      </p:sp>
      <p:sp>
        <p:nvSpPr>
          <p:cNvPr id="29" name="Text 26"/>
          <p:cNvSpPr txBox="1"/>
          <p:nvPr/>
        </p:nvSpPr>
        <p:spPr>
          <a:xfrm>
            <a:off x="548640" y="4983480"/>
            <a:ext cx="1508760" cy="640080"/>
          </a:xfrm>
          <a:prstGeom prst="rect">
            <a:avLst/>
          </a:prstGeom>
          <a:noFill/>
          <a:ln/>
        </p:spPr>
        <p:txBody>
          <a:bodyPr wrap="square" lIns="0" tIns="0" rIns="0" bIns="0" rtlCol="0" anchor="t"/>
          <a:lstStyle/>
          <a:p>
            <a:pPr indent="0" marL="0">
              <a:buNone/>
            </a:pPr>
            <a:r>
              <a:rPr lang="en-US" sz="1000" dirty="0">
                <a:solidFill>
                  <a:srgbClr val="6E7378"/>
                </a:solidFill>
                <a:latin typeface="Inter" pitchFamily="34" charset="0"/>
                <a:ea typeface="Inter" pitchFamily="34" charset="-122"/>
                <a:cs typeface="Inter" pitchFamily="34" charset="-120"/>
              </a:rPr>
              <a:t>Deuda de la TopCo: sin acciones ni votos</a:t>
            </a:r>
            <a:endParaRPr lang="en-US" sz="1000" dirty="0"/>
          </a:p>
        </p:txBody>
      </p:sp>
      <p:sp>
        <p:nvSpPr>
          <p:cNvPr id="30" name="Shape 27"/>
          <p:cNvSpPr/>
          <p:nvPr/>
        </p:nvSpPr>
        <p:spPr>
          <a:xfrm>
            <a:off x="2057400" y="4457700"/>
            <a:ext cx="182880" cy="0"/>
          </a:xfrm>
          <a:prstGeom prst="line">
            <a:avLst/>
          </a:prstGeom>
          <a:noFill/>
          <a:ln w="15875">
            <a:solidFill>
              <a:srgbClr val="6E7378"/>
            </a:solidFill>
            <a:prstDash val="solid"/>
            <a:tailEnd type="triangle"/>
          </a:ln>
        </p:spPr>
      </p:sp>
      <p:sp>
        <p:nvSpPr>
          <p:cNvPr id="31" name="Shape 28"/>
          <p:cNvSpPr/>
          <p:nvPr/>
        </p:nvSpPr>
        <p:spPr>
          <a:xfrm>
            <a:off x="2240280" y="5257800"/>
            <a:ext cx="4983480" cy="640080"/>
          </a:xfrm>
          <a:prstGeom prst="rect">
            <a:avLst>
              <a:gd name="adj" fmla="val 8571"/>
            </a:avLst>
          </a:prstGeom>
          <a:solidFill>
            <a:srgbClr val="EDEDEB"/>
          </a:solidFill>
          <a:ln/>
        </p:spPr>
      </p:sp>
      <p:sp>
        <p:nvSpPr>
          <p:cNvPr id="32" name="Text 29"/>
          <p:cNvSpPr txBox="1"/>
          <p:nvPr/>
        </p:nvSpPr>
        <p:spPr>
          <a:xfrm>
            <a:off x="2240280" y="5257800"/>
            <a:ext cx="4983480" cy="640080"/>
          </a:xfrm>
          <a:prstGeom prst="rect">
            <a:avLst/>
          </a:prstGeom>
          <a:noFill/>
          <a:ln/>
        </p:spPr>
        <p:txBody>
          <a:bodyPr wrap="square" lIns="0" tIns="0" rIns="0" bIns="0" rtlCol="0" anchor="ctr"/>
          <a:lstStyle/>
          <a:p>
            <a:pPr algn="ctr" indent="0" marL="0">
              <a:buNone/>
            </a:pPr>
            <a:r>
              <a:rPr lang="en-US" sz="1300" b="1" dirty="0">
                <a:solidFill>
                  <a:srgbClr val="1A1D21"/>
                </a:solidFill>
                <a:latin typeface="Inter" pitchFamily="34" charset="0"/>
                <a:ea typeface="Inter" pitchFamily="34" charset="-122"/>
                <a:cs typeface="Inter" pitchFamily="34" charset="-120"/>
              </a:rPr>
              <a:t>100%  →  MidCo  →  BidCo  →  Inditex</a:t>
            </a:r>
            <a:endParaRPr lang="en-US" sz="1300" dirty="0"/>
          </a:p>
        </p:txBody>
      </p:sp>
      <p:sp>
        <p:nvSpPr>
          <p:cNvPr id="33" name="Shape 30"/>
          <p:cNvSpPr/>
          <p:nvPr/>
        </p:nvSpPr>
        <p:spPr>
          <a:xfrm>
            <a:off x="4732020" y="4892040"/>
            <a:ext cx="0" cy="365760"/>
          </a:xfrm>
          <a:prstGeom prst="line">
            <a:avLst/>
          </a:prstGeom>
          <a:noFill/>
          <a:ln w="15875">
            <a:solidFill>
              <a:srgbClr val="6E7378"/>
            </a:solidFill>
            <a:prstDash val="solid"/>
            <a:tailEnd type="triangle"/>
          </a:ln>
        </p:spPr>
      </p:sp>
      <p:sp>
        <p:nvSpPr>
          <p:cNvPr id="34" name="Shape 31"/>
          <p:cNvSpPr/>
          <p:nvPr/>
        </p:nvSpPr>
        <p:spPr>
          <a:xfrm>
            <a:off x="7498080" y="1600200"/>
            <a:ext cx="4142232" cy="4526280"/>
          </a:xfrm>
          <a:prstGeom prst="rect">
            <a:avLst>
              <a:gd name="adj" fmla="val 1325"/>
            </a:avLst>
          </a:prstGeom>
          <a:solidFill>
            <a:srgbClr val="FFFFFF"/>
          </a:solidFill>
          <a:ln w="12700">
            <a:solidFill>
              <a:srgbClr val="D9D9D6"/>
            </a:solidFill>
            <a:prstDash val="solid"/>
          </a:ln>
        </p:spPr>
      </p:sp>
      <p:sp>
        <p:nvSpPr>
          <p:cNvPr id="35" name="Shape 32"/>
          <p:cNvSpPr/>
          <p:nvPr/>
        </p:nvSpPr>
        <p:spPr>
          <a:xfrm>
            <a:off x="7680960" y="1755648"/>
            <a:ext cx="384048" cy="384048"/>
          </a:xfrm>
          <a:prstGeom prst="rect">
            <a:avLst/>
          </a:prstGeom>
          <a:solidFill>
            <a:srgbClr val="1F4B3F"/>
          </a:solidFill>
          <a:ln/>
        </p:spPr>
      </p:sp>
      <p:sp>
        <p:nvSpPr>
          <p:cNvPr id="36" name="Text 33"/>
          <p:cNvSpPr txBox="1"/>
          <p:nvPr/>
        </p:nvSpPr>
        <p:spPr>
          <a:xfrm>
            <a:off x="7680960" y="1764792"/>
            <a:ext cx="38404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1</a:t>
            </a:r>
            <a:endParaRPr lang="en-US" sz="1400" dirty="0"/>
          </a:p>
        </p:txBody>
      </p:sp>
      <p:sp>
        <p:nvSpPr>
          <p:cNvPr id="37" name="Text 34"/>
          <p:cNvSpPr txBox="1"/>
          <p:nvPr/>
        </p:nvSpPr>
        <p:spPr>
          <a:xfrm>
            <a:off x="8183880" y="1737360"/>
            <a:ext cx="3337560" cy="274320"/>
          </a:xfrm>
          <a:prstGeom prst="rect">
            <a:avLst/>
          </a:prstGeom>
          <a:noFill/>
          <a:ln/>
        </p:spPr>
        <p:txBody>
          <a:bodyPr wrap="square" lIns="0" tIns="0" rIns="0" bIns="0" rtlCol="0" anchor="t"/>
          <a:lstStyle/>
          <a:p>
            <a:pPr indent="0" marL="0">
              <a:buNone/>
            </a:pPr>
            <a:r>
              <a:rPr lang="en-US" sz="1250" b="1" dirty="0">
                <a:solidFill>
                  <a:srgbClr val="1A1D21"/>
                </a:solidFill>
                <a:latin typeface="Inter" pitchFamily="34" charset="0"/>
                <a:ea typeface="Inter" pitchFamily="34" charset="-122"/>
                <a:cs typeface="Inter" pitchFamily="34" charset="-120"/>
              </a:rPr>
              <a:t>Dos niveles de reparto</a:t>
            </a:r>
            <a:endParaRPr lang="en-US" sz="1250" dirty="0"/>
          </a:p>
        </p:txBody>
      </p:sp>
      <p:sp>
        <p:nvSpPr>
          <p:cNvPr id="38" name="Text 35"/>
          <p:cNvSpPr txBox="1"/>
          <p:nvPr/>
        </p:nvSpPr>
        <p:spPr>
          <a:xfrm>
            <a:off x="8183880" y="2029968"/>
            <a:ext cx="3337560" cy="749808"/>
          </a:xfrm>
          <a:prstGeom prst="rect">
            <a:avLst/>
          </a:prstGeom>
          <a:noFill/>
          <a:ln/>
        </p:spPr>
        <p:txBody>
          <a:bodyPr wrap="square" lIns="0" tIns="0" rIns="0" bIns="0" rtlCol="0" anchor="t"/>
          <a:lstStyle/>
          <a:p>
            <a:pPr indent="0" marL="0">
              <a:buNone/>
            </a:pPr>
            <a:r>
              <a:rPr lang="en-US" sz="1050" dirty="0">
                <a:solidFill>
                  <a:srgbClr val="1F2124"/>
                </a:solidFill>
                <a:latin typeface="Inter" pitchFamily="34" charset="0"/>
                <a:ea typeface="Inter" pitchFamily="34" charset="-122"/>
                <a:cs typeface="Inter" pitchFamily="34" charset="-120"/>
              </a:rPr>
              <a:t>En la TopCo todos tienen acciones ordinarias y cobran a prorrata. En 2032: Amancio €101.609m y consorcio €132.372m.</a:t>
            </a:r>
            <a:endParaRPr lang="en-US" sz="1050" dirty="0"/>
          </a:p>
        </p:txBody>
      </p:sp>
      <p:sp>
        <p:nvSpPr>
          <p:cNvPr id="39" name="Shape 36"/>
          <p:cNvSpPr/>
          <p:nvPr/>
        </p:nvSpPr>
        <p:spPr>
          <a:xfrm>
            <a:off x="7680960" y="2834640"/>
            <a:ext cx="384048" cy="384048"/>
          </a:xfrm>
          <a:prstGeom prst="rect">
            <a:avLst/>
          </a:prstGeom>
          <a:solidFill>
            <a:srgbClr val="1F4B3F"/>
          </a:solidFill>
          <a:ln/>
        </p:spPr>
      </p:sp>
      <p:sp>
        <p:nvSpPr>
          <p:cNvPr id="40" name="Text 37"/>
          <p:cNvSpPr txBox="1"/>
          <p:nvPr/>
        </p:nvSpPr>
        <p:spPr>
          <a:xfrm>
            <a:off x="7680960" y="2843784"/>
            <a:ext cx="38404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2</a:t>
            </a:r>
            <a:endParaRPr lang="en-US" sz="1400" dirty="0"/>
          </a:p>
        </p:txBody>
      </p:sp>
      <p:sp>
        <p:nvSpPr>
          <p:cNvPr id="41" name="Text 38"/>
          <p:cNvSpPr txBox="1"/>
          <p:nvPr/>
        </p:nvSpPr>
        <p:spPr>
          <a:xfrm>
            <a:off x="8183880" y="2816352"/>
            <a:ext cx="3337560" cy="274320"/>
          </a:xfrm>
          <a:prstGeom prst="rect">
            <a:avLst/>
          </a:prstGeom>
          <a:noFill/>
          <a:ln/>
        </p:spPr>
        <p:txBody>
          <a:bodyPr wrap="square" lIns="0" tIns="0" rIns="0" bIns="0" rtlCol="0" anchor="t"/>
          <a:lstStyle/>
          <a:p>
            <a:pPr indent="0" marL="0">
              <a:buNone/>
            </a:pPr>
            <a:r>
              <a:rPr lang="en-US" sz="1250" b="1" dirty="0">
                <a:solidFill>
                  <a:srgbClr val="1A1D21"/>
                </a:solidFill>
                <a:latin typeface="Inter" pitchFamily="34" charset="0"/>
                <a:ea typeface="Inter" pitchFamily="34" charset="-122"/>
                <a:cs typeface="Inter" pitchFamily="34" charset="-120"/>
              </a:rPr>
              <a:t>El waterfall, dentro del consorcio</a:t>
            </a:r>
            <a:endParaRPr lang="en-US" sz="1250" dirty="0"/>
          </a:p>
        </p:txBody>
      </p:sp>
      <p:sp>
        <p:nvSpPr>
          <p:cNvPr id="42" name="Text 39"/>
          <p:cNvSpPr txBox="1"/>
          <p:nvPr/>
        </p:nvSpPr>
        <p:spPr>
          <a:xfrm>
            <a:off x="8183880" y="3108960"/>
            <a:ext cx="3337560" cy="749808"/>
          </a:xfrm>
          <a:prstGeom prst="rect">
            <a:avLst/>
          </a:prstGeom>
          <a:noFill/>
          <a:ln/>
        </p:spPr>
        <p:txBody>
          <a:bodyPr wrap="square" lIns="0" tIns="0" rIns="0" bIns="0" rtlCol="0" anchor="t"/>
          <a:lstStyle/>
          <a:p>
            <a:pPr indent="0" marL="0">
              <a:buNone/>
            </a:pPr>
            <a:r>
              <a:rPr lang="en-US" sz="1050" dirty="0">
                <a:solidFill>
                  <a:srgbClr val="1F2124"/>
                </a:solidFill>
                <a:latin typeface="Inter" pitchFamily="34" charset="0"/>
                <a:ea typeface="Inter" pitchFamily="34" charset="-122"/>
                <a:cs typeface="Inter" pitchFamily="34" charset="-120"/>
              </a:rPr>
              <a:t>Los LPs recuperan su capital y un 8% anual; después catch-up del GP y reparto 80/20.</a:t>
            </a:r>
            <a:endParaRPr lang="en-US" sz="1050" dirty="0"/>
          </a:p>
        </p:txBody>
      </p:sp>
      <p:sp>
        <p:nvSpPr>
          <p:cNvPr id="43" name="Shape 40"/>
          <p:cNvSpPr/>
          <p:nvPr/>
        </p:nvSpPr>
        <p:spPr>
          <a:xfrm>
            <a:off x="7680960" y="3913632"/>
            <a:ext cx="384048" cy="384048"/>
          </a:xfrm>
          <a:prstGeom prst="rect">
            <a:avLst/>
          </a:prstGeom>
          <a:solidFill>
            <a:srgbClr val="1F4B3F"/>
          </a:solidFill>
          <a:ln/>
        </p:spPr>
      </p:sp>
      <p:sp>
        <p:nvSpPr>
          <p:cNvPr id="44" name="Text 41"/>
          <p:cNvSpPr txBox="1"/>
          <p:nvPr/>
        </p:nvSpPr>
        <p:spPr>
          <a:xfrm>
            <a:off x="7680960" y="3922776"/>
            <a:ext cx="38404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3</a:t>
            </a:r>
            <a:endParaRPr lang="en-US" sz="1400" dirty="0"/>
          </a:p>
        </p:txBody>
      </p:sp>
      <p:sp>
        <p:nvSpPr>
          <p:cNvPr id="45" name="Text 42"/>
          <p:cNvSpPr txBox="1"/>
          <p:nvPr/>
        </p:nvSpPr>
        <p:spPr>
          <a:xfrm>
            <a:off x="8183880" y="3895344"/>
            <a:ext cx="3337560" cy="274320"/>
          </a:xfrm>
          <a:prstGeom prst="rect">
            <a:avLst/>
          </a:prstGeom>
          <a:noFill/>
          <a:ln/>
        </p:spPr>
        <p:txBody>
          <a:bodyPr wrap="square" lIns="0" tIns="0" rIns="0" bIns="0" rtlCol="0" anchor="t"/>
          <a:lstStyle/>
          <a:p>
            <a:pPr indent="0" marL="0">
              <a:buNone/>
            </a:pPr>
            <a:r>
              <a:rPr lang="en-US" sz="1250" b="1" dirty="0">
                <a:solidFill>
                  <a:srgbClr val="1A1D21"/>
                </a:solidFill>
                <a:latin typeface="Inter" pitchFamily="34" charset="0"/>
                <a:ea typeface="Inter" pitchFamily="34" charset="-122"/>
                <a:cs typeface="Inter" pitchFamily="34" charset="-120"/>
              </a:rPr>
              <a:t>Amancio entra con acciones</a:t>
            </a:r>
            <a:endParaRPr lang="en-US" sz="1250" dirty="0"/>
          </a:p>
        </p:txBody>
      </p:sp>
      <p:sp>
        <p:nvSpPr>
          <p:cNvPr id="46" name="Text 43"/>
          <p:cNvSpPr txBox="1"/>
          <p:nvPr/>
        </p:nvSpPr>
        <p:spPr>
          <a:xfrm>
            <a:off x="8183880" y="4187952"/>
            <a:ext cx="3337560" cy="749808"/>
          </a:xfrm>
          <a:prstGeom prst="rect">
            <a:avLst/>
          </a:prstGeom>
          <a:noFill/>
          <a:ln/>
        </p:spPr>
        <p:txBody>
          <a:bodyPr wrap="square" lIns="0" tIns="0" rIns="0" bIns="0" rtlCol="0" anchor="t"/>
          <a:lstStyle/>
          <a:p>
            <a:pPr indent="0" marL="0">
              <a:buNone/>
            </a:pPr>
            <a:r>
              <a:rPr lang="en-US" sz="1050" dirty="0">
                <a:solidFill>
                  <a:srgbClr val="1F2124"/>
                </a:solidFill>
                <a:latin typeface="Inter" pitchFamily="34" charset="0"/>
                <a:ea typeface="Inter" pitchFamily="34" charset="-122"/>
                <a:cs typeface="Inter" pitchFamily="34" charset="-120"/>
              </a:rPr>
              <a:t>Canje del 25% de Inditex por acciones de la TopCo, sin tributar en el canje.</a:t>
            </a:r>
            <a:endParaRPr lang="en-US" sz="1050" dirty="0"/>
          </a:p>
        </p:txBody>
      </p:sp>
      <p:sp>
        <p:nvSpPr>
          <p:cNvPr id="47" name="Shape 44"/>
          <p:cNvSpPr/>
          <p:nvPr/>
        </p:nvSpPr>
        <p:spPr>
          <a:xfrm>
            <a:off x="7680960" y="4992624"/>
            <a:ext cx="384048" cy="384048"/>
          </a:xfrm>
          <a:prstGeom prst="rect">
            <a:avLst/>
          </a:prstGeom>
          <a:solidFill>
            <a:srgbClr val="7D848C"/>
          </a:solidFill>
          <a:ln/>
        </p:spPr>
      </p:sp>
      <p:sp>
        <p:nvSpPr>
          <p:cNvPr id="48" name="Text 45"/>
          <p:cNvSpPr txBox="1"/>
          <p:nvPr/>
        </p:nvSpPr>
        <p:spPr>
          <a:xfrm>
            <a:off x="7680960" y="5001768"/>
            <a:ext cx="38404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4</a:t>
            </a:r>
            <a:endParaRPr lang="en-US" sz="1400" dirty="0"/>
          </a:p>
        </p:txBody>
      </p:sp>
      <p:sp>
        <p:nvSpPr>
          <p:cNvPr id="49" name="Text 46"/>
          <p:cNvSpPr txBox="1"/>
          <p:nvPr/>
        </p:nvSpPr>
        <p:spPr>
          <a:xfrm>
            <a:off x="8183880" y="4974336"/>
            <a:ext cx="3337560" cy="274320"/>
          </a:xfrm>
          <a:prstGeom prst="rect">
            <a:avLst/>
          </a:prstGeom>
          <a:noFill/>
          <a:ln/>
        </p:spPr>
        <p:txBody>
          <a:bodyPr wrap="square" lIns="0" tIns="0" rIns="0" bIns="0" rtlCol="0" anchor="t"/>
          <a:lstStyle/>
          <a:p>
            <a:pPr indent="0" marL="0">
              <a:buNone/>
            </a:pPr>
            <a:r>
              <a:rPr lang="en-US" sz="1250" b="1" dirty="0">
                <a:solidFill>
                  <a:srgbClr val="1A1D21"/>
                </a:solidFill>
                <a:latin typeface="Inter" pitchFamily="34" charset="0"/>
                <a:ea typeface="Inter" pitchFamily="34" charset="-122"/>
                <a:cs typeface="Inter" pitchFamily="34" charset="-120"/>
              </a:rPr>
              <a:t>Pacto de socios (propuesta)</a:t>
            </a:r>
            <a:endParaRPr lang="en-US" sz="1250" dirty="0"/>
          </a:p>
        </p:txBody>
      </p:sp>
      <p:sp>
        <p:nvSpPr>
          <p:cNvPr id="50" name="Text 47"/>
          <p:cNvSpPr txBox="1"/>
          <p:nvPr/>
        </p:nvSpPr>
        <p:spPr>
          <a:xfrm>
            <a:off x="8183880" y="5266944"/>
            <a:ext cx="3337560" cy="749808"/>
          </a:xfrm>
          <a:prstGeom prst="rect">
            <a:avLst/>
          </a:prstGeom>
          <a:noFill/>
          <a:ln/>
        </p:spPr>
        <p:txBody>
          <a:bodyPr wrap="square" lIns="0" tIns="0" rIns="0" bIns="0" rtlCol="0" anchor="t"/>
          <a:lstStyle/>
          <a:p>
            <a:pPr indent="0" marL="0">
              <a:buNone/>
            </a:pPr>
            <a:r>
              <a:rPr lang="en-US" sz="1050" dirty="0">
                <a:solidFill>
                  <a:srgbClr val="1F2124"/>
                </a:solidFill>
                <a:latin typeface="Inter" pitchFamily="34" charset="0"/>
                <a:ea typeface="Inter" pitchFamily="34" charset="-122"/>
                <a:cs typeface="Inter" pitchFamily="34" charset="-120"/>
              </a:rPr>
              <a:t>Mayoría del consorcio en el consejo, veto de Amancio en materias reservadas, arrastre y acompañamiento en la salida.</a:t>
            </a:r>
            <a:endParaRPr lang="en-US" sz="1050" dirty="0"/>
          </a:p>
        </p:txBody>
      </p:sp>
      <p:sp>
        <p:nvSpPr>
          <p:cNvPr id="51" name="Text 48"/>
          <p:cNvSpPr txBox="1"/>
          <p:nvPr/>
        </p:nvSpPr>
        <p:spPr>
          <a:xfrm>
            <a:off x="548640" y="6327648"/>
            <a:ext cx="7863840" cy="228600"/>
          </a:xfrm>
          <a:prstGeom prst="rect">
            <a:avLst/>
          </a:prstGeom>
          <a:noFill/>
          <a:ln/>
        </p:spPr>
        <p:txBody>
          <a:bodyPr wrap="square" lIns="0" tIns="0" rIns="0" bIns="0" rtlCol="0" anchor="t"/>
          <a:lstStyle/>
          <a:p>
            <a:pPr indent="0" marL="0">
              <a:buNone/>
            </a:pPr>
            <a:r>
              <a:rPr lang="en-US" sz="900" dirty="0">
                <a:solidFill>
                  <a:srgbClr val="6E7378"/>
                </a:solidFill>
                <a:latin typeface="Inter" pitchFamily="34" charset="0"/>
                <a:ea typeface="Inter" pitchFamily="34" charset="-122"/>
                <a:cs typeface="Inter" pitchFamily="34" charset="-120"/>
              </a:rPr>
              <a:t>Fuente: art. 87 Ley 27/2014 (LIS), canje de valores.</a:t>
            </a:r>
            <a:endParaRPr lang="en-US" sz="900" dirty="0"/>
          </a:p>
        </p:txBody>
      </p:sp>
      <p:sp>
        <p:nvSpPr>
          <p:cNvPr id="52" name="Text 49"/>
          <p:cNvSpPr txBox="1"/>
          <p:nvPr/>
        </p:nvSpPr>
        <p:spPr>
          <a:xfrm>
            <a:off x="8595360" y="6327648"/>
            <a:ext cx="3044952" cy="228600"/>
          </a:xfrm>
          <a:prstGeom prst="rect">
            <a:avLst/>
          </a:prstGeom>
          <a:noFill/>
          <a:ln/>
        </p:spPr>
        <p:txBody>
          <a:bodyPr wrap="square" lIns="0" tIns="0" rIns="0" bIns="0" rtlCol="0" anchor="t"/>
          <a:lstStyle/>
          <a:p>
            <a:pPr algn="r" indent="0" marL="0">
              <a:buNone/>
            </a:pPr>
            <a:r>
              <a:rPr lang="en-US" sz="900" dirty="0">
                <a:solidFill>
                  <a:srgbClr val="6E7378"/>
                </a:solidFill>
                <a:latin typeface="Inter" pitchFamily="34" charset="0"/>
                <a:ea typeface="Inter" pitchFamily="34" charset="-122"/>
                <a:cs typeface="Inter" pitchFamily="34" charset="-120"/>
              </a:rPr>
              <a:t>Project Galicia  ·  Estrictamente confidencial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79476"/>
            <a:ext cx="7772400" cy="228600"/>
          </a:xfrm>
          <a:prstGeom prst="rect">
            <a:avLst/>
          </a:prstGeom>
          <a:noFill/>
          <a:ln/>
        </p:spPr>
        <p:txBody>
          <a:bodyPr wrap="square" lIns="0" tIns="0" rIns="0" bIns="0" rtlCol="0" anchor="ctr"/>
          <a:lstStyle/>
          <a:p>
            <a:pPr indent="0" marL="0">
              <a:buNone/>
            </a:pPr>
            <a:r>
              <a:rPr lang="en-US" sz="1100" b="1" spc="200" kern="0" dirty="0">
                <a:solidFill>
                  <a:srgbClr val="1F4B3F"/>
                </a:solidFill>
                <a:latin typeface="Inter" pitchFamily="34" charset="0"/>
                <a:ea typeface="Inter" pitchFamily="34" charset="-122"/>
                <a:cs typeface="Inter" pitchFamily="34" charset="-120"/>
              </a:rPr>
              <a:t>02  ESTRUCTURA DE LA COMPRA</a:t>
            </a:r>
            <a:endParaRPr lang="en-US" sz="1100" dirty="0"/>
          </a:p>
        </p:txBody>
      </p:sp>
      <p:pic>
        <p:nvPicPr>
          <p:cNvPr id="3" name="Image 0" descr="/tmp/claude-0/-home-claude/8d7de6a3-f167-5c95-8bc2-67944307bfd8/scratchpad/canva/img/HLP_monograma.png">    </p:cNvPr>
          <p:cNvPicPr>
            <a:picLocks noChangeAspect="1"/>
          </p:cNvPicPr>
          <p:nvPr/>
        </p:nvPicPr>
        <p:blipFill>
          <a:blip r:embed="rId1"/>
          <a:stretch>
            <a:fillRect/>
          </a:stretch>
        </p:blipFill>
        <p:spPr>
          <a:xfrm>
            <a:off x="11130991" y="237744"/>
            <a:ext cx="512064" cy="512064"/>
          </a:xfrm>
          <a:prstGeom prst="rect">
            <a:avLst/>
          </a:prstGeom>
        </p:spPr>
      </p:pic>
      <p:sp>
        <p:nvSpPr>
          <p:cNvPr id="4" name="Text 1"/>
          <p:cNvSpPr txBox="1"/>
          <p:nvPr/>
        </p:nvSpPr>
        <p:spPr>
          <a:xfrm>
            <a:off x="548640" y="786384"/>
            <a:ext cx="11091672" cy="658368"/>
          </a:xfrm>
          <a:prstGeom prst="rect">
            <a:avLst/>
          </a:prstGeom>
          <a:noFill/>
          <a:ln/>
        </p:spPr>
        <p:txBody>
          <a:bodyPr wrap="square" lIns="0" tIns="0" rIns="0" bIns="0" rtlCol="0" anchor="t"/>
          <a:lstStyle/>
          <a:p>
            <a:pPr indent="0" marL="0">
              <a:lnSpc>
                <a:spcPct val="92000"/>
              </a:lnSpc>
              <a:buNone/>
            </a:pPr>
            <a:r>
              <a:rPr lang="en-US" sz="2200" dirty="0">
                <a:solidFill>
                  <a:srgbClr val="1A1D21"/>
                </a:solidFill>
                <a:latin typeface="Lora" pitchFamily="34" charset="0"/>
                <a:ea typeface="Lora" pitchFamily="34" charset="-122"/>
                <a:cs typeface="Lora" pitchFamily="34" charset="-120"/>
              </a:rPr>
              <a:t>La operación mueve €201.265m; nuestros honorarios son €1.490m, el 1% del efectivo de la OPA</a:t>
            </a:r>
            <a:endParaRPr lang="en-US" sz="2200" dirty="0"/>
          </a:p>
        </p:txBody>
      </p:sp>
      <p:pic>
        <p:nvPicPr>
          <p:cNvPr id="5" name="Image 1" descr="/tmp/claude-0/-home-claude/8d7de6a3-f167-5c95-8bc2-67944307bfd8/scratchpad/canva/img/c6_su.png">    </p:cNvPr>
          <p:cNvPicPr>
            <a:picLocks noChangeAspect="1"/>
          </p:cNvPicPr>
          <p:nvPr/>
        </p:nvPicPr>
        <p:blipFill>
          <a:blip r:embed="rId2"/>
          <a:stretch>
            <a:fillRect/>
          </a:stretch>
        </p:blipFill>
        <p:spPr>
          <a:xfrm>
            <a:off x="548640" y="1572768"/>
            <a:ext cx="6670548" cy="4206240"/>
          </a:xfrm>
          <a:prstGeom prst="rect">
            <a:avLst/>
          </a:prstGeom>
        </p:spPr>
      </p:pic>
      <p:sp>
        <p:nvSpPr>
          <p:cNvPr id="6" name="Text 2"/>
          <p:cNvSpPr txBox="1"/>
          <p:nvPr/>
        </p:nvSpPr>
        <p:spPr>
          <a:xfrm>
            <a:off x="548640" y="5870448"/>
            <a:ext cx="6675120" cy="274320"/>
          </a:xfrm>
          <a:prstGeom prst="rect">
            <a:avLst/>
          </a:prstGeom>
          <a:noFill/>
          <a:ln/>
        </p:spPr>
        <p:txBody>
          <a:bodyPr wrap="square" lIns="0" tIns="0" rIns="0" bIns="0" rtlCol="0" anchor="t"/>
          <a:lstStyle/>
          <a:p>
            <a:pPr indent="0" marL="0">
              <a:buNone/>
            </a:pPr>
            <a:r>
              <a:rPr lang="en-US" sz="1100" dirty="0">
                <a:solidFill>
                  <a:srgbClr val="6E7378"/>
                </a:solidFill>
                <a:latin typeface="Inter" pitchFamily="34" charset="0"/>
                <a:ea typeface="Inter" pitchFamily="34" charset="-122"/>
                <a:cs typeface="Inter" pitchFamily="34" charset="-120"/>
              </a:rPr>
              <a:t>Usos y fuentes de la operación (€m)</a:t>
            </a:r>
            <a:endParaRPr lang="en-US" sz="1100" dirty="0"/>
          </a:p>
        </p:txBody>
      </p:sp>
      <p:sp>
        <p:nvSpPr>
          <p:cNvPr id="7" name="Shape 3"/>
          <p:cNvSpPr/>
          <p:nvPr/>
        </p:nvSpPr>
        <p:spPr>
          <a:xfrm>
            <a:off x="7498080" y="1572768"/>
            <a:ext cx="4142232" cy="2377440"/>
          </a:xfrm>
          <a:prstGeom prst="rect">
            <a:avLst>
              <a:gd name="adj" fmla="val 2308"/>
            </a:avLst>
          </a:prstGeom>
          <a:solidFill>
            <a:srgbClr val="1F4B3F"/>
          </a:solidFill>
          <a:ln/>
        </p:spPr>
      </p:sp>
      <p:sp>
        <p:nvSpPr>
          <p:cNvPr id="8" name="Text 4"/>
          <p:cNvSpPr txBox="1"/>
          <p:nvPr/>
        </p:nvSpPr>
        <p:spPr>
          <a:xfrm>
            <a:off x="7726680" y="1737360"/>
            <a:ext cx="3657600" cy="228600"/>
          </a:xfrm>
          <a:prstGeom prst="rect">
            <a:avLst/>
          </a:prstGeom>
          <a:noFill/>
          <a:ln/>
        </p:spPr>
        <p:txBody>
          <a:bodyPr wrap="square" lIns="0" tIns="0" rIns="0" bIns="0" rtlCol="0" anchor="t"/>
          <a:lstStyle/>
          <a:p>
            <a:pPr indent="0" marL="0">
              <a:buNone/>
            </a:pPr>
            <a:r>
              <a:rPr lang="en-US" sz="1050" b="1" spc="200" kern="0" dirty="0">
                <a:solidFill>
                  <a:srgbClr val="A8C9B8"/>
                </a:solidFill>
                <a:latin typeface="Inter" pitchFamily="34" charset="0"/>
                <a:ea typeface="Inter" pitchFamily="34" charset="-122"/>
                <a:cs typeface="Inter" pitchFamily="34" charset="-120"/>
              </a:rPr>
              <a:t>NUESTROS HONORARIOS</a:t>
            </a:r>
            <a:endParaRPr lang="en-US" sz="1050" dirty="0"/>
          </a:p>
        </p:txBody>
      </p:sp>
      <p:sp>
        <p:nvSpPr>
          <p:cNvPr id="9" name="Text 5"/>
          <p:cNvSpPr txBox="1"/>
          <p:nvPr/>
        </p:nvSpPr>
        <p:spPr>
          <a:xfrm>
            <a:off x="7726680" y="2011680"/>
            <a:ext cx="3749040" cy="914400"/>
          </a:xfrm>
          <a:prstGeom prst="rect">
            <a:avLst/>
          </a:prstGeom>
          <a:noFill/>
          <a:ln/>
        </p:spPr>
        <p:txBody>
          <a:bodyPr wrap="square" lIns="0" tIns="0" rIns="0" bIns="0" rtlCol="0" anchor="ctr"/>
          <a:lstStyle/>
          <a:p>
            <a:pPr indent="0" marL="0">
              <a:buNone/>
            </a:pPr>
            <a:r>
              <a:rPr lang="en-US" sz="5400" b="1" dirty="0">
                <a:solidFill>
                  <a:srgbClr val="FFFFFF"/>
                </a:solidFill>
                <a:latin typeface="Lora" pitchFamily="34" charset="0"/>
                <a:ea typeface="Lora" pitchFamily="34" charset="-122"/>
                <a:cs typeface="Lora" pitchFamily="34" charset="-120"/>
              </a:rPr>
              <a:t>€1.490m</a:t>
            </a:r>
            <a:endParaRPr lang="en-US" sz="5400" dirty="0"/>
          </a:p>
        </p:txBody>
      </p:sp>
      <p:sp>
        <p:nvSpPr>
          <p:cNvPr id="10" name="Text 6"/>
          <p:cNvSpPr txBox="1"/>
          <p:nvPr/>
        </p:nvSpPr>
        <p:spPr>
          <a:xfrm>
            <a:off x="7726680" y="2999232"/>
            <a:ext cx="3749040" cy="274320"/>
          </a:xfrm>
          <a:prstGeom prst="rect">
            <a:avLst/>
          </a:prstGeom>
          <a:noFill/>
          <a:ln/>
        </p:spPr>
        <p:txBody>
          <a:bodyPr wrap="square" lIns="0" tIns="0" rIns="0" bIns="0" rtlCol="0" anchor="t"/>
          <a:lstStyle/>
          <a:p>
            <a:pPr indent="0" marL="0">
              <a:buNone/>
            </a:pPr>
            <a:r>
              <a:rPr lang="en-US" sz="1300" b="1" dirty="0">
                <a:solidFill>
                  <a:srgbClr val="FFFFFF"/>
                </a:solidFill>
                <a:latin typeface="Inter" pitchFamily="34" charset="0"/>
                <a:ea typeface="Inter" pitchFamily="34" charset="-122"/>
                <a:cs typeface="Inter" pitchFamily="34" charset="-120"/>
              </a:rPr>
              <a:t>1% del efectivo de la OPA (€148.975m)</a:t>
            </a:r>
            <a:endParaRPr lang="en-US" sz="1300" dirty="0"/>
          </a:p>
        </p:txBody>
      </p:sp>
      <p:sp>
        <p:nvSpPr>
          <p:cNvPr id="11" name="Text 7"/>
          <p:cNvSpPr txBox="1"/>
          <p:nvPr/>
        </p:nvSpPr>
        <p:spPr>
          <a:xfrm>
            <a:off x="7726680" y="3310128"/>
            <a:ext cx="3749040" cy="502920"/>
          </a:xfrm>
          <a:prstGeom prst="rect">
            <a:avLst/>
          </a:prstGeom>
          <a:noFill/>
          <a:ln/>
        </p:spPr>
        <p:txBody>
          <a:bodyPr wrap="square" lIns="0" tIns="0" rIns="0" bIns="0" rtlCol="0" anchor="t"/>
          <a:lstStyle/>
          <a:p>
            <a:pPr indent="0" marL="0">
              <a:buNone/>
            </a:pPr>
            <a:r>
              <a:rPr lang="en-US" sz="1100" dirty="0">
                <a:solidFill>
                  <a:srgbClr val="D9E6DF"/>
                </a:solidFill>
                <a:latin typeface="Inter" pitchFamily="34" charset="0"/>
                <a:ea typeface="Inter" pitchFamily="34" charset="-122"/>
                <a:cs typeface="Inter" pitchFamily="34" charset="-120"/>
              </a:rPr>
              <a:t>Success fee al cierre · asesoramiento de M&amp;A, OPA y legal</a:t>
            </a:r>
            <a:endParaRPr lang="en-US" sz="1100" dirty="0"/>
          </a:p>
        </p:txBody>
      </p:sp>
      <p:sp>
        <p:nvSpPr>
          <p:cNvPr id="12" name="Text 8"/>
          <p:cNvSpPr txBox="1"/>
          <p:nvPr/>
        </p:nvSpPr>
        <p:spPr>
          <a:xfrm>
            <a:off x="7498080" y="4114800"/>
            <a:ext cx="4114800" cy="228600"/>
          </a:xfrm>
          <a:prstGeom prst="rect">
            <a:avLst/>
          </a:prstGeom>
          <a:noFill/>
          <a:ln/>
        </p:spPr>
        <p:txBody>
          <a:bodyPr wrap="square" lIns="0" tIns="0" rIns="0" bIns="0" rtlCol="0" anchor="t"/>
          <a:lstStyle/>
          <a:p>
            <a:pPr indent="0" marL="0">
              <a:buNone/>
            </a:pPr>
            <a:r>
              <a:rPr lang="en-US" sz="1050" b="1" spc="150" kern="0" dirty="0">
                <a:solidFill>
                  <a:srgbClr val="1F4B3F"/>
                </a:solidFill>
                <a:latin typeface="Inter" pitchFamily="34" charset="0"/>
                <a:ea typeface="Inter" pitchFamily="34" charset="-122"/>
                <a:cs typeface="Inter" pitchFamily="34" charset="-120"/>
              </a:rPr>
              <a:t>FUENTES</a:t>
            </a:r>
            <a:endParaRPr lang="en-US" sz="1050" dirty="0"/>
          </a:p>
        </p:txBody>
      </p:sp>
      <p:sp>
        <p:nvSpPr>
          <p:cNvPr id="13" name="Shape 9"/>
          <p:cNvSpPr/>
          <p:nvPr/>
        </p:nvSpPr>
        <p:spPr>
          <a:xfrm>
            <a:off x="7498080" y="4389120"/>
            <a:ext cx="4142232" cy="347472"/>
          </a:xfrm>
          <a:prstGeom prst="rect">
            <a:avLst>
              <a:gd name="adj" fmla="val 15789"/>
            </a:avLst>
          </a:prstGeom>
          <a:solidFill>
            <a:srgbClr val="F3F3F2"/>
          </a:solidFill>
          <a:ln/>
        </p:spPr>
      </p:sp>
      <p:sp>
        <p:nvSpPr>
          <p:cNvPr id="14" name="Text 10"/>
          <p:cNvSpPr txBox="1"/>
          <p:nvPr/>
        </p:nvSpPr>
        <p:spPr>
          <a:xfrm>
            <a:off x="7635240" y="4389120"/>
            <a:ext cx="2377440" cy="347472"/>
          </a:xfrm>
          <a:prstGeom prst="rect">
            <a:avLst/>
          </a:prstGeom>
          <a:noFill/>
          <a:ln/>
        </p:spPr>
        <p:txBody>
          <a:bodyPr wrap="square" lIns="0" tIns="0" rIns="0" bIns="0" rtlCol="0" anchor="ctr"/>
          <a:lstStyle/>
          <a:p>
            <a:pPr indent="0" marL="0">
              <a:buNone/>
            </a:pPr>
            <a:r>
              <a:rPr lang="en-US" sz="1150" b="1" dirty="0">
                <a:solidFill>
                  <a:srgbClr val="1A1D21"/>
                </a:solidFill>
                <a:latin typeface="Inter" pitchFamily="34" charset="0"/>
                <a:ea typeface="Inter" pitchFamily="34" charset="-122"/>
                <a:cs typeface="Inter" pitchFamily="34" charset="-120"/>
              </a:rPr>
              <a:t>Deuda</a:t>
            </a:r>
            <a:endParaRPr lang="en-US" sz="1150" dirty="0"/>
          </a:p>
        </p:txBody>
      </p:sp>
      <p:sp>
        <p:nvSpPr>
          <p:cNvPr id="15" name="Text 11"/>
          <p:cNvSpPr txBox="1"/>
          <p:nvPr/>
        </p:nvSpPr>
        <p:spPr>
          <a:xfrm>
            <a:off x="9692640" y="4389120"/>
            <a:ext cx="1234440" cy="347472"/>
          </a:xfrm>
          <a:prstGeom prst="rect">
            <a:avLst/>
          </a:prstGeom>
          <a:noFill/>
          <a:ln/>
        </p:spPr>
        <p:txBody>
          <a:bodyPr wrap="square" lIns="0" tIns="0" rIns="0" bIns="0" rtlCol="0" anchor="ctr"/>
          <a:lstStyle/>
          <a:p>
            <a:pPr algn="r" indent="0" marL="0">
              <a:buNone/>
            </a:pPr>
            <a:r>
              <a:rPr lang="en-US" sz="1150" dirty="0">
                <a:solidFill>
                  <a:srgbClr val="1F2124"/>
                </a:solidFill>
                <a:latin typeface="Inter" pitchFamily="34" charset="0"/>
                <a:ea typeface="Inter" pitchFamily="34" charset="-122"/>
                <a:cs typeface="Inter" pitchFamily="34" charset="-120"/>
              </a:rPr>
              <a:t>€76.956m</a:t>
            </a:r>
            <a:endParaRPr lang="en-US" sz="1150" dirty="0"/>
          </a:p>
        </p:txBody>
      </p:sp>
      <p:sp>
        <p:nvSpPr>
          <p:cNvPr id="16" name="Text 12"/>
          <p:cNvSpPr txBox="1"/>
          <p:nvPr/>
        </p:nvSpPr>
        <p:spPr>
          <a:xfrm>
            <a:off x="10927080" y="4389120"/>
            <a:ext cx="594360" cy="347472"/>
          </a:xfrm>
          <a:prstGeom prst="rect">
            <a:avLst/>
          </a:prstGeom>
          <a:noFill/>
          <a:ln/>
        </p:spPr>
        <p:txBody>
          <a:bodyPr wrap="square" lIns="0" tIns="0" rIns="0" bIns="0" rtlCol="0" anchor="ctr"/>
          <a:lstStyle/>
          <a:p>
            <a:pPr algn="r" indent="0" marL="0">
              <a:buNone/>
            </a:pPr>
            <a:r>
              <a:rPr lang="en-US" sz="1150" b="1" dirty="0">
                <a:solidFill>
                  <a:srgbClr val="1F4B3F"/>
                </a:solidFill>
                <a:latin typeface="Inter" pitchFamily="34" charset="0"/>
                <a:ea typeface="Inter" pitchFamily="34" charset="-122"/>
                <a:cs typeface="Inter" pitchFamily="34" charset="-120"/>
              </a:rPr>
              <a:t>38%</a:t>
            </a:r>
            <a:endParaRPr lang="en-US" sz="1150" dirty="0"/>
          </a:p>
        </p:txBody>
      </p:sp>
      <p:sp>
        <p:nvSpPr>
          <p:cNvPr id="17" name="Shape 13"/>
          <p:cNvSpPr/>
          <p:nvPr/>
        </p:nvSpPr>
        <p:spPr>
          <a:xfrm>
            <a:off x="7498080" y="4773168"/>
            <a:ext cx="4142232" cy="347472"/>
          </a:xfrm>
          <a:prstGeom prst="rect">
            <a:avLst>
              <a:gd name="adj" fmla="val 15789"/>
            </a:avLst>
          </a:prstGeom>
          <a:solidFill>
            <a:srgbClr val="E8E8E6"/>
          </a:solidFill>
          <a:ln/>
        </p:spPr>
      </p:sp>
      <p:sp>
        <p:nvSpPr>
          <p:cNvPr id="18" name="Text 14"/>
          <p:cNvSpPr txBox="1"/>
          <p:nvPr/>
        </p:nvSpPr>
        <p:spPr>
          <a:xfrm>
            <a:off x="7635240" y="4773168"/>
            <a:ext cx="2377440" cy="347472"/>
          </a:xfrm>
          <a:prstGeom prst="rect">
            <a:avLst/>
          </a:prstGeom>
          <a:noFill/>
          <a:ln/>
        </p:spPr>
        <p:txBody>
          <a:bodyPr wrap="square" lIns="0" tIns="0" rIns="0" bIns="0" rtlCol="0" anchor="ctr"/>
          <a:lstStyle/>
          <a:p>
            <a:pPr indent="0" marL="0">
              <a:buNone/>
            </a:pPr>
            <a:r>
              <a:rPr lang="en-US" sz="1150" b="1" dirty="0">
                <a:solidFill>
                  <a:srgbClr val="1A1D21"/>
                </a:solidFill>
                <a:latin typeface="Inter" pitchFamily="34" charset="0"/>
                <a:ea typeface="Inter" pitchFamily="34" charset="-122"/>
                <a:cs typeface="Inter" pitchFamily="34" charset="-120"/>
              </a:rPr>
              <a:t>Equity (rollover + consorcio)</a:t>
            </a:r>
            <a:endParaRPr lang="en-US" sz="1150" dirty="0"/>
          </a:p>
        </p:txBody>
      </p:sp>
      <p:sp>
        <p:nvSpPr>
          <p:cNvPr id="19" name="Text 15"/>
          <p:cNvSpPr txBox="1"/>
          <p:nvPr/>
        </p:nvSpPr>
        <p:spPr>
          <a:xfrm>
            <a:off x="9692640" y="4773168"/>
            <a:ext cx="1234440" cy="347472"/>
          </a:xfrm>
          <a:prstGeom prst="rect">
            <a:avLst/>
          </a:prstGeom>
          <a:noFill/>
          <a:ln/>
        </p:spPr>
        <p:txBody>
          <a:bodyPr wrap="square" lIns="0" tIns="0" rIns="0" bIns="0" rtlCol="0" anchor="ctr"/>
          <a:lstStyle/>
          <a:p>
            <a:pPr algn="r" indent="0" marL="0">
              <a:buNone/>
            </a:pPr>
            <a:r>
              <a:rPr lang="en-US" sz="1150" dirty="0">
                <a:solidFill>
                  <a:srgbClr val="1F2124"/>
                </a:solidFill>
                <a:latin typeface="Inter" pitchFamily="34" charset="0"/>
                <a:ea typeface="Inter" pitchFamily="34" charset="-122"/>
                <a:cs typeface="Inter" pitchFamily="34" charset="-120"/>
              </a:rPr>
              <a:t>€114.351m</a:t>
            </a:r>
            <a:endParaRPr lang="en-US" sz="1150" dirty="0"/>
          </a:p>
        </p:txBody>
      </p:sp>
      <p:sp>
        <p:nvSpPr>
          <p:cNvPr id="20" name="Text 16"/>
          <p:cNvSpPr txBox="1"/>
          <p:nvPr/>
        </p:nvSpPr>
        <p:spPr>
          <a:xfrm>
            <a:off x="10927080" y="4773168"/>
            <a:ext cx="594360" cy="347472"/>
          </a:xfrm>
          <a:prstGeom prst="rect">
            <a:avLst/>
          </a:prstGeom>
          <a:noFill/>
          <a:ln/>
        </p:spPr>
        <p:txBody>
          <a:bodyPr wrap="square" lIns="0" tIns="0" rIns="0" bIns="0" rtlCol="0" anchor="ctr"/>
          <a:lstStyle/>
          <a:p>
            <a:pPr algn="r" indent="0" marL="0">
              <a:buNone/>
            </a:pPr>
            <a:r>
              <a:rPr lang="en-US" sz="1150" b="1" dirty="0">
                <a:solidFill>
                  <a:srgbClr val="1F4B3F"/>
                </a:solidFill>
                <a:latin typeface="Inter" pitchFamily="34" charset="0"/>
                <a:ea typeface="Inter" pitchFamily="34" charset="-122"/>
                <a:cs typeface="Inter" pitchFamily="34" charset="-120"/>
              </a:rPr>
              <a:t>57%</a:t>
            </a:r>
            <a:endParaRPr lang="en-US" sz="1150" dirty="0"/>
          </a:p>
        </p:txBody>
      </p:sp>
      <p:sp>
        <p:nvSpPr>
          <p:cNvPr id="21" name="Shape 17"/>
          <p:cNvSpPr/>
          <p:nvPr/>
        </p:nvSpPr>
        <p:spPr>
          <a:xfrm>
            <a:off x="7498080" y="5157216"/>
            <a:ext cx="4142232" cy="347472"/>
          </a:xfrm>
          <a:prstGeom prst="rect">
            <a:avLst>
              <a:gd name="adj" fmla="val 15789"/>
            </a:avLst>
          </a:prstGeom>
          <a:solidFill>
            <a:srgbClr val="F3F3F2"/>
          </a:solidFill>
          <a:ln/>
        </p:spPr>
      </p:sp>
      <p:sp>
        <p:nvSpPr>
          <p:cNvPr id="22" name="Text 18"/>
          <p:cNvSpPr txBox="1"/>
          <p:nvPr/>
        </p:nvSpPr>
        <p:spPr>
          <a:xfrm>
            <a:off x="7635240" y="5157216"/>
            <a:ext cx="2377440" cy="347472"/>
          </a:xfrm>
          <a:prstGeom prst="rect">
            <a:avLst/>
          </a:prstGeom>
          <a:noFill/>
          <a:ln/>
        </p:spPr>
        <p:txBody>
          <a:bodyPr wrap="square" lIns="0" tIns="0" rIns="0" bIns="0" rtlCol="0" anchor="ctr"/>
          <a:lstStyle/>
          <a:p>
            <a:pPr indent="0" marL="0">
              <a:buNone/>
            </a:pPr>
            <a:r>
              <a:rPr lang="en-US" sz="1150" b="1" dirty="0">
                <a:solidFill>
                  <a:srgbClr val="1A1D21"/>
                </a:solidFill>
                <a:latin typeface="Inter" pitchFamily="34" charset="0"/>
                <a:ea typeface="Inter" pitchFamily="34" charset="-122"/>
                <a:cs typeface="Inter" pitchFamily="34" charset="-120"/>
              </a:rPr>
              <a:t>Caja de Inditex</a:t>
            </a:r>
            <a:endParaRPr lang="en-US" sz="1150" dirty="0"/>
          </a:p>
        </p:txBody>
      </p:sp>
      <p:sp>
        <p:nvSpPr>
          <p:cNvPr id="23" name="Text 19"/>
          <p:cNvSpPr txBox="1"/>
          <p:nvPr/>
        </p:nvSpPr>
        <p:spPr>
          <a:xfrm>
            <a:off x="9692640" y="5157216"/>
            <a:ext cx="1234440" cy="347472"/>
          </a:xfrm>
          <a:prstGeom prst="rect">
            <a:avLst/>
          </a:prstGeom>
          <a:noFill/>
          <a:ln/>
        </p:spPr>
        <p:txBody>
          <a:bodyPr wrap="square" lIns="0" tIns="0" rIns="0" bIns="0" rtlCol="0" anchor="ctr"/>
          <a:lstStyle/>
          <a:p>
            <a:pPr algn="r" indent="0" marL="0">
              <a:buNone/>
            </a:pPr>
            <a:r>
              <a:rPr lang="en-US" sz="1150" dirty="0">
                <a:solidFill>
                  <a:srgbClr val="1F2124"/>
                </a:solidFill>
                <a:latin typeface="Inter" pitchFamily="34" charset="0"/>
                <a:ea typeface="Inter" pitchFamily="34" charset="-122"/>
                <a:cs typeface="Inter" pitchFamily="34" charset="-120"/>
              </a:rPr>
              <a:t>€9.958m</a:t>
            </a:r>
            <a:endParaRPr lang="en-US" sz="1150" dirty="0"/>
          </a:p>
        </p:txBody>
      </p:sp>
      <p:sp>
        <p:nvSpPr>
          <p:cNvPr id="24" name="Text 20"/>
          <p:cNvSpPr txBox="1"/>
          <p:nvPr/>
        </p:nvSpPr>
        <p:spPr>
          <a:xfrm>
            <a:off x="10927080" y="5157216"/>
            <a:ext cx="594360" cy="347472"/>
          </a:xfrm>
          <a:prstGeom prst="rect">
            <a:avLst/>
          </a:prstGeom>
          <a:noFill/>
          <a:ln/>
        </p:spPr>
        <p:txBody>
          <a:bodyPr wrap="square" lIns="0" tIns="0" rIns="0" bIns="0" rtlCol="0" anchor="ctr"/>
          <a:lstStyle/>
          <a:p>
            <a:pPr algn="r" indent="0" marL="0">
              <a:buNone/>
            </a:pPr>
            <a:r>
              <a:rPr lang="en-US" sz="1150" b="1" dirty="0">
                <a:solidFill>
                  <a:srgbClr val="1F4B3F"/>
                </a:solidFill>
                <a:latin typeface="Inter" pitchFamily="34" charset="0"/>
                <a:ea typeface="Inter" pitchFamily="34" charset="-122"/>
                <a:cs typeface="Inter" pitchFamily="34" charset="-120"/>
              </a:rPr>
              <a:t>5%</a:t>
            </a:r>
            <a:endParaRPr lang="en-US" sz="1150" dirty="0"/>
          </a:p>
        </p:txBody>
      </p:sp>
      <p:sp>
        <p:nvSpPr>
          <p:cNvPr id="25" name="Text 21"/>
          <p:cNvSpPr txBox="1"/>
          <p:nvPr/>
        </p:nvSpPr>
        <p:spPr>
          <a:xfrm>
            <a:off x="7498080" y="5596128"/>
            <a:ext cx="4142232" cy="566928"/>
          </a:xfrm>
          <a:prstGeom prst="rect">
            <a:avLst/>
          </a:prstGeom>
          <a:noFill/>
          <a:ln/>
        </p:spPr>
        <p:txBody>
          <a:bodyPr wrap="square" lIns="0" tIns="0" rIns="0" bIns="0" rtlCol="0" anchor="t"/>
          <a:lstStyle/>
          <a:p>
            <a:pPr indent="0" marL="0">
              <a:buNone/>
            </a:pPr>
            <a:r>
              <a:rPr lang="en-US" sz="1050" b="1" dirty="0">
                <a:solidFill>
                  <a:srgbClr val="1A1D21"/>
                </a:solidFill>
                <a:latin typeface="Inter" pitchFamily="34" charset="0"/>
                <a:ea typeface="Inter" pitchFamily="34" charset="-122"/>
                <a:cs typeface="Inter" pitchFamily="34" charset="-120"/>
              </a:rPr>
              <a:t>Otras comisiones: </a:t>
            </a:r>
            <a:pPr indent="0" marL="0">
              <a:buNone/>
            </a:pPr>
            <a:r>
              <a:rPr lang="en-US" sz="1050" dirty="0">
                <a:solidFill>
                  <a:srgbClr val="1F2124"/>
                </a:solidFill>
                <a:latin typeface="Inter" pitchFamily="34" charset="0"/>
                <a:ea typeface="Inter" pitchFamily="34" charset="-122"/>
                <a:cs typeface="Inter" pitchFamily="34" charset="-120"/>
              </a:rPr>
              <a:t>financiación €1.142m para bancos y fondos (entrada total €2.632m, 1,3%); en la salida, 0,75% del EV (€2.166m).</a:t>
            </a:r>
            <a:endParaRPr lang="en-US" sz="1050" dirty="0"/>
          </a:p>
        </p:txBody>
      </p:sp>
      <p:sp>
        <p:nvSpPr>
          <p:cNvPr id="26" name="Text 22"/>
          <p:cNvSpPr txBox="1"/>
          <p:nvPr/>
        </p:nvSpPr>
        <p:spPr>
          <a:xfrm>
            <a:off x="548640" y="6327648"/>
            <a:ext cx="7863840" cy="228600"/>
          </a:xfrm>
          <a:prstGeom prst="rect">
            <a:avLst/>
          </a:prstGeom>
          <a:noFill/>
          <a:ln/>
        </p:spPr>
        <p:txBody>
          <a:bodyPr wrap="square" lIns="0" tIns="0" rIns="0" bIns="0" rtlCol="0" anchor="t"/>
          <a:lstStyle/>
          <a:p>
            <a:pPr indent="0" marL="0">
              <a:buNone/>
            </a:pPr>
            <a:r>
              <a:rPr lang="en-US" sz="900" dirty="0">
                <a:solidFill>
                  <a:srgbClr val="6E7378"/>
                </a:solidFill>
                <a:latin typeface="Inter" pitchFamily="34" charset="0"/>
                <a:ea typeface="Inter" pitchFamily="34" charset="-122"/>
                <a:cs typeface="Inter" pitchFamily="34" charset="-120"/>
              </a:rPr>
              <a:t>€ millones salvo indicación.</a:t>
            </a:r>
            <a:endParaRPr lang="en-US" sz="900" dirty="0"/>
          </a:p>
        </p:txBody>
      </p:sp>
      <p:sp>
        <p:nvSpPr>
          <p:cNvPr id="27" name="Text 23"/>
          <p:cNvSpPr txBox="1"/>
          <p:nvPr/>
        </p:nvSpPr>
        <p:spPr>
          <a:xfrm>
            <a:off x="8595360" y="6327648"/>
            <a:ext cx="3044952" cy="228600"/>
          </a:xfrm>
          <a:prstGeom prst="rect">
            <a:avLst/>
          </a:prstGeom>
          <a:noFill/>
          <a:ln/>
        </p:spPr>
        <p:txBody>
          <a:bodyPr wrap="square" lIns="0" tIns="0" rIns="0" bIns="0" rtlCol="0" anchor="t"/>
          <a:lstStyle/>
          <a:p>
            <a:pPr algn="r" indent="0" marL="0">
              <a:buNone/>
            </a:pPr>
            <a:r>
              <a:rPr lang="en-US" sz="900" dirty="0">
                <a:solidFill>
                  <a:srgbClr val="6E7378"/>
                </a:solidFill>
                <a:latin typeface="Inter" pitchFamily="34" charset="0"/>
                <a:ea typeface="Inter" pitchFamily="34" charset="-122"/>
                <a:cs typeface="Inter" pitchFamily="34" charset="-120"/>
              </a:rPr>
              <a:t>Project Galicia  ·  Estrictamente confidencial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79476"/>
            <a:ext cx="7772400" cy="228600"/>
          </a:xfrm>
          <a:prstGeom prst="rect">
            <a:avLst/>
          </a:prstGeom>
          <a:noFill/>
          <a:ln/>
        </p:spPr>
        <p:txBody>
          <a:bodyPr wrap="square" lIns="0" tIns="0" rIns="0" bIns="0" rtlCol="0" anchor="ctr"/>
          <a:lstStyle/>
          <a:p>
            <a:pPr indent="0" marL="0">
              <a:buNone/>
            </a:pPr>
            <a:r>
              <a:rPr lang="en-US" sz="1100" b="1" spc="200" kern="0" dirty="0">
                <a:solidFill>
                  <a:srgbClr val="1F4B3F"/>
                </a:solidFill>
                <a:latin typeface="Inter" pitchFamily="34" charset="0"/>
                <a:ea typeface="Inter" pitchFamily="34" charset="-122"/>
                <a:cs typeface="Inter" pitchFamily="34" charset="-120"/>
              </a:rPr>
              <a:t>03  ESTRUCTURA DE LA DEUDA</a:t>
            </a:r>
            <a:endParaRPr lang="en-US" sz="1100" dirty="0"/>
          </a:p>
        </p:txBody>
      </p:sp>
      <p:pic>
        <p:nvPicPr>
          <p:cNvPr id="3" name="Image 0" descr="/tmp/claude-0/-home-claude/8d7de6a3-f167-5c95-8bc2-67944307bfd8/scratchpad/canva/img/HLP_monograma.png">    </p:cNvPr>
          <p:cNvPicPr>
            <a:picLocks noChangeAspect="1"/>
          </p:cNvPicPr>
          <p:nvPr/>
        </p:nvPicPr>
        <p:blipFill>
          <a:blip r:embed="rId1"/>
          <a:stretch>
            <a:fillRect/>
          </a:stretch>
        </p:blipFill>
        <p:spPr>
          <a:xfrm>
            <a:off x="11130991" y="237744"/>
            <a:ext cx="512064" cy="512064"/>
          </a:xfrm>
          <a:prstGeom prst="rect">
            <a:avLst/>
          </a:prstGeom>
        </p:spPr>
      </p:pic>
      <p:sp>
        <p:nvSpPr>
          <p:cNvPr id="4" name="Text 1"/>
          <p:cNvSpPr txBox="1"/>
          <p:nvPr/>
        </p:nvSpPr>
        <p:spPr>
          <a:xfrm>
            <a:off x="548640" y="786384"/>
            <a:ext cx="11091672" cy="658368"/>
          </a:xfrm>
          <a:prstGeom prst="rect">
            <a:avLst/>
          </a:prstGeom>
          <a:noFill/>
          <a:ln/>
        </p:spPr>
        <p:txBody>
          <a:bodyPr wrap="square" lIns="0" tIns="0" rIns="0" bIns="0" rtlCol="0" anchor="t"/>
          <a:lstStyle/>
          <a:p>
            <a:pPr indent="0" marL="0">
              <a:lnSpc>
                <a:spcPct val="92000"/>
              </a:lnSpc>
              <a:buNone/>
            </a:pPr>
            <a:r>
              <a:rPr lang="en-US" sz="2200" dirty="0">
                <a:solidFill>
                  <a:srgbClr val="1A1D21"/>
                </a:solidFill>
                <a:latin typeface="Lora" pitchFamily="34" charset="0"/>
                <a:ea typeface="Lora" pitchFamily="34" charset="-122"/>
                <a:cs typeface="Lora" pitchFamily="34" charset="-120"/>
              </a:rPr>
              <a:t>€76.956m de deuda (8,2x EBITDA) en cinco tramos</a:t>
            </a:r>
            <a:endParaRPr lang="en-US" sz="2200" dirty="0"/>
          </a:p>
        </p:txBody>
      </p:sp>
      <p:sp>
        <p:nvSpPr>
          <p:cNvPr id="5" name="Text 2"/>
          <p:cNvSpPr txBox="1"/>
          <p:nvPr/>
        </p:nvSpPr>
        <p:spPr>
          <a:xfrm>
            <a:off x="548640" y="1645920"/>
            <a:ext cx="2514600" cy="475488"/>
          </a:xfrm>
          <a:prstGeom prst="rect">
            <a:avLst/>
          </a:prstGeom>
          <a:solidFill>
            <a:srgbClr val="1A1D21"/>
          </a:solidFill>
          <a:ln/>
        </p:spPr>
        <p:txBody>
          <a:bodyPr wrap="square" lIns="0" tIns="88900" rIns="88900" bIns="0" rtlCol="0" anchor="ctr"/>
          <a:lstStyle/>
          <a:p>
            <a:pPr algn="l" indent="0" marL="0">
              <a:buNone/>
            </a:pPr>
            <a:r>
              <a:rPr lang="en-US" sz="1150" b="1" dirty="0">
                <a:solidFill>
                  <a:srgbClr val="FFFFFF"/>
                </a:solidFill>
                <a:latin typeface="Inter" pitchFamily="34" charset="0"/>
                <a:ea typeface="Inter" pitchFamily="34" charset="-122"/>
                <a:cs typeface="Inter" pitchFamily="34" charset="-120"/>
              </a:rPr>
              <a:t>Tramo</a:t>
            </a:r>
            <a:endParaRPr lang="en-US" sz="1150" dirty="0"/>
          </a:p>
        </p:txBody>
      </p:sp>
      <p:sp>
        <p:nvSpPr>
          <p:cNvPr id="6" name="Text 3"/>
          <p:cNvSpPr txBox="1"/>
          <p:nvPr/>
        </p:nvSpPr>
        <p:spPr>
          <a:xfrm>
            <a:off x="3063240" y="1645920"/>
            <a:ext cx="914400" cy="475488"/>
          </a:xfrm>
          <a:prstGeom prst="rect">
            <a:avLst/>
          </a:prstGeom>
          <a:solidFill>
            <a:srgbClr val="1A1D21"/>
          </a:solidFill>
          <a:ln/>
        </p:spPr>
        <p:txBody>
          <a:bodyPr wrap="square" lIns="0" tIns="88900" rIns="88900" bIns="0" rtlCol="0" anchor="ctr"/>
          <a:lstStyle/>
          <a:p>
            <a:pPr algn="l" indent="0" marL="0">
              <a:buNone/>
            </a:pPr>
            <a:r>
              <a:rPr lang="en-US" sz="1150" b="1" dirty="0">
                <a:solidFill>
                  <a:srgbClr val="FFFFFF"/>
                </a:solidFill>
                <a:latin typeface="Inter" pitchFamily="34" charset="0"/>
                <a:ea typeface="Inter" pitchFamily="34" charset="-122"/>
                <a:cs typeface="Inter" pitchFamily="34" charset="-120"/>
              </a:rPr>
              <a:t>Sociedad</a:t>
            </a:r>
            <a:endParaRPr lang="en-US" sz="1150" dirty="0"/>
          </a:p>
        </p:txBody>
      </p:sp>
      <p:sp>
        <p:nvSpPr>
          <p:cNvPr id="7" name="Text 4"/>
          <p:cNvSpPr txBox="1"/>
          <p:nvPr/>
        </p:nvSpPr>
        <p:spPr>
          <a:xfrm>
            <a:off x="3977640" y="1645920"/>
            <a:ext cx="960120" cy="475488"/>
          </a:xfrm>
          <a:prstGeom prst="rect">
            <a:avLst/>
          </a:prstGeom>
          <a:solidFill>
            <a:srgbClr val="1A1D21"/>
          </a:solidFill>
          <a:ln/>
        </p:spPr>
        <p:txBody>
          <a:bodyPr wrap="square" lIns="0" tIns="88900" rIns="88900" bIns="0" rtlCol="0" anchor="ctr"/>
          <a:lstStyle/>
          <a:p>
            <a:pPr algn="r" indent="0" marL="0">
              <a:buNone/>
            </a:pPr>
            <a:r>
              <a:rPr lang="en-US" sz="1150" b="1" dirty="0">
                <a:solidFill>
                  <a:srgbClr val="FFFFFF"/>
                </a:solidFill>
                <a:latin typeface="Inter" pitchFamily="34" charset="0"/>
                <a:ea typeface="Inter" pitchFamily="34" charset="-122"/>
                <a:cs typeface="Inter" pitchFamily="34" charset="-120"/>
              </a:rPr>
              <a:t>€m</a:t>
            </a:r>
            <a:endParaRPr lang="en-US" sz="1150" dirty="0"/>
          </a:p>
        </p:txBody>
      </p:sp>
      <p:sp>
        <p:nvSpPr>
          <p:cNvPr id="8" name="Text 5"/>
          <p:cNvSpPr txBox="1"/>
          <p:nvPr/>
        </p:nvSpPr>
        <p:spPr>
          <a:xfrm>
            <a:off x="4937760" y="1645920"/>
            <a:ext cx="960120" cy="475488"/>
          </a:xfrm>
          <a:prstGeom prst="rect">
            <a:avLst/>
          </a:prstGeom>
          <a:solidFill>
            <a:srgbClr val="1A1D21"/>
          </a:solidFill>
          <a:ln/>
        </p:spPr>
        <p:txBody>
          <a:bodyPr wrap="square" lIns="0" tIns="88900" rIns="88900" bIns="0" rtlCol="0" anchor="ctr"/>
          <a:lstStyle/>
          <a:p>
            <a:pPr algn="r" indent="0" marL="0">
              <a:buNone/>
            </a:pPr>
            <a:r>
              <a:rPr lang="en-US" sz="1150" b="1" dirty="0">
                <a:solidFill>
                  <a:srgbClr val="FFFFFF"/>
                </a:solidFill>
                <a:latin typeface="Inter" pitchFamily="34" charset="0"/>
                <a:ea typeface="Inter" pitchFamily="34" charset="-122"/>
                <a:cs typeface="Inter" pitchFamily="34" charset="-120"/>
              </a:rPr>
              <a:t>x EBITDA</a:t>
            </a:r>
            <a:endParaRPr lang="en-US" sz="1150" dirty="0"/>
          </a:p>
        </p:txBody>
      </p:sp>
      <p:sp>
        <p:nvSpPr>
          <p:cNvPr id="9" name="Text 6"/>
          <p:cNvSpPr txBox="1"/>
          <p:nvPr/>
        </p:nvSpPr>
        <p:spPr>
          <a:xfrm>
            <a:off x="5897880" y="1645920"/>
            <a:ext cx="1783080" cy="475488"/>
          </a:xfrm>
          <a:prstGeom prst="rect">
            <a:avLst/>
          </a:prstGeom>
          <a:solidFill>
            <a:srgbClr val="1A1D21"/>
          </a:solidFill>
          <a:ln/>
        </p:spPr>
        <p:txBody>
          <a:bodyPr wrap="square" lIns="0" tIns="88900" rIns="88900" bIns="0" rtlCol="0" anchor="ctr"/>
          <a:lstStyle/>
          <a:p>
            <a:pPr algn="l" indent="0" marL="0">
              <a:buNone/>
            </a:pPr>
            <a:r>
              <a:rPr lang="en-US" sz="1150" b="1" dirty="0">
                <a:solidFill>
                  <a:srgbClr val="FFFFFF"/>
                </a:solidFill>
                <a:latin typeface="Inter" pitchFamily="34" charset="0"/>
                <a:ea typeface="Inter" pitchFamily="34" charset="-122"/>
                <a:cs typeface="Inter" pitchFamily="34" charset="-120"/>
              </a:rPr>
              <a:t>Coste</a:t>
            </a:r>
            <a:endParaRPr lang="en-US" sz="1150" dirty="0"/>
          </a:p>
        </p:txBody>
      </p:sp>
      <p:sp>
        <p:nvSpPr>
          <p:cNvPr id="10" name="Text 7"/>
          <p:cNvSpPr txBox="1"/>
          <p:nvPr/>
        </p:nvSpPr>
        <p:spPr>
          <a:xfrm>
            <a:off x="7680960" y="1645920"/>
            <a:ext cx="2880360" cy="475488"/>
          </a:xfrm>
          <a:prstGeom prst="rect">
            <a:avLst/>
          </a:prstGeom>
          <a:solidFill>
            <a:srgbClr val="1A1D21"/>
          </a:solidFill>
          <a:ln/>
        </p:spPr>
        <p:txBody>
          <a:bodyPr wrap="square" lIns="0" tIns="88900" rIns="88900" bIns="0" rtlCol="0" anchor="ctr"/>
          <a:lstStyle/>
          <a:p>
            <a:pPr algn="l" indent="0" marL="0">
              <a:buNone/>
            </a:pPr>
            <a:r>
              <a:rPr lang="en-US" sz="1150" b="1" dirty="0">
                <a:solidFill>
                  <a:srgbClr val="FFFFFF"/>
                </a:solidFill>
                <a:latin typeface="Inter" pitchFamily="34" charset="0"/>
                <a:ea typeface="Inter" pitchFamily="34" charset="-122"/>
                <a:cs typeface="Inter" pitchFamily="34" charset="-120"/>
              </a:rPr>
              <a:t>Amortización</a:t>
            </a:r>
            <a:endParaRPr lang="en-US" sz="1150" dirty="0"/>
          </a:p>
        </p:txBody>
      </p:sp>
      <p:sp>
        <p:nvSpPr>
          <p:cNvPr id="11" name="Text 8"/>
          <p:cNvSpPr txBox="1"/>
          <p:nvPr/>
        </p:nvSpPr>
        <p:spPr>
          <a:xfrm>
            <a:off x="10561320" y="1645920"/>
            <a:ext cx="1078992" cy="475488"/>
          </a:xfrm>
          <a:prstGeom prst="rect">
            <a:avLst/>
          </a:prstGeom>
          <a:solidFill>
            <a:srgbClr val="1A1D21"/>
          </a:solidFill>
          <a:ln/>
        </p:spPr>
        <p:txBody>
          <a:bodyPr wrap="square" lIns="0" tIns="88900" rIns="88900" bIns="0" rtlCol="0" anchor="ctr"/>
          <a:lstStyle/>
          <a:p>
            <a:pPr algn="r" indent="0" marL="0">
              <a:buNone/>
            </a:pPr>
            <a:r>
              <a:rPr lang="en-US" sz="1150" b="1" dirty="0">
                <a:solidFill>
                  <a:srgbClr val="FFFFFF"/>
                </a:solidFill>
                <a:latin typeface="Inter" pitchFamily="34" charset="0"/>
                <a:ea typeface="Inter" pitchFamily="34" charset="-122"/>
                <a:cs typeface="Inter" pitchFamily="34" charset="-120"/>
              </a:rPr>
              <a:t>Comisión</a:t>
            </a:r>
            <a:endParaRPr lang="en-US" sz="1150" dirty="0"/>
          </a:p>
        </p:txBody>
      </p:sp>
      <p:sp>
        <p:nvSpPr>
          <p:cNvPr id="12" name="Text 9"/>
          <p:cNvSpPr txBox="1"/>
          <p:nvPr/>
        </p:nvSpPr>
        <p:spPr>
          <a:xfrm>
            <a:off x="548640" y="2121408"/>
            <a:ext cx="2514600" cy="475488"/>
          </a:xfrm>
          <a:prstGeom prst="rect">
            <a:avLst/>
          </a:prstGeom>
          <a:solidFill>
            <a:srgbClr val="FFFFFF"/>
          </a:solidFill>
          <a:ln/>
        </p:spPr>
        <p:txBody>
          <a:bodyPr wrap="square" lIns="0" tIns="88900" rIns="88900" bIns="0" rtlCol="0" anchor="ctr"/>
          <a:lstStyle/>
          <a:p>
            <a:pPr algn="l" indent="0" marL="0">
              <a:buNone/>
            </a:pPr>
            <a:r>
              <a:rPr lang="en-US" sz="1200" b="1" dirty="0">
                <a:solidFill>
                  <a:srgbClr val="1F2124"/>
                </a:solidFill>
                <a:latin typeface="Inter" pitchFamily="34" charset="0"/>
                <a:ea typeface="Inter" pitchFamily="34" charset="-122"/>
                <a:cs typeface="Inter" pitchFamily="34" charset="-120"/>
              </a:rPr>
              <a:t>RCF (revolving)</a:t>
            </a:r>
            <a:endParaRPr lang="en-US" sz="1200" dirty="0"/>
          </a:p>
        </p:txBody>
      </p:sp>
      <p:sp>
        <p:nvSpPr>
          <p:cNvPr id="13" name="Text 10"/>
          <p:cNvSpPr txBox="1"/>
          <p:nvPr/>
        </p:nvSpPr>
        <p:spPr>
          <a:xfrm>
            <a:off x="3063240" y="2121408"/>
            <a:ext cx="914400" cy="475488"/>
          </a:xfrm>
          <a:prstGeom prst="rect">
            <a:avLst/>
          </a:prstGeom>
          <a:solidFill>
            <a:srgbClr val="FFFFFF"/>
          </a:solidFill>
          <a:ln/>
        </p:spPr>
        <p:txBody>
          <a:bodyPr wrap="square" lIns="0" tIns="88900" rIns="88900" bIns="0" rtlCol="0" anchor="ctr"/>
          <a:lstStyle/>
          <a:p>
            <a:pPr algn="l" indent="0" marL="0">
              <a:buNone/>
            </a:pPr>
            <a:r>
              <a:rPr lang="en-US" sz="1200" dirty="0">
                <a:solidFill>
                  <a:srgbClr val="1F2124"/>
                </a:solidFill>
                <a:latin typeface="Inter" pitchFamily="34" charset="0"/>
                <a:ea typeface="Inter" pitchFamily="34" charset="-122"/>
                <a:cs typeface="Inter" pitchFamily="34" charset="-120"/>
              </a:rPr>
              <a:t>BidCo</a:t>
            </a:r>
            <a:endParaRPr lang="en-US" sz="1200" dirty="0"/>
          </a:p>
        </p:txBody>
      </p:sp>
      <p:sp>
        <p:nvSpPr>
          <p:cNvPr id="14" name="Text 11"/>
          <p:cNvSpPr txBox="1"/>
          <p:nvPr/>
        </p:nvSpPr>
        <p:spPr>
          <a:xfrm>
            <a:off x="3977640" y="2121408"/>
            <a:ext cx="960120" cy="475488"/>
          </a:xfrm>
          <a:prstGeom prst="rect">
            <a:avLst/>
          </a:prstGeom>
          <a:solidFill>
            <a:srgbClr val="FFFFFF"/>
          </a:solidFill>
          <a:ln/>
        </p:spPr>
        <p:txBody>
          <a:bodyPr wrap="square" lIns="0" tIns="88900" rIns="88900" bIns="0" rtlCol="0" anchor="ctr"/>
          <a:lstStyle/>
          <a:p>
            <a:pPr algn="r" indent="0" marL="0">
              <a:buNone/>
            </a:pPr>
            <a:r>
              <a:rPr lang="en-US" sz="1200" dirty="0">
                <a:solidFill>
                  <a:srgbClr val="1F2124"/>
                </a:solidFill>
                <a:latin typeface="Inter" pitchFamily="34" charset="0"/>
                <a:ea typeface="Inter" pitchFamily="34" charset="-122"/>
                <a:cs typeface="Inter" pitchFamily="34" charset="-120"/>
              </a:rPr>
              <a:t>1.000</a:t>
            </a:r>
            <a:endParaRPr lang="en-US" sz="1200" dirty="0"/>
          </a:p>
        </p:txBody>
      </p:sp>
      <p:sp>
        <p:nvSpPr>
          <p:cNvPr id="15" name="Text 12"/>
          <p:cNvSpPr txBox="1"/>
          <p:nvPr/>
        </p:nvSpPr>
        <p:spPr>
          <a:xfrm>
            <a:off x="4937760" y="2121408"/>
            <a:ext cx="960120" cy="475488"/>
          </a:xfrm>
          <a:prstGeom prst="rect">
            <a:avLst/>
          </a:prstGeom>
          <a:solidFill>
            <a:srgbClr val="FFFFFF"/>
          </a:solidFill>
          <a:ln/>
        </p:spPr>
        <p:txBody>
          <a:bodyPr wrap="square" lIns="0" tIns="88900" rIns="88900" bIns="0" rtlCol="0" anchor="ctr"/>
          <a:lstStyle/>
          <a:p>
            <a:pPr algn="r" indent="0" marL="0">
              <a:buNone/>
            </a:pPr>
            <a:r>
              <a:rPr lang="en-US" sz="1200" dirty="0">
                <a:solidFill>
                  <a:srgbClr val="1F2124"/>
                </a:solidFill>
                <a:latin typeface="Inter" pitchFamily="34" charset="0"/>
                <a:ea typeface="Inter" pitchFamily="34" charset="-122"/>
                <a:cs typeface="Inter" pitchFamily="34" charset="-120"/>
              </a:rPr>
              <a:t>0,1x</a:t>
            </a:r>
            <a:endParaRPr lang="en-US" sz="1200" dirty="0"/>
          </a:p>
        </p:txBody>
      </p:sp>
      <p:sp>
        <p:nvSpPr>
          <p:cNvPr id="16" name="Text 13"/>
          <p:cNvSpPr txBox="1"/>
          <p:nvPr/>
        </p:nvSpPr>
        <p:spPr>
          <a:xfrm>
            <a:off x="5897880" y="2121408"/>
            <a:ext cx="1783080" cy="475488"/>
          </a:xfrm>
          <a:prstGeom prst="rect">
            <a:avLst/>
          </a:prstGeom>
          <a:solidFill>
            <a:srgbClr val="FFFFFF"/>
          </a:solidFill>
          <a:ln/>
        </p:spPr>
        <p:txBody>
          <a:bodyPr wrap="square" lIns="0" tIns="88900" rIns="88900" bIns="0" rtlCol="0" anchor="ctr"/>
          <a:lstStyle/>
          <a:p>
            <a:pPr algn="l" indent="0" marL="0">
              <a:buNone/>
            </a:pPr>
            <a:r>
              <a:rPr lang="en-US" sz="1200" dirty="0">
                <a:solidFill>
                  <a:srgbClr val="1F2124"/>
                </a:solidFill>
                <a:latin typeface="Inter" pitchFamily="34" charset="0"/>
                <a:ea typeface="Inter" pitchFamily="34" charset="-122"/>
                <a:cs typeface="Inter" pitchFamily="34" charset="-120"/>
              </a:rPr>
              <a:t>E + 2,00%</a:t>
            </a:r>
            <a:endParaRPr lang="en-US" sz="1200" dirty="0"/>
          </a:p>
        </p:txBody>
      </p:sp>
      <p:sp>
        <p:nvSpPr>
          <p:cNvPr id="17" name="Text 14"/>
          <p:cNvSpPr txBox="1"/>
          <p:nvPr/>
        </p:nvSpPr>
        <p:spPr>
          <a:xfrm>
            <a:off x="7680960" y="2121408"/>
            <a:ext cx="2880360" cy="475488"/>
          </a:xfrm>
          <a:prstGeom prst="rect">
            <a:avLst/>
          </a:prstGeom>
          <a:solidFill>
            <a:srgbClr val="FFFFFF"/>
          </a:solidFill>
          <a:ln/>
        </p:spPr>
        <p:txBody>
          <a:bodyPr wrap="square" lIns="0" tIns="88900" rIns="88900" bIns="0" rtlCol="0" anchor="ctr"/>
          <a:lstStyle/>
          <a:p>
            <a:pPr algn="l" indent="0" marL="0">
              <a:buNone/>
            </a:pPr>
            <a:r>
              <a:rPr lang="en-US" sz="1200" dirty="0">
                <a:solidFill>
                  <a:srgbClr val="1F2124"/>
                </a:solidFill>
                <a:latin typeface="Inter" pitchFamily="34" charset="0"/>
                <a:ea typeface="Inter" pitchFamily="34" charset="-122"/>
                <a:cs typeface="Inter" pitchFamily="34" charset="-120"/>
              </a:rPr>
              <a:t>No dispuesta; 0,75% sin usar</a:t>
            </a:r>
            <a:endParaRPr lang="en-US" sz="1200" dirty="0"/>
          </a:p>
        </p:txBody>
      </p:sp>
      <p:sp>
        <p:nvSpPr>
          <p:cNvPr id="18" name="Text 15"/>
          <p:cNvSpPr txBox="1"/>
          <p:nvPr/>
        </p:nvSpPr>
        <p:spPr>
          <a:xfrm>
            <a:off x="10561320" y="2121408"/>
            <a:ext cx="1078992" cy="475488"/>
          </a:xfrm>
          <a:prstGeom prst="rect">
            <a:avLst/>
          </a:prstGeom>
          <a:solidFill>
            <a:srgbClr val="FFFFFF"/>
          </a:solidFill>
          <a:ln/>
        </p:spPr>
        <p:txBody>
          <a:bodyPr wrap="square" lIns="0" tIns="88900" rIns="88900" bIns="0" rtlCol="0" anchor="ctr"/>
          <a:lstStyle/>
          <a:p>
            <a:pPr algn="r" indent="0" marL="0">
              <a:buNone/>
            </a:pPr>
            <a:r>
              <a:rPr lang="en-US" sz="1200" dirty="0">
                <a:solidFill>
                  <a:srgbClr val="1F2124"/>
                </a:solidFill>
                <a:latin typeface="Inter" pitchFamily="34" charset="0"/>
                <a:ea typeface="Inter" pitchFamily="34" charset="-122"/>
                <a:cs typeface="Inter" pitchFamily="34" charset="-120"/>
              </a:rPr>
              <a:t>1,00%</a:t>
            </a:r>
            <a:endParaRPr lang="en-US" sz="1200" dirty="0"/>
          </a:p>
        </p:txBody>
      </p:sp>
      <p:sp>
        <p:nvSpPr>
          <p:cNvPr id="19" name="Text 16"/>
          <p:cNvSpPr txBox="1"/>
          <p:nvPr/>
        </p:nvSpPr>
        <p:spPr>
          <a:xfrm>
            <a:off x="548640" y="2596896"/>
            <a:ext cx="2514600" cy="475488"/>
          </a:xfrm>
          <a:prstGeom prst="rect">
            <a:avLst/>
          </a:prstGeom>
          <a:solidFill>
            <a:srgbClr val="F3F3F2"/>
          </a:solidFill>
          <a:ln/>
        </p:spPr>
        <p:txBody>
          <a:bodyPr wrap="square" lIns="0" tIns="88900" rIns="88900" bIns="0" rtlCol="0" anchor="ctr"/>
          <a:lstStyle/>
          <a:p>
            <a:pPr algn="l" indent="0" marL="0">
              <a:buNone/>
            </a:pPr>
            <a:r>
              <a:rPr lang="en-US" sz="1200" b="1" dirty="0">
                <a:solidFill>
                  <a:srgbClr val="1F2124"/>
                </a:solidFill>
                <a:latin typeface="Inter" pitchFamily="34" charset="0"/>
                <a:ea typeface="Inter" pitchFamily="34" charset="-122"/>
                <a:cs typeface="Inter" pitchFamily="34" charset="-120"/>
              </a:rPr>
              <a:t>Term Loan A</a:t>
            </a:r>
            <a:endParaRPr lang="en-US" sz="1200" dirty="0"/>
          </a:p>
        </p:txBody>
      </p:sp>
      <p:sp>
        <p:nvSpPr>
          <p:cNvPr id="20" name="Text 17"/>
          <p:cNvSpPr txBox="1"/>
          <p:nvPr/>
        </p:nvSpPr>
        <p:spPr>
          <a:xfrm>
            <a:off x="3063240" y="2596896"/>
            <a:ext cx="914400" cy="475488"/>
          </a:xfrm>
          <a:prstGeom prst="rect">
            <a:avLst/>
          </a:prstGeom>
          <a:solidFill>
            <a:srgbClr val="F3F3F2"/>
          </a:solidFill>
          <a:ln/>
        </p:spPr>
        <p:txBody>
          <a:bodyPr wrap="square" lIns="0" tIns="88900" rIns="88900" bIns="0" rtlCol="0" anchor="ctr"/>
          <a:lstStyle/>
          <a:p>
            <a:pPr algn="l" indent="0" marL="0">
              <a:buNone/>
            </a:pPr>
            <a:r>
              <a:rPr lang="en-US" sz="1200" dirty="0">
                <a:solidFill>
                  <a:srgbClr val="1F2124"/>
                </a:solidFill>
                <a:latin typeface="Inter" pitchFamily="34" charset="0"/>
                <a:ea typeface="Inter" pitchFamily="34" charset="-122"/>
                <a:cs typeface="Inter" pitchFamily="34" charset="-120"/>
              </a:rPr>
              <a:t>BidCo</a:t>
            </a:r>
            <a:endParaRPr lang="en-US" sz="1200" dirty="0"/>
          </a:p>
        </p:txBody>
      </p:sp>
      <p:sp>
        <p:nvSpPr>
          <p:cNvPr id="21" name="Text 18"/>
          <p:cNvSpPr txBox="1"/>
          <p:nvPr/>
        </p:nvSpPr>
        <p:spPr>
          <a:xfrm>
            <a:off x="3977640" y="2596896"/>
            <a:ext cx="960120" cy="475488"/>
          </a:xfrm>
          <a:prstGeom prst="rect">
            <a:avLst/>
          </a:prstGeom>
          <a:solidFill>
            <a:srgbClr val="F3F3F2"/>
          </a:solidFill>
          <a:ln/>
        </p:spPr>
        <p:txBody>
          <a:bodyPr wrap="square" lIns="0" tIns="88900" rIns="88900" bIns="0" rtlCol="0" anchor="ctr"/>
          <a:lstStyle/>
          <a:p>
            <a:pPr algn="r" indent="0" marL="0">
              <a:buNone/>
            </a:pPr>
            <a:r>
              <a:rPr lang="en-US" sz="1200" dirty="0">
                <a:solidFill>
                  <a:srgbClr val="1F2124"/>
                </a:solidFill>
                <a:latin typeface="Inter" pitchFamily="34" charset="0"/>
                <a:ea typeface="Inter" pitchFamily="34" charset="-122"/>
                <a:cs typeface="Inter" pitchFamily="34" charset="-120"/>
              </a:rPr>
              <a:t>18.866</a:t>
            </a:r>
            <a:endParaRPr lang="en-US" sz="1200" dirty="0"/>
          </a:p>
        </p:txBody>
      </p:sp>
      <p:sp>
        <p:nvSpPr>
          <p:cNvPr id="22" name="Text 19"/>
          <p:cNvSpPr txBox="1"/>
          <p:nvPr/>
        </p:nvSpPr>
        <p:spPr>
          <a:xfrm>
            <a:off x="4937760" y="2596896"/>
            <a:ext cx="960120" cy="475488"/>
          </a:xfrm>
          <a:prstGeom prst="rect">
            <a:avLst/>
          </a:prstGeom>
          <a:solidFill>
            <a:srgbClr val="F3F3F2"/>
          </a:solidFill>
          <a:ln/>
        </p:spPr>
        <p:txBody>
          <a:bodyPr wrap="square" lIns="0" tIns="88900" rIns="88900" bIns="0" rtlCol="0" anchor="ctr"/>
          <a:lstStyle/>
          <a:p>
            <a:pPr algn="r" indent="0" marL="0">
              <a:buNone/>
            </a:pPr>
            <a:r>
              <a:rPr lang="en-US" sz="1200" dirty="0">
                <a:solidFill>
                  <a:srgbClr val="1F2124"/>
                </a:solidFill>
                <a:latin typeface="Inter" pitchFamily="34" charset="0"/>
                <a:ea typeface="Inter" pitchFamily="34" charset="-122"/>
                <a:cs typeface="Inter" pitchFamily="34" charset="-120"/>
              </a:rPr>
              <a:t>2,0x</a:t>
            </a:r>
            <a:endParaRPr lang="en-US" sz="1200" dirty="0"/>
          </a:p>
        </p:txBody>
      </p:sp>
      <p:sp>
        <p:nvSpPr>
          <p:cNvPr id="23" name="Text 20"/>
          <p:cNvSpPr txBox="1"/>
          <p:nvPr/>
        </p:nvSpPr>
        <p:spPr>
          <a:xfrm>
            <a:off x="5897880" y="2596896"/>
            <a:ext cx="1783080" cy="475488"/>
          </a:xfrm>
          <a:prstGeom prst="rect">
            <a:avLst/>
          </a:prstGeom>
          <a:solidFill>
            <a:srgbClr val="F3F3F2"/>
          </a:solidFill>
          <a:ln/>
        </p:spPr>
        <p:txBody>
          <a:bodyPr wrap="square" lIns="0" tIns="88900" rIns="88900" bIns="0" rtlCol="0" anchor="ctr"/>
          <a:lstStyle/>
          <a:p>
            <a:pPr algn="l" indent="0" marL="0">
              <a:buNone/>
            </a:pPr>
            <a:r>
              <a:rPr lang="en-US" sz="1200" dirty="0">
                <a:solidFill>
                  <a:srgbClr val="1F2124"/>
                </a:solidFill>
                <a:latin typeface="Inter" pitchFamily="34" charset="0"/>
                <a:ea typeface="Inter" pitchFamily="34" charset="-122"/>
                <a:cs typeface="Inter" pitchFamily="34" charset="-120"/>
              </a:rPr>
              <a:t>E + 2,25% (5,60%)</a:t>
            </a:r>
            <a:endParaRPr lang="en-US" sz="1200" dirty="0"/>
          </a:p>
        </p:txBody>
      </p:sp>
      <p:sp>
        <p:nvSpPr>
          <p:cNvPr id="24" name="Text 21"/>
          <p:cNvSpPr txBox="1"/>
          <p:nvPr/>
        </p:nvSpPr>
        <p:spPr>
          <a:xfrm>
            <a:off x="7680960" y="2596896"/>
            <a:ext cx="2880360" cy="475488"/>
          </a:xfrm>
          <a:prstGeom prst="rect">
            <a:avLst/>
          </a:prstGeom>
          <a:solidFill>
            <a:srgbClr val="F3F3F2"/>
          </a:solidFill>
          <a:ln/>
        </p:spPr>
        <p:txBody>
          <a:bodyPr wrap="square" lIns="0" tIns="88900" rIns="88900" bIns="0" rtlCol="0" anchor="ctr"/>
          <a:lstStyle/>
          <a:p>
            <a:pPr algn="l" indent="0" marL="0">
              <a:buNone/>
            </a:pPr>
            <a:r>
              <a:rPr lang="en-US" sz="1200" dirty="0">
                <a:solidFill>
                  <a:srgbClr val="1F2124"/>
                </a:solidFill>
                <a:latin typeface="Inter" pitchFamily="34" charset="0"/>
                <a:ea typeface="Inter" pitchFamily="34" charset="-122"/>
                <a:cs typeface="Inter" pitchFamily="34" charset="-120"/>
              </a:rPr>
              <a:t>7 años: 5/10/10/15/20/20/20%</a:t>
            </a:r>
            <a:endParaRPr lang="en-US" sz="1200" dirty="0"/>
          </a:p>
        </p:txBody>
      </p:sp>
      <p:sp>
        <p:nvSpPr>
          <p:cNvPr id="25" name="Text 22"/>
          <p:cNvSpPr txBox="1"/>
          <p:nvPr/>
        </p:nvSpPr>
        <p:spPr>
          <a:xfrm>
            <a:off x="10561320" y="2596896"/>
            <a:ext cx="1078992" cy="475488"/>
          </a:xfrm>
          <a:prstGeom prst="rect">
            <a:avLst/>
          </a:prstGeom>
          <a:solidFill>
            <a:srgbClr val="F3F3F2"/>
          </a:solidFill>
          <a:ln/>
        </p:spPr>
        <p:txBody>
          <a:bodyPr wrap="square" lIns="0" tIns="88900" rIns="88900" bIns="0" rtlCol="0" anchor="ctr"/>
          <a:lstStyle/>
          <a:p>
            <a:pPr algn="r" indent="0" marL="0">
              <a:buNone/>
            </a:pPr>
            <a:r>
              <a:rPr lang="en-US" sz="1200" dirty="0">
                <a:solidFill>
                  <a:srgbClr val="1F2124"/>
                </a:solidFill>
                <a:latin typeface="Inter" pitchFamily="34" charset="0"/>
                <a:ea typeface="Inter" pitchFamily="34" charset="-122"/>
                <a:cs typeface="Inter" pitchFamily="34" charset="-120"/>
              </a:rPr>
              <a:t>1,25%</a:t>
            </a:r>
            <a:endParaRPr lang="en-US" sz="1200" dirty="0"/>
          </a:p>
        </p:txBody>
      </p:sp>
      <p:sp>
        <p:nvSpPr>
          <p:cNvPr id="26" name="Text 23"/>
          <p:cNvSpPr txBox="1"/>
          <p:nvPr/>
        </p:nvSpPr>
        <p:spPr>
          <a:xfrm>
            <a:off x="548640" y="3072384"/>
            <a:ext cx="2514600" cy="475488"/>
          </a:xfrm>
          <a:prstGeom prst="rect">
            <a:avLst/>
          </a:prstGeom>
          <a:solidFill>
            <a:srgbClr val="FFFFFF"/>
          </a:solidFill>
          <a:ln/>
        </p:spPr>
        <p:txBody>
          <a:bodyPr wrap="square" lIns="0" tIns="88900" rIns="88900" bIns="0" rtlCol="0" anchor="ctr"/>
          <a:lstStyle/>
          <a:p>
            <a:pPr algn="l" indent="0" marL="0">
              <a:buNone/>
            </a:pPr>
            <a:r>
              <a:rPr lang="en-US" sz="1200" b="1" dirty="0">
                <a:solidFill>
                  <a:srgbClr val="1F2124"/>
                </a:solidFill>
                <a:latin typeface="Inter" pitchFamily="34" charset="0"/>
                <a:ea typeface="Inter" pitchFamily="34" charset="-122"/>
                <a:cs typeface="Inter" pitchFamily="34" charset="-120"/>
              </a:rPr>
              <a:t>Term Loan B</a:t>
            </a:r>
            <a:endParaRPr lang="en-US" sz="1200" dirty="0"/>
          </a:p>
        </p:txBody>
      </p:sp>
      <p:sp>
        <p:nvSpPr>
          <p:cNvPr id="27" name="Text 24"/>
          <p:cNvSpPr txBox="1"/>
          <p:nvPr/>
        </p:nvSpPr>
        <p:spPr>
          <a:xfrm>
            <a:off x="3063240" y="3072384"/>
            <a:ext cx="914400" cy="475488"/>
          </a:xfrm>
          <a:prstGeom prst="rect">
            <a:avLst/>
          </a:prstGeom>
          <a:solidFill>
            <a:srgbClr val="FFFFFF"/>
          </a:solidFill>
          <a:ln/>
        </p:spPr>
        <p:txBody>
          <a:bodyPr wrap="square" lIns="0" tIns="88900" rIns="88900" bIns="0" rtlCol="0" anchor="ctr"/>
          <a:lstStyle/>
          <a:p>
            <a:pPr algn="l" indent="0" marL="0">
              <a:buNone/>
            </a:pPr>
            <a:r>
              <a:rPr lang="en-US" sz="1200" dirty="0">
                <a:solidFill>
                  <a:srgbClr val="1F2124"/>
                </a:solidFill>
                <a:latin typeface="Inter" pitchFamily="34" charset="0"/>
                <a:ea typeface="Inter" pitchFamily="34" charset="-122"/>
                <a:cs typeface="Inter" pitchFamily="34" charset="-120"/>
              </a:rPr>
              <a:t>BidCo</a:t>
            </a:r>
            <a:endParaRPr lang="en-US" sz="1200" dirty="0"/>
          </a:p>
        </p:txBody>
      </p:sp>
      <p:sp>
        <p:nvSpPr>
          <p:cNvPr id="28" name="Text 25"/>
          <p:cNvSpPr txBox="1"/>
          <p:nvPr/>
        </p:nvSpPr>
        <p:spPr>
          <a:xfrm>
            <a:off x="3977640" y="3072384"/>
            <a:ext cx="960120" cy="475488"/>
          </a:xfrm>
          <a:prstGeom prst="rect">
            <a:avLst/>
          </a:prstGeom>
          <a:solidFill>
            <a:srgbClr val="FFFFFF"/>
          </a:solidFill>
          <a:ln/>
        </p:spPr>
        <p:txBody>
          <a:bodyPr wrap="square" lIns="0" tIns="88900" rIns="88900" bIns="0" rtlCol="0" anchor="ctr"/>
          <a:lstStyle/>
          <a:p>
            <a:pPr algn="r" indent="0" marL="0">
              <a:buNone/>
            </a:pPr>
            <a:r>
              <a:rPr lang="en-US" sz="1200" dirty="0">
                <a:solidFill>
                  <a:srgbClr val="1F2124"/>
                </a:solidFill>
                <a:latin typeface="Inter" pitchFamily="34" charset="0"/>
                <a:ea typeface="Inter" pitchFamily="34" charset="-122"/>
                <a:cs typeface="Inter" pitchFamily="34" charset="-120"/>
              </a:rPr>
              <a:t>33.016</a:t>
            </a:r>
            <a:endParaRPr lang="en-US" sz="1200" dirty="0"/>
          </a:p>
        </p:txBody>
      </p:sp>
      <p:sp>
        <p:nvSpPr>
          <p:cNvPr id="29" name="Text 26"/>
          <p:cNvSpPr txBox="1"/>
          <p:nvPr/>
        </p:nvSpPr>
        <p:spPr>
          <a:xfrm>
            <a:off x="4937760" y="3072384"/>
            <a:ext cx="960120" cy="475488"/>
          </a:xfrm>
          <a:prstGeom prst="rect">
            <a:avLst/>
          </a:prstGeom>
          <a:solidFill>
            <a:srgbClr val="FFFFFF"/>
          </a:solidFill>
          <a:ln/>
        </p:spPr>
        <p:txBody>
          <a:bodyPr wrap="square" lIns="0" tIns="88900" rIns="88900" bIns="0" rtlCol="0" anchor="ctr"/>
          <a:lstStyle/>
          <a:p>
            <a:pPr algn="r" indent="0" marL="0">
              <a:buNone/>
            </a:pPr>
            <a:r>
              <a:rPr lang="en-US" sz="1200" dirty="0">
                <a:solidFill>
                  <a:srgbClr val="1F2124"/>
                </a:solidFill>
                <a:latin typeface="Inter" pitchFamily="34" charset="0"/>
                <a:ea typeface="Inter" pitchFamily="34" charset="-122"/>
                <a:cs typeface="Inter" pitchFamily="34" charset="-120"/>
              </a:rPr>
              <a:t>3,5x</a:t>
            </a:r>
            <a:endParaRPr lang="en-US" sz="1200" dirty="0"/>
          </a:p>
        </p:txBody>
      </p:sp>
      <p:sp>
        <p:nvSpPr>
          <p:cNvPr id="30" name="Text 27"/>
          <p:cNvSpPr txBox="1"/>
          <p:nvPr/>
        </p:nvSpPr>
        <p:spPr>
          <a:xfrm>
            <a:off x="5897880" y="3072384"/>
            <a:ext cx="1783080" cy="475488"/>
          </a:xfrm>
          <a:prstGeom prst="rect">
            <a:avLst/>
          </a:prstGeom>
          <a:solidFill>
            <a:srgbClr val="FFFFFF"/>
          </a:solidFill>
          <a:ln/>
        </p:spPr>
        <p:txBody>
          <a:bodyPr wrap="square" lIns="0" tIns="88900" rIns="88900" bIns="0" rtlCol="0" anchor="ctr"/>
          <a:lstStyle/>
          <a:p>
            <a:pPr algn="l" indent="0" marL="0">
              <a:buNone/>
            </a:pPr>
            <a:r>
              <a:rPr lang="en-US" sz="1200" dirty="0">
                <a:solidFill>
                  <a:srgbClr val="1F2124"/>
                </a:solidFill>
                <a:latin typeface="Inter" pitchFamily="34" charset="0"/>
                <a:ea typeface="Inter" pitchFamily="34" charset="-122"/>
                <a:cs typeface="Inter" pitchFamily="34" charset="-120"/>
              </a:rPr>
              <a:t>E + 3,25% (6,60%)</a:t>
            </a:r>
            <a:endParaRPr lang="en-US" sz="1200" dirty="0"/>
          </a:p>
        </p:txBody>
      </p:sp>
      <p:sp>
        <p:nvSpPr>
          <p:cNvPr id="31" name="Text 28"/>
          <p:cNvSpPr txBox="1"/>
          <p:nvPr/>
        </p:nvSpPr>
        <p:spPr>
          <a:xfrm>
            <a:off x="7680960" y="3072384"/>
            <a:ext cx="2880360" cy="475488"/>
          </a:xfrm>
          <a:prstGeom prst="rect">
            <a:avLst/>
          </a:prstGeom>
          <a:solidFill>
            <a:srgbClr val="FFFFFF"/>
          </a:solidFill>
          <a:ln/>
        </p:spPr>
        <p:txBody>
          <a:bodyPr wrap="square" lIns="0" tIns="88900" rIns="88900" bIns="0" rtlCol="0" anchor="ctr"/>
          <a:lstStyle/>
          <a:p>
            <a:pPr algn="l" indent="0" marL="0">
              <a:buNone/>
            </a:pPr>
            <a:r>
              <a:rPr lang="en-US" sz="1200" dirty="0">
                <a:solidFill>
                  <a:srgbClr val="1F2124"/>
                </a:solidFill>
                <a:latin typeface="Inter" pitchFamily="34" charset="0"/>
                <a:ea typeface="Inter" pitchFamily="34" charset="-122"/>
                <a:cs typeface="Inter" pitchFamily="34" charset="-120"/>
              </a:rPr>
              <a:t>Bullet 7 años; cash sweep 85%</a:t>
            </a:r>
            <a:endParaRPr lang="en-US" sz="1200" dirty="0"/>
          </a:p>
        </p:txBody>
      </p:sp>
      <p:sp>
        <p:nvSpPr>
          <p:cNvPr id="32" name="Text 29"/>
          <p:cNvSpPr txBox="1"/>
          <p:nvPr/>
        </p:nvSpPr>
        <p:spPr>
          <a:xfrm>
            <a:off x="10561320" y="3072384"/>
            <a:ext cx="1078992" cy="475488"/>
          </a:xfrm>
          <a:prstGeom prst="rect">
            <a:avLst/>
          </a:prstGeom>
          <a:solidFill>
            <a:srgbClr val="FFFFFF"/>
          </a:solidFill>
          <a:ln/>
        </p:spPr>
        <p:txBody>
          <a:bodyPr wrap="square" lIns="0" tIns="88900" rIns="88900" bIns="0" rtlCol="0" anchor="ctr"/>
          <a:lstStyle/>
          <a:p>
            <a:pPr algn="r" indent="0" marL="0">
              <a:buNone/>
            </a:pPr>
            <a:r>
              <a:rPr lang="en-US" sz="1200" dirty="0">
                <a:solidFill>
                  <a:srgbClr val="1F2124"/>
                </a:solidFill>
                <a:latin typeface="Inter" pitchFamily="34" charset="0"/>
                <a:ea typeface="Inter" pitchFamily="34" charset="-122"/>
                <a:cs typeface="Inter" pitchFamily="34" charset="-120"/>
              </a:rPr>
              <a:t>1,75%</a:t>
            </a:r>
            <a:endParaRPr lang="en-US" sz="1200" dirty="0"/>
          </a:p>
        </p:txBody>
      </p:sp>
      <p:sp>
        <p:nvSpPr>
          <p:cNvPr id="33" name="Text 30"/>
          <p:cNvSpPr txBox="1"/>
          <p:nvPr/>
        </p:nvSpPr>
        <p:spPr>
          <a:xfrm>
            <a:off x="548640" y="3547872"/>
            <a:ext cx="2514600" cy="475488"/>
          </a:xfrm>
          <a:prstGeom prst="rect">
            <a:avLst/>
          </a:prstGeom>
          <a:solidFill>
            <a:srgbClr val="F3F3F2"/>
          </a:solidFill>
          <a:ln/>
        </p:spPr>
        <p:txBody>
          <a:bodyPr wrap="square" lIns="0" tIns="88900" rIns="88900" bIns="0" rtlCol="0" anchor="ctr"/>
          <a:lstStyle/>
          <a:p>
            <a:pPr algn="l" indent="0" marL="0">
              <a:buNone/>
            </a:pPr>
            <a:r>
              <a:rPr lang="en-US" sz="1200" b="1" dirty="0">
                <a:solidFill>
                  <a:srgbClr val="1F2124"/>
                </a:solidFill>
                <a:latin typeface="Inter" pitchFamily="34" charset="0"/>
                <a:ea typeface="Inter" pitchFamily="34" charset="-122"/>
                <a:cs typeface="Inter" pitchFamily="34" charset="-120"/>
              </a:rPr>
              <a:t>Mezzanine</a:t>
            </a:r>
            <a:endParaRPr lang="en-US" sz="1200" dirty="0"/>
          </a:p>
        </p:txBody>
      </p:sp>
      <p:sp>
        <p:nvSpPr>
          <p:cNvPr id="34" name="Text 31"/>
          <p:cNvSpPr txBox="1"/>
          <p:nvPr/>
        </p:nvSpPr>
        <p:spPr>
          <a:xfrm>
            <a:off x="3063240" y="3547872"/>
            <a:ext cx="914400" cy="475488"/>
          </a:xfrm>
          <a:prstGeom prst="rect">
            <a:avLst/>
          </a:prstGeom>
          <a:solidFill>
            <a:srgbClr val="F3F3F2"/>
          </a:solidFill>
          <a:ln/>
        </p:spPr>
        <p:txBody>
          <a:bodyPr wrap="square" lIns="0" tIns="88900" rIns="88900" bIns="0" rtlCol="0" anchor="ctr"/>
          <a:lstStyle/>
          <a:p>
            <a:pPr algn="l" indent="0" marL="0">
              <a:buNone/>
            </a:pPr>
            <a:r>
              <a:rPr lang="en-US" sz="1200" dirty="0">
                <a:solidFill>
                  <a:srgbClr val="1F2124"/>
                </a:solidFill>
                <a:latin typeface="Inter" pitchFamily="34" charset="0"/>
                <a:ea typeface="Inter" pitchFamily="34" charset="-122"/>
                <a:cs typeface="Inter" pitchFamily="34" charset="-120"/>
              </a:rPr>
              <a:t>MidCo</a:t>
            </a:r>
            <a:endParaRPr lang="en-US" sz="1200" dirty="0"/>
          </a:p>
        </p:txBody>
      </p:sp>
      <p:sp>
        <p:nvSpPr>
          <p:cNvPr id="35" name="Text 32"/>
          <p:cNvSpPr txBox="1"/>
          <p:nvPr/>
        </p:nvSpPr>
        <p:spPr>
          <a:xfrm>
            <a:off x="3977640" y="3547872"/>
            <a:ext cx="960120" cy="475488"/>
          </a:xfrm>
          <a:prstGeom prst="rect">
            <a:avLst/>
          </a:prstGeom>
          <a:solidFill>
            <a:srgbClr val="F3F3F2"/>
          </a:solidFill>
          <a:ln/>
        </p:spPr>
        <p:txBody>
          <a:bodyPr wrap="square" lIns="0" tIns="88900" rIns="88900" bIns="0" rtlCol="0" anchor="ctr"/>
          <a:lstStyle/>
          <a:p>
            <a:pPr algn="r" indent="0" marL="0">
              <a:buNone/>
            </a:pPr>
            <a:r>
              <a:rPr lang="en-US" sz="1200" dirty="0">
                <a:solidFill>
                  <a:srgbClr val="1F2124"/>
                </a:solidFill>
                <a:latin typeface="Inter" pitchFamily="34" charset="0"/>
                <a:ea typeface="Inter" pitchFamily="34" charset="-122"/>
                <a:cs typeface="Inter" pitchFamily="34" charset="-120"/>
              </a:rPr>
              <a:t>14.150</a:t>
            </a:r>
            <a:endParaRPr lang="en-US" sz="1200" dirty="0"/>
          </a:p>
        </p:txBody>
      </p:sp>
      <p:sp>
        <p:nvSpPr>
          <p:cNvPr id="36" name="Text 33"/>
          <p:cNvSpPr txBox="1"/>
          <p:nvPr/>
        </p:nvSpPr>
        <p:spPr>
          <a:xfrm>
            <a:off x="4937760" y="3547872"/>
            <a:ext cx="960120" cy="475488"/>
          </a:xfrm>
          <a:prstGeom prst="rect">
            <a:avLst/>
          </a:prstGeom>
          <a:solidFill>
            <a:srgbClr val="F3F3F2"/>
          </a:solidFill>
          <a:ln/>
        </p:spPr>
        <p:txBody>
          <a:bodyPr wrap="square" lIns="0" tIns="88900" rIns="88900" bIns="0" rtlCol="0" anchor="ctr"/>
          <a:lstStyle/>
          <a:p>
            <a:pPr algn="r" indent="0" marL="0">
              <a:buNone/>
            </a:pPr>
            <a:r>
              <a:rPr lang="en-US" sz="1200" dirty="0">
                <a:solidFill>
                  <a:srgbClr val="1F2124"/>
                </a:solidFill>
                <a:latin typeface="Inter" pitchFamily="34" charset="0"/>
                <a:ea typeface="Inter" pitchFamily="34" charset="-122"/>
                <a:cs typeface="Inter" pitchFamily="34" charset="-120"/>
              </a:rPr>
              <a:t>1,5x</a:t>
            </a:r>
            <a:endParaRPr lang="en-US" sz="1200" dirty="0"/>
          </a:p>
        </p:txBody>
      </p:sp>
      <p:sp>
        <p:nvSpPr>
          <p:cNvPr id="37" name="Text 34"/>
          <p:cNvSpPr txBox="1"/>
          <p:nvPr/>
        </p:nvSpPr>
        <p:spPr>
          <a:xfrm>
            <a:off x="5897880" y="3547872"/>
            <a:ext cx="1783080" cy="475488"/>
          </a:xfrm>
          <a:prstGeom prst="rect">
            <a:avLst/>
          </a:prstGeom>
          <a:solidFill>
            <a:srgbClr val="F3F3F2"/>
          </a:solidFill>
          <a:ln/>
        </p:spPr>
        <p:txBody>
          <a:bodyPr wrap="square" lIns="0" tIns="88900" rIns="88900" bIns="0" rtlCol="0" anchor="ctr"/>
          <a:lstStyle/>
          <a:p>
            <a:pPr algn="l" indent="0" marL="0">
              <a:buNone/>
            </a:pPr>
            <a:r>
              <a:rPr lang="en-US" sz="1200" dirty="0">
                <a:solidFill>
                  <a:srgbClr val="1F2124"/>
                </a:solidFill>
                <a:latin typeface="Inter" pitchFamily="34" charset="0"/>
                <a:ea typeface="Inter" pitchFamily="34" charset="-122"/>
                <a:cs typeface="Inter" pitchFamily="34" charset="-120"/>
              </a:rPr>
              <a:t>10,5% PIK</a:t>
            </a:r>
            <a:endParaRPr lang="en-US" sz="1200" dirty="0"/>
          </a:p>
        </p:txBody>
      </p:sp>
      <p:sp>
        <p:nvSpPr>
          <p:cNvPr id="38" name="Text 35"/>
          <p:cNvSpPr txBox="1"/>
          <p:nvPr/>
        </p:nvSpPr>
        <p:spPr>
          <a:xfrm>
            <a:off x="7680960" y="3547872"/>
            <a:ext cx="2880360" cy="475488"/>
          </a:xfrm>
          <a:prstGeom prst="rect">
            <a:avLst/>
          </a:prstGeom>
          <a:solidFill>
            <a:srgbClr val="F3F3F2"/>
          </a:solidFill>
          <a:ln/>
        </p:spPr>
        <p:txBody>
          <a:bodyPr wrap="square" lIns="0" tIns="88900" rIns="88900" bIns="0" rtlCol="0" anchor="ctr"/>
          <a:lstStyle/>
          <a:p>
            <a:pPr algn="l" indent="0" marL="0">
              <a:buNone/>
            </a:pPr>
            <a:r>
              <a:rPr lang="en-US" sz="1200" dirty="0">
                <a:solidFill>
                  <a:srgbClr val="1F2124"/>
                </a:solidFill>
                <a:latin typeface="Inter" pitchFamily="34" charset="0"/>
                <a:ea typeface="Inter" pitchFamily="34" charset="-122"/>
                <a:cs typeface="Inter" pitchFamily="34" charset="-120"/>
              </a:rPr>
              <a:t>Bullet 7,5 años</a:t>
            </a:r>
            <a:endParaRPr lang="en-US" sz="1200" dirty="0"/>
          </a:p>
        </p:txBody>
      </p:sp>
      <p:sp>
        <p:nvSpPr>
          <p:cNvPr id="39" name="Text 36"/>
          <p:cNvSpPr txBox="1"/>
          <p:nvPr/>
        </p:nvSpPr>
        <p:spPr>
          <a:xfrm>
            <a:off x="10561320" y="3547872"/>
            <a:ext cx="1078992" cy="475488"/>
          </a:xfrm>
          <a:prstGeom prst="rect">
            <a:avLst/>
          </a:prstGeom>
          <a:solidFill>
            <a:srgbClr val="F3F3F2"/>
          </a:solidFill>
          <a:ln/>
        </p:spPr>
        <p:txBody>
          <a:bodyPr wrap="square" lIns="0" tIns="88900" rIns="88900" bIns="0" rtlCol="0" anchor="ctr"/>
          <a:lstStyle/>
          <a:p>
            <a:pPr algn="r" indent="0" marL="0">
              <a:buNone/>
            </a:pPr>
            <a:r>
              <a:rPr lang="en-US" sz="1200" dirty="0">
                <a:solidFill>
                  <a:srgbClr val="1F2124"/>
                </a:solidFill>
                <a:latin typeface="Inter" pitchFamily="34" charset="0"/>
                <a:ea typeface="Inter" pitchFamily="34" charset="-122"/>
                <a:cs typeface="Inter" pitchFamily="34" charset="-120"/>
              </a:rPr>
              <a:t>2,25%</a:t>
            </a:r>
            <a:endParaRPr lang="en-US" sz="1200" dirty="0"/>
          </a:p>
        </p:txBody>
      </p:sp>
      <p:sp>
        <p:nvSpPr>
          <p:cNvPr id="40" name="Text 37"/>
          <p:cNvSpPr txBox="1"/>
          <p:nvPr/>
        </p:nvSpPr>
        <p:spPr>
          <a:xfrm>
            <a:off x="548640" y="4023360"/>
            <a:ext cx="2514600" cy="475488"/>
          </a:xfrm>
          <a:prstGeom prst="rect">
            <a:avLst/>
          </a:prstGeom>
          <a:solidFill>
            <a:srgbClr val="FFFFFF"/>
          </a:solidFill>
          <a:ln/>
        </p:spPr>
        <p:txBody>
          <a:bodyPr wrap="square" lIns="0" tIns="88900" rIns="88900" bIns="0" rtlCol="0" anchor="ctr"/>
          <a:lstStyle/>
          <a:p>
            <a:pPr algn="l" indent="0" marL="0">
              <a:buNone/>
            </a:pPr>
            <a:r>
              <a:rPr lang="en-US" sz="1200" b="1" dirty="0">
                <a:solidFill>
                  <a:srgbClr val="1F2124"/>
                </a:solidFill>
                <a:latin typeface="Inter" pitchFamily="34" charset="0"/>
                <a:ea typeface="Inter" pitchFamily="34" charset="-122"/>
                <a:cs typeface="Inter" pitchFamily="34" charset="-120"/>
              </a:rPr>
              <a:t>Vendor loan (Sandra Ortega)</a:t>
            </a:r>
            <a:endParaRPr lang="en-US" sz="1200" dirty="0"/>
          </a:p>
        </p:txBody>
      </p:sp>
      <p:sp>
        <p:nvSpPr>
          <p:cNvPr id="41" name="Text 38"/>
          <p:cNvSpPr txBox="1"/>
          <p:nvPr/>
        </p:nvSpPr>
        <p:spPr>
          <a:xfrm>
            <a:off x="3063240" y="4023360"/>
            <a:ext cx="914400" cy="475488"/>
          </a:xfrm>
          <a:prstGeom prst="rect">
            <a:avLst/>
          </a:prstGeom>
          <a:solidFill>
            <a:srgbClr val="FFFFFF"/>
          </a:solidFill>
          <a:ln/>
        </p:spPr>
        <p:txBody>
          <a:bodyPr wrap="square" lIns="0" tIns="88900" rIns="88900" bIns="0" rtlCol="0" anchor="ctr"/>
          <a:lstStyle/>
          <a:p>
            <a:pPr algn="l" indent="0" marL="0">
              <a:buNone/>
            </a:pPr>
            <a:r>
              <a:rPr lang="en-US" sz="1200" dirty="0">
                <a:solidFill>
                  <a:srgbClr val="1F2124"/>
                </a:solidFill>
                <a:latin typeface="Inter" pitchFamily="34" charset="0"/>
                <a:ea typeface="Inter" pitchFamily="34" charset="-122"/>
                <a:cs typeface="Inter" pitchFamily="34" charset="-120"/>
              </a:rPr>
              <a:t>TopCo</a:t>
            </a:r>
            <a:endParaRPr lang="en-US" sz="1200" dirty="0"/>
          </a:p>
        </p:txBody>
      </p:sp>
      <p:sp>
        <p:nvSpPr>
          <p:cNvPr id="42" name="Text 39"/>
          <p:cNvSpPr txBox="1"/>
          <p:nvPr/>
        </p:nvSpPr>
        <p:spPr>
          <a:xfrm>
            <a:off x="3977640" y="4023360"/>
            <a:ext cx="960120" cy="475488"/>
          </a:xfrm>
          <a:prstGeom prst="rect">
            <a:avLst/>
          </a:prstGeom>
          <a:solidFill>
            <a:srgbClr val="FFFFFF"/>
          </a:solidFill>
          <a:ln/>
        </p:spPr>
        <p:txBody>
          <a:bodyPr wrap="square" lIns="0" tIns="88900" rIns="88900" bIns="0" rtlCol="0" anchor="ctr"/>
          <a:lstStyle/>
          <a:p>
            <a:pPr algn="r" indent="0" marL="0">
              <a:buNone/>
            </a:pPr>
            <a:r>
              <a:rPr lang="en-US" sz="1200" dirty="0">
                <a:solidFill>
                  <a:srgbClr val="1F2124"/>
                </a:solidFill>
                <a:latin typeface="Inter" pitchFamily="34" charset="0"/>
                <a:ea typeface="Inter" pitchFamily="34" charset="-122"/>
                <a:cs typeface="Inter" pitchFamily="34" charset="-120"/>
              </a:rPr>
              <a:t>10.925</a:t>
            </a:r>
            <a:endParaRPr lang="en-US" sz="1200" dirty="0"/>
          </a:p>
        </p:txBody>
      </p:sp>
      <p:sp>
        <p:nvSpPr>
          <p:cNvPr id="43" name="Text 40"/>
          <p:cNvSpPr txBox="1"/>
          <p:nvPr/>
        </p:nvSpPr>
        <p:spPr>
          <a:xfrm>
            <a:off x="4937760" y="4023360"/>
            <a:ext cx="960120" cy="475488"/>
          </a:xfrm>
          <a:prstGeom prst="rect">
            <a:avLst/>
          </a:prstGeom>
          <a:solidFill>
            <a:srgbClr val="FFFFFF"/>
          </a:solidFill>
          <a:ln/>
        </p:spPr>
        <p:txBody>
          <a:bodyPr wrap="square" lIns="0" tIns="88900" rIns="88900" bIns="0" rtlCol="0" anchor="ctr"/>
          <a:lstStyle/>
          <a:p>
            <a:pPr algn="r" indent="0" marL="0">
              <a:buNone/>
            </a:pPr>
            <a:r>
              <a:rPr lang="en-US" sz="1200" dirty="0">
                <a:solidFill>
                  <a:srgbClr val="1F2124"/>
                </a:solidFill>
                <a:latin typeface="Inter" pitchFamily="34" charset="0"/>
                <a:ea typeface="Inter" pitchFamily="34" charset="-122"/>
                <a:cs typeface="Inter" pitchFamily="34" charset="-120"/>
              </a:rPr>
              <a:t>1,2x</a:t>
            </a:r>
            <a:endParaRPr lang="en-US" sz="1200" dirty="0"/>
          </a:p>
        </p:txBody>
      </p:sp>
      <p:sp>
        <p:nvSpPr>
          <p:cNvPr id="44" name="Text 41"/>
          <p:cNvSpPr txBox="1"/>
          <p:nvPr/>
        </p:nvSpPr>
        <p:spPr>
          <a:xfrm>
            <a:off x="5897880" y="4023360"/>
            <a:ext cx="1783080" cy="475488"/>
          </a:xfrm>
          <a:prstGeom prst="rect">
            <a:avLst/>
          </a:prstGeom>
          <a:solidFill>
            <a:srgbClr val="FFFFFF"/>
          </a:solidFill>
          <a:ln/>
        </p:spPr>
        <p:txBody>
          <a:bodyPr wrap="square" lIns="0" tIns="88900" rIns="88900" bIns="0" rtlCol="0" anchor="ctr"/>
          <a:lstStyle/>
          <a:p>
            <a:pPr algn="l" indent="0" marL="0">
              <a:buNone/>
            </a:pPr>
            <a:r>
              <a:rPr lang="en-US" sz="1200" dirty="0">
                <a:solidFill>
                  <a:srgbClr val="1F2124"/>
                </a:solidFill>
                <a:latin typeface="Inter" pitchFamily="34" charset="0"/>
                <a:ea typeface="Inter" pitchFamily="34" charset="-122"/>
                <a:cs typeface="Inter" pitchFamily="34" charset="-120"/>
              </a:rPr>
              <a:t>5,0% en caja</a:t>
            </a:r>
            <a:endParaRPr lang="en-US" sz="1200" dirty="0"/>
          </a:p>
        </p:txBody>
      </p:sp>
      <p:sp>
        <p:nvSpPr>
          <p:cNvPr id="45" name="Text 42"/>
          <p:cNvSpPr txBox="1"/>
          <p:nvPr/>
        </p:nvSpPr>
        <p:spPr>
          <a:xfrm>
            <a:off x="7680960" y="4023360"/>
            <a:ext cx="2880360" cy="475488"/>
          </a:xfrm>
          <a:prstGeom prst="rect">
            <a:avLst/>
          </a:prstGeom>
          <a:solidFill>
            <a:srgbClr val="FFFFFF"/>
          </a:solidFill>
          <a:ln/>
        </p:spPr>
        <p:txBody>
          <a:bodyPr wrap="square" lIns="0" tIns="88900" rIns="88900" bIns="0" rtlCol="0" anchor="ctr"/>
          <a:lstStyle/>
          <a:p>
            <a:pPr algn="l" indent="0" marL="0">
              <a:buNone/>
            </a:pPr>
            <a:r>
              <a:rPr lang="en-US" sz="1200" dirty="0">
                <a:solidFill>
                  <a:srgbClr val="1F2124"/>
                </a:solidFill>
                <a:latin typeface="Inter" pitchFamily="34" charset="0"/>
                <a:ea typeface="Inter" pitchFamily="34" charset="-122"/>
                <a:cs typeface="Inter" pitchFamily="34" charset="-120"/>
              </a:rPr>
              <a:t>Bullet 8 años</a:t>
            </a:r>
            <a:endParaRPr lang="en-US" sz="1200" dirty="0"/>
          </a:p>
        </p:txBody>
      </p:sp>
      <p:sp>
        <p:nvSpPr>
          <p:cNvPr id="46" name="Text 43"/>
          <p:cNvSpPr txBox="1"/>
          <p:nvPr/>
        </p:nvSpPr>
        <p:spPr>
          <a:xfrm>
            <a:off x="10561320" y="4023360"/>
            <a:ext cx="1078992" cy="475488"/>
          </a:xfrm>
          <a:prstGeom prst="rect">
            <a:avLst/>
          </a:prstGeom>
          <a:solidFill>
            <a:srgbClr val="FFFFFF"/>
          </a:solidFill>
          <a:ln/>
        </p:spPr>
        <p:txBody>
          <a:bodyPr wrap="square" lIns="0" tIns="88900" rIns="88900" bIns="0" rtlCol="0" anchor="ctr"/>
          <a:lstStyle/>
          <a:p>
            <a:pPr algn="r" indent="0" marL="0">
              <a:buNone/>
            </a:pPr>
            <a:r>
              <a:rPr lang="en-US" sz="1200" dirty="0">
                <a:solidFill>
                  <a:srgbClr val="1F2124"/>
                </a:solidFill>
                <a:latin typeface="Inter" pitchFamily="34" charset="0"/>
                <a:ea typeface="Inter" pitchFamily="34" charset="-122"/>
                <a:cs typeface="Inter" pitchFamily="34" charset="-120"/>
              </a:rPr>
              <a:t>—</a:t>
            </a:r>
            <a:endParaRPr lang="en-US" sz="1200" dirty="0"/>
          </a:p>
        </p:txBody>
      </p:sp>
      <p:sp>
        <p:nvSpPr>
          <p:cNvPr id="47" name="Text 44"/>
          <p:cNvSpPr txBox="1"/>
          <p:nvPr/>
        </p:nvSpPr>
        <p:spPr>
          <a:xfrm>
            <a:off x="548640" y="4498848"/>
            <a:ext cx="2514600" cy="475488"/>
          </a:xfrm>
          <a:prstGeom prst="rect">
            <a:avLst/>
          </a:prstGeom>
          <a:solidFill>
            <a:srgbClr val="E8E8E6"/>
          </a:solidFill>
          <a:ln/>
        </p:spPr>
        <p:txBody>
          <a:bodyPr wrap="square" lIns="0" tIns="88900" rIns="88900" bIns="0" rtlCol="0" anchor="ctr"/>
          <a:lstStyle/>
          <a:p>
            <a:pPr algn="l" indent="0" marL="0">
              <a:buNone/>
            </a:pPr>
            <a:r>
              <a:rPr lang="en-US" sz="1200" b="1" dirty="0">
                <a:solidFill>
                  <a:srgbClr val="1F2124"/>
                </a:solidFill>
                <a:latin typeface="Inter" pitchFamily="34" charset="0"/>
                <a:ea typeface="Inter" pitchFamily="34" charset="-122"/>
                <a:cs typeface="Inter" pitchFamily="34" charset="-120"/>
              </a:rPr>
              <a:t>Total dispuesto</a:t>
            </a:r>
            <a:endParaRPr lang="en-US" sz="1200" dirty="0"/>
          </a:p>
        </p:txBody>
      </p:sp>
      <p:sp>
        <p:nvSpPr>
          <p:cNvPr id="48" name="Text 45"/>
          <p:cNvSpPr txBox="1"/>
          <p:nvPr/>
        </p:nvSpPr>
        <p:spPr>
          <a:xfrm>
            <a:off x="3063240" y="4498848"/>
            <a:ext cx="914400" cy="475488"/>
          </a:xfrm>
          <a:prstGeom prst="rect">
            <a:avLst/>
          </a:prstGeom>
          <a:solidFill>
            <a:srgbClr val="E8E8E6"/>
          </a:solidFill>
          <a:ln/>
        </p:spPr>
        <p:txBody>
          <a:bodyPr wrap="square" lIns="0" tIns="88900" rIns="88900" bIns="0" rtlCol="0" anchor="ctr"/>
          <a:lstStyle/>
          <a:p>
            <a:pPr algn="l" indent="0" marL="0">
              <a:buNone/>
            </a:pPr>
            <a:endParaRPr lang="en-US" sz="1200" dirty="0"/>
          </a:p>
        </p:txBody>
      </p:sp>
      <p:sp>
        <p:nvSpPr>
          <p:cNvPr id="49" name="Text 46"/>
          <p:cNvSpPr txBox="1"/>
          <p:nvPr/>
        </p:nvSpPr>
        <p:spPr>
          <a:xfrm>
            <a:off x="3977640" y="4498848"/>
            <a:ext cx="960120" cy="475488"/>
          </a:xfrm>
          <a:prstGeom prst="rect">
            <a:avLst/>
          </a:prstGeom>
          <a:solidFill>
            <a:srgbClr val="E8E8E6"/>
          </a:solidFill>
          <a:ln/>
        </p:spPr>
        <p:txBody>
          <a:bodyPr wrap="square" lIns="0" tIns="88900" rIns="88900" bIns="0" rtlCol="0" anchor="ctr"/>
          <a:lstStyle/>
          <a:p>
            <a:pPr algn="r" indent="0" marL="0">
              <a:buNone/>
            </a:pPr>
            <a:r>
              <a:rPr lang="en-US" sz="1200" b="1" dirty="0">
                <a:solidFill>
                  <a:srgbClr val="1F2124"/>
                </a:solidFill>
                <a:latin typeface="Inter" pitchFamily="34" charset="0"/>
                <a:ea typeface="Inter" pitchFamily="34" charset="-122"/>
                <a:cs typeface="Inter" pitchFamily="34" charset="-120"/>
              </a:rPr>
              <a:t>76.956</a:t>
            </a:r>
            <a:endParaRPr lang="en-US" sz="1200" dirty="0"/>
          </a:p>
        </p:txBody>
      </p:sp>
      <p:sp>
        <p:nvSpPr>
          <p:cNvPr id="50" name="Text 47"/>
          <p:cNvSpPr txBox="1"/>
          <p:nvPr/>
        </p:nvSpPr>
        <p:spPr>
          <a:xfrm>
            <a:off x="4937760" y="4498848"/>
            <a:ext cx="960120" cy="475488"/>
          </a:xfrm>
          <a:prstGeom prst="rect">
            <a:avLst/>
          </a:prstGeom>
          <a:solidFill>
            <a:srgbClr val="E8E8E6"/>
          </a:solidFill>
          <a:ln/>
        </p:spPr>
        <p:txBody>
          <a:bodyPr wrap="square" lIns="0" tIns="88900" rIns="88900" bIns="0" rtlCol="0" anchor="ctr"/>
          <a:lstStyle/>
          <a:p>
            <a:pPr algn="r" indent="0" marL="0">
              <a:buNone/>
            </a:pPr>
            <a:r>
              <a:rPr lang="en-US" sz="1200" b="1" dirty="0">
                <a:solidFill>
                  <a:srgbClr val="1F2124"/>
                </a:solidFill>
                <a:latin typeface="Inter" pitchFamily="34" charset="0"/>
                <a:ea typeface="Inter" pitchFamily="34" charset="-122"/>
                <a:cs typeface="Inter" pitchFamily="34" charset="-120"/>
              </a:rPr>
              <a:t>8,2x</a:t>
            </a:r>
            <a:endParaRPr lang="en-US" sz="1200" dirty="0"/>
          </a:p>
        </p:txBody>
      </p:sp>
      <p:sp>
        <p:nvSpPr>
          <p:cNvPr id="51" name="Text 48"/>
          <p:cNvSpPr txBox="1"/>
          <p:nvPr/>
        </p:nvSpPr>
        <p:spPr>
          <a:xfrm>
            <a:off x="5897880" y="4498848"/>
            <a:ext cx="1783080" cy="475488"/>
          </a:xfrm>
          <a:prstGeom prst="rect">
            <a:avLst/>
          </a:prstGeom>
          <a:solidFill>
            <a:srgbClr val="E8E8E6"/>
          </a:solidFill>
          <a:ln/>
        </p:spPr>
        <p:txBody>
          <a:bodyPr wrap="square" lIns="0" tIns="88900" rIns="88900" bIns="0" rtlCol="0" anchor="ctr"/>
          <a:lstStyle/>
          <a:p>
            <a:pPr algn="l" indent="0" marL="0">
              <a:buNone/>
            </a:pPr>
            <a:r>
              <a:rPr lang="en-US" sz="1200" b="1" dirty="0">
                <a:solidFill>
                  <a:srgbClr val="1F2124"/>
                </a:solidFill>
                <a:latin typeface="Inter" pitchFamily="34" charset="0"/>
                <a:ea typeface="Inter" pitchFamily="34" charset="-122"/>
                <a:cs typeface="Inter" pitchFamily="34" charset="-120"/>
              </a:rPr>
              <a:t>6,85% medio</a:t>
            </a:r>
            <a:endParaRPr lang="en-US" sz="1200" dirty="0"/>
          </a:p>
        </p:txBody>
      </p:sp>
      <p:sp>
        <p:nvSpPr>
          <p:cNvPr id="52" name="Text 49"/>
          <p:cNvSpPr txBox="1"/>
          <p:nvPr/>
        </p:nvSpPr>
        <p:spPr>
          <a:xfrm>
            <a:off x="7680960" y="4498848"/>
            <a:ext cx="2880360" cy="475488"/>
          </a:xfrm>
          <a:prstGeom prst="rect">
            <a:avLst/>
          </a:prstGeom>
          <a:solidFill>
            <a:srgbClr val="E8E8E6"/>
          </a:solidFill>
          <a:ln/>
        </p:spPr>
        <p:txBody>
          <a:bodyPr wrap="square" lIns="0" tIns="88900" rIns="88900" bIns="0" rtlCol="0" anchor="ctr"/>
          <a:lstStyle/>
          <a:p>
            <a:pPr algn="l" indent="0" marL="0">
              <a:buNone/>
            </a:pPr>
            <a:endParaRPr lang="en-US" sz="1200" dirty="0"/>
          </a:p>
        </p:txBody>
      </p:sp>
      <p:sp>
        <p:nvSpPr>
          <p:cNvPr id="53" name="Text 50"/>
          <p:cNvSpPr txBox="1"/>
          <p:nvPr/>
        </p:nvSpPr>
        <p:spPr>
          <a:xfrm>
            <a:off x="10561320" y="4498848"/>
            <a:ext cx="1078992" cy="475488"/>
          </a:xfrm>
          <a:prstGeom prst="rect">
            <a:avLst/>
          </a:prstGeom>
          <a:solidFill>
            <a:srgbClr val="E8E8E6"/>
          </a:solidFill>
          <a:ln/>
        </p:spPr>
        <p:txBody>
          <a:bodyPr wrap="square" lIns="0" tIns="88900" rIns="88900" bIns="0" rtlCol="0" anchor="ctr"/>
          <a:lstStyle/>
          <a:p>
            <a:pPr algn="r" indent="0" marL="0">
              <a:buNone/>
            </a:pPr>
            <a:r>
              <a:rPr lang="en-US" sz="1200" b="1" dirty="0">
                <a:solidFill>
                  <a:srgbClr val="1F2124"/>
                </a:solidFill>
                <a:latin typeface="Inter" pitchFamily="34" charset="0"/>
                <a:ea typeface="Inter" pitchFamily="34" charset="-122"/>
                <a:cs typeface="Inter" pitchFamily="34" charset="-120"/>
              </a:rPr>
              <a:t>€1.142m</a:t>
            </a:r>
            <a:endParaRPr lang="en-US" sz="1200" dirty="0"/>
          </a:p>
        </p:txBody>
      </p:sp>
      <p:sp>
        <p:nvSpPr>
          <p:cNvPr id="54" name="Shape 51"/>
          <p:cNvSpPr/>
          <p:nvPr/>
        </p:nvSpPr>
        <p:spPr>
          <a:xfrm>
            <a:off x="548640" y="5166360"/>
            <a:ext cx="3593592" cy="960120"/>
          </a:xfrm>
          <a:prstGeom prst="rect">
            <a:avLst>
              <a:gd name="adj" fmla="val 5714"/>
            </a:avLst>
          </a:prstGeom>
          <a:solidFill>
            <a:srgbClr val="F3F3F2"/>
          </a:solidFill>
          <a:ln/>
        </p:spPr>
      </p:sp>
      <p:sp>
        <p:nvSpPr>
          <p:cNvPr id="55" name="Text 52"/>
          <p:cNvSpPr txBox="1"/>
          <p:nvPr/>
        </p:nvSpPr>
        <p:spPr>
          <a:xfrm>
            <a:off x="731520" y="5239512"/>
            <a:ext cx="3200400" cy="256032"/>
          </a:xfrm>
          <a:prstGeom prst="rect">
            <a:avLst/>
          </a:prstGeom>
          <a:noFill/>
          <a:ln/>
        </p:spPr>
        <p:txBody>
          <a:bodyPr wrap="square" lIns="0" tIns="0" rIns="0" bIns="0" rtlCol="0" anchor="t"/>
          <a:lstStyle/>
          <a:p>
            <a:pPr indent="0" marL="0">
              <a:buNone/>
            </a:pPr>
            <a:r>
              <a:rPr lang="en-US" sz="1300" b="1" dirty="0">
                <a:solidFill>
                  <a:srgbClr val="1A1D21"/>
                </a:solidFill>
                <a:latin typeface="Inter" pitchFamily="34" charset="0"/>
                <a:ea typeface="Inter" pitchFamily="34" charset="-122"/>
                <a:cs typeface="Inter" pitchFamily="34" charset="-120"/>
              </a:rPr>
              <a:t>Senior 5,5x</a:t>
            </a:r>
            <a:endParaRPr lang="en-US" sz="1300" dirty="0"/>
          </a:p>
        </p:txBody>
      </p:sp>
      <p:sp>
        <p:nvSpPr>
          <p:cNvPr id="56" name="Text 53"/>
          <p:cNvSpPr txBox="1"/>
          <p:nvPr/>
        </p:nvSpPr>
        <p:spPr>
          <a:xfrm>
            <a:off x="731520" y="5513832"/>
            <a:ext cx="3291840" cy="594360"/>
          </a:xfrm>
          <a:prstGeom prst="rect">
            <a:avLst/>
          </a:prstGeom>
          <a:noFill/>
          <a:ln/>
        </p:spPr>
        <p:txBody>
          <a:bodyPr wrap="square" lIns="0" tIns="0" rIns="0" bIns="0" rtlCol="0" anchor="t"/>
          <a:lstStyle/>
          <a:p>
            <a:pPr indent="0" marL="0">
              <a:buNone/>
            </a:pPr>
            <a:r>
              <a:rPr lang="en-US" sz="1050" dirty="0">
                <a:solidFill>
                  <a:srgbClr val="1F2124"/>
                </a:solidFill>
                <a:latin typeface="Inter" pitchFamily="34" charset="0"/>
                <a:ea typeface="Inter" pitchFamily="34" charset="-122"/>
                <a:cs typeface="Inter" pitchFamily="34" charset="-120"/>
              </a:rPr>
              <a:t>TLA amortizable para bancos y TLB bullet para inversores institucionales; el sweep del 85% acelera el pago.</a:t>
            </a:r>
            <a:endParaRPr lang="en-US" sz="1050" dirty="0"/>
          </a:p>
        </p:txBody>
      </p:sp>
      <p:sp>
        <p:nvSpPr>
          <p:cNvPr id="57" name="Shape 54"/>
          <p:cNvSpPr/>
          <p:nvPr/>
        </p:nvSpPr>
        <p:spPr>
          <a:xfrm>
            <a:off x="4297680" y="5166360"/>
            <a:ext cx="3593592" cy="960120"/>
          </a:xfrm>
          <a:prstGeom prst="rect">
            <a:avLst>
              <a:gd name="adj" fmla="val 5714"/>
            </a:avLst>
          </a:prstGeom>
          <a:solidFill>
            <a:srgbClr val="F3F3F2"/>
          </a:solidFill>
          <a:ln/>
        </p:spPr>
      </p:sp>
      <p:sp>
        <p:nvSpPr>
          <p:cNvPr id="58" name="Text 55"/>
          <p:cNvSpPr txBox="1"/>
          <p:nvPr/>
        </p:nvSpPr>
        <p:spPr>
          <a:xfrm>
            <a:off x="4480560" y="5239512"/>
            <a:ext cx="3200400" cy="256032"/>
          </a:xfrm>
          <a:prstGeom prst="rect">
            <a:avLst/>
          </a:prstGeom>
          <a:noFill/>
          <a:ln/>
        </p:spPr>
        <p:txBody>
          <a:bodyPr wrap="square" lIns="0" tIns="0" rIns="0" bIns="0" rtlCol="0" anchor="t"/>
          <a:lstStyle/>
          <a:p>
            <a:pPr indent="0" marL="0">
              <a:buNone/>
            </a:pPr>
            <a:r>
              <a:rPr lang="en-US" sz="1300" b="1" dirty="0">
                <a:solidFill>
                  <a:srgbClr val="1A1D21"/>
                </a:solidFill>
                <a:latin typeface="Inter" pitchFamily="34" charset="0"/>
                <a:ea typeface="Inter" pitchFamily="34" charset="-122"/>
                <a:cs typeface="Inter" pitchFamily="34" charset="-120"/>
              </a:rPr>
              <a:t>Subordinada 2,7x</a:t>
            </a:r>
            <a:endParaRPr lang="en-US" sz="1300" dirty="0"/>
          </a:p>
        </p:txBody>
      </p:sp>
      <p:sp>
        <p:nvSpPr>
          <p:cNvPr id="59" name="Text 56"/>
          <p:cNvSpPr txBox="1"/>
          <p:nvPr/>
        </p:nvSpPr>
        <p:spPr>
          <a:xfrm>
            <a:off x="4480560" y="5513832"/>
            <a:ext cx="3291840" cy="594360"/>
          </a:xfrm>
          <a:prstGeom prst="rect">
            <a:avLst/>
          </a:prstGeom>
          <a:noFill/>
          <a:ln/>
        </p:spPr>
        <p:txBody>
          <a:bodyPr wrap="square" lIns="0" tIns="0" rIns="0" bIns="0" rtlCol="0" anchor="t"/>
          <a:lstStyle/>
          <a:p>
            <a:pPr indent="0" marL="0">
              <a:buNone/>
            </a:pPr>
            <a:r>
              <a:rPr lang="en-US" sz="1050" dirty="0">
                <a:solidFill>
                  <a:srgbClr val="1F2124"/>
                </a:solidFill>
                <a:latin typeface="Inter" pitchFamily="34" charset="0"/>
                <a:ea typeface="Inter" pitchFamily="34" charset="-122"/>
                <a:cs typeface="Inter" pitchFamily="34" charset="-120"/>
              </a:rPr>
              <a:t>Mezzanine PIK: no consume caja durante el LBO. Vendor loan: la deuda más barata tras la senior.</a:t>
            </a:r>
            <a:endParaRPr lang="en-US" sz="1050" dirty="0"/>
          </a:p>
        </p:txBody>
      </p:sp>
      <p:sp>
        <p:nvSpPr>
          <p:cNvPr id="60" name="Shape 57"/>
          <p:cNvSpPr/>
          <p:nvPr/>
        </p:nvSpPr>
        <p:spPr>
          <a:xfrm>
            <a:off x="8046720" y="5166360"/>
            <a:ext cx="3593592" cy="960120"/>
          </a:xfrm>
          <a:prstGeom prst="rect">
            <a:avLst>
              <a:gd name="adj" fmla="val 5714"/>
            </a:avLst>
          </a:prstGeom>
          <a:solidFill>
            <a:srgbClr val="F3F3F2"/>
          </a:solidFill>
          <a:ln/>
        </p:spPr>
      </p:sp>
      <p:sp>
        <p:nvSpPr>
          <p:cNvPr id="61" name="Text 58"/>
          <p:cNvSpPr txBox="1"/>
          <p:nvPr/>
        </p:nvSpPr>
        <p:spPr>
          <a:xfrm>
            <a:off x="8229600" y="5239512"/>
            <a:ext cx="3200400" cy="256032"/>
          </a:xfrm>
          <a:prstGeom prst="rect">
            <a:avLst/>
          </a:prstGeom>
          <a:noFill/>
          <a:ln/>
        </p:spPr>
        <p:txBody>
          <a:bodyPr wrap="square" lIns="0" tIns="0" rIns="0" bIns="0" rtlCol="0" anchor="t"/>
          <a:lstStyle/>
          <a:p>
            <a:pPr indent="0" marL="0">
              <a:buNone/>
            </a:pPr>
            <a:r>
              <a:rPr lang="en-US" sz="1300" b="1" dirty="0">
                <a:solidFill>
                  <a:srgbClr val="1A1D21"/>
                </a:solidFill>
                <a:latin typeface="Inter" pitchFamily="34" charset="0"/>
                <a:ea typeface="Inter" pitchFamily="34" charset="-122"/>
                <a:cs typeface="Inter" pitchFamily="34" charset="-120"/>
              </a:rPr>
              <a:t>Coste medio inicial 6,85%</a:t>
            </a:r>
            <a:endParaRPr lang="en-US" sz="1300" dirty="0"/>
          </a:p>
        </p:txBody>
      </p:sp>
      <p:sp>
        <p:nvSpPr>
          <p:cNvPr id="62" name="Text 59"/>
          <p:cNvSpPr txBox="1"/>
          <p:nvPr/>
        </p:nvSpPr>
        <p:spPr>
          <a:xfrm>
            <a:off x="8229600" y="5513832"/>
            <a:ext cx="3291840" cy="594360"/>
          </a:xfrm>
          <a:prstGeom prst="rect">
            <a:avLst/>
          </a:prstGeom>
          <a:noFill/>
          <a:ln/>
        </p:spPr>
        <p:txBody>
          <a:bodyPr wrap="square" lIns="0" tIns="0" rIns="0" bIns="0" rtlCol="0" anchor="t"/>
          <a:lstStyle/>
          <a:p>
            <a:pPr indent="0" marL="0">
              <a:buNone/>
            </a:pPr>
            <a:r>
              <a:rPr lang="en-US" sz="1050" dirty="0">
                <a:solidFill>
                  <a:srgbClr val="1F2124"/>
                </a:solidFill>
                <a:latin typeface="Inter" pitchFamily="34" charset="0"/>
                <a:ea typeface="Inter" pitchFamily="34" charset="-122"/>
                <a:cs typeface="Inter" pitchFamily="34" charset="-120"/>
              </a:rPr>
              <a:t>Euribor swap del 3,35% más el margen de cada tramo.</a:t>
            </a:r>
            <a:endParaRPr lang="en-US" sz="1050" dirty="0"/>
          </a:p>
        </p:txBody>
      </p:sp>
      <p:sp>
        <p:nvSpPr>
          <p:cNvPr id="63" name="Text 60"/>
          <p:cNvSpPr txBox="1"/>
          <p:nvPr/>
        </p:nvSpPr>
        <p:spPr>
          <a:xfrm>
            <a:off x="548640" y="6327648"/>
            <a:ext cx="7863840" cy="228600"/>
          </a:xfrm>
          <a:prstGeom prst="rect">
            <a:avLst/>
          </a:prstGeom>
          <a:noFill/>
          <a:ln/>
        </p:spPr>
        <p:txBody>
          <a:bodyPr wrap="square" lIns="0" tIns="0" rIns="0" bIns="0" rtlCol="0" anchor="t"/>
          <a:lstStyle/>
          <a:p>
            <a:pPr indent="0" marL="0">
              <a:buNone/>
            </a:pPr>
            <a:r>
              <a:rPr lang="en-US" sz="900" dirty="0">
                <a:solidFill>
                  <a:srgbClr val="6E7378"/>
                </a:solidFill>
                <a:latin typeface="Inter" pitchFamily="34" charset="0"/>
                <a:ea typeface="Inter" pitchFamily="34" charset="-122"/>
                <a:cs typeface="Inter" pitchFamily="34" charset="-120"/>
              </a:rPr>
              <a:t>E = Euribor swap 3,35%. PIK: el interés se capitaliza y se paga al vencimiento. Bullet: se devuelve de una vez al vencimiento.</a:t>
            </a:r>
            <a:endParaRPr lang="en-US" sz="900" dirty="0"/>
          </a:p>
        </p:txBody>
      </p:sp>
      <p:sp>
        <p:nvSpPr>
          <p:cNvPr id="64" name="Text 61"/>
          <p:cNvSpPr txBox="1"/>
          <p:nvPr/>
        </p:nvSpPr>
        <p:spPr>
          <a:xfrm>
            <a:off x="8595360" y="6327648"/>
            <a:ext cx="3044952" cy="228600"/>
          </a:xfrm>
          <a:prstGeom prst="rect">
            <a:avLst/>
          </a:prstGeom>
          <a:noFill/>
          <a:ln/>
        </p:spPr>
        <p:txBody>
          <a:bodyPr wrap="square" lIns="0" tIns="0" rIns="0" bIns="0" rtlCol="0" anchor="t"/>
          <a:lstStyle/>
          <a:p>
            <a:pPr algn="r" indent="0" marL="0">
              <a:buNone/>
            </a:pPr>
            <a:r>
              <a:rPr lang="en-US" sz="900" dirty="0">
                <a:solidFill>
                  <a:srgbClr val="6E7378"/>
                </a:solidFill>
                <a:latin typeface="Inter" pitchFamily="34" charset="0"/>
                <a:ea typeface="Inter" pitchFamily="34" charset="-122"/>
                <a:cs typeface="Inter" pitchFamily="34" charset="-120"/>
              </a:rPr>
              <a:t>Project Galicia  ·  Estrictamente confidencial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79476"/>
            <a:ext cx="7772400" cy="228600"/>
          </a:xfrm>
          <a:prstGeom prst="rect">
            <a:avLst/>
          </a:prstGeom>
          <a:noFill/>
          <a:ln/>
        </p:spPr>
        <p:txBody>
          <a:bodyPr wrap="square" lIns="0" tIns="0" rIns="0" bIns="0" rtlCol="0" anchor="ctr"/>
          <a:lstStyle/>
          <a:p>
            <a:pPr indent="0" marL="0">
              <a:buNone/>
            </a:pPr>
            <a:r>
              <a:rPr lang="en-US" sz="1100" b="1" spc="200" kern="0" dirty="0">
                <a:solidFill>
                  <a:srgbClr val="1F4B3F"/>
                </a:solidFill>
                <a:latin typeface="Inter" pitchFamily="34" charset="0"/>
                <a:ea typeface="Inter" pitchFamily="34" charset="-122"/>
                <a:cs typeface="Inter" pitchFamily="34" charset="-120"/>
              </a:rPr>
              <a:t>03  ESTRUCTURA DE LA DEUDA</a:t>
            </a:r>
            <a:endParaRPr lang="en-US" sz="1100" dirty="0"/>
          </a:p>
        </p:txBody>
      </p:sp>
      <p:pic>
        <p:nvPicPr>
          <p:cNvPr id="3" name="Image 0" descr="/tmp/claude-0/-home-claude/8d7de6a3-f167-5c95-8bc2-67944307bfd8/scratchpad/canva/img/HLP_monograma.png">    </p:cNvPr>
          <p:cNvPicPr>
            <a:picLocks noChangeAspect="1"/>
          </p:cNvPicPr>
          <p:nvPr/>
        </p:nvPicPr>
        <p:blipFill>
          <a:blip r:embed="rId1"/>
          <a:stretch>
            <a:fillRect/>
          </a:stretch>
        </p:blipFill>
        <p:spPr>
          <a:xfrm>
            <a:off x="11130991" y="237744"/>
            <a:ext cx="512064" cy="512064"/>
          </a:xfrm>
          <a:prstGeom prst="rect">
            <a:avLst/>
          </a:prstGeom>
        </p:spPr>
      </p:pic>
      <p:sp>
        <p:nvSpPr>
          <p:cNvPr id="4" name="Text 1"/>
          <p:cNvSpPr txBox="1"/>
          <p:nvPr/>
        </p:nvSpPr>
        <p:spPr>
          <a:xfrm>
            <a:off x="548640" y="786384"/>
            <a:ext cx="11091672" cy="658368"/>
          </a:xfrm>
          <a:prstGeom prst="rect">
            <a:avLst/>
          </a:prstGeom>
          <a:noFill/>
          <a:ln/>
        </p:spPr>
        <p:txBody>
          <a:bodyPr wrap="square" lIns="0" tIns="0" rIns="0" bIns="0" rtlCol="0" anchor="t"/>
          <a:lstStyle/>
          <a:p>
            <a:pPr indent="0" marL="0">
              <a:lnSpc>
                <a:spcPct val="92000"/>
              </a:lnSpc>
              <a:buNone/>
            </a:pPr>
            <a:r>
              <a:rPr lang="en-US" sz="2200" dirty="0">
                <a:solidFill>
                  <a:srgbClr val="1A1D21"/>
                </a:solidFill>
                <a:latin typeface="Lora" pitchFamily="34" charset="0"/>
                <a:ea typeface="Lora" pitchFamily="34" charset="-122"/>
                <a:cs typeface="Lora" pitchFamily="34" charset="-120"/>
              </a:rPr>
              <a:t>La caja de Inditex paga la deuda: el apalancamiento baja de 8,1x a 3,6x y el covenant se cumple incluso en el Bank case</a:t>
            </a:r>
            <a:endParaRPr lang="en-US" sz="2200" dirty="0"/>
          </a:p>
        </p:txBody>
      </p:sp>
      <p:pic>
        <p:nvPicPr>
          <p:cNvPr id="5" name="Image 1" descr="/tmp/claude-0/-home-claude/8d7de6a3-f167-5c95-8bc2-67944307bfd8/scratchpad/canva/img/c7_debt.png">    </p:cNvPr>
          <p:cNvPicPr>
            <a:picLocks noChangeAspect="1"/>
          </p:cNvPicPr>
          <p:nvPr/>
        </p:nvPicPr>
        <p:blipFill>
          <a:blip r:embed="rId2"/>
          <a:stretch>
            <a:fillRect/>
          </a:stretch>
        </p:blipFill>
        <p:spPr>
          <a:xfrm>
            <a:off x="548640" y="1554480"/>
            <a:ext cx="5913852" cy="3474720"/>
          </a:xfrm>
          <a:prstGeom prst="rect">
            <a:avLst/>
          </a:prstGeom>
        </p:spPr>
      </p:pic>
      <p:sp>
        <p:nvSpPr>
          <p:cNvPr id="6" name="Text 2"/>
          <p:cNvSpPr txBox="1"/>
          <p:nvPr/>
        </p:nvSpPr>
        <p:spPr>
          <a:xfrm>
            <a:off x="548640" y="4983480"/>
            <a:ext cx="6172200" cy="384048"/>
          </a:xfrm>
          <a:prstGeom prst="rect">
            <a:avLst/>
          </a:prstGeom>
          <a:noFill/>
          <a:ln/>
        </p:spPr>
        <p:txBody>
          <a:bodyPr wrap="square" lIns="0" tIns="0" rIns="0" bIns="0" rtlCol="0" anchor="t"/>
          <a:lstStyle/>
          <a:p>
            <a:pPr indent="0" marL="0">
              <a:buNone/>
            </a:pPr>
            <a:r>
              <a:rPr lang="en-US" sz="1050" dirty="0">
                <a:solidFill>
                  <a:srgbClr val="6E7378"/>
                </a:solidFill>
                <a:latin typeface="Inter" pitchFamily="34" charset="0"/>
                <a:ea typeface="Inter" pitchFamily="34" charset="-122"/>
                <a:cs typeface="Inter" pitchFamily="34" charset="-120"/>
              </a:rPr>
              <a:t>Deuda bruta por tramo al cierre de cada año (€m) y deuda neta / EBITDA. La mezzanine crece por el PIK de €14.150m a €28.463m.</a:t>
            </a:r>
            <a:endParaRPr lang="en-US" sz="1050" dirty="0"/>
          </a:p>
        </p:txBody>
      </p:sp>
      <p:pic>
        <p:nvPicPr>
          <p:cNvPr id="7" name="Image 2" descr="/tmp/claude-0/-home-claude/8d7de6a3-f167-5c95-8bc2-67944307bfd8/scratchpad/canva/img/c8_dscr.png">    </p:cNvPr>
          <p:cNvPicPr>
            <a:picLocks noChangeAspect="1"/>
          </p:cNvPicPr>
          <p:nvPr/>
        </p:nvPicPr>
        <p:blipFill>
          <a:blip r:embed="rId3"/>
          <a:stretch>
            <a:fillRect/>
          </a:stretch>
        </p:blipFill>
        <p:spPr>
          <a:xfrm>
            <a:off x="6995160" y="1554480"/>
            <a:ext cx="4645152" cy="3242531"/>
          </a:xfrm>
          <a:prstGeom prst="rect">
            <a:avLst/>
          </a:prstGeom>
        </p:spPr>
      </p:pic>
      <p:sp>
        <p:nvSpPr>
          <p:cNvPr id="8" name="Text 3"/>
          <p:cNvSpPr txBox="1"/>
          <p:nvPr/>
        </p:nvSpPr>
        <p:spPr>
          <a:xfrm>
            <a:off x="6995160" y="4846320"/>
            <a:ext cx="4645152" cy="274320"/>
          </a:xfrm>
          <a:prstGeom prst="rect">
            <a:avLst/>
          </a:prstGeom>
          <a:noFill/>
          <a:ln/>
        </p:spPr>
        <p:txBody>
          <a:bodyPr wrap="square" lIns="0" tIns="0" rIns="0" bIns="0" rtlCol="0" anchor="t"/>
          <a:lstStyle/>
          <a:p>
            <a:pPr algn="ctr" indent="0" marL="0">
              <a:buNone/>
            </a:pPr>
            <a:r>
              <a:rPr lang="en-US" sz="1050" dirty="0">
                <a:solidFill>
                  <a:srgbClr val="6E7378"/>
                </a:solidFill>
                <a:latin typeface="Inter" pitchFamily="34" charset="0"/>
                <a:ea typeface="Inter" pitchFamily="34" charset="-122"/>
                <a:cs typeface="Inter" pitchFamily="34" charset="-120"/>
              </a:rPr>
              <a:t>DSCR = caja disponible / servicio de la deuda. Base frente a Bank case.</a:t>
            </a:r>
            <a:endParaRPr lang="en-US" sz="1050" dirty="0"/>
          </a:p>
        </p:txBody>
      </p:sp>
      <p:sp>
        <p:nvSpPr>
          <p:cNvPr id="9" name="Shape 4"/>
          <p:cNvSpPr/>
          <p:nvPr/>
        </p:nvSpPr>
        <p:spPr>
          <a:xfrm>
            <a:off x="548640" y="5440680"/>
            <a:ext cx="2651760" cy="731520"/>
          </a:xfrm>
          <a:prstGeom prst="rect">
            <a:avLst>
              <a:gd name="adj" fmla="val 7500"/>
            </a:avLst>
          </a:prstGeom>
          <a:solidFill>
            <a:srgbClr val="1A1D21"/>
          </a:solidFill>
          <a:ln/>
        </p:spPr>
      </p:sp>
      <p:sp>
        <p:nvSpPr>
          <p:cNvPr id="10" name="Text 5"/>
          <p:cNvSpPr txBox="1"/>
          <p:nvPr/>
        </p:nvSpPr>
        <p:spPr>
          <a:xfrm>
            <a:off x="713232" y="5486400"/>
            <a:ext cx="1325880" cy="365760"/>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1,44x</a:t>
            </a:r>
            <a:endParaRPr lang="en-US" sz="1600" dirty="0"/>
          </a:p>
        </p:txBody>
      </p:sp>
      <p:sp>
        <p:nvSpPr>
          <p:cNvPr id="11" name="Text 6"/>
          <p:cNvSpPr txBox="1"/>
          <p:nvPr/>
        </p:nvSpPr>
        <p:spPr>
          <a:xfrm>
            <a:off x="2011680" y="5504688"/>
            <a:ext cx="1143000" cy="347472"/>
          </a:xfrm>
          <a:prstGeom prst="rect">
            <a:avLst/>
          </a:prstGeom>
          <a:noFill/>
          <a:ln/>
        </p:spPr>
        <p:txBody>
          <a:bodyPr wrap="square" lIns="0" tIns="0" rIns="0" bIns="0" rtlCol="0" anchor="t"/>
          <a:lstStyle/>
          <a:p>
            <a:pPr indent="0" marL="0">
              <a:buNone/>
            </a:pPr>
            <a:r>
              <a:rPr lang="en-US" sz="1000" b="1" dirty="0">
                <a:solidFill>
                  <a:srgbClr val="FFFFFF"/>
                </a:solidFill>
                <a:latin typeface="Inter" pitchFamily="34" charset="0"/>
                <a:ea typeface="Inter" pitchFamily="34" charset="-122"/>
                <a:cs typeface="Inter" pitchFamily="34" charset="-120"/>
              </a:rPr>
              <a:t>DSCR mínimo · base</a:t>
            </a:r>
            <a:endParaRPr lang="en-US" sz="1000" dirty="0"/>
          </a:p>
        </p:txBody>
      </p:sp>
      <p:sp>
        <p:nvSpPr>
          <p:cNvPr id="12" name="Text 7"/>
          <p:cNvSpPr txBox="1"/>
          <p:nvPr/>
        </p:nvSpPr>
        <p:spPr>
          <a:xfrm>
            <a:off x="713232" y="5879592"/>
            <a:ext cx="2423160" cy="237744"/>
          </a:xfrm>
          <a:prstGeom prst="rect">
            <a:avLst/>
          </a:prstGeom>
          <a:noFill/>
          <a:ln/>
        </p:spPr>
        <p:txBody>
          <a:bodyPr wrap="square" lIns="0" tIns="0" rIns="0" bIns="0" rtlCol="0" anchor="t"/>
          <a:lstStyle/>
          <a:p>
            <a:pPr indent="0" marL="0">
              <a:buNone/>
            </a:pPr>
            <a:r>
              <a:rPr lang="en-US" sz="1000" dirty="0">
                <a:solidFill>
                  <a:srgbClr val="D9D9D6"/>
                </a:solidFill>
                <a:latin typeface="Inter" pitchFamily="34" charset="0"/>
                <a:ea typeface="Inter" pitchFamily="34" charset="-122"/>
                <a:cs typeface="Inter" pitchFamily="34" charset="-120"/>
              </a:rPr>
              <a:t>2027 · covenant 1,25x</a:t>
            </a:r>
            <a:endParaRPr lang="en-US" sz="1000" dirty="0"/>
          </a:p>
        </p:txBody>
      </p:sp>
      <p:sp>
        <p:nvSpPr>
          <p:cNvPr id="13" name="Shape 8"/>
          <p:cNvSpPr/>
          <p:nvPr/>
        </p:nvSpPr>
        <p:spPr>
          <a:xfrm>
            <a:off x="3362249" y="5440680"/>
            <a:ext cx="2651760" cy="731520"/>
          </a:xfrm>
          <a:prstGeom prst="rect">
            <a:avLst>
              <a:gd name="adj" fmla="val 7500"/>
            </a:avLst>
          </a:prstGeom>
          <a:solidFill>
            <a:srgbClr val="8C7A48"/>
          </a:solidFill>
          <a:ln/>
        </p:spPr>
      </p:sp>
      <p:sp>
        <p:nvSpPr>
          <p:cNvPr id="14" name="Text 9"/>
          <p:cNvSpPr txBox="1"/>
          <p:nvPr/>
        </p:nvSpPr>
        <p:spPr>
          <a:xfrm>
            <a:off x="3526841" y="5486400"/>
            <a:ext cx="1325880" cy="365760"/>
          </a:xfrm>
          <a:prstGeom prst="rect">
            <a:avLst/>
          </a:prstGeom>
          <a:noFill/>
          <a:ln/>
        </p:spPr>
        <p:txBody>
          <a:bodyPr wrap="square" lIns="0" tIns="0" rIns="0" bIns="0" rtlCol="0" anchor="ctr"/>
          <a:lstStyle/>
          <a:p>
            <a:pPr indent="0" marL="0">
              <a:buNone/>
            </a:pPr>
            <a:r>
              <a:rPr lang="en-US" sz="1600" b="1" dirty="0">
                <a:solidFill>
                  <a:srgbClr val="FFFFFF"/>
                </a:solidFill>
                <a:latin typeface="Inter" pitchFamily="34" charset="0"/>
                <a:ea typeface="Inter" pitchFamily="34" charset="-122"/>
                <a:cs typeface="Inter" pitchFamily="34" charset="-120"/>
              </a:rPr>
              <a:t>1,25x</a:t>
            </a:r>
            <a:endParaRPr lang="en-US" sz="1600" dirty="0"/>
          </a:p>
        </p:txBody>
      </p:sp>
      <p:sp>
        <p:nvSpPr>
          <p:cNvPr id="15" name="Text 10"/>
          <p:cNvSpPr txBox="1"/>
          <p:nvPr/>
        </p:nvSpPr>
        <p:spPr>
          <a:xfrm>
            <a:off x="4825289" y="5504688"/>
            <a:ext cx="1143000" cy="347472"/>
          </a:xfrm>
          <a:prstGeom prst="rect">
            <a:avLst/>
          </a:prstGeom>
          <a:noFill/>
          <a:ln/>
        </p:spPr>
        <p:txBody>
          <a:bodyPr wrap="square" lIns="0" tIns="0" rIns="0" bIns="0" rtlCol="0" anchor="t"/>
          <a:lstStyle/>
          <a:p>
            <a:pPr indent="0" marL="0">
              <a:buNone/>
            </a:pPr>
            <a:r>
              <a:rPr lang="en-US" sz="1000" b="1" dirty="0">
                <a:solidFill>
                  <a:srgbClr val="FFFFFF"/>
                </a:solidFill>
                <a:latin typeface="Inter" pitchFamily="34" charset="0"/>
                <a:ea typeface="Inter" pitchFamily="34" charset="-122"/>
                <a:cs typeface="Inter" pitchFamily="34" charset="-120"/>
              </a:rPr>
              <a:t>DSCR mínimo · Bank case</a:t>
            </a:r>
            <a:endParaRPr lang="en-US" sz="1000" dirty="0"/>
          </a:p>
        </p:txBody>
      </p:sp>
      <p:sp>
        <p:nvSpPr>
          <p:cNvPr id="16" name="Text 11"/>
          <p:cNvSpPr txBox="1"/>
          <p:nvPr/>
        </p:nvSpPr>
        <p:spPr>
          <a:xfrm>
            <a:off x="3526841" y="5879592"/>
            <a:ext cx="2423160" cy="237744"/>
          </a:xfrm>
          <a:prstGeom prst="rect">
            <a:avLst/>
          </a:prstGeom>
          <a:noFill/>
          <a:ln/>
        </p:spPr>
        <p:txBody>
          <a:bodyPr wrap="square" lIns="0" tIns="0" rIns="0" bIns="0" rtlCol="0" anchor="t"/>
          <a:lstStyle/>
          <a:p>
            <a:pPr indent="0" marL="0">
              <a:buNone/>
            </a:pPr>
            <a:r>
              <a:rPr lang="en-US" sz="1000" dirty="0">
                <a:solidFill>
                  <a:srgbClr val="D9D9D6"/>
                </a:solidFill>
                <a:latin typeface="Inter" pitchFamily="34" charset="0"/>
                <a:ea typeface="Inter" pitchFamily="34" charset="-122"/>
                <a:cs typeface="Inter" pitchFamily="34" charset="-120"/>
              </a:rPr>
              <a:t>2030 · cumple, sin holgura</a:t>
            </a:r>
            <a:endParaRPr lang="en-US" sz="1000" dirty="0"/>
          </a:p>
        </p:txBody>
      </p:sp>
      <p:sp>
        <p:nvSpPr>
          <p:cNvPr id="17" name="Shape 12"/>
          <p:cNvSpPr/>
          <p:nvPr/>
        </p:nvSpPr>
        <p:spPr>
          <a:xfrm>
            <a:off x="6175858" y="5440680"/>
            <a:ext cx="2651760" cy="731520"/>
          </a:xfrm>
          <a:prstGeom prst="rect">
            <a:avLst>
              <a:gd name="adj" fmla="val 7500"/>
            </a:avLst>
          </a:prstGeom>
          <a:solidFill>
            <a:srgbClr val="F3F3F2"/>
          </a:solidFill>
          <a:ln/>
        </p:spPr>
      </p:sp>
      <p:sp>
        <p:nvSpPr>
          <p:cNvPr id="18" name="Text 13"/>
          <p:cNvSpPr txBox="1"/>
          <p:nvPr/>
        </p:nvSpPr>
        <p:spPr>
          <a:xfrm>
            <a:off x="6340450" y="5486400"/>
            <a:ext cx="1325880" cy="365760"/>
          </a:xfrm>
          <a:prstGeom prst="rect">
            <a:avLst/>
          </a:prstGeom>
          <a:noFill/>
          <a:ln/>
        </p:spPr>
        <p:txBody>
          <a:bodyPr wrap="square" lIns="0" tIns="0" rIns="0" bIns="0" rtlCol="0" anchor="ctr"/>
          <a:lstStyle/>
          <a:p>
            <a:pPr indent="0" marL="0">
              <a:buNone/>
            </a:pPr>
            <a:r>
              <a:rPr lang="en-US" sz="1400" b="1" dirty="0">
                <a:solidFill>
                  <a:srgbClr val="1A1D21"/>
                </a:solidFill>
                <a:latin typeface="Inter" pitchFamily="34" charset="0"/>
                <a:ea typeface="Inter" pitchFamily="34" charset="-122"/>
                <a:cs typeface="Inter" pitchFamily="34" charset="-120"/>
              </a:rPr>
              <a:t>8,1x → 3,6x</a:t>
            </a:r>
            <a:endParaRPr lang="en-US" sz="1400" dirty="0"/>
          </a:p>
        </p:txBody>
      </p:sp>
      <p:sp>
        <p:nvSpPr>
          <p:cNvPr id="19" name="Text 14"/>
          <p:cNvSpPr txBox="1"/>
          <p:nvPr/>
        </p:nvSpPr>
        <p:spPr>
          <a:xfrm>
            <a:off x="7638898" y="5504688"/>
            <a:ext cx="1143000" cy="347472"/>
          </a:xfrm>
          <a:prstGeom prst="rect">
            <a:avLst/>
          </a:prstGeom>
          <a:noFill/>
          <a:ln/>
        </p:spPr>
        <p:txBody>
          <a:bodyPr wrap="square" lIns="0" tIns="0" rIns="0" bIns="0" rtlCol="0" anchor="t"/>
          <a:lstStyle/>
          <a:p>
            <a:pPr indent="0" marL="0">
              <a:buNone/>
            </a:pPr>
            <a:r>
              <a:rPr lang="en-US" sz="1000" b="1" dirty="0">
                <a:solidFill>
                  <a:srgbClr val="1F2124"/>
                </a:solidFill>
                <a:latin typeface="Inter" pitchFamily="34" charset="0"/>
                <a:ea typeface="Inter" pitchFamily="34" charset="-122"/>
                <a:cs typeface="Inter" pitchFamily="34" charset="-120"/>
              </a:rPr>
              <a:t>Deuda neta / EBITDA</a:t>
            </a:r>
            <a:endParaRPr lang="en-US" sz="1000" dirty="0"/>
          </a:p>
        </p:txBody>
      </p:sp>
      <p:sp>
        <p:nvSpPr>
          <p:cNvPr id="20" name="Text 15"/>
          <p:cNvSpPr txBox="1"/>
          <p:nvPr/>
        </p:nvSpPr>
        <p:spPr>
          <a:xfrm>
            <a:off x="6340450" y="5879592"/>
            <a:ext cx="2423160" cy="237744"/>
          </a:xfrm>
          <a:prstGeom prst="rect">
            <a:avLst/>
          </a:prstGeom>
          <a:noFill/>
          <a:ln/>
        </p:spPr>
        <p:txBody>
          <a:bodyPr wrap="square" lIns="0" tIns="0" rIns="0" bIns="0" rtlCol="0" anchor="t"/>
          <a:lstStyle/>
          <a:p>
            <a:pPr indent="0" marL="0">
              <a:buNone/>
            </a:pPr>
            <a:r>
              <a:rPr lang="en-US" sz="1000" dirty="0">
                <a:solidFill>
                  <a:srgbClr val="6E7378"/>
                </a:solidFill>
                <a:latin typeface="Inter" pitchFamily="34" charset="0"/>
                <a:ea typeface="Inter" pitchFamily="34" charset="-122"/>
                <a:cs typeface="Inter" pitchFamily="34" charset="-120"/>
              </a:rPr>
              <a:t>Del cierre a 2032 (base)</a:t>
            </a:r>
            <a:endParaRPr lang="en-US" sz="1000" dirty="0"/>
          </a:p>
        </p:txBody>
      </p:sp>
      <p:sp>
        <p:nvSpPr>
          <p:cNvPr id="21" name="Shape 16"/>
          <p:cNvSpPr/>
          <p:nvPr/>
        </p:nvSpPr>
        <p:spPr>
          <a:xfrm>
            <a:off x="8989466" y="5440680"/>
            <a:ext cx="2651760" cy="731520"/>
          </a:xfrm>
          <a:prstGeom prst="rect">
            <a:avLst>
              <a:gd name="adj" fmla="val 7500"/>
            </a:avLst>
          </a:prstGeom>
          <a:solidFill>
            <a:srgbClr val="F3F3F2"/>
          </a:solidFill>
          <a:ln/>
        </p:spPr>
      </p:sp>
      <p:sp>
        <p:nvSpPr>
          <p:cNvPr id="22" name="Text 17"/>
          <p:cNvSpPr txBox="1"/>
          <p:nvPr/>
        </p:nvSpPr>
        <p:spPr>
          <a:xfrm>
            <a:off x="9154058" y="5486400"/>
            <a:ext cx="1325880" cy="365760"/>
          </a:xfrm>
          <a:prstGeom prst="rect">
            <a:avLst/>
          </a:prstGeom>
          <a:noFill/>
          <a:ln/>
        </p:spPr>
        <p:txBody>
          <a:bodyPr wrap="square" lIns="0" tIns="0" rIns="0" bIns="0" rtlCol="0" anchor="ctr"/>
          <a:lstStyle/>
          <a:p>
            <a:pPr indent="0" marL="0">
              <a:buNone/>
            </a:pPr>
            <a:r>
              <a:rPr lang="en-US" sz="1600" b="1" dirty="0">
                <a:solidFill>
                  <a:srgbClr val="1A1D21"/>
                </a:solidFill>
                <a:latin typeface="Inter" pitchFamily="34" charset="0"/>
                <a:ea typeface="Inter" pitchFamily="34" charset="-122"/>
                <a:cs typeface="Inter" pitchFamily="34" charset="-120"/>
              </a:rPr>
              <a:t>€6.374m</a:t>
            </a:r>
            <a:endParaRPr lang="en-US" sz="1600" dirty="0"/>
          </a:p>
        </p:txBody>
      </p:sp>
      <p:sp>
        <p:nvSpPr>
          <p:cNvPr id="23" name="Text 18"/>
          <p:cNvSpPr txBox="1"/>
          <p:nvPr/>
        </p:nvSpPr>
        <p:spPr>
          <a:xfrm>
            <a:off x="10452506" y="5504688"/>
            <a:ext cx="1143000" cy="347472"/>
          </a:xfrm>
          <a:prstGeom prst="rect">
            <a:avLst/>
          </a:prstGeom>
          <a:noFill/>
          <a:ln/>
        </p:spPr>
        <p:txBody>
          <a:bodyPr wrap="square" lIns="0" tIns="0" rIns="0" bIns="0" rtlCol="0" anchor="t"/>
          <a:lstStyle/>
          <a:p>
            <a:pPr indent="0" marL="0">
              <a:buNone/>
            </a:pPr>
            <a:r>
              <a:rPr lang="en-US" sz="1000" b="1" dirty="0">
                <a:solidFill>
                  <a:srgbClr val="1F2124"/>
                </a:solidFill>
                <a:latin typeface="Inter" pitchFamily="34" charset="0"/>
                <a:ea typeface="Inter" pitchFamily="34" charset="-122"/>
                <a:cs typeface="Inter" pitchFamily="34" charset="-120"/>
              </a:rPr>
              <a:t>Ahorro fiscal 2026–32</a:t>
            </a:r>
            <a:endParaRPr lang="en-US" sz="1000" dirty="0"/>
          </a:p>
        </p:txBody>
      </p:sp>
      <p:sp>
        <p:nvSpPr>
          <p:cNvPr id="24" name="Text 19"/>
          <p:cNvSpPr txBox="1"/>
          <p:nvPr/>
        </p:nvSpPr>
        <p:spPr>
          <a:xfrm>
            <a:off x="9154058" y="5879592"/>
            <a:ext cx="2423160" cy="237744"/>
          </a:xfrm>
          <a:prstGeom prst="rect">
            <a:avLst/>
          </a:prstGeom>
          <a:noFill/>
          <a:ln/>
        </p:spPr>
        <p:txBody>
          <a:bodyPr wrap="square" lIns="0" tIns="0" rIns="0" bIns="0" rtlCol="0" anchor="t"/>
          <a:lstStyle/>
          <a:p>
            <a:pPr indent="0" marL="0">
              <a:buNone/>
            </a:pPr>
            <a:r>
              <a:rPr lang="en-US" sz="1000" dirty="0">
                <a:solidFill>
                  <a:srgbClr val="6E7378"/>
                </a:solidFill>
                <a:latin typeface="Inter" pitchFamily="34" charset="0"/>
                <a:ea typeface="Inter" pitchFamily="34" charset="-122"/>
                <a:cs typeface="Inter" pitchFamily="34" charset="-120"/>
              </a:rPr>
              <a:t>Con el tope del 30% del EBITDA</a:t>
            </a:r>
            <a:endParaRPr lang="en-US" sz="1000" dirty="0"/>
          </a:p>
        </p:txBody>
      </p:sp>
      <p:sp>
        <p:nvSpPr>
          <p:cNvPr id="25" name="Text 20"/>
          <p:cNvSpPr txBox="1"/>
          <p:nvPr/>
        </p:nvSpPr>
        <p:spPr>
          <a:xfrm>
            <a:off x="548640" y="6327648"/>
            <a:ext cx="7863840" cy="228600"/>
          </a:xfrm>
          <a:prstGeom prst="rect">
            <a:avLst/>
          </a:prstGeom>
          <a:noFill/>
          <a:ln/>
        </p:spPr>
        <p:txBody>
          <a:bodyPr wrap="square" lIns="0" tIns="0" rIns="0" bIns="0" rtlCol="0" anchor="t"/>
          <a:lstStyle/>
          <a:p>
            <a:pPr indent="0" marL="0">
              <a:buNone/>
            </a:pPr>
            <a:r>
              <a:rPr lang="en-US" sz="900" dirty="0">
                <a:solidFill>
                  <a:srgbClr val="6E7378"/>
                </a:solidFill>
                <a:latin typeface="Inter" pitchFamily="34" charset="0"/>
                <a:ea typeface="Inter" pitchFamily="34" charset="-122"/>
                <a:cs typeface="Inter" pitchFamily="34" charset="-120"/>
              </a:rPr>
              <a:t>Fuente: art. 16.1 Ley 27/2014 (LIS), límite de deducción de gastos financieros del 30% del EBITDA fiscal.</a:t>
            </a:r>
            <a:endParaRPr lang="en-US" sz="900" dirty="0"/>
          </a:p>
        </p:txBody>
      </p:sp>
      <p:sp>
        <p:nvSpPr>
          <p:cNvPr id="26" name="Text 21"/>
          <p:cNvSpPr txBox="1"/>
          <p:nvPr/>
        </p:nvSpPr>
        <p:spPr>
          <a:xfrm>
            <a:off x="8595360" y="6327648"/>
            <a:ext cx="3044952" cy="228600"/>
          </a:xfrm>
          <a:prstGeom prst="rect">
            <a:avLst/>
          </a:prstGeom>
          <a:noFill/>
          <a:ln/>
        </p:spPr>
        <p:txBody>
          <a:bodyPr wrap="square" lIns="0" tIns="0" rIns="0" bIns="0" rtlCol="0" anchor="t"/>
          <a:lstStyle/>
          <a:p>
            <a:pPr algn="r" indent="0" marL="0">
              <a:buNone/>
            </a:pPr>
            <a:r>
              <a:rPr lang="en-US" sz="900" dirty="0">
                <a:solidFill>
                  <a:srgbClr val="6E7378"/>
                </a:solidFill>
                <a:latin typeface="Inter" pitchFamily="34" charset="0"/>
                <a:ea typeface="Inter" pitchFamily="34" charset="-122"/>
                <a:cs typeface="Inter" pitchFamily="34" charset="-120"/>
              </a:rPr>
              <a:t>Project Galicia  ·  Estrictamente confidencial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79476"/>
            <a:ext cx="7772400" cy="228600"/>
          </a:xfrm>
          <a:prstGeom prst="rect">
            <a:avLst/>
          </a:prstGeom>
          <a:noFill/>
          <a:ln/>
        </p:spPr>
        <p:txBody>
          <a:bodyPr wrap="square" lIns="0" tIns="0" rIns="0" bIns="0" rtlCol="0" anchor="ctr"/>
          <a:lstStyle/>
          <a:p>
            <a:pPr indent="0" marL="0">
              <a:buNone/>
            </a:pPr>
            <a:r>
              <a:rPr lang="en-US" sz="1100" b="1" spc="200" kern="0" dirty="0">
                <a:solidFill>
                  <a:srgbClr val="1F4B3F"/>
                </a:solidFill>
                <a:latin typeface="Inter" pitchFamily="34" charset="0"/>
                <a:ea typeface="Inter" pitchFamily="34" charset="-122"/>
                <a:cs typeface="Inter" pitchFamily="34" charset="-120"/>
              </a:rPr>
              <a:t>04  FINANCIADORES</a:t>
            </a:r>
            <a:endParaRPr lang="en-US" sz="1100" dirty="0"/>
          </a:p>
        </p:txBody>
      </p:sp>
      <p:pic>
        <p:nvPicPr>
          <p:cNvPr id="3" name="Image 0" descr="/tmp/claude-0/-home-claude/8d7de6a3-f167-5c95-8bc2-67944307bfd8/scratchpad/canva/img/HLP_monograma.png">    </p:cNvPr>
          <p:cNvPicPr>
            <a:picLocks noChangeAspect="1"/>
          </p:cNvPicPr>
          <p:nvPr/>
        </p:nvPicPr>
        <p:blipFill>
          <a:blip r:embed="rId1"/>
          <a:stretch>
            <a:fillRect/>
          </a:stretch>
        </p:blipFill>
        <p:spPr>
          <a:xfrm>
            <a:off x="11130991" y="237744"/>
            <a:ext cx="512064" cy="512064"/>
          </a:xfrm>
          <a:prstGeom prst="rect">
            <a:avLst/>
          </a:prstGeom>
        </p:spPr>
      </p:pic>
      <p:sp>
        <p:nvSpPr>
          <p:cNvPr id="4" name="Text 1"/>
          <p:cNvSpPr txBox="1"/>
          <p:nvPr/>
        </p:nvSpPr>
        <p:spPr>
          <a:xfrm>
            <a:off x="548640" y="786384"/>
            <a:ext cx="11091672" cy="658368"/>
          </a:xfrm>
          <a:prstGeom prst="rect">
            <a:avLst/>
          </a:prstGeom>
          <a:noFill/>
          <a:ln/>
        </p:spPr>
        <p:txBody>
          <a:bodyPr wrap="square" lIns="0" tIns="0" rIns="0" bIns="0" rtlCol="0" anchor="t"/>
          <a:lstStyle/>
          <a:p>
            <a:pPr indent="0" marL="0">
              <a:lnSpc>
                <a:spcPct val="92000"/>
              </a:lnSpc>
              <a:buNone/>
            </a:pPr>
            <a:r>
              <a:rPr lang="en-US" sz="2200" dirty="0">
                <a:solidFill>
                  <a:srgbClr val="1A1D21"/>
                </a:solidFill>
                <a:latin typeface="Lora" pitchFamily="34" charset="0"/>
                <a:ea typeface="Lora" pitchFamily="34" charset="-122"/>
                <a:cs typeface="Lora" pitchFamily="34" charset="-120"/>
              </a:rPr>
              <a:t>Diez bancos aseguran €62.840m antes de la OPA y, tras colocarla, retienen €10.186m</a:t>
            </a:r>
            <a:endParaRPr lang="en-US" sz="2200" dirty="0"/>
          </a:p>
        </p:txBody>
      </p:sp>
      <p:sp>
        <p:nvSpPr>
          <p:cNvPr id="5" name="Shape 2"/>
          <p:cNvSpPr/>
          <p:nvPr/>
        </p:nvSpPr>
        <p:spPr>
          <a:xfrm>
            <a:off x="548640" y="1600200"/>
            <a:ext cx="2606040" cy="4526280"/>
          </a:xfrm>
          <a:prstGeom prst="rect">
            <a:avLst>
              <a:gd name="adj" fmla="val 2105"/>
            </a:avLst>
          </a:prstGeom>
          <a:solidFill>
            <a:srgbClr val="1A1D21"/>
          </a:solidFill>
          <a:ln/>
        </p:spPr>
      </p:sp>
      <p:sp>
        <p:nvSpPr>
          <p:cNvPr id="6" name="Text 3"/>
          <p:cNvSpPr txBox="1"/>
          <p:nvPr/>
        </p:nvSpPr>
        <p:spPr>
          <a:xfrm>
            <a:off x="731520" y="1755648"/>
            <a:ext cx="2286000" cy="274320"/>
          </a:xfrm>
          <a:prstGeom prst="rect">
            <a:avLst/>
          </a:prstGeom>
          <a:noFill/>
          <a:ln/>
        </p:spPr>
        <p:txBody>
          <a:bodyPr wrap="square" lIns="0" tIns="0" rIns="0" bIns="0" rtlCol="0" anchor="t"/>
          <a:lstStyle/>
          <a:p>
            <a:pPr indent="0" marL="0">
              <a:buNone/>
            </a:pPr>
            <a:r>
              <a:rPr lang="en-US" sz="1400" b="1" dirty="0">
                <a:solidFill>
                  <a:srgbClr val="A8C9B8"/>
                </a:solidFill>
                <a:latin typeface="Inter" pitchFamily="34" charset="0"/>
                <a:ea typeface="Inter" pitchFamily="34" charset="-122"/>
                <a:cs typeface="Inter" pitchFamily="34" charset="-120"/>
              </a:rPr>
              <a:t>Certain funds</a:t>
            </a:r>
            <a:endParaRPr lang="en-US" sz="1400" dirty="0"/>
          </a:p>
        </p:txBody>
      </p:sp>
      <p:sp>
        <p:nvSpPr>
          <p:cNvPr id="7" name="Text 4"/>
          <p:cNvSpPr txBox="1"/>
          <p:nvPr/>
        </p:nvSpPr>
        <p:spPr>
          <a:xfrm>
            <a:off x="731520" y="2103120"/>
            <a:ext cx="2286000" cy="1371600"/>
          </a:xfrm>
          <a:prstGeom prst="rect">
            <a:avLst/>
          </a:prstGeom>
          <a:noFill/>
          <a:ln/>
        </p:spPr>
        <p:txBody>
          <a:bodyPr wrap="square" lIns="0" tIns="0" rIns="0" bIns="0" rtlCol="0" anchor="t"/>
          <a:lstStyle/>
          <a:p>
            <a:pPr indent="0" marL="0">
              <a:buNone/>
            </a:pPr>
            <a:r>
              <a:rPr lang="en-US" sz="1150" dirty="0">
                <a:solidFill>
                  <a:srgbClr val="D9D9D6"/>
                </a:solidFill>
                <a:latin typeface="Inter" pitchFamily="34" charset="0"/>
                <a:ea typeface="Inter" pitchFamily="34" charset="-122"/>
                <a:cs typeface="Inter" pitchFamily="34" charset="-120"/>
              </a:rPr>
              <a:t>La CNMV solo autoriza la OPA si el efectivo está garantizado por bancos, y la oferta no puede condicionarse a conseguir financiación.</a:t>
            </a:r>
            <a:endParaRPr lang="en-US" sz="1150" dirty="0"/>
          </a:p>
        </p:txBody>
      </p:sp>
      <p:sp>
        <p:nvSpPr>
          <p:cNvPr id="8" name="Text 5"/>
          <p:cNvSpPr txBox="1"/>
          <p:nvPr/>
        </p:nvSpPr>
        <p:spPr>
          <a:xfrm>
            <a:off x="731520" y="3520440"/>
            <a:ext cx="2286000" cy="777240"/>
          </a:xfrm>
          <a:prstGeom prst="rect">
            <a:avLst/>
          </a:prstGeom>
          <a:noFill/>
          <a:ln/>
        </p:spPr>
        <p:txBody>
          <a:bodyPr wrap="square" lIns="0" tIns="0" rIns="0" bIns="0" rtlCol="0" anchor="t"/>
          <a:lstStyle/>
          <a:p>
            <a:pPr indent="0" marL="0">
              <a:buNone/>
            </a:pPr>
            <a:r>
              <a:rPr lang="en-US" sz="1150" b="1" dirty="0">
                <a:solidFill>
                  <a:srgbClr val="FFFFFF"/>
                </a:solidFill>
                <a:latin typeface="Inter" pitchFamily="34" charset="0"/>
                <a:ea typeface="Inter" pitchFamily="34" charset="-122"/>
                <a:cs typeface="Inter" pitchFamily="34" charset="-120"/>
              </a:rPr>
              <a:t>Por eso los aseguradores firman por el 100% de la deuda desde el primer día.</a:t>
            </a:r>
            <a:endParaRPr lang="en-US" sz="1150" dirty="0"/>
          </a:p>
        </p:txBody>
      </p:sp>
      <p:sp>
        <p:nvSpPr>
          <p:cNvPr id="9" name="Shape 6"/>
          <p:cNvSpPr/>
          <p:nvPr/>
        </p:nvSpPr>
        <p:spPr>
          <a:xfrm>
            <a:off x="731520" y="4480560"/>
            <a:ext cx="2240280" cy="0"/>
          </a:xfrm>
          <a:prstGeom prst="line">
            <a:avLst/>
          </a:prstGeom>
          <a:noFill/>
          <a:ln w="12700">
            <a:solidFill>
              <a:srgbClr val="4A4F55"/>
            </a:solidFill>
            <a:prstDash val="solid"/>
          </a:ln>
        </p:spPr>
      </p:sp>
      <p:sp>
        <p:nvSpPr>
          <p:cNvPr id="10" name="Text 7"/>
          <p:cNvSpPr txBox="1"/>
          <p:nvPr/>
        </p:nvSpPr>
        <p:spPr>
          <a:xfrm>
            <a:off x="731520" y="4617720"/>
            <a:ext cx="2286000" cy="228600"/>
          </a:xfrm>
          <a:prstGeom prst="rect">
            <a:avLst/>
          </a:prstGeom>
          <a:noFill/>
          <a:ln/>
        </p:spPr>
        <p:txBody>
          <a:bodyPr wrap="square" lIns="0" tIns="0" rIns="0" bIns="0" rtlCol="0" anchor="t"/>
          <a:lstStyle/>
          <a:p>
            <a:pPr indent="0" marL="0">
              <a:buNone/>
            </a:pPr>
            <a:r>
              <a:rPr lang="en-US" sz="1000" b="1" spc="200" kern="0" dirty="0">
                <a:solidFill>
                  <a:srgbClr val="A8C9B8"/>
                </a:solidFill>
                <a:latin typeface="Inter" pitchFamily="34" charset="0"/>
                <a:ea typeface="Inter" pitchFamily="34" charset="-122"/>
                <a:cs typeface="Inter" pitchFamily="34" charset="-120"/>
              </a:rPr>
              <a:t>TRAS LA OPA RETIENEN</a:t>
            </a:r>
            <a:endParaRPr lang="en-US" sz="1000" dirty="0"/>
          </a:p>
        </p:txBody>
      </p:sp>
      <p:sp>
        <p:nvSpPr>
          <p:cNvPr id="11" name="Text 8"/>
          <p:cNvSpPr txBox="1"/>
          <p:nvPr/>
        </p:nvSpPr>
        <p:spPr>
          <a:xfrm>
            <a:off x="731520" y="4864608"/>
            <a:ext cx="2286000" cy="502920"/>
          </a:xfrm>
          <a:prstGeom prst="rect">
            <a:avLst/>
          </a:prstGeom>
          <a:noFill/>
          <a:ln/>
        </p:spPr>
        <p:txBody>
          <a:bodyPr wrap="square" lIns="0" tIns="0" rIns="0" bIns="0" rtlCol="0" anchor="t"/>
          <a:lstStyle/>
          <a:p>
            <a:pPr indent="0" marL="0">
              <a:buNone/>
            </a:pPr>
            <a:r>
              <a:rPr lang="en-US" sz="2800" b="1" dirty="0">
                <a:solidFill>
                  <a:srgbClr val="FFFFFF"/>
                </a:solidFill>
                <a:latin typeface="Lora" pitchFamily="34" charset="0"/>
                <a:ea typeface="Lora" pitchFamily="34" charset="-122"/>
                <a:cs typeface="Lora" pitchFamily="34" charset="-120"/>
              </a:rPr>
              <a:t>€10.186m</a:t>
            </a:r>
            <a:endParaRPr lang="en-US" sz="2800" dirty="0"/>
          </a:p>
        </p:txBody>
      </p:sp>
      <p:sp>
        <p:nvSpPr>
          <p:cNvPr id="12" name="Text 9"/>
          <p:cNvSpPr txBox="1"/>
          <p:nvPr/>
        </p:nvSpPr>
        <p:spPr>
          <a:xfrm>
            <a:off x="731520" y="5413248"/>
            <a:ext cx="2286000" cy="594360"/>
          </a:xfrm>
          <a:prstGeom prst="rect">
            <a:avLst/>
          </a:prstGeom>
          <a:noFill/>
          <a:ln/>
        </p:spPr>
        <p:txBody>
          <a:bodyPr wrap="square" lIns="0" tIns="0" rIns="0" bIns="0" rtlCol="0" anchor="t"/>
          <a:lstStyle/>
          <a:p>
            <a:pPr indent="0" marL="0">
              <a:buNone/>
            </a:pPr>
            <a:r>
              <a:rPr lang="en-US" sz="1050" dirty="0">
                <a:solidFill>
                  <a:srgbClr val="D9D9D6"/>
                </a:solidFill>
                <a:latin typeface="Inter" pitchFamily="34" charset="0"/>
                <a:ea typeface="Inter" pitchFamily="34" charset="-122"/>
                <a:cs typeface="Inter" pitchFamily="34" charset="-120"/>
              </a:rPr>
              <a:t>de €62.840m: el TLB se coloca y el puente se repaga con la caja de Inditex</a:t>
            </a:r>
            <a:endParaRPr lang="en-US" sz="1050" dirty="0"/>
          </a:p>
        </p:txBody>
      </p:sp>
      <p:sp>
        <p:nvSpPr>
          <p:cNvPr id="13" name="Text 10"/>
          <p:cNvSpPr txBox="1"/>
          <p:nvPr/>
        </p:nvSpPr>
        <p:spPr>
          <a:xfrm>
            <a:off x="3429000" y="1600200"/>
            <a:ext cx="8229600" cy="228600"/>
          </a:xfrm>
          <a:prstGeom prst="rect">
            <a:avLst/>
          </a:prstGeom>
          <a:noFill/>
          <a:ln/>
        </p:spPr>
        <p:txBody>
          <a:bodyPr wrap="square" lIns="0" tIns="0" rIns="0" bIns="0" rtlCol="0" anchor="t"/>
          <a:lstStyle/>
          <a:p>
            <a:pPr indent="0" marL="0">
              <a:buNone/>
            </a:pPr>
            <a:r>
              <a:rPr lang="en-US" sz="1050" b="1" spc="150" kern="0" dirty="0">
                <a:solidFill>
                  <a:srgbClr val="1F4B3F"/>
                </a:solidFill>
                <a:latin typeface="Inter" pitchFamily="34" charset="0"/>
                <a:ea typeface="Inter" pitchFamily="34" charset="-122"/>
                <a:cs typeface="Inter" pitchFamily="34" charset="-120"/>
              </a:rPr>
              <a:t>GLOBAL COORDINATORS · 15% CADA UNO · €9.426M</a:t>
            </a:r>
            <a:endParaRPr lang="en-US" sz="1050" dirty="0"/>
          </a:p>
        </p:txBody>
      </p:sp>
      <p:sp>
        <p:nvSpPr>
          <p:cNvPr id="14" name="Shape 11"/>
          <p:cNvSpPr/>
          <p:nvPr/>
        </p:nvSpPr>
        <p:spPr>
          <a:xfrm>
            <a:off x="3429000" y="1874520"/>
            <a:ext cx="1965960" cy="713232"/>
          </a:xfrm>
          <a:prstGeom prst="rect">
            <a:avLst>
              <a:gd name="adj" fmla="val 6410"/>
            </a:avLst>
          </a:prstGeom>
          <a:solidFill>
            <a:srgbClr val="1A1D21"/>
          </a:solidFill>
          <a:ln w="12700">
            <a:solidFill>
              <a:srgbClr val="1A1D21"/>
            </a:solidFill>
            <a:prstDash val="solid"/>
          </a:ln>
        </p:spPr>
      </p:sp>
      <p:sp>
        <p:nvSpPr>
          <p:cNvPr id="15" name="Text 12"/>
          <p:cNvSpPr txBox="1"/>
          <p:nvPr/>
        </p:nvSpPr>
        <p:spPr>
          <a:xfrm>
            <a:off x="3456432" y="1874520"/>
            <a:ext cx="1911096" cy="713232"/>
          </a:xfrm>
          <a:prstGeom prst="rect">
            <a:avLst/>
          </a:prstGeom>
          <a:noFill/>
          <a:ln/>
        </p:spPr>
        <p:txBody>
          <a:bodyPr wrap="square" lIns="0" tIns="0" rIns="0" bIns="0" rtlCol="0" anchor="ctr"/>
          <a:lstStyle/>
          <a:p>
            <a:pPr algn="ctr" indent="0" marL="0">
              <a:buNone/>
            </a:pPr>
            <a:endParaRPr lang="en-US" sz="1300" dirty="0"/>
          </a:p>
        </p:txBody>
      </p:sp>
      <p:sp>
        <p:nvSpPr>
          <p:cNvPr id="16" name="Shape 13"/>
          <p:cNvSpPr/>
          <p:nvPr/>
        </p:nvSpPr>
        <p:spPr>
          <a:xfrm>
            <a:off x="5504688" y="1874520"/>
            <a:ext cx="1965960" cy="713232"/>
          </a:xfrm>
          <a:prstGeom prst="rect">
            <a:avLst>
              <a:gd name="adj" fmla="val 6410"/>
            </a:avLst>
          </a:prstGeom>
          <a:solidFill>
            <a:srgbClr val="1A1D21"/>
          </a:solidFill>
          <a:ln w="12700">
            <a:solidFill>
              <a:srgbClr val="1A1D21"/>
            </a:solidFill>
            <a:prstDash val="solid"/>
          </a:ln>
        </p:spPr>
      </p:sp>
      <p:sp>
        <p:nvSpPr>
          <p:cNvPr id="17" name="Text 14"/>
          <p:cNvSpPr txBox="1"/>
          <p:nvPr/>
        </p:nvSpPr>
        <p:spPr>
          <a:xfrm>
            <a:off x="5532120" y="1874520"/>
            <a:ext cx="1911096" cy="713232"/>
          </a:xfrm>
          <a:prstGeom prst="rect">
            <a:avLst/>
          </a:prstGeom>
          <a:noFill/>
          <a:ln/>
        </p:spPr>
        <p:txBody>
          <a:bodyPr wrap="square" lIns="0" tIns="0" rIns="0" bIns="0" rtlCol="0" anchor="ctr"/>
          <a:lstStyle/>
          <a:p>
            <a:pPr algn="ctr" indent="0" marL="0">
              <a:buNone/>
            </a:pPr>
            <a:endParaRPr lang="en-US" sz="1300" dirty="0"/>
          </a:p>
        </p:txBody>
      </p:sp>
      <p:sp>
        <p:nvSpPr>
          <p:cNvPr id="18" name="Shape 15"/>
          <p:cNvSpPr/>
          <p:nvPr/>
        </p:nvSpPr>
        <p:spPr>
          <a:xfrm>
            <a:off x="7580376" y="1874520"/>
            <a:ext cx="1965960" cy="713232"/>
          </a:xfrm>
          <a:prstGeom prst="rect">
            <a:avLst>
              <a:gd name="adj" fmla="val 6410"/>
            </a:avLst>
          </a:prstGeom>
          <a:solidFill>
            <a:srgbClr val="1A1D21"/>
          </a:solidFill>
          <a:ln w="12700">
            <a:solidFill>
              <a:srgbClr val="1A1D21"/>
            </a:solidFill>
            <a:prstDash val="solid"/>
          </a:ln>
        </p:spPr>
      </p:sp>
      <p:sp>
        <p:nvSpPr>
          <p:cNvPr id="19" name="Text 16"/>
          <p:cNvSpPr txBox="1"/>
          <p:nvPr/>
        </p:nvSpPr>
        <p:spPr>
          <a:xfrm>
            <a:off x="7607808" y="1874520"/>
            <a:ext cx="1911096" cy="713232"/>
          </a:xfrm>
          <a:prstGeom prst="rect">
            <a:avLst/>
          </a:prstGeom>
          <a:noFill/>
          <a:ln/>
        </p:spPr>
        <p:txBody>
          <a:bodyPr wrap="square" lIns="0" tIns="0" rIns="0" bIns="0" rtlCol="0" anchor="ctr"/>
          <a:lstStyle/>
          <a:p>
            <a:pPr algn="ctr" indent="0" marL="0">
              <a:buNone/>
            </a:pPr>
            <a:endParaRPr lang="en-US" sz="1300" dirty="0"/>
          </a:p>
        </p:txBody>
      </p:sp>
      <p:sp>
        <p:nvSpPr>
          <p:cNvPr id="20" name="Shape 17"/>
          <p:cNvSpPr/>
          <p:nvPr/>
        </p:nvSpPr>
        <p:spPr>
          <a:xfrm>
            <a:off x="9656064" y="1874520"/>
            <a:ext cx="1965960" cy="713232"/>
          </a:xfrm>
          <a:prstGeom prst="rect">
            <a:avLst>
              <a:gd name="adj" fmla="val 6410"/>
            </a:avLst>
          </a:prstGeom>
          <a:solidFill>
            <a:srgbClr val="1A1D21"/>
          </a:solidFill>
          <a:ln w="12700">
            <a:solidFill>
              <a:srgbClr val="1A1D21"/>
            </a:solidFill>
            <a:prstDash val="solid"/>
          </a:ln>
        </p:spPr>
      </p:sp>
      <p:sp>
        <p:nvSpPr>
          <p:cNvPr id="21" name="Text 18"/>
          <p:cNvSpPr txBox="1"/>
          <p:nvPr/>
        </p:nvSpPr>
        <p:spPr>
          <a:xfrm>
            <a:off x="9683496" y="1874520"/>
            <a:ext cx="1911096" cy="713232"/>
          </a:xfrm>
          <a:prstGeom prst="rect">
            <a:avLst/>
          </a:prstGeom>
          <a:noFill/>
          <a:ln/>
        </p:spPr>
        <p:txBody>
          <a:bodyPr wrap="square" lIns="0" tIns="0" rIns="0" bIns="0" rtlCol="0" anchor="ctr"/>
          <a:lstStyle/>
          <a:p>
            <a:pPr algn="ctr" indent="0" marL="0">
              <a:buNone/>
            </a:pPr>
            <a:endParaRPr lang="en-US" sz="1300" dirty="0"/>
          </a:p>
        </p:txBody>
      </p:sp>
      <p:sp>
        <p:nvSpPr>
          <p:cNvPr id="22" name="Text 19"/>
          <p:cNvSpPr txBox="1"/>
          <p:nvPr/>
        </p:nvSpPr>
        <p:spPr>
          <a:xfrm>
            <a:off x="7699248" y="1874520"/>
            <a:ext cx="1097280" cy="713232"/>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BNP Paribas</a:t>
            </a:r>
            <a:endParaRPr lang="en-US" sz="1400" dirty="0"/>
          </a:p>
        </p:txBody>
      </p:sp>
      <p:sp>
        <p:nvSpPr>
          <p:cNvPr id="23" name="Text 20"/>
          <p:cNvSpPr txBox="1"/>
          <p:nvPr/>
        </p:nvSpPr>
        <p:spPr>
          <a:xfrm>
            <a:off x="9774936" y="1947672"/>
            <a:ext cx="1097280" cy="329184"/>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Santander</a:t>
            </a:r>
            <a:endParaRPr lang="en-US" sz="1400" dirty="0"/>
          </a:p>
        </p:txBody>
      </p:sp>
      <p:sp>
        <p:nvSpPr>
          <p:cNvPr id="24" name="Text 21"/>
          <p:cNvSpPr txBox="1"/>
          <p:nvPr/>
        </p:nvSpPr>
        <p:spPr>
          <a:xfrm>
            <a:off x="9774936" y="2267712"/>
            <a:ext cx="1097280" cy="256032"/>
          </a:xfrm>
          <a:prstGeom prst="rect">
            <a:avLst/>
          </a:prstGeom>
          <a:noFill/>
          <a:ln/>
        </p:spPr>
        <p:txBody>
          <a:bodyPr wrap="square" lIns="0" tIns="0" rIns="0" bIns="0" rtlCol="0" anchor="t"/>
          <a:lstStyle/>
          <a:p>
            <a:pPr indent="0" marL="0">
              <a:buNone/>
            </a:pPr>
            <a:r>
              <a:rPr lang="en-US" sz="1050" dirty="0">
                <a:solidFill>
                  <a:srgbClr val="BFC4CA"/>
                </a:solidFill>
                <a:latin typeface="Inter" pitchFamily="34" charset="0"/>
                <a:ea typeface="Inter" pitchFamily="34" charset="-122"/>
                <a:cs typeface="Inter" pitchFamily="34" charset="-120"/>
              </a:rPr>
              <a:t>también agente</a:t>
            </a:r>
            <a:endParaRPr lang="en-US" sz="1050" dirty="0"/>
          </a:p>
        </p:txBody>
      </p:sp>
      <p:pic>
        <p:nvPicPr>
          <p:cNvPr id="25" name="Image 1" descr="/tmp/claude-0/-home-claude/8d7de6a3-f167-5c95-8bc2-67944307bfd8/scratchpad/canva/img/bank_jpm.png">    </p:cNvPr>
          <p:cNvPicPr>
            <a:picLocks noChangeAspect="1"/>
          </p:cNvPicPr>
          <p:nvPr/>
        </p:nvPicPr>
        <p:blipFill>
          <a:blip r:embed="rId2"/>
          <a:stretch>
            <a:fillRect/>
          </a:stretch>
        </p:blipFill>
        <p:spPr>
          <a:xfrm>
            <a:off x="3643884" y="1993392"/>
            <a:ext cx="1581912" cy="470916"/>
          </a:xfrm>
          <a:prstGeom prst="rect">
            <a:avLst/>
          </a:prstGeom>
        </p:spPr>
      </p:pic>
      <p:pic>
        <p:nvPicPr>
          <p:cNvPr id="26" name="Image 2" descr="/tmp/claude-0/-home-claude/8d7de6a3-f167-5c95-8bc2-67944307bfd8/scratchpad/canva/img/bank_gs.png">    </p:cNvPr>
          <p:cNvPicPr>
            <a:picLocks noChangeAspect="1"/>
          </p:cNvPicPr>
          <p:nvPr/>
        </p:nvPicPr>
        <p:blipFill>
          <a:blip r:embed="rId3"/>
          <a:stretch>
            <a:fillRect/>
          </a:stretch>
        </p:blipFill>
        <p:spPr>
          <a:xfrm>
            <a:off x="5942686" y="1973275"/>
            <a:ext cx="1090879" cy="516636"/>
          </a:xfrm>
          <a:prstGeom prst="rect">
            <a:avLst/>
          </a:prstGeom>
        </p:spPr>
      </p:pic>
      <p:pic>
        <p:nvPicPr>
          <p:cNvPr id="27" name="Image 3" descr="/tmp/claude-0/-home-claude/8d7de6a3-f167-5c95-8bc2-67944307bfd8/scratchpad/canva/img/bank_bnp.png">    </p:cNvPr>
          <p:cNvPicPr>
            <a:picLocks noChangeAspect="1"/>
          </p:cNvPicPr>
          <p:nvPr/>
        </p:nvPicPr>
        <p:blipFill>
          <a:blip r:embed="rId4"/>
          <a:stretch>
            <a:fillRect/>
          </a:stretch>
        </p:blipFill>
        <p:spPr>
          <a:xfrm>
            <a:off x="8822131" y="2003450"/>
            <a:ext cx="471830" cy="477317"/>
          </a:xfrm>
          <a:prstGeom prst="rect">
            <a:avLst/>
          </a:prstGeom>
        </p:spPr>
      </p:pic>
      <p:pic>
        <p:nvPicPr>
          <p:cNvPr id="28" name="Image 4" descr="/tmp/claude-0/-home-claude/8d7de6a3-f167-5c95-8bc2-67944307bfd8/scratchpad/canva/img/bank_santander.png">    </p:cNvPr>
          <p:cNvPicPr>
            <a:picLocks noChangeAspect="1"/>
          </p:cNvPicPr>
          <p:nvPr/>
        </p:nvPicPr>
        <p:blipFill>
          <a:blip r:embed="rId5"/>
          <a:stretch>
            <a:fillRect/>
          </a:stretch>
        </p:blipFill>
        <p:spPr>
          <a:xfrm>
            <a:off x="10903306" y="2003450"/>
            <a:ext cx="455371" cy="432511"/>
          </a:xfrm>
          <a:prstGeom prst="rect">
            <a:avLst/>
          </a:prstGeom>
        </p:spPr>
      </p:pic>
      <p:sp>
        <p:nvSpPr>
          <p:cNvPr id="29" name="Text 22"/>
          <p:cNvSpPr txBox="1"/>
          <p:nvPr/>
        </p:nvSpPr>
        <p:spPr>
          <a:xfrm>
            <a:off x="3429000" y="2743200"/>
            <a:ext cx="8229600" cy="228600"/>
          </a:xfrm>
          <a:prstGeom prst="rect">
            <a:avLst/>
          </a:prstGeom>
          <a:noFill/>
          <a:ln/>
        </p:spPr>
        <p:txBody>
          <a:bodyPr wrap="square" lIns="0" tIns="0" rIns="0" bIns="0" rtlCol="0" anchor="t"/>
          <a:lstStyle/>
          <a:p>
            <a:pPr indent="0" marL="0">
              <a:buNone/>
            </a:pPr>
            <a:r>
              <a:rPr lang="en-US" sz="1050" b="1" spc="150" kern="0" dirty="0">
                <a:solidFill>
                  <a:srgbClr val="1F4B3F"/>
                </a:solidFill>
                <a:latin typeface="Inter" pitchFamily="34" charset="0"/>
                <a:ea typeface="Inter" pitchFamily="34" charset="-122"/>
                <a:cs typeface="Inter" pitchFamily="34" charset="-120"/>
              </a:rPr>
              <a:t>MANDATED LEAD ARRANGERS · 6,67% CADA UNO · €4.189M</a:t>
            </a:r>
            <a:endParaRPr lang="en-US" sz="1050" dirty="0"/>
          </a:p>
        </p:txBody>
      </p:sp>
      <p:sp>
        <p:nvSpPr>
          <p:cNvPr id="30" name="Shape 23"/>
          <p:cNvSpPr/>
          <p:nvPr/>
        </p:nvSpPr>
        <p:spPr>
          <a:xfrm>
            <a:off x="3429000" y="3017520"/>
            <a:ext cx="1307592" cy="566928"/>
          </a:xfrm>
          <a:prstGeom prst="rect">
            <a:avLst>
              <a:gd name="adj" fmla="val 8065"/>
            </a:avLst>
          </a:prstGeom>
          <a:solidFill>
            <a:srgbClr val="FFFFFF"/>
          </a:solidFill>
          <a:ln w="12700">
            <a:solidFill>
              <a:srgbClr val="D9D9D6"/>
            </a:solidFill>
            <a:prstDash val="solid"/>
          </a:ln>
        </p:spPr>
      </p:sp>
      <p:sp>
        <p:nvSpPr>
          <p:cNvPr id="31" name="Text 24"/>
          <p:cNvSpPr txBox="1"/>
          <p:nvPr/>
        </p:nvSpPr>
        <p:spPr>
          <a:xfrm>
            <a:off x="3456432" y="3017520"/>
            <a:ext cx="1252728" cy="566928"/>
          </a:xfrm>
          <a:prstGeom prst="rect">
            <a:avLst/>
          </a:prstGeom>
          <a:noFill/>
          <a:ln/>
        </p:spPr>
        <p:txBody>
          <a:bodyPr wrap="square" lIns="0" tIns="0" rIns="0" bIns="0" rtlCol="0" anchor="ctr"/>
          <a:lstStyle/>
          <a:p>
            <a:pPr algn="ctr" indent="0" marL="0">
              <a:buNone/>
            </a:pPr>
            <a:endParaRPr lang="en-US" sz="1100" dirty="0"/>
          </a:p>
        </p:txBody>
      </p:sp>
      <p:sp>
        <p:nvSpPr>
          <p:cNvPr id="32" name="Shape 25"/>
          <p:cNvSpPr/>
          <p:nvPr/>
        </p:nvSpPr>
        <p:spPr>
          <a:xfrm>
            <a:off x="4809744" y="3017520"/>
            <a:ext cx="1307592" cy="566928"/>
          </a:xfrm>
          <a:prstGeom prst="rect">
            <a:avLst>
              <a:gd name="adj" fmla="val 8065"/>
            </a:avLst>
          </a:prstGeom>
          <a:solidFill>
            <a:srgbClr val="FFFFFF"/>
          </a:solidFill>
          <a:ln w="12700">
            <a:solidFill>
              <a:srgbClr val="D9D9D6"/>
            </a:solidFill>
            <a:prstDash val="solid"/>
          </a:ln>
        </p:spPr>
      </p:sp>
      <p:sp>
        <p:nvSpPr>
          <p:cNvPr id="33" name="Text 26"/>
          <p:cNvSpPr txBox="1"/>
          <p:nvPr/>
        </p:nvSpPr>
        <p:spPr>
          <a:xfrm>
            <a:off x="4837176" y="3017520"/>
            <a:ext cx="1252728" cy="566928"/>
          </a:xfrm>
          <a:prstGeom prst="rect">
            <a:avLst/>
          </a:prstGeom>
          <a:noFill/>
          <a:ln/>
        </p:spPr>
        <p:txBody>
          <a:bodyPr wrap="square" lIns="0" tIns="0" rIns="0" bIns="0" rtlCol="0" anchor="ctr"/>
          <a:lstStyle/>
          <a:p>
            <a:pPr algn="ctr" indent="0" marL="0">
              <a:buNone/>
            </a:pPr>
            <a:endParaRPr lang="en-US" sz="1100" dirty="0"/>
          </a:p>
        </p:txBody>
      </p:sp>
      <p:sp>
        <p:nvSpPr>
          <p:cNvPr id="34" name="Shape 27"/>
          <p:cNvSpPr/>
          <p:nvPr/>
        </p:nvSpPr>
        <p:spPr>
          <a:xfrm>
            <a:off x="6190488" y="3017520"/>
            <a:ext cx="1307592" cy="566928"/>
          </a:xfrm>
          <a:prstGeom prst="rect">
            <a:avLst>
              <a:gd name="adj" fmla="val 8065"/>
            </a:avLst>
          </a:prstGeom>
          <a:solidFill>
            <a:srgbClr val="FFFFFF"/>
          </a:solidFill>
          <a:ln w="12700">
            <a:solidFill>
              <a:srgbClr val="D9D9D6"/>
            </a:solidFill>
            <a:prstDash val="solid"/>
          </a:ln>
        </p:spPr>
      </p:sp>
      <p:sp>
        <p:nvSpPr>
          <p:cNvPr id="35" name="Text 28"/>
          <p:cNvSpPr txBox="1"/>
          <p:nvPr/>
        </p:nvSpPr>
        <p:spPr>
          <a:xfrm>
            <a:off x="6217920" y="3017520"/>
            <a:ext cx="1252728" cy="566928"/>
          </a:xfrm>
          <a:prstGeom prst="rect">
            <a:avLst/>
          </a:prstGeom>
          <a:noFill/>
          <a:ln/>
        </p:spPr>
        <p:txBody>
          <a:bodyPr wrap="square" lIns="0" tIns="0" rIns="0" bIns="0" rtlCol="0" anchor="ctr"/>
          <a:lstStyle/>
          <a:p>
            <a:pPr algn="ctr" indent="0" marL="0">
              <a:buNone/>
            </a:pPr>
            <a:endParaRPr lang="en-US" sz="1100" dirty="0"/>
          </a:p>
        </p:txBody>
      </p:sp>
      <p:sp>
        <p:nvSpPr>
          <p:cNvPr id="36" name="Shape 29"/>
          <p:cNvSpPr/>
          <p:nvPr/>
        </p:nvSpPr>
        <p:spPr>
          <a:xfrm>
            <a:off x="7571232" y="3017520"/>
            <a:ext cx="1307592" cy="566928"/>
          </a:xfrm>
          <a:prstGeom prst="rect">
            <a:avLst>
              <a:gd name="adj" fmla="val 8065"/>
            </a:avLst>
          </a:prstGeom>
          <a:solidFill>
            <a:srgbClr val="FFFFFF"/>
          </a:solidFill>
          <a:ln w="12700">
            <a:solidFill>
              <a:srgbClr val="D9D9D6"/>
            </a:solidFill>
            <a:prstDash val="solid"/>
          </a:ln>
        </p:spPr>
      </p:sp>
      <p:sp>
        <p:nvSpPr>
          <p:cNvPr id="37" name="Text 30"/>
          <p:cNvSpPr txBox="1"/>
          <p:nvPr/>
        </p:nvSpPr>
        <p:spPr>
          <a:xfrm>
            <a:off x="7598664" y="3017520"/>
            <a:ext cx="1252728" cy="566928"/>
          </a:xfrm>
          <a:prstGeom prst="rect">
            <a:avLst/>
          </a:prstGeom>
          <a:noFill/>
          <a:ln/>
        </p:spPr>
        <p:txBody>
          <a:bodyPr wrap="square" lIns="0" tIns="0" rIns="0" bIns="0" rtlCol="0" anchor="ctr"/>
          <a:lstStyle/>
          <a:p>
            <a:pPr algn="ctr" indent="0" marL="0">
              <a:buNone/>
            </a:pPr>
            <a:endParaRPr lang="en-US" sz="1100" dirty="0"/>
          </a:p>
        </p:txBody>
      </p:sp>
      <p:sp>
        <p:nvSpPr>
          <p:cNvPr id="38" name="Shape 31"/>
          <p:cNvSpPr/>
          <p:nvPr/>
        </p:nvSpPr>
        <p:spPr>
          <a:xfrm>
            <a:off x="8951976" y="3017520"/>
            <a:ext cx="1307592" cy="566928"/>
          </a:xfrm>
          <a:prstGeom prst="rect">
            <a:avLst>
              <a:gd name="adj" fmla="val 8065"/>
            </a:avLst>
          </a:prstGeom>
          <a:solidFill>
            <a:srgbClr val="FFFFFF"/>
          </a:solidFill>
          <a:ln w="12700">
            <a:solidFill>
              <a:srgbClr val="D9D9D6"/>
            </a:solidFill>
            <a:prstDash val="solid"/>
          </a:ln>
        </p:spPr>
      </p:sp>
      <p:sp>
        <p:nvSpPr>
          <p:cNvPr id="39" name="Text 32"/>
          <p:cNvSpPr txBox="1"/>
          <p:nvPr/>
        </p:nvSpPr>
        <p:spPr>
          <a:xfrm>
            <a:off x="8979408" y="3017520"/>
            <a:ext cx="1252728" cy="566928"/>
          </a:xfrm>
          <a:prstGeom prst="rect">
            <a:avLst/>
          </a:prstGeom>
          <a:noFill/>
          <a:ln/>
        </p:spPr>
        <p:txBody>
          <a:bodyPr wrap="square" lIns="0" tIns="0" rIns="0" bIns="0" rtlCol="0" anchor="ctr"/>
          <a:lstStyle/>
          <a:p>
            <a:pPr algn="ctr" indent="0" marL="0">
              <a:buNone/>
            </a:pPr>
            <a:endParaRPr lang="en-US" sz="1100" dirty="0"/>
          </a:p>
        </p:txBody>
      </p:sp>
      <p:sp>
        <p:nvSpPr>
          <p:cNvPr id="40" name="Shape 33"/>
          <p:cNvSpPr/>
          <p:nvPr/>
        </p:nvSpPr>
        <p:spPr>
          <a:xfrm>
            <a:off x="10332720" y="3017520"/>
            <a:ext cx="1307592" cy="566928"/>
          </a:xfrm>
          <a:prstGeom prst="rect">
            <a:avLst>
              <a:gd name="adj" fmla="val 8065"/>
            </a:avLst>
          </a:prstGeom>
          <a:solidFill>
            <a:srgbClr val="FFFFFF"/>
          </a:solidFill>
          <a:ln w="12700">
            <a:solidFill>
              <a:srgbClr val="D9D9D6"/>
            </a:solidFill>
            <a:prstDash val="solid"/>
          </a:ln>
        </p:spPr>
      </p:sp>
      <p:sp>
        <p:nvSpPr>
          <p:cNvPr id="41" name="Text 34"/>
          <p:cNvSpPr txBox="1"/>
          <p:nvPr/>
        </p:nvSpPr>
        <p:spPr>
          <a:xfrm>
            <a:off x="10360152" y="3017520"/>
            <a:ext cx="1252728" cy="566928"/>
          </a:xfrm>
          <a:prstGeom prst="rect">
            <a:avLst/>
          </a:prstGeom>
          <a:noFill/>
          <a:ln/>
        </p:spPr>
        <p:txBody>
          <a:bodyPr wrap="square" lIns="0" tIns="0" rIns="0" bIns="0" rtlCol="0" anchor="ctr"/>
          <a:lstStyle/>
          <a:p>
            <a:pPr algn="ctr" indent="0" marL="0">
              <a:buNone/>
            </a:pPr>
            <a:endParaRPr lang="en-US" sz="1100" dirty="0"/>
          </a:p>
        </p:txBody>
      </p:sp>
      <p:pic>
        <p:nvPicPr>
          <p:cNvPr id="42" name="Image 5" descr="/tmp/claude-0/-home-claude/8d7de6a3-f167-5c95-8bc2-67944307bfd8/scratchpad/canva/img/bank_bofa.png">    </p:cNvPr>
          <p:cNvPicPr>
            <a:picLocks noChangeAspect="1"/>
          </p:cNvPicPr>
          <p:nvPr/>
        </p:nvPicPr>
        <p:blipFill>
          <a:blip r:embed="rId6"/>
          <a:stretch>
            <a:fillRect/>
          </a:stretch>
        </p:blipFill>
        <p:spPr>
          <a:xfrm>
            <a:off x="3634740" y="3036722"/>
            <a:ext cx="914400" cy="483718"/>
          </a:xfrm>
          <a:prstGeom prst="rect">
            <a:avLst/>
          </a:prstGeom>
        </p:spPr>
      </p:pic>
      <p:pic>
        <p:nvPicPr>
          <p:cNvPr id="43" name="Image 6" descr="/tmp/claude-0/-home-claude/8d7de6a3-f167-5c95-8bc2-67944307bfd8/scratchpad/canva/img/bank_bbva.png">    </p:cNvPr>
          <p:cNvPicPr>
            <a:picLocks noChangeAspect="1"/>
          </p:cNvPicPr>
          <p:nvPr/>
        </p:nvPicPr>
        <p:blipFill>
          <a:blip r:embed="rId7"/>
          <a:stretch>
            <a:fillRect/>
          </a:stretch>
        </p:blipFill>
        <p:spPr>
          <a:xfrm>
            <a:off x="5070348" y="3063240"/>
            <a:ext cx="917143" cy="438912"/>
          </a:xfrm>
          <a:prstGeom prst="rect">
            <a:avLst/>
          </a:prstGeom>
        </p:spPr>
      </p:pic>
      <p:pic>
        <p:nvPicPr>
          <p:cNvPr id="44" name="Image 7" descr="/tmp/claude-0/-home-claude/8d7de6a3-f167-5c95-8bc2-67944307bfd8/scratchpad/canva/img/bank_caixabank.png">    </p:cNvPr>
          <p:cNvPicPr>
            <a:picLocks noChangeAspect="1"/>
          </p:cNvPicPr>
          <p:nvPr/>
        </p:nvPicPr>
        <p:blipFill>
          <a:blip r:embed="rId8"/>
          <a:stretch>
            <a:fillRect/>
          </a:stretch>
        </p:blipFill>
        <p:spPr>
          <a:xfrm>
            <a:off x="6542532" y="3035808"/>
            <a:ext cx="630936" cy="566928"/>
          </a:xfrm>
          <a:prstGeom prst="rect">
            <a:avLst/>
          </a:prstGeom>
        </p:spPr>
      </p:pic>
      <p:pic>
        <p:nvPicPr>
          <p:cNvPr id="45" name="Image 8" descr="/tmp/claude-0/-home-claude/8d7de6a3-f167-5c95-8bc2-67944307bfd8/scratchpad/canva/img/bank_hsbc.png">    </p:cNvPr>
          <p:cNvPicPr>
            <a:picLocks noChangeAspect="1"/>
          </p:cNvPicPr>
          <p:nvPr/>
        </p:nvPicPr>
        <p:blipFill>
          <a:blip r:embed="rId9"/>
          <a:stretch>
            <a:fillRect/>
          </a:stretch>
        </p:blipFill>
        <p:spPr>
          <a:xfrm>
            <a:off x="7627925" y="3108960"/>
            <a:ext cx="1193292" cy="423367"/>
          </a:xfrm>
          <a:prstGeom prst="rect">
            <a:avLst/>
          </a:prstGeom>
        </p:spPr>
      </p:pic>
      <p:pic>
        <p:nvPicPr>
          <p:cNvPr id="46" name="Image 9" descr="/tmp/claude-0/-home-claude/8d7de6a3-f167-5c95-8bc2-67944307bfd8/scratchpad/canva/img/bank_ubs.png">    </p:cNvPr>
          <p:cNvPicPr>
            <a:picLocks noChangeAspect="1"/>
          </p:cNvPicPr>
          <p:nvPr/>
        </p:nvPicPr>
        <p:blipFill>
          <a:blip r:embed="rId10"/>
          <a:stretch>
            <a:fillRect/>
          </a:stretch>
        </p:blipFill>
        <p:spPr>
          <a:xfrm>
            <a:off x="9155887" y="3101645"/>
            <a:ext cx="1001268" cy="431597"/>
          </a:xfrm>
          <a:prstGeom prst="rect">
            <a:avLst/>
          </a:prstGeom>
        </p:spPr>
      </p:pic>
      <p:pic>
        <p:nvPicPr>
          <p:cNvPr id="47" name="Image 10" descr="/tmp/claude-0/-home-claude/8d7de6a3-f167-5c95-8bc2-67944307bfd8/scratchpad/canva/img/bank_socgen.png">    </p:cNvPr>
          <p:cNvPicPr>
            <a:picLocks noChangeAspect="1"/>
          </p:cNvPicPr>
          <p:nvPr/>
        </p:nvPicPr>
        <p:blipFill>
          <a:blip r:embed="rId11"/>
          <a:stretch>
            <a:fillRect/>
          </a:stretch>
        </p:blipFill>
        <p:spPr>
          <a:xfrm>
            <a:off x="10451592" y="3132734"/>
            <a:ext cx="1188720" cy="369418"/>
          </a:xfrm>
          <a:prstGeom prst="rect">
            <a:avLst/>
          </a:prstGeom>
        </p:spPr>
      </p:pic>
      <p:sp>
        <p:nvSpPr>
          <p:cNvPr id="48" name="Text 35"/>
          <p:cNvSpPr txBox="1"/>
          <p:nvPr/>
        </p:nvSpPr>
        <p:spPr>
          <a:xfrm>
            <a:off x="3429000" y="3767328"/>
            <a:ext cx="2651760" cy="228600"/>
          </a:xfrm>
          <a:prstGeom prst="rect">
            <a:avLst/>
          </a:prstGeom>
          <a:noFill/>
          <a:ln/>
        </p:spPr>
        <p:txBody>
          <a:bodyPr wrap="square" lIns="0" tIns="0" rIns="0" bIns="0" rtlCol="0" anchor="t"/>
          <a:lstStyle/>
          <a:p>
            <a:pPr indent="0" marL="0">
              <a:buNone/>
            </a:pPr>
            <a:r>
              <a:rPr lang="en-US" sz="1050" b="1" spc="150" kern="0" dirty="0">
                <a:solidFill>
                  <a:srgbClr val="1F4B3F"/>
                </a:solidFill>
                <a:latin typeface="Inter" pitchFamily="34" charset="0"/>
                <a:ea typeface="Inter" pitchFamily="34" charset="-122"/>
                <a:cs typeface="Inter" pitchFamily="34" charset="-120"/>
              </a:rPr>
              <a:t>EXPOSICIÓN FINAL POR BANCO</a:t>
            </a:r>
            <a:endParaRPr lang="en-US" sz="1050" dirty="0"/>
          </a:p>
        </p:txBody>
      </p:sp>
      <p:sp>
        <p:nvSpPr>
          <p:cNvPr id="49" name="Shape 36"/>
          <p:cNvSpPr/>
          <p:nvPr/>
        </p:nvSpPr>
        <p:spPr>
          <a:xfrm>
            <a:off x="3429000" y="4041648"/>
            <a:ext cx="2651760" cy="987552"/>
          </a:xfrm>
          <a:prstGeom prst="rect">
            <a:avLst>
              <a:gd name="adj" fmla="val 5556"/>
            </a:avLst>
          </a:prstGeom>
          <a:solidFill>
            <a:srgbClr val="1A1D21"/>
          </a:solidFill>
          <a:ln/>
        </p:spPr>
      </p:sp>
      <p:sp>
        <p:nvSpPr>
          <p:cNvPr id="50" name="Text 37"/>
          <p:cNvSpPr txBox="1"/>
          <p:nvPr/>
        </p:nvSpPr>
        <p:spPr>
          <a:xfrm>
            <a:off x="3566160" y="4114800"/>
            <a:ext cx="2423160" cy="237744"/>
          </a:xfrm>
          <a:prstGeom prst="rect">
            <a:avLst/>
          </a:prstGeom>
          <a:noFill/>
          <a:ln/>
        </p:spPr>
        <p:txBody>
          <a:bodyPr wrap="square" lIns="0" tIns="0" rIns="0" bIns="0" rtlCol="0" anchor="t"/>
          <a:lstStyle/>
          <a:p>
            <a:pPr indent="0" marL="0">
              <a:buNone/>
            </a:pPr>
            <a:r>
              <a:rPr lang="en-US" sz="1100" b="1" dirty="0">
                <a:solidFill>
                  <a:srgbClr val="A8C9B8"/>
                </a:solidFill>
                <a:latin typeface="Inter" pitchFamily="34" charset="0"/>
                <a:ea typeface="Inter" pitchFamily="34" charset="-122"/>
                <a:cs typeface="Inter" pitchFamily="34" charset="-120"/>
              </a:rPr>
              <a:t>Global coordinator (×4)</a:t>
            </a:r>
            <a:endParaRPr lang="en-US" sz="1100" dirty="0"/>
          </a:p>
        </p:txBody>
      </p:sp>
      <p:sp>
        <p:nvSpPr>
          <p:cNvPr id="51" name="Text 38"/>
          <p:cNvSpPr txBox="1"/>
          <p:nvPr/>
        </p:nvSpPr>
        <p:spPr>
          <a:xfrm>
            <a:off x="3566160" y="4370832"/>
            <a:ext cx="2423160" cy="384048"/>
          </a:xfrm>
          <a:prstGeom prst="rect">
            <a:avLst/>
          </a:prstGeom>
          <a:noFill/>
          <a:ln/>
        </p:spPr>
        <p:txBody>
          <a:bodyPr wrap="square" lIns="0" tIns="0" rIns="0" bIns="0" rtlCol="0" anchor="ctr"/>
          <a:lstStyle/>
          <a:p>
            <a:pPr indent="0" marL="0">
              <a:buNone/>
            </a:pPr>
            <a:r>
              <a:rPr lang="en-US" sz="1200" dirty="0">
                <a:solidFill>
                  <a:srgbClr val="BFC4CA"/>
                </a:solidFill>
                <a:latin typeface="Lora" pitchFamily="34" charset="0"/>
                <a:ea typeface="Lora" pitchFamily="34" charset="-122"/>
                <a:cs typeface="Lora" pitchFamily="34" charset="-120"/>
              </a:rPr>
              <a:t>€9.426m  →  </a:t>
            </a:r>
            <a:pPr indent="0" marL="0">
              <a:buNone/>
            </a:pPr>
            <a:r>
              <a:rPr lang="en-US" sz="2100" b="1" dirty="0">
                <a:solidFill>
                  <a:srgbClr val="FFFFFF"/>
                </a:solidFill>
                <a:latin typeface="Lora" pitchFamily="34" charset="0"/>
                <a:ea typeface="Lora" pitchFamily="34" charset="-122"/>
                <a:cs typeface="Lora" pitchFamily="34" charset="-120"/>
              </a:rPr>
              <a:t>€1.528m</a:t>
            </a:r>
            <a:endParaRPr lang="en-US" sz="1400" dirty="0"/>
          </a:p>
        </p:txBody>
      </p:sp>
      <p:sp>
        <p:nvSpPr>
          <p:cNvPr id="52" name="Text 39"/>
          <p:cNvSpPr txBox="1"/>
          <p:nvPr/>
        </p:nvSpPr>
        <p:spPr>
          <a:xfrm>
            <a:off x="3566160" y="4754880"/>
            <a:ext cx="2423160" cy="219456"/>
          </a:xfrm>
          <a:prstGeom prst="rect">
            <a:avLst/>
          </a:prstGeom>
          <a:noFill/>
          <a:ln/>
        </p:spPr>
        <p:txBody>
          <a:bodyPr wrap="square" lIns="0" tIns="0" rIns="0" bIns="0" rtlCol="0" anchor="t"/>
          <a:lstStyle/>
          <a:p>
            <a:pPr indent="0" marL="0">
              <a:buNone/>
            </a:pPr>
            <a:r>
              <a:rPr lang="en-US" sz="1050" dirty="0">
                <a:solidFill>
                  <a:srgbClr val="D9D9D6"/>
                </a:solidFill>
                <a:latin typeface="Inter" pitchFamily="34" charset="0"/>
                <a:ea typeface="Inter" pitchFamily="34" charset="-122"/>
                <a:cs typeface="Inter" pitchFamily="34" charset="-120"/>
              </a:rPr>
              <a:t>TLA 1.378 + RCF 150</a:t>
            </a:r>
            <a:endParaRPr lang="en-US" sz="1050" dirty="0"/>
          </a:p>
        </p:txBody>
      </p:sp>
      <p:sp>
        <p:nvSpPr>
          <p:cNvPr id="53" name="Shape 40"/>
          <p:cNvSpPr/>
          <p:nvPr/>
        </p:nvSpPr>
        <p:spPr>
          <a:xfrm>
            <a:off x="3429000" y="5120640"/>
            <a:ext cx="2651760" cy="987552"/>
          </a:xfrm>
          <a:prstGeom prst="rect">
            <a:avLst>
              <a:gd name="adj" fmla="val 5556"/>
            </a:avLst>
          </a:prstGeom>
          <a:solidFill>
            <a:srgbClr val="F3F3F2"/>
          </a:solidFill>
          <a:ln/>
        </p:spPr>
      </p:sp>
      <p:sp>
        <p:nvSpPr>
          <p:cNvPr id="54" name="Text 41"/>
          <p:cNvSpPr txBox="1"/>
          <p:nvPr/>
        </p:nvSpPr>
        <p:spPr>
          <a:xfrm>
            <a:off x="3566160" y="5193792"/>
            <a:ext cx="2423160" cy="237744"/>
          </a:xfrm>
          <a:prstGeom prst="rect">
            <a:avLst/>
          </a:prstGeom>
          <a:noFill/>
          <a:ln/>
        </p:spPr>
        <p:txBody>
          <a:bodyPr wrap="square" lIns="0" tIns="0" rIns="0" bIns="0" rtlCol="0" anchor="t"/>
          <a:lstStyle/>
          <a:p>
            <a:pPr indent="0" marL="0">
              <a:buNone/>
            </a:pPr>
            <a:r>
              <a:rPr lang="en-US" sz="1100" b="1" dirty="0">
                <a:solidFill>
                  <a:srgbClr val="1F4B3F"/>
                </a:solidFill>
                <a:latin typeface="Inter" pitchFamily="34" charset="0"/>
                <a:ea typeface="Inter" pitchFamily="34" charset="-122"/>
                <a:cs typeface="Inter" pitchFamily="34" charset="-120"/>
              </a:rPr>
              <a:t>MLA (×6)</a:t>
            </a:r>
            <a:endParaRPr lang="en-US" sz="1100" dirty="0"/>
          </a:p>
        </p:txBody>
      </p:sp>
      <p:sp>
        <p:nvSpPr>
          <p:cNvPr id="55" name="Text 42"/>
          <p:cNvSpPr txBox="1"/>
          <p:nvPr/>
        </p:nvSpPr>
        <p:spPr>
          <a:xfrm>
            <a:off x="3566160" y="5449824"/>
            <a:ext cx="2423160" cy="384048"/>
          </a:xfrm>
          <a:prstGeom prst="rect">
            <a:avLst/>
          </a:prstGeom>
          <a:noFill/>
          <a:ln/>
        </p:spPr>
        <p:txBody>
          <a:bodyPr wrap="square" lIns="0" tIns="0" rIns="0" bIns="0" rtlCol="0" anchor="ctr"/>
          <a:lstStyle/>
          <a:p>
            <a:pPr indent="0" marL="0">
              <a:buNone/>
            </a:pPr>
            <a:r>
              <a:rPr lang="en-US" sz="1200" dirty="0">
                <a:solidFill>
                  <a:srgbClr val="6E7378"/>
                </a:solidFill>
                <a:latin typeface="Lora" pitchFamily="34" charset="0"/>
                <a:ea typeface="Lora" pitchFamily="34" charset="-122"/>
                <a:cs typeface="Lora" pitchFamily="34" charset="-120"/>
              </a:rPr>
              <a:t>€4.189m  →  </a:t>
            </a:r>
            <a:pPr indent="0" marL="0">
              <a:buNone/>
            </a:pPr>
            <a:r>
              <a:rPr lang="en-US" sz="2100" b="1" dirty="0">
                <a:solidFill>
                  <a:srgbClr val="1A1D21"/>
                </a:solidFill>
                <a:latin typeface="Lora" pitchFamily="34" charset="0"/>
                <a:ea typeface="Lora" pitchFamily="34" charset="-122"/>
                <a:cs typeface="Lora" pitchFamily="34" charset="-120"/>
              </a:rPr>
              <a:t>€679m</a:t>
            </a:r>
            <a:endParaRPr lang="en-US" sz="1400" dirty="0"/>
          </a:p>
        </p:txBody>
      </p:sp>
      <p:sp>
        <p:nvSpPr>
          <p:cNvPr id="56" name="Text 43"/>
          <p:cNvSpPr txBox="1"/>
          <p:nvPr/>
        </p:nvSpPr>
        <p:spPr>
          <a:xfrm>
            <a:off x="3566160" y="5833872"/>
            <a:ext cx="2423160" cy="219456"/>
          </a:xfrm>
          <a:prstGeom prst="rect">
            <a:avLst/>
          </a:prstGeom>
          <a:noFill/>
          <a:ln/>
        </p:spPr>
        <p:txBody>
          <a:bodyPr wrap="square" lIns="0" tIns="0" rIns="0" bIns="0" rtlCol="0" anchor="t"/>
          <a:lstStyle/>
          <a:p>
            <a:pPr indent="0" marL="0">
              <a:buNone/>
            </a:pPr>
            <a:r>
              <a:rPr lang="en-US" sz="1050" dirty="0">
                <a:solidFill>
                  <a:srgbClr val="6E7378"/>
                </a:solidFill>
                <a:latin typeface="Inter" pitchFamily="34" charset="0"/>
                <a:ea typeface="Inter" pitchFamily="34" charset="-122"/>
                <a:cs typeface="Inter" pitchFamily="34" charset="-120"/>
              </a:rPr>
              <a:t>TLA 612 + RCF 67</a:t>
            </a:r>
            <a:endParaRPr lang="en-US" sz="1050" dirty="0"/>
          </a:p>
        </p:txBody>
      </p:sp>
      <p:sp>
        <p:nvSpPr>
          <p:cNvPr id="57" name="Text 44"/>
          <p:cNvSpPr txBox="1"/>
          <p:nvPr/>
        </p:nvSpPr>
        <p:spPr>
          <a:xfrm>
            <a:off x="6309360" y="3767328"/>
            <a:ext cx="5349240" cy="228600"/>
          </a:xfrm>
          <a:prstGeom prst="rect">
            <a:avLst/>
          </a:prstGeom>
          <a:noFill/>
          <a:ln/>
        </p:spPr>
        <p:txBody>
          <a:bodyPr wrap="square" lIns="0" tIns="0" rIns="0" bIns="0" rtlCol="0" anchor="t"/>
          <a:lstStyle/>
          <a:p>
            <a:pPr indent="0" marL="0">
              <a:buNone/>
            </a:pPr>
            <a:r>
              <a:rPr lang="en-US" sz="1050" b="1" spc="150" kern="0" dirty="0">
                <a:solidFill>
                  <a:srgbClr val="1F4B3F"/>
                </a:solidFill>
                <a:latin typeface="Inter" pitchFamily="34" charset="0"/>
                <a:ea typeface="Inter" pitchFamily="34" charset="-122"/>
                <a:cs typeface="Inter" pitchFamily="34" charset="-120"/>
              </a:rPr>
              <a:t>SINDICACIÓN DEL TLA · 24 BANCOS · €9.680M</a:t>
            </a:r>
            <a:endParaRPr lang="en-US" sz="1050" dirty="0"/>
          </a:p>
        </p:txBody>
      </p:sp>
      <p:sp>
        <p:nvSpPr>
          <p:cNvPr id="58" name="Text 45"/>
          <p:cNvSpPr txBox="1"/>
          <p:nvPr/>
        </p:nvSpPr>
        <p:spPr>
          <a:xfrm>
            <a:off x="6309360" y="4041648"/>
            <a:ext cx="566928" cy="621792"/>
          </a:xfrm>
          <a:prstGeom prst="rect">
            <a:avLst/>
          </a:prstGeom>
          <a:noFill/>
          <a:ln/>
        </p:spPr>
        <p:txBody>
          <a:bodyPr wrap="square" lIns="0" tIns="0" rIns="0" bIns="0" rtlCol="0" anchor="ctr"/>
          <a:lstStyle/>
          <a:p>
            <a:pPr indent="0" marL="0">
              <a:buNone/>
            </a:pPr>
            <a:r>
              <a:rPr lang="en-US" sz="1100" b="1" dirty="0">
                <a:solidFill>
                  <a:srgbClr val="1A1D21"/>
                </a:solidFill>
                <a:latin typeface="Inter" pitchFamily="34" charset="0"/>
                <a:ea typeface="Inter" pitchFamily="34" charset="-122"/>
                <a:cs typeface="Inter" pitchFamily="34" charset="-120"/>
              </a:rPr>
              <a:t>€600m</a:t>
            </a:r>
            <a:endParaRPr lang="en-US" sz="1100" dirty="0"/>
          </a:p>
        </p:txBody>
      </p:sp>
      <p:sp>
        <p:nvSpPr>
          <p:cNvPr id="59" name="Shape 46"/>
          <p:cNvSpPr/>
          <p:nvPr/>
        </p:nvSpPr>
        <p:spPr>
          <a:xfrm>
            <a:off x="6903720" y="4041648"/>
            <a:ext cx="1133856" cy="283464"/>
          </a:xfrm>
          <a:prstGeom prst="rect">
            <a:avLst>
              <a:gd name="adj" fmla="val 16129"/>
            </a:avLst>
          </a:prstGeom>
          <a:solidFill>
            <a:srgbClr val="FFFFFF"/>
          </a:solidFill>
          <a:ln w="12700">
            <a:solidFill>
              <a:srgbClr val="D9D9D6"/>
            </a:solidFill>
            <a:prstDash val="solid"/>
          </a:ln>
        </p:spPr>
      </p:sp>
      <p:sp>
        <p:nvSpPr>
          <p:cNvPr id="60" name="Text 47"/>
          <p:cNvSpPr txBox="1"/>
          <p:nvPr/>
        </p:nvSpPr>
        <p:spPr>
          <a:xfrm>
            <a:off x="6931152" y="4041648"/>
            <a:ext cx="1078992" cy="283464"/>
          </a:xfrm>
          <a:prstGeom prst="rect">
            <a:avLst/>
          </a:prstGeom>
          <a:noFill/>
          <a:ln/>
        </p:spPr>
        <p:txBody>
          <a:bodyPr wrap="square" lIns="0" tIns="0" rIns="0" bIns="0" rtlCol="0" anchor="ctr"/>
          <a:lstStyle/>
          <a:p>
            <a:pPr algn="ctr" indent="0" marL="0">
              <a:buNone/>
            </a:pPr>
            <a:r>
              <a:rPr lang="en-US" sz="950" dirty="0">
                <a:solidFill>
                  <a:srgbClr val="1A1D21"/>
                </a:solidFill>
                <a:latin typeface="Inter" pitchFamily="34" charset="0"/>
                <a:ea typeface="Inter" pitchFamily="34" charset="-122"/>
                <a:cs typeface="Inter" pitchFamily="34" charset="-120"/>
              </a:rPr>
              <a:t>Crédit Agricole</a:t>
            </a:r>
            <a:endParaRPr lang="en-US" sz="950" dirty="0"/>
          </a:p>
        </p:txBody>
      </p:sp>
      <p:sp>
        <p:nvSpPr>
          <p:cNvPr id="61" name="Shape 48"/>
          <p:cNvSpPr/>
          <p:nvPr/>
        </p:nvSpPr>
        <p:spPr>
          <a:xfrm>
            <a:off x="8092440" y="4041648"/>
            <a:ext cx="1133856" cy="283464"/>
          </a:xfrm>
          <a:prstGeom prst="rect">
            <a:avLst>
              <a:gd name="adj" fmla="val 16129"/>
            </a:avLst>
          </a:prstGeom>
          <a:solidFill>
            <a:srgbClr val="FFFFFF"/>
          </a:solidFill>
          <a:ln w="12700">
            <a:solidFill>
              <a:srgbClr val="D9D9D6"/>
            </a:solidFill>
            <a:prstDash val="solid"/>
          </a:ln>
        </p:spPr>
      </p:sp>
      <p:sp>
        <p:nvSpPr>
          <p:cNvPr id="62" name="Text 49"/>
          <p:cNvSpPr txBox="1"/>
          <p:nvPr/>
        </p:nvSpPr>
        <p:spPr>
          <a:xfrm>
            <a:off x="8119872" y="4041648"/>
            <a:ext cx="1078992" cy="283464"/>
          </a:xfrm>
          <a:prstGeom prst="rect">
            <a:avLst/>
          </a:prstGeom>
          <a:noFill/>
          <a:ln/>
        </p:spPr>
        <p:txBody>
          <a:bodyPr wrap="square" lIns="0" tIns="0" rIns="0" bIns="0" rtlCol="0" anchor="ctr"/>
          <a:lstStyle/>
          <a:p>
            <a:pPr algn="ctr" indent="0" marL="0">
              <a:buNone/>
            </a:pPr>
            <a:r>
              <a:rPr lang="en-US" sz="1000" dirty="0">
                <a:solidFill>
                  <a:srgbClr val="1A1D21"/>
                </a:solidFill>
                <a:latin typeface="Inter" pitchFamily="34" charset="0"/>
                <a:ea typeface="Inter" pitchFamily="34" charset="-122"/>
                <a:cs typeface="Inter" pitchFamily="34" charset="-120"/>
              </a:rPr>
              <a:t>Natixis</a:t>
            </a:r>
            <a:endParaRPr lang="en-US" sz="1000" dirty="0"/>
          </a:p>
        </p:txBody>
      </p:sp>
      <p:sp>
        <p:nvSpPr>
          <p:cNvPr id="63" name="Shape 50"/>
          <p:cNvSpPr/>
          <p:nvPr/>
        </p:nvSpPr>
        <p:spPr>
          <a:xfrm>
            <a:off x="9281160" y="4041648"/>
            <a:ext cx="1133856" cy="283464"/>
          </a:xfrm>
          <a:prstGeom prst="rect">
            <a:avLst>
              <a:gd name="adj" fmla="val 16129"/>
            </a:avLst>
          </a:prstGeom>
          <a:solidFill>
            <a:srgbClr val="FFFFFF"/>
          </a:solidFill>
          <a:ln w="12700">
            <a:solidFill>
              <a:srgbClr val="D9D9D6"/>
            </a:solidFill>
            <a:prstDash val="solid"/>
          </a:ln>
        </p:spPr>
      </p:sp>
      <p:sp>
        <p:nvSpPr>
          <p:cNvPr id="64" name="Text 51"/>
          <p:cNvSpPr txBox="1"/>
          <p:nvPr/>
        </p:nvSpPr>
        <p:spPr>
          <a:xfrm>
            <a:off x="9308592" y="4041648"/>
            <a:ext cx="1078992" cy="283464"/>
          </a:xfrm>
          <a:prstGeom prst="rect">
            <a:avLst/>
          </a:prstGeom>
          <a:noFill/>
          <a:ln/>
        </p:spPr>
        <p:txBody>
          <a:bodyPr wrap="square" lIns="0" tIns="0" rIns="0" bIns="0" rtlCol="0" anchor="ctr"/>
          <a:lstStyle/>
          <a:p>
            <a:pPr algn="ctr" indent="0" marL="0">
              <a:buNone/>
            </a:pPr>
            <a:r>
              <a:rPr lang="en-US" sz="1000" dirty="0">
                <a:solidFill>
                  <a:srgbClr val="1A1D21"/>
                </a:solidFill>
                <a:latin typeface="Inter" pitchFamily="34" charset="0"/>
                <a:ea typeface="Inter" pitchFamily="34" charset="-122"/>
                <a:cs typeface="Inter" pitchFamily="34" charset="-120"/>
              </a:rPr>
              <a:t>UniCredit</a:t>
            </a:r>
            <a:endParaRPr lang="en-US" sz="1000" dirty="0"/>
          </a:p>
        </p:txBody>
      </p:sp>
      <p:sp>
        <p:nvSpPr>
          <p:cNvPr id="65" name="Shape 52"/>
          <p:cNvSpPr/>
          <p:nvPr/>
        </p:nvSpPr>
        <p:spPr>
          <a:xfrm>
            <a:off x="10469880" y="4041648"/>
            <a:ext cx="1133856" cy="283464"/>
          </a:xfrm>
          <a:prstGeom prst="rect">
            <a:avLst>
              <a:gd name="adj" fmla="val 16129"/>
            </a:avLst>
          </a:prstGeom>
          <a:solidFill>
            <a:srgbClr val="FFFFFF"/>
          </a:solidFill>
          <a:ln w="12700">
            <a:solidFill>
              <a:srgbClr val="D9D9D6"/>
            </a:solidFill>
            <a:prstDash val="solid"/>
          </a:ln>
        </p:spPr>
      </p:sp>
      <p:sp>
        <p:nvSpPr>
          <p:cNvPr id="66" name="Text 53"/>
          <p:cNvSpPr txBox="1"/>
          <p:nvPr/>
        </p:nvSpPr>
        <p:spPr>
          <a:xfrm>
            <a:off x="10497312" y="4041648"/>
            <a:ext cx="1078992" cy="283464"/>
          </a:xfrm>
          <a:prstGeom prst="rect">
            <a:avLst/>
          </a:prstGeom>
          <a:noFill/>
          <a:ln/>
        </p:spPr>
        <p:txBody>
          <a:bodyPr wrap="square" lIns="0" tIns="0" rIns="0" bIns="0" rtlCol="0" anchor="ctr"/>
          <a:lstStyle/>
          <a:p>
            <a:pPr algn="ctr" indent="0" marL="0">
              <a:buNone/>
            </a:pPr>
            <a:r>
              <a:rPr lang="en-US" sz="950" dirty="0">
                <a:solidFill>
                  <a:srgbClr val="1A1D21"/>
                </a:solidFill>
                <a:latin typeface="Inter" pitchFamily="34" charset="0"/>
                <a:ea typeface="Inter" pitchFamily="34" charset="-122"/>
                <a:cs typeface="Inter" pitchFamily="34" charset="-120"/>
              </a:rPr>
              <a:t>Intesa Sanpaolo</a:t>
            </a:r>
            <a:endParaRPr lang="en-US" sz="950" dirty="0"/>
          </a:p>
        </p:txBody>
      </p:sp>
      <p:sp>
        <p:nvSpPr>
          <p:cNvPr id="67" name="Shape 54"/>
          <p:cNvSpPr/>
          <p:nvPr/>
        </p:nvSpPr>
        <p:spPr>
          <a:xfrm>
            <a:off x="6903720" y="4361688"/>
            <a:ext cx="1133856" cy="283464"/>
          </a:xfrm>
          <a:prstGeom prst="rect">
            <a:avLst>
              <a:gd name="adj" fmla="val 16129"/>
            </a:avLst>
          </a:prstGeom>
          <a:solidFill>
            <a:srgbClr val="FFFFFF"/>
          </a:solidFill>
          <a:ln w="12700">
            <a:solidFill>
              <a:srgbClr val="D9D9D6"/>
            </a:solidFill>
            <a:prstDash val="solid"/>
          </a:ln>
        </p:spPr>
      </p:sp>
      <p:sp>
        <p:nvSpPr>
          <p:cNvPr id="68" name="Text 55"/>
          <p:cNvSpPr txBox="1"/>
          <p:nvPr/>
        </p:nvSpPr>
        <p:spPr>
          <a:xfrm>
            <a:off x="6931152" y="4361688"/>
            <a:ext cx="1078992" cy="283464"/>
          </a:xfrm>
          <a:prstGeom prst="rect">
            <a:avLst/>
          </a:prstGeom>
          <a:noFill/>
          <a:ln/>
        </p:spPr>
        <p:txBody>
          <a:bodyPr wrap="square" lIns="0" tIns="0" rIns="0" bIns="0" rtlCol="0" anchor="ctr"/>
          <a:lstStyle/>
          <a:p>
            <a:pPr algn="ctr" indent="0" marL="0">
              <a:buNone/>
            </a:pPr>
            <a:r>
              <a:rPr lang="en-US" sz="1000" dirty="0">
                <a:solidFill>
                  <a:srgbClr val="1A1D21"/>
                </a:solidFill>
                <a:latin typeface="Inter" pitchFamily="34" charset="0"/>
                <a:ea typeface="Inter" pitchFamily="34" charset="-122"/>
                <a:cs typeface="Inter" pitchFamily="34" charset="-120"/>
              </a:rPr>
              <a:t>ING</a:t>
            </a:r>
            <a:endParaRPr lang="en-US" sz="1000" dirty="0"/>
          </a:p>
        </p:txBody>
      </p:sp>
      <p:sp>
        <p:nvSpPr>
          <p:cNvPr id="69" name="Shape 56"/>
          <p:cNvSpPr/>
          <p:nvPr/>
        </p:nvSpPr>
        <p:spPr>
          <a:xfrm>
            <a:off x="8092440" y="4361688"/>
            <a:ext cx="1133856" cy="283464"/>
          </a:xfrm>
          <a:prstGeom prst="rect">
            <a:avLst>
              <a:gd name="adj" fmla="val 16129"/>
            </a:avLst>
          </a:prstGeom>
          <a:solidFill>
            <a:srgbClr val="FFFFFF"/>
          </a:solidFill>
          <a:ln w="12700">
            <a:solidFill>
              <a:srgbClr val="D9D9D6"/>
            </a:solidFill>
            <a:prstDash val="solid"/>
          </a:ln>
        </p:spPr>
      </p:sp>
      <p:sp>
        <p:nvSpPr>
          <p:cNvPr id="70" name="Text 57"/>
          <p:cNvSpPr txBox="1"/>
          <p:nvPr/>
        </p:nvSpPr>
        <p:spPr>
          <a:xfrm>
            <a:off x="8119872" y="4361688"/>
            <a:ext cx="1078992" cy="283464"/>
          </a:xfrm>
          <a:prstGeom prst="rect">
            <a:avLst/>
          </a:prstGeom>
          <a:noFill/>
          <a:ln/>
        </p:spPr>
        <p:txBody>
          <a:bodyPr wrap="square" lIns="0" tIns="0" rIns="0" bIns="0" rtlCol="0" anchor="ctr"/>
          <a:lstStyle/>
          <a:p>
            <a:pPr algn="ctr" indent="0" marL="0">
              <a:buNone/>
            </a:pPr>
            <a:r>
              <a:rPr lang="en-US" sz="1000" dirty="0">
                <a:solidFill>
                  <a:srgbClr val="1A1D21"/>
                </a:solidFill>
                <a:latin typeface="Inter" pitchFamily="34" charset="0"/>
                <a:ea typeface="Inter" pitchFamily="34" charset="-122"/>
                <a:cs typeface="Inter" pitchFamily="34" charset="-120"/>
              </a:rPr>
              <a:t>MUFG</a:t>
            </a:r>
            <a:endParaRPr lang="en-US" sz="1000" dirty="0"/>
          </a:p>
        </p:txBody>
      </p:sp>
      <p:sp>
        <p:nvSpPr>
          <p:cNvPr id="71" name="Shape 58"/>
          <p:cNvSpPr/>
          <p:nvPr/>
        </p:nvSpPr>
        <p:spPr>
          <a:xfrm>
            <a:off x="9281160" y="4361688"/>
            <a:ext cx="1133856" cy="283464"/>
          </a:xfrm>
          <a:prstGeom prst="rect">
            <a:avLst>
              <a:gd name="adj" fmla="val 16129"/>
            </a:avLst>
          </a:prstGeom>
          <a:solidFill>
            <a:srgbClr val="FFFFFF"/>
          </a:solidFill>
          <a:ln w="12700">
            <a:solidFill>
              <a:srgbClr val="D9D9D6"/>
            </a:solidFill>
            <a:prstDash val="solid"/>
          </a:ln>
        </p:spPr>
      </p:sp>
      <p:sp>
        <p:nvSpPr>
          <p:cNvPr id="72" name="Text 59"/>
          <p:cNvSpPr txBox="1"/>
          <p:nvPr/>
        </p:nvSpPr>
        <p:spPr>
          <a:xfrm>
            <a:off x="9308592" y="4361688"/>
            <a:ext cx="1078992" cy="283464"/>
          </a:xfrm>
          <a:prstGeom prst="rect">
            <a:avLst/>
          </a:prstGeom>
          <a:noFill/>
          <a:ln/>
        </p:spPr>
        <p:txBody>
          <a:bodyPr wrap="square" lIns="0" tIns="0" rIns="0" bIns="0" rtlCol="0" anchor="ctr"/>
          <a:lstStyle/>
          <a:p>
            <a:pPr algn="ctr" indent="0" marL="0">
              <a:buNone/>
            </a:pPr>
            <a:r>
              <a:rPr lang="en-US" sz="1000" dirty="0">
                <a:solidFill>
                  <a:srgbClr val="1A1D21"/>
                </a:solidFill>
                <a:latin typeface="Inter" pitchFamily="34" charset="0"/>
                <a:ea typeface="Inter" pitchFamily="34" charset="-122"/>
                <a:cs typeface="Inter" pitchFamily="34" charset="-120"/>
              </a:rPr>
              <a:t>SMBC</a:t>
            </a:r>
            <a:endParaRPr lang="en-US" sz="1000" dirty="0"/>
          </a:p>
        </p:txBody>
      </p:sp>
      <p:sp>
        <p:nvSpPr>
          <p:cNvPr id="73" name="Shape 60"/>
          <p:cNvSpPr/>
          <p:nvPr/>
        </p:nvSpPr>
        <p:spPr>
          <a:xfrm>
            <a:off x="10469880" y="4361688"/>
            <a:ext cx="1133856" cy="283464"/>
          </a:xfrm>
          <a:prstGeom prst="rect">
            <a:avLst>
              <a:gd name="adj" fmla="val 16129"/>
            </a:avLst>
          </a:prstGeom>
          <a:solidFill>
            <a:srgbClr val="FFFFFF"/>
          </a:solidFill>
          <a:ln w="12700">
            <a:solidFill>
              <a:srgbClr val="D9D9D6"/>
            </a:solidFill>
            <a:prstDash val="solid"/>
          </a:ln>
        </p:spPr>
      </p:sp>
      <p:sp>
        <p:nvSpPr>
          <p:cNvPr id="74" name="Text 61"/>
          <p:cNvSpPr txBox="1"/>
          <p:nvPr/>
        </p:nvSpPr>
        <p:spPr>
          <a:xfrm>
            <a:off x="10497312" y="4361688"/>
            <a:ext cx="1078992" cy="283464"/>
          </a:xfrm>
          <a:prstGeom prst="rect">
            <a:avLst/>
          </a:prstGeom>
          <a:noFill/>
          <a:ln/>
        </p:spPr>
        <p:txBody>
          <a:bodyPr wrap="square" lIns="0" tIns="0" rIns="0" bIns="0" rtlCol="0" anchor="ctr"/>
          <a:lstStyle/>
          <a:p>
            <a:pPr algn="ctr" indent="0" marL="0">
              <a:buNone/>
            </a:pPr>
            <a:r>
              <a:rPr lang="en-US" sz="1000" dirty="0">
                <a:solidFill>
                  <a:srgbClr val="1A1D21"/>
                </a:solidFill>
                <a:latin typeface="Inter" pitchFamily="34" charset="0"/>
                <a:ea typeface="Inter" pitchFamily="34" charset="-122"/>
                <a:cs typeface="Inter" pitchFamily="34" charset="-120"/>
              </a:rPr>
              <a:t>Mizuho</a:t>
            </a:r>
            <a:endParaRPr lang="en-US" sz="1000" dirty="0"/>
          </a:p>
        </p:txBody>
      </p:sp>
      <p:sp>
        <p:nvSpPr>
          <p:cNvPr id="75" name="Text 62"/>
          <p:cNvSpPr txBox="1"/>
          <p:nvPr/>
        </p:nvSpPr>
        <p:spPr>
          <a:xfrm>
            <a:off x="6309360" y="4764024"/>
            <a:ext cx="566928" cy="621792"/>
          </a:xfrm>
          <a:prstGeom prst="rect">
            <a:avLst/>
          </a:prstGeom>
          <a:noFill/>
          <a:ln/>
        </p:spPr>
        <p:txBody>
          <a:bodyPr wrap="square" lIns="0" tIns="0" rIns="0" bIns="0" rtlCol="0" anchor="ctr"/>
          <a:lstStyle/>
          <a:p>
            <a:pPr indent="0" marL="0">
              <a:buNone/>
            </a:pPr>
            <a:r>
              <a:rPr lang="en-US" sz="1100" b="1" dirty="0">
                <a:solidFill>
                  <a:srgbClr val="1A1D21"/>
                </a:solidFill>
                <a:latin typeface="Inter" pitchFamily="34" charset="0"/>
                <a:ea typeface="Inter" pitchFamily="34" charset="-122"/>
                <a:cs typeface="Inter" pitchFamily="34" charset="-120"/>
              </a:rPr>
              <a:t>€375m</a:t>
            </a:r>
            <a:endParaRPr lang="en-US" sz="1100" dirty="0"/>
          </a:p>
        </p:txBody>
      </p:sp>
      <p:sp>
        <p:nvSpPr>
          <p:cNvPr id="76" name="Shape 63"/>
          <p:cNvSpPr/>
          <p:nvPr/>
        </p:nvSpPr>
        <p:spPr>
          <a:xfrm>
            <a:off x="6903720" y="4764024"/>
            <a:ext cx="1133856" cy="283464"/>
          </a:xfrm>
          <a:prstGeom prst="rect">
            <a:avLst>
              <a:gd name="adj" fmla="val 16129"/>
            </a:avLst>
          </a:prstGeom>
          <a:solidFill>
            <a:srgbClr val="FFFFFF"/>
          </a:solidFill>
          <a:ln w="12700">
            <a:solidFill>
              <a:srgbClr val="D9D9D6"/>
            </a:solidFill>
            <a:prstDash val="solid"/>
          </a:ln>
        </p:spPr>
      </p:sp>
      <p:sp>
        <p:nvSpPr>
          <p:cNvPr id="77" name="Text 64"/>
          <p:cNvSpPr txBox="1"/>
          <p:nvPr/>
        </p:nvSpPr>
        <p:spPr>
          <a:xfrm>
            <a:off x="6931152" y="4764024"/>
            <a:ext cx="1078992" cy="283464"/>
          </a:xfrm>
          <a:prstGeom prst="rect">
            <a:avLst/>
          </a:prstGeom>
          <a:noFill/>
          <a:ln/>
        </p:spPr>
        <p:txBody>
          <a:bodyPr wrap="square" lIns="0" tIns="0" rIns="0" bIns="0" rtlCol="0" anchor="ctr"/>
          <a:lstStyle/>
          <a:p>
            <a:pPr algn="ctr" indent="0" marL="0">
              <a:buNone/>
            </a:pPr>
            <a:r>
              <a:rPr lang="en-US" sz="1000" dirty="0">
                <a:solidFill>
                  <a:srgbClr val="1A1D21"/>
                </a:solidFill>
                <a:latin typeface="Inter" pitchFamily="34" charset="0"/>
                <a:ea typeface="Inter" pitchFamily="34" charset="-122"/>
                <a:cs typeface="Inter" pitchFamily="34" charset="-120"/>
              </a:rPr>
              <a:t>Sabadell</a:t>
            </a:r>
            <a:endParaRPr lang="en-US" sz="1000" dirty="0"/>
          </a:p>
        </p:txBody>
      </p:sp>
      <p:sp>
        <p:nvSpPr>
          <p:cNvPr id="78" name="Shape 65"/>
          <p:cNvSpPr/>
          <p:nvPr/>
        </p:nvSpPr>
        <p:spPr>
          <a:xfrm>
            <a:off x="8092440" y="4764024"/>
            <a:ext cx="1133856" cy="283464"/>
          </a:xfrm>
          <a:prstGeom prst="rect">
            <a:avLst>
              <a:gd name="adj" fmla="val 16129"/>
            </a:avLst>
          </a:prstGeom>
          <a:solidFill>
            <a:srgbClr val="FFFFFF"/>
          </a:solidFill>
          <a:ln w="12700">
            <a:solidFill>
              <a:srgbClr val="D9D9D6"/>
            </a:solidFill>
            <a:prstDash val="solid"/>
          </a:ln>
        </p:spPr>
      </p:sp>
      <p:sp>
        <p:nvSpPr>
          <p:cNvPr id="79" name="Text 66"/>
          <p:cNvSpPr txBox="1"/>
          <p:nvPr/>
        </p:nvSpPr>
        <p:spPr>
          <a:xfrm>
            <a:off x="8119872" y="4764024"/>
            <a:ext cx="1078992" cy="283464"/>
          </a:xfrm>
          <a:prstGeom prst="rect">
            <a:avLst/>
          </a:prstGeom>
          <a:noFill/>
          <a:ln/>
        </p:spPr>
        <p:txBody>
          <a:bodyPr wrap="square" lIns="0" tIns="0" rIns="0" bIns="0" rtlCol="0" anchor="ctr"/>
          <a:lstStyle/>
          <a:p>
            <a:pPr algn="ctr" indent="0" marL="0">
              <a:buNone/>
            </a:pPr>
            <a:r>
              <a:rPr lang="en-US" sz="950" dirty="0">
                <a:solidFill>
                  <a:srgbClr val="1A1D21"/>
                </a:solidFill>
                <a:latin typeface="Inter" pitchFamily="34" charset="0"/>
                <a:ea typeface="Inter" pitchFamily="34" charset="-122"/>
                <a:cs typeface="Inter" pitchFamily="34" charset="-120"/>
              </a:rPr>
              <a:t>Commerzbank</a:t>
            </a:r>
            <a:endParaRPr lang="en-US" sz="950" dirty="0"/>
          </a:p>
        </p:txBody>
      </p:sp>
      <p:sp>
        <p:nvSpPr>
          <p:cNvPr id="80" name="Shape 67"/>
          <p:cNvSpPr/>
          <p:nvPr/>
        </p:nvSpPr>
        <p:spPr>
          <a:xfrm>
            <a:off x="9281160" y="4764024"/>
            <a:ext cx="1133856" cy="283464"/>
          </a:xfrm>
          <a:prstGeom prst="rect">
            <a:avLst>
              <a:gd name="adj" fmla="val 16129"/>
            </a:avLst>
          </a:prstGeom>
          <a:solidFill>
            <a:srgbClr val="FFFFFF"/>
          </a:solidFill>
          <a:ln w="12700">
            <a:solidFill>
              <a:srgbClr val="D9D9D6"/>
            </a:solidFill>
            <a:prstDash val="solid"/>
          </a:ln>
        </p:spPr>
      </p:sp>
      <p:sp>
        <p:nvSpPr>
          <p:cNvPr id="81" name="Text 68"/>
          <p:cNvSpPr txBox="1"/>
          <p:nvPr/>
        </p:nvSpPr>
        <p:spPr>
          <a:xfrm>
            <a:off x="9308592" y="4764024"/>
            <a:ext cx="1078992" cy="283464"/>
          </a:xfrm>
          <a:prstGeom prst="rect">
            <a:avLst/>
          </a:prstGeom>
          <a:noFill/>
          <a:ln/>
        </p:spPr>
        <p:txBody>
          <a:bodyPr wrap="square" lIns="0" tIns="0" rIns="0" bIns="0" rtlCol="0" anchor="ctr"/>
          <a:lstStyle/>
          <a:p>
            <a:pPr algn="ctr" indent="0" marL="0">
              <a:buNone/>
            </a:pPr>
            <a:r>
              <a:rPr lang="en-US" sz="1000" dirty="0">
                <a:solidFill>
                  <a:srgbClr val="1A1D21"/>
                </a:solidFill>
                <a:latin typeface="Inter" pitchFamily="34" charset="0"/>
                <a:ea typeface="Inter" pitchFamily="34" charset="-122"/>
                <a:cs typeface="Inter" pitchFamily="34" charset="-120"/>
              </a:rPr>
              <a:t>ABN AMRO</a:t>
            </a:r>
            <a:endParaRPr lang="en-US" sz="1000" dirty="0"/>
          </a:p>
        </p:txBody>
      </p:sp>
      <p:sp>
        <p:nvSpPr>
          <p:cNvPr id="82" name="Shape 69"/>
          <p:cNvSpPr/>
          <p:nvPr/>
        </p:nvSpPr>
        <p:spPr>
          <a:xfrm>
            <a:off x="10469880" y="4764024"/>
            <a:ext cx="1133856" cy="283464"/>
          </a:xfrm>
          <a:prstGeom prst="rect">
            <a:avLst>
              <a:gd name="adj" fmla="val 16129"/>
            </a:avLst>
          </a:prstGeom>
          <a:solidFill>
            <a:srgbClr val="FFFFFF"/>
          </a:solidFill>
          <a:ln w="12700">
            <a:solidFill>
              <a:srgbClr val="D9D9D6"/>
            </a:solidFill>
            <a:prstDash val="solid"/>
          </a:ln>
        </p:spPr>
      </p:sp>
      <p:sp>
        <p:nvSpPr>
          <p:cNvPr id="83" name="Text 70"/>
          <p:cNvSpPr txBox="1"/>
          <p:nvPr/>
        </p:nvSpPr>
        <p:spPr>
          <a:xfrm>
            <a:off x="10497312" y="4764024"/>
            <a:ext cx="1078992" cy="283464"/>
          </a:xfrm>
          <a:prstGeom prst="rect">
            <a:avLst/>
          </a:prstGeom>
          <a:noFill/>
          <a:ln/>
        </p:spPr>
        <p:txBody>
          <a:bodyPr wrap="square" lIns="0" tIns="0" rIns="0" bIns="0" rtlCol="0" anchor="ctr"/>
          <a:lstStyle/>
          <a:p>
            <a:pPr algn="ctr" indent="0" marL="0">
              <a:buNone/>
            </a:pPr>
            <a:r>
              <a:rPr lang="en-US" sz="1000" dirty="0">
                <a:solidFill>
                  <a:srgbClr val="1A1D21"/>
                </a:solidFill>
                <a:latin typeface="Inter" pitchFamily="34" charset="0"/>
                <a:ea typeface="Inter" pitchFamily="34" charset="-122"/>
                <a:cs typeface="Inter" pitchFamily="34" charset="-120"/>
              </a:rPr>
              <a:t>Rabobank</a:t>
            </a:r>
            <a:endParaRPr lang="en-US" sz="1000" dirty="0"/>
          </a:p>
        </p:txBody>
      </p:sp>
      <p:sp>
        <p:nvSpPr>
          <p:cNvPr id="84" name="Shape 71"/>
          <p:cNvSpPr/>
          <p:nvPr/>
        </p:nvSpPr>
        <p:spPr>
          <a:xfrm>
            <a:off x="6903720" y="5084064"/>
            <a:ext cx="1133856" cy="283464"/>
          </a:xfrm>
          <a:prstGeom prst="rect">
            <a:avLst>
              <a:gd name="adj" fmla="val 16129"/>
            </a:avLst>
          </a:prstGeom>
          <a:solidFill>
            <a:srgbClr val="FFFFFF"/>
          </a:solidFill>
          <a:ln w="12700">
            <a:solidFill>
              <a:srgbClr val="D9D9D6"/>
            </a:solidFill>
            <a:prstDash val="solid"/>
          </a:ln>
        </p:spPr>
      </p:sp>
      <p:sp>
        <p:nvSpPr>
          <p:cNvPr id="85" name="Text 72"/>
          <p:cNvSpPr txBox="1"/>
          <p:nvPr/>
        </p:nvSpPr>
        <p:spPr>
          <a:xfrm>
            <a:off x="6931152" y="5084064"/>
            <a:ext cx="1078992" cy="283464"/>
          </a:xfrm>
          <a:prstGeom prst="rect">
            <a:avLst/>
          </a:prstGeom>
          <a:noFill/>
          <a:ln/>
        </p:spPr>
        <p:txBody>
          <a:bodyPr wrap="square" lIns="0" tIns="0" rIns="0" bIns="0" rtlCol="0" anchor="ctr"/>
          <a:lstStyle/>
          <a:p>
            <a:pPr algn="ctr" indent="0" marL="0">
              <a:buNone/>
            </a:pPr>
            <a:r>
              <a:rPr lang="en-US" sz="1000" dirty="0">
                <a:solidFill>
                  <a:srgbClr val="1A1D21"/>
                </a:solidFill>
                <a:latin typeface="Inter" pitchFamily="34" charset="0"/>
                <a:ea typeface="Inter" pitchFamily="34" charset="-122"/>
                <a:cs typeface="Inter" pitchFamily="34" charset="-120"/>
              </a:rPr>
              <a:t>Lloyds</a:t>
            </a:r>
            <a:endParaRPr lang="en-US" sz="1000" dirty="0"/>
          </a:p>
        </p:txBody>
      </p:sp>
      <p:sp>
        <p:nvSpPr>
          <p:cNvPr id="86" name="Shape 73"/>
          <p:cNvSpPr/>
          <p:nvPr/>
        </p:nvSpPr>
        <p:spPr>
          <a:xfrm>
            <a:off x="8092440" y="5084064"/>
            <a:ext cx="1133856" cy="283464"/>
          </a:xfrm>
          <a:prstGeom prst="rect">
            <a:avLst>
              <a:gd name="adj" fmla="val 16129"/>
            </a:avLst>
          </a:prstGeom>
          <a:solidFill>
            <a:srgbClr val="FFFFFF"/>
          </a:solidFill>
          <a:ln w="12700">
            <a:solidFill>
              <a:srgbClr val="D9D9D6"/>
            </a:solidFill>
            <a:prstDash val="solid"/>
          </a:ln>
        </p:spPr>
      </p:sp>
      <p:sp>
        <p:nvSpPr>
          <p:cNvPr id="87" name="Text 74"/>
          <p:cNvSpPr txBox="1"/>
          <p:nvPr/>
        </p:nvSpPr>
        <p:spPr>
          <a:xfrm>
            <a:off x="8119872" y="5084064"/>
            <a:ext cx="1078992" cy="283464"/>
          </a:xfrm>
          <a:prstGeom prst="rect">
            <a:avLst/>
          </a:prstGeom>
          <a:noFill/>
          <a:ln/>
        </p:spPr>
        <p:txBody>
          <a:bodyPr wrap="square" lIns="0" tIns="0" rIns="0" bIns="0" rtlCol="0" anchor="ctr"/>
          <a:lstStyle/>
          <a:p>
            <a:pPr algn="ctr" indent="0" marL="0">
              <a:buNone/>
            </a:pPr>
            <a:r>
              <a:rPr lang="en-US" sz="1000" dirty="0">
                <a:solidFill>
                  <a:srgbClr val="1A1D21"/>
                </a:solidFill>
                <a:latin typeface="Inter" pitchFamily="34" charset="0"/>
                <a:ea typeface="Inter" pitchFamily="34" charset="-122"/>
                <a:cs typeface="Inter" pitchFamily="34" charset="-120"/>
              </a:rPr>
              <a:t>NatWest</a:t>
            </a:r>
            <a:endParaRPr lang="en-US" sz="1000" dirty="0"/>
          </a:p>
        </p:txBody>
      </p:sp>
      <p:sp>
        <p:nvSpPr>
          <p:cNvPr id="88" name="Shape 75"/>
          <p:cNvSpPr/>
          <p:nvPr/>
        </p:nvSpPr>
        <p:spPr>
          <a:xfrm>
            <a:off x="9281160" y="5084064"/>
            <a:ext cx="1133856" cy="283464"/>
          </a:xfrm>
          <a:prstGeom prst="rect">
            <a:avLst>
              <a:gd name="adj" fmla="val 16129"/>
            </a:avLst>
          </a:prstGeom>
          <a:solidFill>
            <a:srgbClr val="FFFFFF"/>
          </a:solidFill>
          <a:ln w="12700">
            <a:solidFill>
              <a:srgbClr val="D9D9D6"/>
            </a:solidFill>
            <a:prstDash val="solid"/>
          </a:ln>
        </p:spPr>
      </p:sp>
      <p:sp>
        <p:nvSpPr>
          <p:cNvPr id="89" name="Text 76"/>
          <p:cNvSpPr txBox="1"/>
          <p:nvPr/>
        </p:nvSpPr>
        <p:spPr>
          <a:xfrm>
            <a:off x="9308592" y="5084064"/>
            <a:ext cx="1078992" cy="283464"/>
          </a:xfrm>
          <a:prstGeom prst="rect">
            <a:avLst/>
          </a:prstGeom>
          <a:noFill/>
          <a:ln/>
        </p:spPr>
        <p:txBody>
          <a:bodyPr wrap="square" lIns="0" tIns="0" rIns="0" bIns="0" rtlCol="0" anchor="ctr"/>
          <a:lstStyle/>
          <a:p>
            <a:pPr algn="ctr" indent="0" marL="0">
              <a:buNone/>
            </a:pPr>
            <a:r>
              <a:rPr lang="en-US" sz="1000" dirty="0">
                <a:solidFill>
                  <a:srgbClr val="1A1D21"/>
                </a:solidFill>
                <a:latin typeface="Inter" pitchFamily="34" charset="0"/>
                <a:ea typeface="Inter" pitchFamily="34" charset="-122"/>
                <a:cs typeface="Inter" pitchFamily="34" charset="-120"/>
              </a:rPr>
              <a:t>ICBC</a:t>
            </a:r>
            <a:endParaRPr lang="en-US" sz="1000" dirty="0"/>
          </a:p>
        </p:txBody>
      </p:sp>
      <p:sp>
        <p:nvSpPr>
          <p:cNvPr id="90" name="Shape 77"/>
          <p:cNvSpPr/>
          <p:nvPr/>
        </p:nvSpPr>
        <p:spPr>
          <a:xfrm>
            <a:off x="10469880" y="5084064"/>
            <a:ext cx="1133856" cy="283464"/>
          </a:xfrm>
          <a:prstGeom prst="rect">
            <a:avLst>
              <a:gd name="adj" fmla="val 16129"/>
            </a:avLst>
          </a:prstGeom>
          <a:solidFill>
            <a:srgbClr val="FFFFFF"/>
          </a:solidFill>
          <a:ln w="12700">
            <a:solidFill>
              <a:srgbClr val="D9D9D6"/>
            </a:solidFill>
            <a:prstDash val="solid"/>
          </a:ln>
        </p:spPr>
      </p:sp>
      <p:sp>
        <p:nvSpPr>
          <p:cNvPr id="91" name="Text 78"/>
          <p:cNvSpPr txBox="1"/>
          <p:nvPr/>
        </p:nvSpPr>
        <p:spPr>
          <a:xfrm>
            <a:off x="10497312" y="5084064"/>
            <a:ext cx="1078992" cy="283464"/>
          </a:xfrm>
          <a:prstGeom prst="rect">
            <a:avLst/>
          </a:prstGeom>
          <a:noFill/>
          <a:ln/>
        </p:spPr>
        <p:txBody>
          <a:bodyPr wrap="square" lIns="0" tIns="0" rIns="0" bIns="0" rtlCol="0" anchor="ctr"/>
          <a:lstStyle/>
          <a:p>
            <a:pPr algn="ctr" indent="0" marL="0">
              <a:buNone/>
            </a:pPr>
            <a:r>
              <a:rPr lang="en-US" sz="1000" dirty="0">
                <a:solidFill>
                  <a:srgbClr val="1A1D21"/>
                </a:solidFill>
                <a:latin typeface="Inter" pitchFamily="34" charset="0"/>
                <a:ea typeface="Inter" pitchFamily="34" charset="-122"/>
                <a:cs typeface="Inter" pitchFamily="34" charset="-120"/>
              </a:rPr>
              <a:t>CIC</a:t>
            </a:r>
            <a:endParaRPr lang="en-US" sz="1000" dirty="0"/>
          </a:p>
        </p:txBody>
      </p:sp>
      <p:sp>
        <p:nvSpPr>
          <p:cNvPr id="92" name="Text 79"/>
          <p:cNvSpPr txBox="1"/>
          <p:nvPr/>
        </p:nvSpPr>
        <p:spPr>
          <a:xfrm>
            <a:off x="6309360" y="5486400"/>
            <a:ext cx="566928" cy="621792"/>
          </a:xfrm>
          <a:prstGeom prst="rect">
            <a:avLst/>
          </a:prstGeom>
          <a:noFill/>
          <a:ln/>
        </p:spPr>
        <p:txBody>
          <a:bodyPr wrap="square" lIns="0" tIns="0" rIns="0" bIns="0" rtlCol="0" anchor="ctr"/>
          <a:lstStyle/>
          <a:p>
            <a:pPr indent="0" marL="0">
              <a:buNone/>
            </a:pPr>
            <a:r>
              <a:rPr lang="en-US" sz="1100" b="1" dirty="0">
                <a:solidFill>
                  <a:srgbClr val="1A1D21"/>
                </a:solidFill>
                <a:latin typeface="Inter" pitchFamily="34" charset="0"/>
                <a:ea typeface="Inter" pitchFamily="34" charset="-122"/>
                <a:cs typeface="Inter" pitchFamily="34" charset="-120"/>
              </a:rPr>
              <a:t>€235m</a:t>
            </a:r>
            <a:endParaRPr lang="en-US" sz="1100" dirty="0"/>
          </a:p>
        </p:txBody>
      </p:sp>
      <p:sp>
        <p:nvSpPr>
          <p:cNvPr id="93" name="Shape 80"/>
          <p:cNvSpPr/>
          <p:nvPr/>
        </p:nvSpPr>
        <p:spPr>
          <a:xfrm>
            <a:off x="6903720" y="5486400"/>
            <a:ext cx="1133856" cy="283464"/>
          </a:xfrm>
          <a:prstGeom prst="rect">
            <a:avLst>
              <a:gd name="adj" fmla="val 16129"/>
            </a:avLst>
          </a:prstGeom>
          <a:solidFill>
            <a:srgbClr val="FFFFFF"/>
          </a:solidFill>
          <a:ln w="12700">
            <a:solidFill>
              <a:srgbClr val="D9D9D6"/>
            </a:solidFill>
            <a:prstDash val="solid"/>
          </a:ln>
        </p:spPr>
      </p:sp>
      <p:sp>
        <p:nvSpPr>
          <p:cNvPr id="94" name="Text 81"/>
          <p:cNvSpPr txBox="1"/>
          <p:nvPr/>
        </p:nvSpPr>
        <p:spPr>
          <a:xfrm>
            <a:off x="6931152" y="5486400"/>
            <a:ext cx="1078992" cy="283464"/>
          </a:xfrm>
          <a:prstGeom prst="rect">
            <a:avLst/>
          </a:prstGeom>
          <a:noFill/>
          <a:ln/>
        </p:spPr>
        <p:txBody>
          <a:bodyPr wrap="square" lIns="0" tIns="0" rIns="0" bIns="0" rtlCol="0" anchor="ctr"/>
          <a:lstStyle/>
          <a:p>
            <a:pPr algn="ctr" indent="0" marL="0">
              <a:buNone/>
            </a:pPr>
            <a:r>
              <a:rPr lang="en-US" sz="1000" dirty="0">
                <a:solidFill>
                  <a:srgbClr val="1A1D21"/>
                </a:solidFill>
                <a:latin typeface="Inter" pitchFamily="34" charset="0"/>
                <a:ea typeface="Inter" pitchFamily="34" charset="-122"/>
                <a:cs typeface="Inter" pitchFamily="34" charset="-120"/>
              </a:rPr>
              <a:t>Bankinter</a:t>
            </a:r>
            <a:endParaRPr lang="en-US" sz="1000" dirty="0"/>
          </a:p>
        </p:txBody>
      </p:sp>
      <p:sp>
        <p:nvSpPr>
          <p:cNvPr id="95" name="Shape 82"/>
          <p:cNvSpPr/>
          <p:nvPr/>
        </p:nvSpPr>
        <p:spPr>
          <a:xfrm>
            <a:off x="8092440" y="5486400"/>
            <a:ext cx="1133856" cy="283464"/>
          </a:xfrm>
          <a:prstGeom prst="rect">
            <a:avLst>
              <a:gd name="adj" fmla="val 16129"/>
            </a:avLst>
          </a:prstGeom>
          <a:solidFill>
            <a:srgbClr val="FFFFFF"/>
          </a:solidFill>
          <a:ln w="12700">
            <a:solidFill>
              <a:srgbClr val="D9D9D6"/>
            </a:solidFill>
            <a:prstDash val="solid"/>
          </a:ln>
        </p:spPr>
      </p:sp>
      <p:sp>
        <p:nvSpPr>
          <p:cNvPr id="96" name="Text 83"/>
          <p:cNvSpPr txBox="1"/>
          <p:nvPr/>
        </p:nvSpPr>
        <p:spPr>
          <a:xfrm>
            <a:off x="8119872" y="5486400"/>
            <a:ext cx="1078992" cy="283464"/>
          </a:xfrm>
          <a:prstGeom prst="rect">
            <a:avLst/>
          </a:prstGeom>
          <a:noFill/>
          <a:ln/>
        </p:spPr>
        <p:txBody>
          <a:bodyPr wrap="square" lIns="0" tIns="0" rIns="0" bIns="0" rtlCol="0" anchor="ctr"/>
          <a:lstStyle/>
          <a:p>
            <a:pPr algn="ctr" indent="0" marL="0">
              <a:buNone/>
            </a:pPr>
            <a:r>
              <a:rPr lang="en-US" sz="1000" dirty="0">
                <a:solidFill>
                  <a:srgbClr val="1A1D21"/>
                </a:solidFill>
                <a:latin typeface="Inter" pitchFamily="34" charset="0"/>
                <a:ea typeface="Inter" pitchFamily="34" charset="-122"/>
                <a:cs typeface="Inter" pitchFamily="34" charset="-120"/>
              </a:rPr>
              <a:t>Abanca</a:t>
            </a:r>
            <a:endParaRPr lang="en-US" sz="1000" dirty="0"/>
          </a:p>
        </p:txBody>
      </p:sp>
      <p:sp>
        <p:nvSpPr>
          <p:cNvPr id="97" name="Shape 84"/>
          <p:cNvSpPr/>
          <p:nvPr/>
        </p:nvSpPr>
        <p:spPr>
          <a:xfrm>
            <a:off x="9281160" y="5486400"/>
            <a:ext cx="1133856" cy="283464"/>
          </a:xfrm>
          <a:prstGeom prst="rect">
            <a:avLst>
              <a:gd name="adj" fmla="val 16129"/>
            </a:avLst>
          </a:prstGeom>
          <a:solidFill>
            <a:srgbClr val="FFFFFF"/>
          </a:solidFill>
          <a:ln w="12700">
            <a:solidFill>
              <a:srgbClr val="D9D9D6"/>
            </a:solidFill>
            <a:prstDash val="solid"/>
          </a:ln>
        </p:spPr>
      </p:sp>
      <p:sp>
        <p:nvSpPr>
          <p:cNvPr id="98" name="Text 85"/>
          <p:cNvSpPr txBox="1"/>
          <p:nvPr/>
        </p:nvSpPr>
        <p:spPr>
          <a:xfrm>
            <a:off x="9308592" y="5486400"/>
            <a:ext cx="1078992" cy="283464"/>
          </a:xfrm>
          <a:prstGeom prst="rect">
            <a:avLst/>
          </a:prstGeom>
          <a:noFill/>
          <a:ln/>
        </p:spPr>
        <p:txBody>
          <a:bodyPr wrap="square" lIns="0" tIns="0" rIns="0" bIns="0" rtlCol="0" anchor="ctr"/>
          <a:lstStyle/>
          <a:p>
            <a:pPr algn="ctr" indent="0" marL="0">
              <a:buNone/>
            </a:pPr>
            <a:r>
              <a:rPr lang="en-US" sz="1000" dirty="0">
                <a:solidFill>
                  <a:srgbClr val="1A1D21"/>
                </a:solidFill>
                <a:latin typeface="Inter" pitchFamily="34" charset="0"/>
                <a:ea typeface="Inter" pitchFamily="34" charset="-122"/>
                <a:cs typeface="Inter" pitchFamily="34" charset="-120"/>
              </a:rPr>
              <a:t>Helaba</a:t>
            </a:r>
            <a:endParaRPr lang="en-US" sz="1000" dirty="0"/>
          </a:p>
        </p:txBody>
      </p:sp>
      <p:sp>
        <p:nvSpPr>
          <p:cNvPr id="99" name="Shape 86"/>
          <p:cNvSpPr/>
          <p:nvPr/>
        </p:nvSpPr>
        <p:spPr>
          <a:xfrm>
            <a:off x="10469880" y="5486400"/>
            <a:ext cx="1133856" cy="283464"/>
          </a:xfrm>
          <a:prstGeom prst="rect">
            <a:avLst>
              <a:gd name="adj" fmla="val 16129"/>
            </a:avLst>
          </a:prstGeom>
          <a:solidFill>
            <a:srgbClr val="FFFFFF"/>
          </a:solidFill>
          <a:ln w="12700">
            <a:solidFill>
              <a:srgbClr val="D9D9D6"/>
            </a:solidFill>
            <a:prstDash val="solid"/>
          </a:ln>
        </p:spPr>
      </p:sp>
      <p:sp>
        <p:nvSpPr>
          <p:cNvPr id="100" name="Text 87"/>
          <p:cNvSpPr txBox="1"/>
          <p:nvPr/>
        </p:nvSpPr>
        <p:spPr>
          <a:xfrm>
            <a:off x="10497312" y="5486400"/>
            <a:ext cx="1078992" cy="283464"/>
          </a:xfrm>
          <a:prstGeom prst="rect">
            <a:avLst/>
          </a:prstGeom>
          <a:noFill/>
          <a:ln/>
        </p:spPr>
        <p:txBody>
          <a:bodyPr wrap="square" lIns="0" tIns="0" rIns="0" bIns="0" rtlCol="0" anchor="ctr"/>
          <a:lstStyle/>
          <a:p>
            <a:pPr algn="ctr" indent="0" marL="0">
              <a:buNone/>
            </a:pPr>
            <a:r>
              <a:rPr lang="en-US" sz="1000" dirty="0">
                <a:solidFill>
                  <a:srgbClr val="1A1D21"/>
                </a:solidFill>
                <a:latin typeface="Inter" pitchFamily="34" charset="0"/>
                <a:ea typeface="Inter" pitchFamily="34" charset="-122"/>
                <a:cs typeface="Inter" pitchFamily="34" charset="-120"/>
              </a:rPr>
              <a:t>SEB</a:t>
            </a:r>
            <a:endParaRPr lang="en-US" sz="1000" dirty="0"/>
          </a:p>
        </p:txBody>
      </p:sp>
      <p:sp>
        <p:nvSpPr>
          <p:cNvPr id="101" name="Shape 88"/>
          <p:cNvSpPr/>
          <p:nvPr/>
        </p:nvSpPr>
        <p:spPr>
          <a:xfrm>
            <a:off x="6903720" y="5806440"/>
            <a:ext cx="1133856" cy="283464"/>
          </a:xfrm>
          <a:prstGeom prst="rect">
            <a:avLst>
              <a:gd name="adj" fmla="val 16129"/>
            </a:avLst>
          </a:prstGeom>
          <a:solidFill>
            <a:srgbClr val="FFFFFF"/>
          </a:solidFill>
          <a:ln w="12700">
            <a:solidFill>
              <a:srgbClr val="D9D9D6"/>
            </a:solidFill>
            <a:prstDash val="solid"/>
          </a:ln>
        </p:spPr>
      </p:sp>
      <p:sp>
        <p:nvSpPr>
          <p:cNvPr id="102" name="Text 89"/>
          <p:cNvSpPr txBox="1"/>
          <p:nvPr/>
        </p:nvSpPr>
        <p:spPr>
          <a:xfrm>
            <a:off x="6931152" y="5806440"/>
            <a:ext cx="1078992" cy="283464"/>
          </a:xfrm>
          <a:prstGeom prst="rect">
            <a:avLst/>
          </a:prstGeom>
          <a:noFill/>
          <a:ln/>
        </p:spPr>
        <p:txBody>
          <a:bodyPr wrap="square" lIns="0" tIns="0" rIns="0" bIns="0" rtlCol="0" anchor="ctr"/>
          <a:lstStyle/>
          <a:p>
            <a:pPr algn="ctr" indent="0" marL="0">
              <a:buNone/>
            </a:pPr>
            <a:r>
              <a:rPr lang="en-US" sz="1000" dirty="0">
                <a:solidFill>
                  <a:srgbClr val="1A1D21"/>
                </a:solidFill>
                <a:latin typeface="Inter" pitchFamily="34" charset="0"/>
                <a:ea typeface="Inter" pitchFamily="34" charset="-122"/>
                <a:cs typeface="Inter" pitchFamily="34" charset="-120"/>
              </a:rPr>
              <a:t>Mediobanca</a:t>
            </a:r>
            <a:endParaRPr lang="en-US" sz="1000" dirty="0"/>
          </a:p>
        </p:txBody>
      </p:sp>
      <p:sp>
        <p:nvSpPr>
          <p:cNvPr id="103" name="Shape 90"/>
          <p:cNvSpPr/>
          <p:nvPr/>
        </p:nvSpPr>
        <p:spPr>
          <a:xfrm>
            <a:off x="8092440" y="5806440"/>
            <a:ext cx="1133856" cy="283464"/>
          </a:xfrm>
          <a:prstGeom prst="rect">
            <a:avLst>
              <a:gd name="adj" fmla="val 16129"/>
            </a:avLst>
          </a:prstGeom>
          <a:solidFill>
            <a:srgbClr val="FFFFFF"/>
          </a:solidFill>
          <a:ln w="12700">
            <a:solidFill>
              <a:srgbClr val="D9D9D6"/>
            </a:solidFill>
            <a:prstDash val="solid"/>
          </a:ln>
        </p:spPr>
      </p:sp>
      <p:sp>
        <p:nvSpPr>
          <p:cNvPr id="104" name="Text 91"/>
          <p:cNvSpPr txBox="1"/>
          <p:nvPr/>
        </p:nvSpPr>
        <p:spPr>
          <a:xfrm>
            <a:off x="8119872" y="5806440"/>
            <a:ext cx="1078992" cy="283464"/>
          </a:xfrm>
          <a:prstGeom prst="rect">
            <a:avLst/>
          </a:prstGeom>
          <a:noFill/>
          <a:ln/>
        </p:spPr>
        <p:txBody>
          <a:bodyPr wrap="square" lIns="0" tIns="0" rIns="0" bIns="0" rtlCol="0" anchor="ctr"/>
          <a:lstStyle/>
          <a:p>
            <a:pPr algn="ctr" indent="0" marL="0">
              <a:buNone/>
            </a:pPr>
            <a:r>
              <a:rPr lang="en-US" sz="950" dirty="0">
                <a:solidFill>
                  <a:srgbClr val="1A1D21"/>
                </a:solidFill>
                <a:latin typeface="Inter" pitchFamily="34" charset="0"/>
                <a:ea typeface="Inter" pitchFamily="34" charset="-122"/>
                <a:cs typeface="Inter" pitchFamily="34" charset="-120"/>
              </a:rPr>
              <a:t>Banque Postale</a:t>
            </a:r>
            <a:endParaRPr lang="en-US" sz="950" dirty="0"/>
          </a:p>
        </p:txBody>
      </p:sp>
      <p:sp>
        <p:nvSpPr>
          <p:cNvPr id="105" name="Shape 92"/>
          <p:cNvSpPr/>
          <p:nvPr/>
        </p:nvSpPr>
        <p:spPr>
          <a:xfrm>
            <a:off x="9281160" y="5806440"/>
            <a:ext cx="1133856" cy="283464"/>
          </a:xfrm>
          <a:prstGeom prst="rect">
            <a:avLst>
              <a:gd name="adj" fmla="val 16129"/>
            </a:avLst>
          </a:prstGeom>
          <a:solidFill>
            <a:srgbClr val="FFFFFF"/>
          </a:solidFill>
          <a:ln w="12700">
            <a:solidFill>
              <a:srgbClr val="D9D9D6"/>
            </a:solidFill>
            <a:prstDash val="solid"/>
          </a:ln>
        </p:spPr>
      </p:sp>
      <p:sp>
        <p:nvSpPr>
          <p:cNvPr id="106" name="Text 93"/>
          <p:cNvSpPr txBox="1"/>
          <p:nvPr/>
        </p:nvSpPr>
        <p:spPr>
          <a:xfrm>
            <a:off x="9308592" y="5806440"/>
            <a:ext cx="1078992" cy="283464"/>
          </a:xfrm>
          <a:prstGeom prst="rect">
            <a:avLst/>
          </a:prstGeom>
          <a:noFill/>
          <a:ln/>
        </p:spPr>
        <p:txBody>
          <a:bodyPr wrap="square" lIns="0" tIns="0" rIns="0" bIns="0" rtlCol="0" anchor="ctr"/>
          <a:lstStyle/>
          <a:p>
            <a:pPr algn="ctr" indent="0" marL="0">
              <a:buNone/>
            </a:pPr>
            <a:r>
              <a:rPr lang="en-US" sz="950" dirty="0">
                <a:solidFill>
                  <a:srgbClr val="1A1D21"/>
                </a:solidFill>
                <a:latin typeface="Inter" pitchFamily="34" charset="0"/>
                <a:ea typeface="Inter" pitchFamily="34" charset="-122"/>
                <a:cs typeface="Inter" pitchFamily="34" charset="-120"/>
              </a:rPr>
              <a:t>Bank of Ireland</a:t>
            </a:r>
            <a:endParaRPr lang="en-US" sz="950" dirty="0"/>
          </a:p>
        </p:txBody>
      </p:sp>
      <p:sp>
        <p:nvSpPr>
          <p:cNvPr id="107" name="Shape 94"/>
          <p:cNvSpPr/>
          <p:nvPr/>
        </p:nvSpPr>
        <p:spPr>
          <a:xfrm>
            <a:off x="10469880" y="5806440"/>
            <a:ext cx="1133856" cy="283464"/>
          </a:xfrm>
          <a:prstGeom prst="rect">
            <a:avLst>
              <a:gd name="adj" fmla="val 16129"/>
            </a:avLst>
          </a:prstGeom>
          <a:solidFill>
            <a:srgbClr val="FFFFFF"/>
          </a:solidFill>
          <a:ln w="12700">
            <a:solidFill>
              <a:srgbClr val="D9D9D6"/>
            </a:solidFill>
            <a:prstDash val="solid"/>
          </a:ln>
        </p:spPr>
      </p:sp>
      <p:sp>
        <p:nvSpPr>
          <p:cNvPr id="108" name="Text 95"/>
          <p:cNvSpPr txBox="1"/>
          <p:nvPr/>
        </p:nvSpPr>
        <p:spPr>
          <a:xfrm>
            <a:off x="10497312" y="5806440"/>
            <a:ext cx="1078992" cy="283464"/>
          </a:xfrm>
          <a:prstGeom prst="rect">
            <a:avLst/>
          </a:prstGeom>
          <a:noFill/>
          <a:ln/>
        </p:spPr>
        <p:txBody>
          <a:bodyPr wrap="square" lIns="0" tIns="0" rIns="0" bIns="0" rtlCol="0" anchor="ctr"/>
          <a:lstStyle/>
          <a:p>
            <a:pPr algn="ctr" indent="0" marL="0">
              <a:buNone/>
            </a:pPr>
            <a:r>
              <a:rPr lang="en-US" sz="1000" dirty="0">
                <a:solidFill>
                  <a:srgbClr val="1A1D21"/>
                </a:solidFill>
                <a:latin typeface="Inter" pitchFamily="34" charset="0"/>
                <a:ea typeface="Inter" pitchFamily="34" charset="-122"/>
                <a:cs typeface="Inter" pitchFamily="34" charset="-120"/>
              </a:rPr>
              <a:t>Investec</a:t>
            </a:r>
            <a:endParaRPr lang="en-US" sz="1000" dirty="0"/>
          </a:p>
        </p:txBody>
      </p:sp>
      <p:sp>
        <p:nvSpPr>
          <p:cNvPr id="109" name="Text 96"/>
          <p:cNvSpPr txBox="1"/>
          <p:nvPr/>
        </p:nvSpPr>
        <p:spPr>
          <a:xfrm>
            <a:off x="548640" y="6327648"/>
            <a:ext cx="7863840" cy="228600"/>
          </a:xfrm>
          <a:prstGeom prst="rect">
            <a:avLst/>
          </a:prstGeom>
          <a:noFill/>
          <a:ln/>
        </p:spPr>
        <p:txBody>
          <a:bodyPr wrap="square" lIns="0" tIns="0" rIns="0" bIns="0" rtlCol="0" anchor="t"/>
          <a:lstStyle/>
          <a:p>
            <a:pPr indent="0" marL="0">
              <a:buNone/>
            </a:pPr>
            <a:r>
              <a:rPr lang="en-US" sz="900" dirty="0">
                <a:solidFill>
                  <a:srgbClr val="6E7378"/>
                </a:solidFill>
                <a:latin typeface="Inter" pitchFamily="34" charset="0"/>
                <a:ea typeface="Inter" pitchFamily="34" charset="-122"/>
                <a:cs typeface="Inter" pitchFamily="34" charset="-120"/>
              </a:rPr>
              <a:t>Fuente: arts. 15.2 y 16.1 RD 1066/2007 (garantía bancaria del efectivo de la OPA). Cifras redondeadas.</a:t>
            </a:r>
            <a:endParaRPr lang="en-US" sz="900" dirty="0"/>
          </a:p>
        </p:txBody>
      </p:sp>
      <p:sp>
        <p:nvSpPr>
          <p:cNvPr id="110" name="Text 97"/>
          <p:cNvSpPr txBox="1"/>
          <p:nvPr/>
        </p:nvSpPr>
        <p:spPr>
          <a:xfrm>
            <a:off x="8595360" y="6327648"/>
            <a:ext cx="3044952" cy="228600"/>
          </a:xfrm>
          <a:prstGeom prst="rect">
            <a:avLst/>
          </a:prstGeom>
          <a:noFill/>
          <a:ln/>
        </p:spPr>
        <p:txBody>
          <a:bodyPr wrap="square" lIns="0" tIns="0" rIns="0" bIns="0" rtlCol="0" anchor="t"/>
          <a:lstStyle/>
          <a:p>
            <a:pPr algn="r" indent="0" marL="0">
              <a:buNone/>
            </a:pPr>
            <a:r>
              <a:rPr lang="en-US" sz="900" dirty="0">
                <a:solidFill>
                  <a:srgbClr val="6E7378"/>
                </a:solidFill>
                <a:latin typeface="Inter" pitchFamily="34" charset="0"/>
                <a:ea typeface="Inter" pitchFamily="34" charset="-122"/>
                <a:cs typeface="Inter" pitchFamily="34" charset="-120"/>
              </a:rPr>
              <a:t>Project Galicia  ·  Estrictamente confidencial  ·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79476"/>
            <a:ext cx="7772400" cy="228600"/>
          </a:xfrm>
          <a:prstGeom prst="rect">
            <a:avLst/>
          </a:prstGeom>
          <a:noFill/>
          <a:ln/>
        </p:spPr>
        <p:txBody>
          <a:bodyPr wrap="square" lIns="0" tIns="0" rIns="0" bIns="0" rtlCol="0" anchor="ctr"/>
          <a:lstStyle/>
          <a:p>
            <a:pPr indent="0" marL="0">
              <a:buNone/>
            </a:pPr>
            <a:r>
              <a:rPr lang="en-US" sz="1100" b="1" spc="200" kern="0" dirty="0">
                <a:solidFill>
                  <a:srgbClr val="1F4B3F"/>
                </a:solidFill>
                <a:latin typeface="Inter" pitchFamily="34" charset="0"/>
                <a:ea typeface="Inter" pitchFamily="34" charset="-122"/>
                <a:cs typeface="Inter" pitchFamily="34" charset="-120"/>
              </a:rPr>
              <a:t>04  FINANCIADORES</a:t>
            </a:r>
            <a:endParaRPr lang="en-US" sz="1100" dirty="0"/>
          </a:p>
        </p:txBody>
      </p:sp>
      <p:pic>
        <p:nvPicPr>
          <p:cNvPr id="3" name="Image 0" descr="/tmp/claude-0/-home-claude/8d7de6a3-f167-5c95-8bc2-67944307bfd8/scratchpad/canva/img/HLP_monograma.png">    </p:cNvPr>
          <p:cNvPicPr>
            <a:picLocks noChangeAspect="1"/>
          </p:cNvPicPr>
          <p:nvPr/>
        </p:nvPicPr>
        <p:blipFill>
          <a:blip r:embed="rId1"/>
          <a:stretch>
            <a:fillRect/>
          </a:stretch>
        </p:blipFill>
        <p:spPr>
          <a:xfrm>
            <a:off x="11130991" y="237744"/>
            <a:ext cx="512064" cy="512064"/>
          </a:xfrm>
          <a:prstGeom prst="rect">
            <a:avLst/>
          </a:prstGeom>
        </p:spPr>
      </p:pic>
      <p:sp>
        <p:nvSpPr>
          <p:cNvPr id="4" name="Text 1"/>
          <p:cNvSpPr txBox="1"/>
          <p:nvPr/>
        </p:nvSpPr>
        <p:spPr>
          <a:xfrm>
            <a:off x="548640" y="786384"/>
            <a:ext cx="11091672" cy="658368"/>
          </a:xfrm>
          <a:prstGeom prst="rect">
            <a:avLst/>
          </a:prstGeom>
          <a:noFill/>
          <a:ln/>
        </p:spPr>
        <p:txBody>
          <a:bodyPr wrap="square" lIns="0" tIns="0" rIns="0" bIns="0" rtlCol="0" anchor="t"/>
          <a:lstStyle/>
          <a:p>
            <a:pPr indent="0" marL="0">
              <a:lnSpc>
                <a:spcPct val="92000"/>
              </a:lnSpc>
              <a:buNone/>
            </a:pPr>
            <a:r>
              <a:rPr lang="en-US" sz="2200" dirty="0">
                <a:solidFill>
                  <a:srgbClr val="1A1D21"/>
                </a:solidFill>
                <a:latin typeface="Lora" pitchFamily="34" charset="0"/>
                <a:ea typeface="Lora" pitchFamily="34" charset="-122"/>
                <a:cs typeface="Lora" pitchFamily="34" charset="-120"/>
              </a:rPr>
              <a:t>El TLB se vende a inversores institucionales; la mezzanine, a 9 fondos de crédito</a:t>
            </a:r>
            <a:endParaRPr lang="en-US" sz="2200" dirty="0"/>
          </a:p>
        </p:txBody>
      </p:sp>
      <p:sp>
        <p:nvSpPr>
          <p:cNvPr id="5" name="Text 2"/>
          <p:cNvSpPr txBox="1"/>
          <p:nvPr/>
        </p:nvSpPr>
        <p:spPr>
          <a:xfrm>
            <a:off x="548640" y="1572768"/>
            <a:ext cx="6766560" cy="228600"/>
          </a:xfrm>
          <a:prstGeom prst="rect">
            <a:avLst/>
          </a:prstGeom>
          <a:noFill/>
          <a:ln/>
        </p:spPr>
        <p:txBody>
          <a:bodyPr wrap="square" lIns="0" tIns="0" rIns="0" bIns="0" rtlCol="0" anchor="t"/>
          <a:lstStyle/>
          <a:p>
            <a:pPr indent="0" marL="0">
              <a:buNone/>
            </a:pPr>
            <a:r>
              <a:rPr lang="en-US" sz="1050" b="1" spc="150" kern="0" dirty="0">
                <a:solidFill>
                  <a:srgbClr val="1F4B3F"/>
                </a:solidFill>
                <a:latin typeface="Inter" pitchFamily="34" charset="0"/>
                <a:ea typeface="Inter" pitchFamily="34" charset="-122"/>
                <a:cs typeface="Inter" pitchFamily="34" charset="-120"/>
              </a:rPr>
              <a:t>TLB Y BONOS · €33.016M · DEUDA SENIOR</a:t>
            </a:r>
            <a:endParaRPr lang="en-US" sz="1050" dirty="0"/>
          </a:p>
        </p:txBody>
      </p:sp>
      <p:sp>
        <p:nvSpPr>
          <p:cNvPr id="6" name="Shape 3"/>
          <p:cNvSpPr/>
          <p:nvPr/>
        </p:nvSpPr>
        <p:spPr>
          <a:xfrm>
            <a:off x="548640" y="1828800"/>
            <a:ext cx="2459375" cy="438912"/>
          </a:xfrm>
          <a:prstGeom prst="rect">
            <a:avLst/>
          </a:prstGeom>
          <a:solidFill>
            <a:srgbClr val="1A1D21"/>
          </a:solidFill>
          <a:ln/>
        </p:spPr>
      </p:sp>
      <p:sp>
        <p:nvSpPr>
          <p:cNvPr id="7" name="Text 4"/>
          <p:cNvSpPr txBox="1"/>
          <p:nvPr/>
        </p:nvSpPr>
        <p:spPr>
          <a:xfrm>
            <a:off x="658368" y="1828800"/>
            <a:ext cx="2322215" cy="438912"/>
          </a:xfrm>
          <a:prstGeom prst="rect">
            <a:avLst/>
          </a:prstGeom>
          <a:noFill/>
          <a:ln/>
        </p:spPr>
        <p:txBody>
          <a:bodyPr wrap="square" lIns="0" tIns="0" rIns="0" bIns="0" rtlCol="0" anchor="ctr"/>
          <a:lstStyle/>
          <a:p>
            <a:pPr indent="0" marL="0">
              <a:buNone/>
            </a:pPr>
            <a:r>
              <a:rPr lang="en-US" sz="1200" b="1" dirty="0">
                <a:solidFill>
                  <a:srgbClr val="FFFFFF"/>
                </a:solidFill>
                <a:latin typeface="Inter" pitchFamily="34" charset="0"/>
                <a:ea typeface="Inter" pitchFamily="34" charset="-122"/>
                <a:cs typeface="Inter" pitchFamily="34" charset="-120"/>
              </a:rPr>
              <a:t>TLB en euros · 12.000</a:t>
            </a:r>
            <a:endParaRPr lang="en-US" sz="1200" dirty="0"/>
          </a:p>
        </p:txBody>
      </p:sp>
      <p:sp>
        <p:nvSpPr>
          <p:cNvPr id="8" name="Shape 5"/>
          <p:cNvSpPr/>
          <p:nvPr/>
        </p:nvSpPr>
        <p:spPr>
          <a:xfrm>
            <a:off x="3008015" y="1828800"/>
            <a:ext cx="1844531" cy="438912"/>
          </a:xfrm>
          <a:prstGeom prst="rect">
            <a:avLst/>
          </a:prstGeom>
          <a:solidFill>
            <a:srgbClr val="7D848C"/>
          </a:solidFill>
          <a:ln/>
        </p:spPr>
      </p:sp>
      <p:sp>
        <p:nvSpPr>
          <p:cNvPr id="9" name="Text 6"/>
          <p:cNvSpPr txBox="1"/>
          <p:nvPr/>
        </p:nvSpPr>
        <p:spPr>
          <a:xfrm>
            <a:off x="3117743" y="1828800"/>
            <a:ext cx="1707371" cy="438912"/>
          </a:xfrm>
          <a:prstGeom prst="rect">
            <a:avLst/>
          </a:prstGeom>
          <a:noFill/>
          <a:ln/>
        </p:spPr>
        <p:txBody>
          <a:bodyPr wrap="square" lIns="0" tIns="0" rIns="0" bIns="0" rtlCol="0" anchor="ctr"/>
          <a:lstStyle/>
          <a:p>
            <a:pPr indent="0" marL="0">
              <a:buNone/>
            </a:pPr>
            <a:r>
              <a:rPr lang="en-US" sz="1200" b="1" dirty="0">
                <a:solidFill>
                  <a:srgbClr val="FFFFFF"/>
                </a:solidFill>
                <a:latin typeface="Inter" pitchFamily="34" charset="0"/>
                <a:ea typeface="Inter" pitchFamily="34" charset="-122"/>
                <a:cs typeface="Inter" pitchFamily="34" charset="-120"/>
              </a:rPr>
              <a:t>TLB en dólares · 9.000</a:t>
            </a:r>
            <a:endParaRPr lang="en-US" sz="1200" dirty="0"/>
          </a:p>
        </p:txBody>
      </p:sp>
      <p:sp>
        <p:nvSpPr>
          <p:cNvPr id="10" name="Shape 7"/>
          <p:cNvSpPr/>
          <p:nvPr/>
        </p:nvSpPr>
        <p:spPr>
          <a:xfrm>
            <a:off x="4852546" y="1828800"/>
            <a:ext cx="2462654" cy="438912"/>
          </a:xfrm>
          <a:prstGeom prst="rect">
            <a:avLst/>
          </a:prstGeom>
          <a:solidFill>
            <a:srgbClr val="3A3F45"/>
          </a:solidFill>
          <a:ln/>
        </p:spPr>
      </p:sp>
      <p:sp>
        <p:nvSpPr>
          <p:cNvPr id="11" name="Text 8"/>
          <p:cNvSpPr txBox="1"/>
          <p:nvPr/>
        </p:nvSpPr>
        <p:spPr>
          <a:xfrm>
            <a:off x="4962274" y="1828800"/>
            <a:ext cx="2325494" cy="438912"/>
          </a:xfrm>
          <a:prstGeom prst="rect">
            <a:avLst/>
          </a:prstGeom>
          <a:noFill/>
          <a:ln/>
        </p:spPr>
        <p:txBody>
          <a:bodyPr wrap="square" lIns="0" tIns="0" rIns="0" bIns="0" rtlCol="0" anchor="ctr"/>
          <a:lstStyle/>
          <a:p>
            <a:pPr indent="0" marL="0">
              <a:buNone/>
            </a:pPr>
            <a:r>
              <a:rPr lang="en-US" sz="1200" b="1" dirty="0">
                <a:solidFill>
                  <a:srgbClr val="FFFFFF"/>
                </a:solidFill>
                <a:latin typeface="Inter" pitchFamily="34" charset="0"/>
                <a:ea typeface="Inter" pitchFamily="34" charset="-122"/>
                <a:cs typeface="Inter" pitchFamily="34" charset="-120"/>
              </a:rPr>
              <a:t>Bonos HY · 12.016</a:t>
            </a:r>
            <a:endParaRPr lang="en-US" sz="1200" dirty="0"/>
          </a:p>
        </p:txBody>
      </p:sp>
      <p:sp>
        <p:nvSpPr>
          <p:cNvPr id="12" name="Text 9"/>
          <p:cNvSpPr txBox="1"/>
          <p:nvPr/>
        </p:nvSpPr>
        <p:spPr>
          <a:xfrm>
            <a:off x="548640" y="2432304"/>
            <a:ext cx="6766560" cy="228600"/>
          </a:xfrm>
          <a:prstGeom prst="rect">
            <a:avLst/>
          </a:prstGeom>
          <a:noFill/>
          <a:ln/>
        </p:spPr>
        <p:txBody>
          <a:bodyPr wrap="square" lIns="0" tIns="0" rIns="0" bIns="0" rtlCol="0" anchor="t"/>
          <a:lstStyle/>
          <a:p>
            <a:pPr indent="0" marL="0">
              <a:buNone/>
            </a:pPr>
            <a:r>
              <a:rPr lang="en-US" sz="1050" b="1" spc="150" kern="0" dirty="0">
                <a:solidFill>
                  <a:srgbClr val="6E7378"/>
                </a:solidFill>
                <a:latin typeface="Inter" pitchFamily="34" charset="0"/>
                <a:ea typeface="Inter" pitchFamily="34" charset="-122"/>
                <a:cs typeface="Inter" pitchFamily="34" charset="-120"/>
              </a:rPr>
              <a:t>QUIÉN LO COMPRA: LOS TRES TIPOS ENTRAN EN EL PRÉSTAMO Y EN LOS BONOS</a:t>
            </a:r>
            <a:endParaRPr lang="en-US" sz="1050" dirty="0"/>
          </a:p>
        </p:txBody>
      </p:sp>
      <p:sp>
        <p:nvSpPr>
          <p:cNvPr id="13" name="Shape 10"/>
          <p:cNvSpPr/>
          <p:nvPr/>
        </p:nvSpPr>
        <p:spPr>
          <a:xfrm>
            <a:off x="548640" y="2697480"/>
            <a:ext cx="2194560" cy="1828800"/>
          </a:xfrm>
          <a:prstGeom prst="rect">
            <a:avLst>
              <a:gd name="adj" fmla="val 3000"/>
            </a:avLst>
          </a:prstGeom>
          <a:solidFill>
            <a:srgbClr val="FFFFFF"/>
          </a:solidFill>
          <a:ln w="12700">
            <a:solidFill>
              <a:srgbClr val="D9D9D6"/>
            </a:solidFill>
            <a:prstDash val="solid"/>
          </a:ln>
        </p:spPr>
      </p:sp>
      <p:sp>
        <p:nvSpPr>
          <p:cNvPr id="14" name="Shape 11"/>
          <p:cNvSpPr/>
          <p:nvPr/>
        </p:nvSpPr>
        <p:spPr>
          <a:xfrm>
            <a:off x="548640" y="2697480"/>
            <a:ext cx="2194560" cy="54864"/>
          </a:xfrm>
          <a:prstGeom prst="rect">
            <a:avLst/>
          </a:prstGeom>
          <a:solidFill>
            <a:srgbClr val="1F4B3F"/>
          </a:solidFill>
          <a:ln/>
        </p:spPr>
      </p:sp>
      <p:sp>
        <p:nvSpPr>
          <p:cNvPr id="15" name="Text 12"/>
          <p:cNvSpPr txBox="1"/>
          <p:nvPr/>
        </p:nvSpPr>
        <p:spPr>
          <a:xfrm>
            <a:off x="685800" y="2825496"/>
            <a:ext cx="1920240" cy="292608"/>
          </a:xfrm>
          <a:prstGeom prst="rect">
            <a:avLst/>
          </a:prstGeom>
          <a:noFill/>
          <a:ln/>
        </p:spPr>
        <p:txBody>
          <a:bodyPr wrap="square" lIns="0" tIns="0" rIns="0" bIns="0" rtlCol="0" anchor="t"/>
          <a:lstStyle/>
          <a:p>
            <a:pPr indent="0" marL="0">
              <a:buNone/>
            </a:pPr>
            <a:r>
              <a:rPr lang="en-US" sz="1400" b="1" dirty="0">
                <a:solidFill>
                  <a:srgbClr val="1F4B3F"/>
                </a:solidFill>
                <a:latin typeface="Inter" pitchFamily="34" charset="0"/>
                <a:ea typeface="Inter" pitchFamily="34" charset="-122"/>
                <a:cs typeface="Inter" pitchFamily="34" charset="-120"/>
              </a:rPr>
              <a:t>CLOs</a:t>
            </a:r>
            <a:endParaRPr lang="en-US" sz="1400" dirty="0"/>
          </a:p>
        </p:txBody>
      </p:sp>
      <p:sp>
        <p:nvSpPr>
          <p:cNvPr id="16" name="Text 13"/>
          <p:cNvSpPr txBox="1"/>
          <p:nvPr/>
        </p:nvSpPr>
        <p:spPr>
          <a:xfrm>
            <a:off x="685800" y="3099816"/>
            <a:ext cx="1920240" cy="201168"/>
          </a:xfrm>
          <a:prstGeom prst="rect">
            <a:avLst/>
          </a:prstGeom>
          <a:noFill/>
          <a:ln/>
        </p:spPr>
        <p:txBody>
          <a:bodyPr wrap="square" lIns="0" tIns="0" rIns="0" bIns="0" rtlCol="0" anchor="t"/>
          <a:lstStyle/>
          <a:p>
            <a:pPr indent="0" marL="0">
              <a:buNone/>
            </a:pPr>
            <a:r>
              <a:rPr lang="en-US" sz="950" i="1" dirty="0">
                <a:solidFill>
                  <a:srgbClr val="6E7378"/>
                </a:solidFill>
                <a:latin typeface="Inter" pitchFamily="34" charset="0"/>
                <a:ea typeface="Inter" pitchFamily="34" charset="-122"/>
                <a:cs typeface="Inter" pitchFamily="34" charset="-120"/>
              </a:rPr>
              <a:t>Collateralized Loan Obligations</a:t>
            </a:r>
            <a:endParaRPr lang="en-US" sz="950" dirty="0"/>
          </a:p>
        </p:txBody>
      </p:sp>
      <p:sp>
        <p:nvSpPr>
          <p:cNvPr id="17" name="Text 14"/>
          <p:cNvSpPr txBox="1"/>
          <p:nvPr/>
        </p:nvSpPr>
        <p:spPr>
          <a:xfrm>
            <a:off x="685800" y="3337560"/>
            <a:ext cx="1920240" cy="685800"/>
          </a:xfrm>
          <a:prstGeom prst="rect">
            <a:avLst/>
          </a:prstGeom>
          <a:noFill/>
          <a:ln/>
        </p:spPr>
        <p:txBody>
          <a:bodyPr wrap="square" lIns="0" tIns="0" rIns="0" bIns="0" rtlCol="0" anchor="t"/>
          <a:lstStyle/>
          <a:p>
            <a:pPr indent="0" marL="0">
              <a:buNone/>
            </a:pPr>
            <a:r>
              <a:rPr lang="en-US" sz="1100" dirty="0">
                <a:solidFill>
                  <a:srgbClr val="1F2124"/>
                </a:solidFill>
                <a:latin typeface="Inter" pitchFamily="34" charset="0"/>
                <a:ea typeface="Inter" pitchFamily="34" charset="-122"/>
                <a:cs typeface="Inter" pitchFamily="34" charset="-120"/>
              </a:rPr>
              <a:t>Compran préstamos apalancados y se financian con bonos por tramos.</a:t>
            </a:r>
            <a:endParaRPr lang="en-US" sz="1100" dirty="0"/>
          </a:p>
        </p:txBody>
      </p:sp>
      <p:sp>
        <p:nvSpPr>
          <p:cNvPr id="18" name="Text 15"/>
          <p:cNvSpPr txBox="1"/>
          <p:nvPr/>
        </p:nvSpPr>
        <p:spPr>
          <a:xfrm>
            <a:off x="685800" y="4023360"/>
            <a:ext cx="1920240" cy="457200"/>
          </a:xfrm>
          <a:prstGeom prst="rect">
            <a:avLst/>
          </a:prstGeom>
          <a:noFill/>
          <a:ln/>
        </p:spPr>
        <p:txBody>
          <a:bodyPr wrap="square" lIns="0" tIns="0" rIns="0" bIns="0" rtlCol="0" anchor="t"/>
          <a:lstStyle/>
          <a:p>
            <a:pPr indent="0" marL="0">
              <a:buNone/>
            </a:pPr>
            <a:r>
              <a:rPr lang="en-US" sz="1000" b="1" dirty="0">
                <a:solidFill>
                  <a:srgbClr val="1A1D21"/>
                </a:solidFill>
                <a:latin typeface="Inter" pitchFamily="34" charset="0"/>
                <a:ea typeface="Inter" pitchFamily="34" charset="-122"/>
                <a:cs typeface="Inter" pitchFamily="34" charset="-120"/>
              </a:rPr>
              <a:t>Barings · ICG · Alcentra · Carlyle · Ares · Crescent</a:t>
            </a:r>
            <a:endParaRPr lang="en-US" sz="1000" dirty="0"/>
          </a:p>
        </p:txBody>
      </p:sp>
      <p:sp>
        <p:nvSpPr>
          <p:cNvPr id="19" name="Shape 16"/>
          <p:cNvSpPr/>
          <p:nvPr/>
        </p:nvSpPr>
        <p:spPr>
          <a:xfrm>
            <a:off x="2834640" y="2697480"/>
            <a:ext cx="2194560" cy="1828800"/>
          </a:xfrm>
          <a:prstGeom prst="rect">
            <a:avLst>
              <a:gd name="adj" fmla="val 3000"/>
            </a:avLst>
          </a:prstGeom>
          <a:solidFill>
            <a:srgbClr val="FFFFFF"/>
          </a:solidFill>
          <a:ln w="12700">
            <a:solidFill>
              <a:srgbClr val="D9D9D6"/>
            </a:solidFill>
            <a:prstDash val="solid"/>
          </a:ln>
        </p:spPr>
      </p:sp>
      <p:sp>
        <p:nvSpPr>
          <p:cNvPr id="20" name="Shape 17"/>
          <p:cNvSpPr/>
          <p:nvPr/>
        </p:nvSpPr>
        <p:spPr>
          <a:xfrm>
            <a:off x="2834640" y="2697480"/>
            <a:ext cx="2194560" cy="54864"/>
          </a:xfrm>
          <a:prstGeom prst="rect">
            <a:avLst/>
          </a:prstGeom>
          <a:solidFill>
            <a:srgbClr val="1F4B3F"/>
          </a:solidFill>
          <a:ln/>
        </p:spPr>
      </p:sp>
      <p:sp>
        <p:nvSpPr>
          <p:cNvPr id="21" name="Text 18"/>
          <p:cNvSpPr txBox="1"/>
          <p:nvPr/>
        </p:nvSpPr>
        <p:spPr>
          <a:xfrm>
            <a:off x="2971800" y="2825496"/>
            <a:ext cx="1920240" cy="292608"/>
          </a:xfrm>
          <a:prstGeom prst="rect">
            <a:avLst/>
          </a:prstGeom>
          <a:noFill/>
          <a:ln/>
        </p:spPr>
        <p:txBody>
          <a:bodyPr wrap="square" lIns="0" tIns="0" rIns="0" bIns="0" rtlCol="0" anchor="t"/>
          <a:lstStyle/>
          <a:p>
            <a:pPr indent="0" marL="0">
              <a:buNone/>
            </a:pPr>
            <a:r>
              <a:rPr lang="en-US" sz="1400" b="1" dirty="0">
                <a:solidFill>
                  <a:srgbClr val="1F4B3F"/>
                </a:solidFill>
                <a:latin typeface="Inter" pitchFamily="34" charset="0"/>
                <a:ea typeface="Inter" pitchFamily="34" charset="-122"/>
                <a:cs typeface="Inter" pitchFamily="34" charset="-120"/>
              </a:rPr>
              <a:t>Direct lenders</a:t>
            </a:r>
            <a:endParaRPr lang="en-US" sz="1400" dirty="0"/>
          </a:p>
        </p:txBody>
      </p:sp>
      <p:sp>
        <p:nvSpPr>
          <p:cNvPr id="22" name="Text 19"/>
          <p:cNvSpPr txBox="1"/>
          <p:nvPr/>
        </p:nvSpPr>
        <p:spPr>
          <a:xfrm>
            <a:off x="2971800" y="3154680"/>
            <a:ext cx="1920240" cy="685800"/>
          </a:xfrm>
          <a:prstGeom prst="rect">
            <a:avLst/>
          </a:prstGeom>
          <a:noFill/>
          <a:ln/>
        </p:spPr>
        <p:txBody>
          <a:bodyPr wrap="square" lIns="0" tIns="0" rIns="0" bIns="0" rtlCol="0" anchor="t"/>
          <a:lstStyle/>
          <a:p>
            <a:pPr indent="0" marL="0">
              <a:buNone/>
            </a:pPr>
            <a:r>
              <a:rPr lang="en-US" sz="1100" dirty="0">
                <a:solidFill>
                  <a:srgbClr val="1F2124"/>
                </a:solidFill>
                <a:latin typeface="Inter" pitchFamily="34" charset="0"/>
                <a:ea typeface="Inter" pitchFamily="34" charset="-122"/>
                <a:cs typeface="Inter" pitchFamily="34" charset="-120"/>
              </a:rPr>
              <a:t>Fondos de deuda privada que prestan directamente y mantienen el préstamo hasta su vencimiento.</a:t>
            </a:r>
            <a:endParaRPr lang="en-US" sz="1100" dirty="0"/>
          </a:p>
        </p:txBody>
      </p:sp>
      <p:sp>
        <p:nvSpPr>
          <p:cNvPr id="23" name="Text 20"/>
          <p:cNvSpPr txBox="1"/>
          <p:nvPr/>
        </p:nvSpPr>
        <p:spPr>
          <a:xfrm>
            <a:off x="2971800" y="4023360"/>
            <a:ext cx="1920240" cy="457200"/>
          </a:xfrm>
          <a:prstGeom prst="rect">
            <a:avLst/>
          </a:prstGeom>
          <a:noFill/>
          <a:ln/>
        </p:spPr>
        <p:txBody>
          <a:bodyPr wrap="square" lIns="0" tIns="0" rIns="0" bIns="0" rtlCol="0" anchor="t"/>
          <a:lstStyle/>
          <a:p>
            <a:pPr indent="0" marL="0">
              <a:buNone/>
            </a:pPr>
            <a:r>
              <a:rPr lang="en-US" sz="1000" b="1" dirty="0">
                <a:solidFill>
                  <a:srgbClr val="1A1D21"/>
                </a:solidFill>
                <a:latin typeface="Inter" pitchFamily="34" charset="0"/>
                <a:ea typeface="Inter" pitchFamily="34" charset="-122"/>
                <a:cs typeface="Inter" pitchFamily="34" charset="-120"/>
              </a:rPr>
              <a:t>Tikehau · Hayfin · Muzinich · Pemberton · Kartesia</a:t>
            </a:r>
            <a:endParaRPr lang="en-US" sz="1000" dirty="0"/>
          </a:p>
        </p:txBody>
      </p:sp>
      <p:sp>
        <p:nvSpPr>
          <p:cNvPr id="24" name="Shape 21"/>
          <p:cNvSpPr/>
          <p:nvPr/>
        </p:nvSpPr>
        <p:spPr>
          <a:xfrm>
            <a:off x="5120640" y="2697480"/>
            <a:ext cx="2194560" cy="1828800"/>
          </a:xfrm>
          <a:prstGeom prst="rect">
            <a:avLst>
              <a:gd name="adj" fmla="val 3000"/>
            </a:avLst>
          </a:prstGeom>
          <a:solidFill>
            <a:srgbClr val="FFFFFF"/>
          </a:solidFill>
          <a:ln w="12700">
            <a:solidFill>
              <a:srgbClr val="D9D9D6"/>
            </a:solidFill>
            <a:prstDash val="solid"/>
          </a:ln>
        </p:spPr>
      </p:sp>
      <p:sp>
        <p:nvSpPr>
          <p:cNvPr id="25" name="Shape 22"/>
          <p:cNvSpPr/>
          <p:nvPr/>
        </p:nvSpPr>
        <p:spPr>
          <a:xfrm>
            <a:off x="5120640" y="2697480"/>
            <a:ext cx="2194560" cy="54864"/>
          </a:xfrm>
          <a:prstGeom prst="rect">
            <a:avLst/>
          </a:prstGeom>
          <a:solidFill>
            <a:srgbClr val="1F4B3F"/>
          </a:solidFill>
          <a:ln/>
        </p:spPr>
      </p:sp>
      <p:sp>
        <p:nvSpPr>
          <p:cNvPr id="26" name="Text 23"/>
          <p:cNvSpPr txBox="1"/>
          <p:nvPr/>
        </p:nvSpPr>
        <p:spPr>
          <a:xfrm>
            <a:off x="5257800" y="2825496"/>
            <a:ext cx="1920240" cy="292608"/>
          </a:xfrm>
          <a:prstGeom prst="rect">
            <a:avLst/>
          </a:prstGeom>
          <a:noFill/>
          <a:ln/>
        </p:spPr>
        <p:txBody>
          <a:bodyPr wrap="square" lIns="0" tIns="0" rIns="0" bIns="0" rtlCol="0" anchor="t"/>
          <a:lstStyle/>
          <a:p>
            <a:pPr indent="0" marL="0">
              <a:buNone/>
            </a:pPr>
            <a:r>
              <a:rPr lang="en-US" sz="1400" b="1" dirty="0">
                <a:solidFill>
                  <a:srgbClr val="1F4B3F"/>
                </a:solidFill>
                <a:latin typeface="Inter" pitchFamily="34" charset="0"/>
                <a:ea typeface="Inter" pitchFamily="34" charset="-122"/>
                <a:cs typeface="Inter" pitchFamily="34" charset="-120"/>
              </a:rPr>
              <a:t>Real money</a:t>
            </a:r>
            <a:endParaRPr lang="en-US" sz="1400" dirty="0"/>
          </a:p>
        </p:txBody>
      </p:sp>
      <p:sp>
        <p:nvSpPr>
          <p:cNvPr id="27" name="Text 24"/>
          <p:cNvSpPr txBox="1"/>
          <p:nvPr/>
        </p:nvSpPr>
        <p:spPr>
          <a:xfrm>
            <a:off x="5257800" y="3154680"/>
            <a:ext cx="1920240" cy="685800"/>
          </a:xfrm>
          <a:prstGeom prst="rect">
            <a:avLst/>
          </a:prstGeom>
          <a:noFill/>
          <a:ln/>
        </p:spPr>
        <p:txBody>
          <a:bodyPr wrap="square" lIns="0" tIns="0" rIns="0" bIns="0" rtlCol="0" anchor="t"/>
          <a:lstStyle/>
          <a:p>
            <a:pPr indent="0" marL="0">
              <a:buNone/>
            </a:pPr>
            <a:r>
              <a:rPr lang="en-US" sz="1100" dirty="0">
                <a:solidFill>
                  <a:srgbClr val="1F2124"/>
                </a:solidFill>
                <a:latin typeface="Inter" pitchFamily="34" charset="0"/>
                <a:ea typeface="Inter" pitchFamily="34" charset="-122"/>
                <a:cs typeface="Inter" pitchFamily="34" charset="-120"/>
              </a:rPr>
              <a:t>Gestoras, aseguradoras y fondos de pensiones que invierten a largo plazo, en préstamo y bonos.</a:t>
            </a:r>
            <a:endParaRPr lang="en-US" sz="1100" dirty="0"/>
          </a:p>
        </p:txBody>
      </p:sp>
      <p:sp>
        <p:nvSpPr>
          <p:cNvPr id="28" name="Text 25"/>
          <p:cNvSpPr txBox="1"/>
          <p:nvPr/>
        </p:nvSpPr>
        <p:spPr>
          <a:xfrm>
            <a:off x="5257800" y="4023360"/>
            <a:ext cx="1920240" cy="457200"/>
          </a:xfrm>
          <a:prstGeom prst="rect">
            <a:avLst/>
          </a:prstGeom>
          <a:noFill/>
          <a:ln/>
        </p:spPr>
        <p:txBody>
          <a:bodyPr wrap="square" lIns="0" tIns="0" rIns="0" bIns="0" rtlCol="0" anchor="t"/>
          <a:lstStyle/>
          <a:p>
            <a:pPr indent="0" marL="0">
              <a:buNone/>
            </a:pPr>
            <a:r>
              <a:rPr lang="en-US" sz="1000" b="1" dirty="0">
                <a:solidFill>
                  <a:srgbClr val="1A1D21"/>
                </a:solidFill>
                <a:latin typeface="Inter" pitchFamily="34" charset="0"/>
                <a:ea typeface="Inter" pitchFamily="34" charset="-122"/>
                <a:cs typeface="Inter" pitchFamily="34" charset="-120"/>
              </a:rPr>
              <a:t>BlackRock · Amundi · Schroders · Aviva · MEAG · CDPQ · CPP</a:t>
            </a:r>
            <a:endParaRPr lang="en-US" sz="1000" dirty="0"/>
          </a:p>
        </p:txBody>
      </p:sp>
      <p:sp>
        <p:nvSpPr>
          <p:cNvPr id="29" name="Shape 26"/>
          <p:cNvSpPr/>
          <p:nvPr/>
        </p:nvSpPr>
        <p:spPr>
          <a:xfrm>
            <a:off x="548640" y="4681728"/>
            <a:ext cx="6766560" cy="1490472"/>
          </a:xfrm>
          <a:prstGeom prst="rect">
            <a:avLst>
              <a:gd name="adj" fmla="val 3681"/>
            </a:avLst>
          </a:prstGeom>
          <a:solidFill>
            <a:srgbClr val="1A1D21"/>
          </a:solidFill>
          <a:ln/>
        </p:spPr>
      </p:sp>
      <p:sp>
        <p:nvSpPr>
          <p:cNvPr id="30" name="Text 27"/>
          <p:cNvSpPr txBox="1"/>
          <p:nvPr/>
        </p:nvSpPr>
        <p:spPr>
          <a:xfrm>
            <a:off x="749808" y="4773168"/>
            <a:ext cx="6400800" cy="274320"/>
          </a:xfrm>
          <a:prstGeom prst="rect">
            <a:avLst/>
          </a:prstGeom>
          <a:noFill/>
          <a:ln/>
        </p:spPr>
        <p:txBody>
          <a:bodyPr wrap="square" lIns="0" tIns="0" rIns="0" bIns="0" rtlCol="0" anchor="t"/>
          <a:lstStyle/>
          <a:p>
            <a:pPr indent="0" marL="0">
              <a:buNone/>
            </a:pPr>
            <a:r>
              <a:rPr lang="en-US" sz="1350" b="1" dirty="0">
                <a:solidFill>
                  <a:srgbClr val="A8C9B8"/>
                </a:solidFill>
                <a:latin typeface="Inter" pitchFamily="34" charset="0"/>
                <a:ea typeface="Inter" pitchFamily="34" charset="-122"/>
                <a:cs typeface="Inter" pitchFamily="34" charset="-120"/>
              </a:rPr>
              <a:t>Bonos high yield senior secured · €12.016m</a:t>
            </a:r>
            <a:endParaRPr lang="en-US" sz="1350" dirty="0"/>
          </a:p>
        </p:txBody>
      </p:sp>
      <p:sp>
        <p:nvSpPr>
          <p:cNvPr id="31" name="Text 28"/>
          <p:cNvSpPr txBox="1"/>
          <p:nvPr/>
        </p:nvSpPr>
        <p:spPr>
          <a:xfrm>
            <a:off x="749808" y="5102352"/>
            <a:ext cx="3108960" cy="502920"/>
          </a:xfrm>
          <a:prstGeom prst="rect">
            <a:avLst/>
          </a:prstGeom>
          <a:noFill/>
          <a:ln/>
        </p:spPr>
        <p:txBody>
          <a:bodyPr wrap="square" lIns="0" tIns="0" rIns="0" bIns="0" rtlCol="0" anchor="t"/>
          <a:lstStyle/>
          <a:p>
            <a:pPr indent="0" marL="0">
              <a:buNone/>
            </a:pPr>
            <a:r>
              <a:rPr lang="en-US" sz="1100" b="1" dirty="0">
                <a:solidFill>
                  <a:srgbClr val="FFFFFF"/>
                </a:solidFill>
                <a:latin typeface="Inter" pitchFamily="34" charset="0"/>
                <a:ea typeface="Inter" pitchFamily="34" charset="-122"/>
                <a:cs typeface="Inter" pitchFamily="34" charset="-120"/>
              </a:rPr>
              <a:t>Términos: </a:t>
            </a:r>
            <a:pPr indent="0" marL="0">
              <a:buNone/>
            </a:pPr>
            <a:r>
              <a:rPr lang="en-US" sz="1100" dirty="0">
                <a:solidFill>
                  <a:srgbClr val="D9D9D6"/>
                </a:solidFill>
                <a:latin typeface="Inter" pitchFamily="34" charset="0"/>
                <a:ea typeface="Inter" pitchFamily="34" charset="-122"/>
                <a:cs typeface="Inter" pitchFamily="34" charset="-120"/>
              </a:rPr>
              <a:t>7–8 años, cupón fijo y mismo rango y garantías que el TLB.</a:t>
            </a:r>
            <a:endParaRPr lang="en-US" sz="1100" dirty="0"/>
          </a:p>
        </p:txBody>
      </p:sp>
      <p:sp>
        <p:nvSpPr>
          <p:cNvPr id="32" name="Text 29"/>
          <p:cNvSpPr txBox="1"/>
          <p:nvPr/>
        </p:nvSpPr>
        <p:spPr>
          <a:xfrm>
            <a:off x="3995928" y="5102352"/>
            <a:ext cx="3108960" cy="502920"/>
          </a:xfrm>
          <a:prstGeom prst="rect">
            <a:avLst/>
          </a:prstGeom>
          <a:noFill/>
          <a:ln/>
        </p:spPr>
        <p:txBody>
          <a:bodyPr wrap="square" lIns="0" tIns="0" rIns="0" bIns="0" rtlCol="0" anchor="t"/>
          <a:lstStyle/>
          <a:p>
            <a:pPr indent="0" marL="0">
              <a:buNone/>
            </a:pPr>
            <a:r>
              <a:rPr lang="en-US" sz="1100" b="1" dirty="0">
                <a:solidFill>
                  <a:srgbClr val="FFFFFF"/>
                </a:solidFill>
                <a:latin typeface="Inter" pitchFamily="34" charset="0"/>
                <a:ea typeface="Inter" pitchFamily="34" charset="-122"/>
                <a:cs typeface="Inter" pitchFamily="34" charset="-120"/>
              </a:rPr>
              <a:t>Colocación: </a:t>
            </a:r>
            <a:pPr indent="0" marL="0">
              <a:buNone/>
            </a:pPr>
            <a:r>
              <a:rPr lang="en-US" sz="1100" dirty="0">
                <a:solidFill>
                  <a:srgbClr val="D9D9D6"/>
                </a:solidFill>
                <a:latin typeface="Inter" pitchFamily="34" charset="0"/>
                <a:ea typeface="Inter" pitchFamily="34" charset="-122"/>
                <a:cs typeface="Inter" pitchFamily="34" charset="-120"/>
              </a:rPr>
              <a:t>los 4 global coordinators como bookrunners; refinancian parte del TLB.</a:t>
            </a:r>
            <a:endParaRPr lang="en-US" sz="1100" dirty="0"/>
          </a:p>
        </p:txBody>
      </p:sp>
      <p:sp>
        <p:nvSpPr>
          <p:cNvPr id="33" name="Text 30"/>
          <p:cNvSpPr txBox="1"/>
          <p:nvPr/>
        </p:nvSpPr>
        <p:spPr>
          <a:xfrm>
            <a:off x="749808" y="5632704"/>
            <a:ext cx="3108960" cy="502920"/>
          </a:xfrm>
          <a:prstGeom prst="rect">
            <a:avLst/>
          </a:prstGeom>
          <a:noFill/>
          <a:ln/>
        </p:spPr>
        <p:txBody>
          <a:bodyPr wrap="square" lIns="0" tIns="0" rIns="0" bIns="0" rtlCol="0" anchor="t"/>
          <a:lstStyle/>
          <a:p>
            <a:pPr indent="0" marL="0">
              <a:buNone/>
            </a:pPr>
            <a:r>
              <a:rPr lang="en-US" sz="1100" b="1" dirty="0">
                <a:solidFill>
                  <a:srgbClr val="FFFFFF"/>
                </a:solidFill>
                <a:latin typeface="Inter" pitchFamily="34" charset="0"/>
                <a:ea typeface="Inter" pitchFamily="34" charset="-122"/>
                <a:cs typeface="Inter" pitchFamily="34" charset="-120"/>
              </a:rPr>
              <a:t>Ventaja: </a:t>
            </a:r>
            <a:pPr indent="0" marL="0">
              <a:buNone/>
            </a:pPr>
            <a:r>
              <a:rPr lang="en-US" sz="1100" dirty="0">
                <a:solidFill>
                  <a:srgbClr val="D9D9D6"/>
                </a:solidFill>
                <a:latin typeface="Inter" pitchFamily="34" charset="0"/>
                <a:ea typeface="Inter" pitchFamily="34" charset="-122"/>
                <a:cs typeface="Inter" pitchFamily="34" charset="-120"/>
              </a:rPr>
              <a:t>fija el tipo de interés y abre el mercado de bonos, más profundo.</a:t>
            </a:r>
            <a:endParaRPr lang="en-US" sz="1100" dirty="0"/>
          </a:p>
        </p:txBody>
      </p:sp>
      <p:sp>
        <p:nvSpPr>
          <p:cNvPr id="34" name="Text 31"/>
          <p:cNvSpPr txBox="1"/>
          <p:nvPr/>
        </p:nvSpPr>
        <p:spPr>
          <a:xfrm>
            <a:off x="3995928" y="5632704"/>
            <a:ext cx="3108960" cy="502920"/>
          </a:xfrm>
          <a:prstGeom prst="rect">
            <a:avLst/>
          </a:prstGeom>
          <a:noFill/>
          <a:ln/>
        </p:spPr>
        <p:txBody>
          <a:bodyPr wrap="square" lIns="0" tIns="0" rIns="0" bIns="0" rtlCol="0" anchor="t"/>
          <a:lstStyle/>
          <a:p>
            <a:pPr indent="0" marL="0">
              <a:buNone/>
            </a:pPr>
            <a:r>
              <a:rPr lang="en-US" sz="1100" b="1" dirty="0">
                <a:solidFill>
                  <a:srgbClr val="FFFFFF"/>
                </a:solidFill>
                <a:latin typeface="Inter" pitchFamily="34" charset="0"/>
                <a:ea typeface="Inter" pitchFamily="34" charset="-122"/>
                <a:cs typeface="Inter" pitchFamily="34" charset="-120"/>
              </a:rPr>
              <a:t>Contrapartida: </a:t>
            </a:r>
            <a:pPr indent="0" marL="0">
              <a:buNone/>
            </a:pPr>
            <a:r>
              <a:rPr lang="en-US" sz="1100" dirty="0">
                <a:solidFill>
                  <a:srgbClr val="D9D9D6"/>
                </a:solidFill>
                <a:latin typeface="Inter" pitchFamily="34" charset="0"/>
                <a:ea typeface="Inter" pitchFamily="34" charset="-122"/>
                <a:cs typeface="Inter" pitchFamily="34" charset="-120"/>
              </a:rPr>
              <a:t>no se amortizan antes de tiempo; el sweep va a los préstamos.</a:t>
            </a:r>
            <a:endParaRPr lang="en-US" sz="1100" dirty="0"/>
          </a:p>
        </p:txBody>
      </p:sp>
      <p:sp>
        <p:nvSpPr>
          <p:cNvPr id="35" name="Shape 32"/>
          <p:cNvSpPr/>
          <p:nvPr/>
        </p:nvSpPr>
        <p:spPr>
          <a:xfrm>
            <a:off x="7543800" y="1572768"/>
            <a:ext cx="4096512" cy="4599432"/>
          </a:xfrm>
          <a:prstGeom prst="rect">
            <a:avLst>
              <a:gd name="adj" fmla="val 1339"/>
            </a:avLst>
          </a:prstGeom>
          <a:solidFill>
            <a:srgbClr val="F3F3F2"/>
          </a:solidFill>
          <a:ln/>
        </p:spPr>
      </p:sp>
      <p:sp>
        <p:nvSpPr>
          <p:cNvPr id="36" name="Shape 33"/>
          <p:cNvSpPr/>
          <p:nvPr/>
        </p:nvSpPr>
        <p:spPr>
          <a:xfrm>
            <a:off x="7543800" y="1572768"/>
            <a:ext cx="64008" cy="4599432"/>
          </a:xfrm>
          <a:prstGeom prst="rect">
            <a:avLst/>
          </a:prstGeom>
          <a:solidFill>
            <a:srgbClr val="1F4B3F"/>
          </a:solidFill>
          <a:ln/>
        </p:spPr>
      </p:sp>
      <p:sp>
        <p:nvSpPr>
          <p:cNvPr id="37" name="Text 34"/>
          <p:cNvSpPr txBox="1"/>
          <p:nvPr/>
        </p:nvSpPr>
        <p:spPr>
          <a:xfrm>
            <a:off x="7790688" y="1700784"/>
            <a:ext cx="3749040" cy="365760"/>
          </a:xfrm>
          <a:prstGeom prst="rect">
            <a:avLst/>
          </a:prstGeom>
          <a:noFill/>
          <a:ln/>
        </p:spPr>
        <p:txBody>
          <a:bodyPr wrap="square" lIns="0" tIns="0" rIns="0" bIns="0" rtlCol="0" anchor="t"/>
          <a:lstStyle/>
          <a:p>
            <a:pPr indent="0" marL="0">
              <a:buNone/>
            </a:pPr>
            <a:r>
              <a:rPr lang="en-US" sz="1800" b="1" dirty="0">
                <a:solidFill>
                  <a:srgbClr val="1A1D21"/>
                </a:solidFill>
                <a:latin typeface="Lora" pitchFamily="34" charset="0"/>
                <a:ea typeface="Lora" pitchFamily="34" charset="-122"/>
                <a:cs typeface="Lora" pitchFamily="34" charset="-120"/>
              </a:rPr>
              <a:t>Mezzanine · €14.150m</a:t>
            </a:r>
            <a:endParaRPr lang="en-US" sz="1800" dirty="0"/>
          </a:p>
        </p:txBody>
      </p:sp>
      <p:sp>
        <p:nvSpPr>
          <p:cNvPr id="38" name="Text 35"/>
          <p:cNvSpPr txBox="1"/>
          <p:nvPr/>
        </p:nvSpPr>
        <p:spPr>
          <a:xfrm>
            <a:off x="7790688" y="2103120"/>
            <a:ext cx="3749040" cy="274320"/>
          </a:xfrm>
          <a:prstGeom prst="rect">
            <a:avLst/>
          </a:prstGeom>
          <a:noFill/>
          <a:ln/>
        </p:spPr>
        <p:txBody>
          <a:bodyPr wrap="square" lIns="0" tIns="0" rIns="0" bIns="0" rtlCol="0" anchor="t"/>
          <a:lstStyle/>
          <a:p>
            <a:pPr indent="0" marL="0">
              <a:buNone/>
            </a:pPr>
            <a:r>
              <a:rPr lang="en-US" sz="1250" b="1" dirty="0">
                <a:solidFill>
                  <a:srgbClr val="1F4B3F"/>
                </a:solidFill>
                <a:latin typeface="Inter" pitchFamily="34" charset="0"/>
                <a:ea typeface="Inter" pitchFamily="34" charset="-122"/>
                <a:cs typeface="Inter" pitchFamily="34" charset="-120"/>
              </a:rPr>
              <a:t>10,5% PIK · bullet a 7,5 años · en la MidCo</a:t>
            </a:r>
            <a:endParaRPr lang="en-US" sz="1250" dirty="0"/>
          </a:p>
        </p:txBody>
      </p:sp>
      <p:sp>
        <p:nvSpPr>
          <p:cNvPr id="39" name="Text 36"/>
          <p:cNvSpPr txBox="1"/>
          <p:nvPr/>
        </p:nvSpPr>
        <p:spPr>
          <a:xfrm>
            <a:off x="7790688" y="2432304"/>
            <a:ext cx="3703320" cy="566928"/>
          </a:xfrm>
          <a:prstGeom prst="rect">
            <a:avLst/>
          </a:prstGeom>
          <a:noFill/>
          <a:ln/>
        </p:spPr>
        <p:txBody>
          <a:bodyPr wrap="square" lIns="0" tIns="0" rIns="0" bIns="0" rtlCol="0" anchor="t"/>
          <a:lstStyle/>
          <a:p>
            <a:pPr indent="0" marL="0">
              <a:buNone/>
            </a:pPr>
            <a:r>
              <a:rPr lang="en-US" sz="1200" dirty="0">
                <a:solidFill>
                  <a:srgbClr val="1F2124"/>
                </a:solidFill>
                <a:latin typeface="Inter" pitchFamily="34" charset="0"/>
                <a:ea typeface="Inter" pitchFamily="34" charset="-122"/>
                <a:cs typeface="Inter" pitchFamily="34" charset="-120"/>
              </a:rPr>
              <a:t>Club de 9 fondos de crédito privado: tramo caro y subordinado, se negocia directamente, sin sindicar.</a:t>
            </a:r>
            <a:endParaRPr lang="en-US" sz="1200" dirty="0"/>
          </a:p>
        </p:txBody>
      </p:sp>
      <p:sp>
        <p:nvSpPr>
          <p:cNvPr id="40" name="Text 37"/>
          <p:cNvSpPr txBox="1"/>
          <p:nvPr/>
        </p:nvSpPr>
        <p:spPr>
          <a:xfrm>
            <a:off x="7790688" y="3154680"/>
            <a:ext cx="1600200" cy="292608"/>
          </a:xfrm>
          <a:prstGeom prst="rect">
            <a:avLst/>
          </a:prstGeom>
          <a:noFill/>
          <a:ln/>
        </p:spPr>
        <p:txBody>
          <a:bodyPr wrap="square" lIns="0" tIns="0" rIns="0" bIns="0" rtlCol="0" anchor="ctr"/>
          <a:lstStyle/>
          <a:p>
            <a:pPr indent="0" marL="0">
              <a:buNone/>
            </a:pPr>
            <a:r>
              <a:rPr lang="en-US" sz="1200" b="1" dirty="0">
                <a:solidFill>
                  <a:srgbClr val="1F2124"/>
                </a:solidFill>
                <a:latin typeface="Inter" pitchFamily="34" charset="0"/>
                <a:ea typeface="Inter" pitchFamily="34" charset="-122"/>
                <a:cs typeface="Inter" pitchFamily="34" charset="-120"/>
              </a:rPr>
              <a:t>Apollo</a:t>
            </a:r>
            <a:endParaRPr lang="en-US" sz="1200" dirty="0"/>
          </a:p>
        </p:txBody>
      </p:sp>
      <p:sp>
        <p:nvSpPr>
          <p:cNvPr id="41" name="Shape 38"/>
          <p:cNvSpPr/>
          <p:nvPr/>
        </p:nvSpPr>
        <p:spPr>
          <a:xfrm>
            <a:off x="9418320" y="3218688"/>
            <a:ext cx="1508760" cy="164592"/>
          </a:xfrm>
          <a:prstGeom prst="rect">
            <a:avLst/>
          </a:prstGeom>
          <a:solidFill>
            <a:srgbClr val="1F4B3F"/>
          </a:solidFill>
          <a:ln/>
        </p:spPr>
      </p:sp>
      <p:sp>
        <p:nvSpPr>
          <p:cNvPr id="42" name="Text 39"/>
          <p:cNvSpPr txBox="1"/>
          <p:nvPr/>
        </p:nvSpPr>
        <p:spPr>
          <a:xfrm>
            <a:off x="10981944" y="3154680"/>
            <a:ext cx="566928" cy="292608"/>
          </a:xfrm>
          <a:prstGeom prst="rect">
            <a:avLst/>
          </a:prstGeom>
          <a:noFill/>
          <a:ln/>
        </p:spPr>
        <p:txBody>
          <a:bodyPr wrap="square" lIns="0" tIns="0" rIns="0" bIns="0" rtlCol="0" anchor="ctr"/>
          <a:lstStyle/>
          <a:p>
            <a:pPr indent="0" marL="0">
              <a:buNone/>
            </a:pPr>
            <a:r>
              <a:rPr lang="en-US" sz="1200" dirty="0">
                <a:solidFill>
                  <a:srgbClr val="1F2124"/>
                </a:solidFill>
                <a:latin typeface="Inter" pitchFamily="34" charset="0"/>
                <a:ea typeface="Inter" pitchFamily="34" charset="-122"/>
                <a:cs typeface="Inter" pitchFamily="34" charset="-120"/>
              </a:rPr>
              <a:t>2.000</a:t>
            </a:r>
            <a:endParaRPr lang="en-US" sz="1200" dirty="0"/>
          </a:p>
        </p:txBody>
      </p:sp>
      <p:sp>
        <p:nvSpPr>
          <p:cNvPr id="43" name="Text 40"/>
          <p:cNvSpPr txBox="1"/>
          <p:nvPr/>
        </p:nvSpPr>
        <p:spPr>
          <a:xfrm>
            <a:off x="7790688" y="3483864"/>
            <a:ext cx="1600200" cy="292608"/>
          </a:xfrm>
          <a:prstGeom prst="rect">
            <a:avLst/>
          </a:prstGeom>
          <a:noFill/>
          <a:ln/>
        </p:spPr>
        <p:txBody>
          <a:bodyPr wrap="square" lIns="0" tIns="0" rIns="0" bIns="0" rtlCol="0" anchor="ctr"/>
          <a:lstStyle/>
          <a:p>
            <a:pPr indent="0" marL="0">
              <a:buNone/>
            </a:pPr>
            <a:r>
              <a:rPr lang="en-US" sz="1200" b="1" dirty="0">
                <a:solidFill>
                  <a:srgbClr val="1F2124"/>
                </a:solidFill>
                <a:latin typeface="Inter" pitchFamily="34" charset="0"/>
                <a:ea typeface="Inter" pitchFamily="34" charset="-122"/>
                <a:cs typeface="Inter" pitchFamily="34" charset="-120"/>
              </a:rPr>
              <a:t>Blackstone Credit</a:t>
            </a:r>
            <a:endParaRPr lang="en-US" sz="1200" dirty="0"/>
          </a:p>
        </p:txBody>
      </p:sp>
      <p:sp>
        <p:nvSpPr>
          <p:cNvPr id="44" name="Shape 41"/>
          <p:cNvSpPr/>
          <p:nvPr/>
        </p:nvSpPr>
        <p:spPr>
          <a:xfrm>
            <a:off x="9418320" y="3547872"/>
            <a:ext cx="1508760" cy="164592"/>
          </a:xfrm>
          <a:prstGeom prst="rect">
            <a:avLst/>
          </a:prstGeom>
          <a:solidFill>
            <a:srgbClr val="1F4B3F"/>
          </a:solidFill>
          <a:ln/>
        </p:spPr>
      </p:sp>
      <p:sp>
        <p:nvSpPr>
          <p:cNvPr id="45" name="Text 42"/>
          <p:cNvSpPr txBox="1"/>
          <p:nvPr/>
        </p:nvSpPr>
        <p:spPr>
          <a:xfrm>
            <a:off x="10981944" y="3483864"/>
            <a:ext cx="566928" cy="292608"/>
          </a:xfrm>
          <a:prstGeom prst="rect">
            <a:avLst/>
          </a:prstGeom>
          <a:noFill/>
          <a:ln/>
        </p:spPr>
        <p:txBody>
          <a:bodyPr wrap="square" lIns="0" tIns="0" rIns="0" bIns="0" rtlCol="0" anchor="ctr"/>
          <a:lstStyle/>
          <a:p>
            <a:pPr indent="0" marL="0">
              <a:buNone/>
            </a:pPr>
            <a:r>
              <a:rPr lang="en-US" sz="1200" dirty="0">
                <a:solidFill>
                  <a:srgbClr val="1F2124"/>
                </a:solidFill>
                <a:latin typeface="Inter" pitchFamily="34" charset="0"/>
                <a:ea typeface="Inter" pitchFamily="34" charset="-122"/>
                <a:cs typeface="Inter" pitchFamily="34" charset="-120"/>
              </a:rPr>
              <a:t>2.000</a:t>
            </a:r>
            <a:endParaRPr lang="en-US" sz="1200" dirty="0"/>
          </a:p>
        </p:txBody>
      </p:sp>
      <p:sp>
        <p:nvSpPr>
          <p:cNvPr id="46" name="Text 43"/>
          <p:cNvSpPr txBox="1"/>
          <p:nvPr/>
        </p:nvSpPr>
        <p:spPr>
          <a:xfrm>
            <a:off x="7790688" y="3813048"/>
            <a:ext cx="1600200" cy="292608"/>
          </a:xfrm>
          <a:prstGeom prst="rect">
            <a:avLst/>
          </a:prstGeom>
          <a:noFill/>
          <a:ln/>
        </p:spPr>
        <p:txBody>
          <a:bodyPr wrap="square" lIns="0" tIns="0" rIns="0" bIns="0" rtlCol="0" anchor="ctr"/>
          <a:lstStyle/>
          <a:p>
            <a:pPr indent="0" marL="0">
              <a:buNone/>
            </a:pPr>
            <a:r>
              <a:rPr lang="en-US" sz="1200" b="1" dirty="0">
                <a:solidFill>
                  <a:srgbClr val="1F2124"/>
                </a:solidFill>
                <a:latin typeface="Inter" pitchFamily="34" charset="0"/>
                <a:ea typeface="Inter" pitchFamily="34" charset="-122"/>
                <a:cs typeface="Inter" pitchFamily="34" charset="-120"/>
              </a:rPr>
              <a:t>HPS</a:t>
            </a:r>
            <a:endParaRPr lang="en-US" sz="1200" dirty="0"/>
          </a:p>
        </p:txBody>
      </p:sp>
      <p:sp>
        <p:nvSpPr>
          <p:cNvPr id="47" name="Shape 44"/>
          <p:cNvSpPr/>
          <p:nvPr/>
        </p:nvSpPr>
        <p:spPr>
          <a:xfrm>
            <a:off x="9418320" y="3877056"/>
            <a:ext cx="1508760" cy="164592"/>
          </a:xfrm>
          <a:prstGeom prst="rect">
            <a:avLst/>
          </a:prstGeom>
          <a:solidFill>
            <a:srgbClr val="1F4B3F"/>
          </a:solidFill>
          <a:ln/>
        </p:spPr>
      </p:sp>
      <p:sp>
        <p:nvSpPr>
          <p:cNvPr id="48" name="Text 45"/>
          <p:cNvSpPr txBox="1"/>
          <p:nvPr/>
        </p:nvSpPr>
        <p:spPr>
          <a:xfrm>
            <a:off x="10981944" y="3813048"/>
            <a:ext cx="566928" cy="292608"/>
          </a:xfrm>
          <a:prstGeom prst="rect">
            <a:avLst/>
          </a:prstGeom>
          <a:noFill/>
          <a:ln/>
        </p:spPr>
        <p:txBody>
          <a:bodyPr wrap="square" lIns="0" tIns="0" rIns="0" bIns="0" rtlCol="0" anchor="ctr"/>
          <a:lstStyle/>
          <a:p>
            <a:pPr indent="0" marL="0">
              <a:buNone/>
            </a:pPr>
            <a:r>
              <a:rPr lang="en-US" sz="1200" dirty="0">
                <a:solidFill>
                  <a:srgbClr val="1F2124"/>
                </a:solidFill>
                <a:latin typeface="Inter" pitchFamily="34" charset="0"/>
                <a:ea typeface="Inter" pitchFamily="34" charset="-122"/>
                <a:cs typeface="Inter" pitchFamily="34" charset="-120"/>
              </a:rPr>
              <a:t>2.000</a:t>
            </a:r>
            <a:endParaRPr lang="en-US" sz="1200" dirty="0"/>
          </a:p>
        </p:txBody>
      </p:sp>
      <p:sp>
        <p:nvSpPr>
          <p:cNvPr id="49" name="Text 46"/>
          <p:cNvSpPr txBox="1"/>
          <p:nvPr/>
        </p:nvSpPr>
        <p:spPr>
          <a:xfrm>
            <a:off x="7790688" y="4142232"/>
            <a:ext cx="1600200" cy="292608"/>
          </a:xfrm>
          <a:prstGeom prst="rect">
            <a:avLst/>
          </a:prstGeom>
          <a:noFill/>
          <a:ln/>
        </p:spPr>
        <p:txBody>
          <a:bodyPr wrap="square" lIns="0" tIns="0" rIns="0" bIns="0" rtlCol="0" anchor="ctr"/>
          <a:lstStyle/>
          <a:p>
            <a:pPr indent="0" marL="0">
              <a:buNone/>
            </a:pPr>
            <a:r>
              <a:rPr lang="en-US" sz="1200" b="1" dirty="0">
                <a:solidFill>
                  <a:srgbClr val="1F2124"/>
                </a:solidFill>
                <a:latin typeface="Inter" pitchFamily="34" charset="0"/>
                <a:ea typeface="Inter" pitchFamily="34" charset="-122"/>
                <a:cs typeface="Inter" pitchFamily="34" charset="-120"/>
              </a:rPr>
              <a:t>Ares</a:t>
            </a:r>
            <a:endParaRPr lang="en-US" sz="1200" dirty="0"/>
          </a:p>
        </p:txBody>
      </p:sp>
      <p:sp>
        <p:nvSpPr>
          <p:cNvPr id="50" name="Shape 47"/>
          <p:cNvSpPr/>
          <p:nvPr/>
        </p:nvSpPr>
        <p:spPr>
          <a:xfrm>
            <a:off x="9418320" y="4206240"/>
            <a:ext cx="1320165" cy="164592"/>
          </a:xfrm>
          <a:prstGeom prst="rect">
            <a:avLst/>
          </a:prstGeom>
          <a:solidFill>
            <a:srgbClr val="1F4B3F"/>
          </a:solidFill>
          <a:ln/>
        </p:spPr>
      </p:sp>
      <p:sp>
        <p:nvSpPr>
          <p:cNvPr id="51" name="Text 48"/>
          <p:cNvSpPr txBox="1"/>
          <p:nvPr/>
        </p:nvSpPr>
        <p:spPr>
          <a:xfrm>
            <a:off x="10793349" y="4142232"/>
            <a:ext cx="566928" cy="292608"/>
          </a:xfrm>
          <a:prstGeom prst="rect">
            <a:avLst/>
          </a:prstGeom>
          <a:noFill/>
          <a:ln/>
        </p:spPr>
        <p:txBody>
          <a:bodyPr wrap="square" lIns="0" tIns="0" rIns="0" bIns="0" rtlCol="0" anchor="ctr"/>
          <a:lstStyle/>
          <a:p>
            <a:pPr indent="0" marL="0">
              <a:buNone/>
            </a:pPr>
            <a:r>
              <a:rPr lang="en-US" sz="1200" dirty="0">
                <a:solidFill>
                  <a:srgbClr val="1F2124"/>
                </a:solidFill>
                <a:latin typeface="Inter" pitchFamily="34" charset="0"/>
                <a:ea typeface="Inter" pitchFamily="34" charset="-122"/>
                <a:cs typeface="Inter" pitchFamily="34" charset="-120"/>
              </a:rPr>
              <a:t>1.750</a:t>
            </a:r>
            <a:endParaRPr lang="en-US" sz="1200" dirty="0"/>
          </a:p>
        </p:txBody>
      </p:sp>
      <p:sp>
        <p:nvSpPr>
          <p:cNvPr id="52" name="Text 49"/>
          <p:cNvSpPr txBox="1"/>
          <p:nvPr/>
        </p:nvSpPr>
        <p:spPr>
          <a:xfrm>
            <a:off x="7790688" y="4471416"/>
            <a:ext cx="1600200" cy="292608"/>
          </a:xfrm>
          <a:prstGeom prst="rect">
            <a:avLst/>
          </a:prstGeom>
          <a:noFill/>
          <a:ln/>
        </p:spPr>
        <p:txBody>
          <a:bodyPr wrap="square" lIns="0" tIns="0" rIns="0" bIns="0" rtlCol="0" anchor="ctr"/>
          <a:lstStyle/>
          <a:p>
            <a:pPr indent="0" marL="0">
              <a:buNone/>
            </a:pPr>
            <a:r>
              <a:rPr lang="en-US" sz="1200" b="1" dirty="0">
                <a:solidFill>
                  <a:srgbClr val="1F2124"/>
                </a:solidFill>
                <a:latin typeface="Inter" pitchFamily="34" charset="0"/>
                <a:ea typeface="Inter" pitchFamily="34" charset="-122"/>
                <a:cs typeface="Inter" pitchFamily="34" charset="-120"/>
              </a:rPr>
              <a:t>Oaktree</a:t>
            </a:r>
            <a:endParaRPr lang="en-US" sz="1200" dirty="0"/>
          </a:p>
        </p:txBody>
      </p:sp>
      <p:sp>
        <p:nvSpPr>
          <p:cNvPr id="53" name="Shape 50"/>
          <p:cNvSpPr/>
          <p:nvPr/>
        </p:nvSpPr>
        <p:spPr>
          <a:xfrm>
            <a:off x="9418320" y="4535424"/>
            <a:ext cx="1131570" cy="164592"/>
          </a:xfrm>
          <a:prstGeom prst="rect">
            <a:avLst/>
          </a:prstGeom>
          <a:solidFill>
            <a:srgbClr val="1F4B3F"/>
          </a:solidFill>
          <a:ln/>
        </p:spPr>
      </p:sp>
      <p:sp>
        <p:nvSpPr>
          <p:cNvPr id="54" name="Text 51"/>
          <p:cNvSpPr txBox="1"/>
          <p:nvPr/>
        </p:nvSpPr>
        <p:spPr>
          <a:xfrm>
            <a:off x="10604754" y="4471416"/>
            <a:ext cx="566928" cy="292608"/>
          </a:xfrm>
          <a:prstGeom prst="rect">
            <a:avLst/>
          </a:prstGeom>
          <a:noFill/>
          <a:ln/>
        </p:spPr>
        <p:txBody>
          <a:bodyPr wrap="square" lIns="0" tIns="0" rIns="0" bIns="0" rtlCol="0" anchor="ctr"/>
          <a:lstStyle/>
          <a:p>
            <a:pPr indent="0" marL="0">
              <a:buNone/>
            </a:pPr>
            <a:r>
              <a:rPr lang="en-US" sz="1200" dirty="0">
                <a:solidFill>
                  <a:srgbClr val="1F2124"/>
                </a:solidFill>
                <a:latin typeface="Inter" pitchFamily="34" charset="0"/>
                <a:ea typeface="Inter" pitchFamily="34" charset="-122"/>
                <a:cs typeface="Inter" pitchFamily="34" charset="-120"/>
              </a:rPr>
              <a:t>1.500</a:t>
            </a:r>
            <a:endParaRPr lang="en-US" sz="1200" dirty="0"/>
          </a:p>
        </p:txBody>
      </p:sp>
      <p:sp>
        <p:nvSpPr>
          <p:cNvPr id="55" name="Text 52"/>
          <p:cNvSpPr txBox="1"/>
          <p:nvPr/>
        </p:nvSpPr>
        <p:spPr>
          <a:xfrm>
            <a:off x="7790688" y="4800600"/>
            <a:ext cx="1600200" cy="292608"/>
          </a:xfrm>
          <a:prstGeom prst="rect">
            <a:avLst/>
          </a:prstGeom>
          <a:noFill/>
          <a:ln/>
        </p:spPr>
        <p:txBody>
          <a:bodyPr wrap="square" lIns="0" tIns="0" rIns="0" bIns="0" rtlCol="0" anchor="ctr"/>
          <a:lstStyle/>
          <a:p>
            <a:pPr indent="0" marL="0">
              <a:buNone/>
            </a:pPr>
            <a:r>
              <a:rPr lang="en-US" sz="1200" b="1" dirty="0">
                <a:solidFill>
                  <a:srgbClr val="1F2124"/>
                </a:solidFill>
                <a:latin typeface="Inter" pitchFamily="34" charset="0"/>
                <a:ea typeface="Inter" pitchFamily="34" charset="-122"/>
                <a:cs typeface="Inter" pitchFamily="34" charset="-120"/>
              </a:rPr>
              <a:t>Brookfield</a:t>
            </a:r>
            <a:endParaRPr lang="en-US" sz="1200" dirty="0"/>
          </a:p>
        </p:txBody>
      </p:sp>
      <p:sp>
        <p:nvSpPr>
          <p:cNvPr id="56" name="Shape 53"/>
          <p:cNvSpPr/>
          <p:nvPr/>
        </p:nvSpPr>
        <p:spPr>
          <a:xfrm>
            <a:off x="9418320" y="4864608"/>
            <a:ext cx="1131570" cy="164592"/>
          </a:xfrm>
          <a:prstGeom prst="rect">
            <a:avLst/>
          </a:prstGeom>
          <a:solidFill>
            <a:srgbClr val="1F4B3F"/>
          </a:solidFill>
          <a:ln/>
        </p:spPr>
      </p:sp>
      <p:sp>
        <p:nvSpPr>
          <p:cNvPr id="57" name="Text 54"/>
          <p:cNvSpPr txBox="1"/>
          <p:nvPr/>
        </p:nvSpPr>
        <p:spPr>
          <a:xfrm>
            <a:off x="10604754" y="4800600"/>
            <a:ext cx="566928" cy="292608"/>
          </a:xfrm>
          <a:prstGeom prst="rect">
            <a:avLst/>
          </a:prstGeom>
          <a:noFill/>
          <a:ln/>
        </p:spPr>
        <p:txBody>
          <a:bodyPr wrap="square" lIns="0" tIns="0" rIns="0" bIns="0" rtlCol="0" anchor="ctr"/>
          <a:lstStyle/>
          <a:p>
            <a:pPr indent="0" marL="0">
              <a:buNone/>
            </a:pPr>
            <a:r>
              <a:rPr lang="en-US" sz="1200" dirty="0">
                <a:solidFill>
                  <a:srgbClr val="1F2124"/>
                </a:solidFill>
                <a:latin typeface="Inter" pitchFamily="34" charset="0"/>
                <a:ea typeface="Inter" pitchFamily="34" charset="-122"/>
                <a:cs typeface="Inter" pitchFamily="34" charset="-120"/>
              </a:rPr>
              <a:t>1.500</a:t>
            </a:r>
            <a:endParaRPr lang="en-US" sz="1200" dirty="0"/>
          </a:p>
        </p:txBody>
      </p:sp>
      <p:sp>
        <p:nvSpPr>
          <p:cNvPr id="58" name="Text 55"/>
          <p:cNvSpPr txBox="1"/>
          <p:nvPr/>
        </p:nvSpPr>
        <p:spPr>
          <a:xfrm>
            <a:off x="7790688" y="5129784"/>
            <a:ext cx="1600200" cy="292608"/>
          </a:xfrm>
          <a:prstGeom prst="rect">
            <a:avLst/>
          </a:prstGeom>
          <a:noFill/>
          <a:ln/>
        </p:spPr>
        <p:txBody>
          <a:bodyPr wrap="square" lIns="0" tIns="0" rIns="0" bIns="0" rtlCol="0" anchor="ctr"/>
          <a:lstStyle/>
          <a:p>
            <a:pPr indent="0" marL="0">
              <a:buNone/>
            </a:pPr>
            <a:r>
              <a:rPr lang="en-US" sz="1200" b="1" dirty="0">
                <a:solidFill>
                  <a:srgbClr val="1F2124"/>
                </a:solidFill>
                <a:latin typeface="Inter" pitchFamily="34" charset="0"/>
                <a:ea typeface="Inter" pitchFamily="34" charset="-122"/>
                <a:cs typeface="Inter" pitchFamily="34" charset="-120"/>
              </a:rPr>
              <a:t>TPG Angelo Gordon</a:t>
            </a:r>
            <a:endParaRPr lang="en-US" sz="1200" dirty="0"/>
          </a:p>
        </p:txBody>
      </p:sp>
      <p:sp>
        <p:nvSpPr>
          <p:cNvPr id="59" name="Shape 56"/>
          <p:cNvSpPr/>
          <p:nvPr/>
        </p:nvSpPr>
        <p:spPr>
          <a:xfrm>
            <a:off x="9418320" y="5193792"/>
            <a:ext cx="942975" cy="164592"/>
          </a:xfrm>
          <a:prstGeom prst="rect">
            <a:avLst/>
          </a:prstGeom>
          <a:solidFill>
            <a:srgbClr val="1F4B3F"/>
          </a:solidFill>
          <a:ln/>
        </p:spPr>
      </p:sp>
      <p:sp>
        <p:nvSpPr>
          <p:cNvPr id="60" name="Text 57"/>
          <p:cNvSpPr txBox="1"/>
          <p:nvPr/>
        </p:nvSpPr>
        <p:spPr>
          <a:xfrm>
            <a:off x="10416159" y="5129784"/>
            <a:ext cx="566928" cy="292608"/>
          </a:xfrm>
          <a:prstGeom prst="rect">
            <a:avLst/>
          </a:prstGeom>
          <a:noFill/>
          <a:ln/>
        </p:spPr>
        <p:txBody>
          <a:bodyPr wrap="square" lIns="0" tIns="0" rIns="0" bIns="0" rtlCol="0" anchor="ctr"/>
          <a:lstStyle/>
          <a:p>
            <a:pPr indent="0" marL="0">
              <a:buNone/>
            </a:pPr>
            <a:r>
              <a:rPr lang="en-US" sz="1200" dirty="0">
                <a:solidFill>
                  <a:srgbClr val="1F2124"/>
                </a:solidFill>
                <a:latin typeface="Inter" pitchFamily="34" charset="0"/>
                <a:ea typeface="Inter" pitchFamily="34" charset="-122"/>
                <a:cs typeface="Inter" pitchFamily="34" charset="-120"/>
              </a:rPr>
              <a:t>1.250</a:t>
            </a:r>
            <a:endParaRPr lang="en-US" sz="1200" dirty="0"/>
          </a:p>
        </p:txBody>
      </p:sp>
      <p:sp>
        <p:nvSpPr>
          <p:cNvPr id="61" name="Text 58"/>
          <p:cNvSpPr txBox="1"/>
          <p:nvPr/>
        </p:nvSpPr>
        <p:spPr>
          <a:xfrm>
            <a:off x="7790688" y="5458968"/>
            <a:ext cx="1600200" cy="292608"/>
          </a:xfrm>
          <a:prstGeom prst="rect">
            <a:avLst/>
          </a:prstGeom>
          <a:noFill/>
          <a:ln/>
        </p:spPr>
        <p:txBody>
          <a:bodyPr wrap="square" lIns="0" tIns="0" rIns="0" bIns="0" rtlCol="0" anchor="ctr"/>
          <a:lstStyle/>
          <a:p>
            <a:pPr indent="0" marL="0">
              <a:buNone/>
            </a:pPr>
            <a:r>
              <a:rPr lang="en-US" sz="1200" b="1" dirty="0">
                <a:solidFill>
                  <a:srgbClr val="1F2124"/>
                </a:solidFill>
                <a:latin typeface="Inter" pitchFamily="34" charset="0"/>
                <a:ea typeface="Inter" pitchFamily="34" charset="-122"/>
                <a:cs typeface="Inter" pitchFamily="34" charset="-120"/>
              </a:rPr>
              <a:t>King Street</a:t>
            </a:r>
            <a:endParaRPr lang="en-US" sz="1200" dirty="0"/>
          </a:p>
        </p:txBody>
      </p:sp>
      <p:sp>
        <p:nvSpPr>
          <p:cNvPr id="62" name="Shape 59"/>
          <p:cNvSpPr/>
          <p:nvPr/>
        </p:nvSpPr>
        <p:spPr>
          <a:xfrm>
            <a:off x="9418320" y="5522976"/>
            <a:ext cx="810959" cy="164592"/>
          </a:xfrm>
          <a:prstGeom prst="rect">
            <a:avLst/>
          </a:prstGeom>
          <a:solidFill>
            <a:srgbClr val="1F4B3F"/>
          </a:solidFill>
          <a:ln/>
        </p:spPr>
      </p:sp>
      <p:sp>
        <p:nvSpPr>
          <p:cNvPr id="63" name="Text 60"/>
          <p:cNvSpPr txBox="1"/>
          <p:nvPr/>
        </p:nvSpPr>
        <p:spPr>
          <a:xfrm>
            <a:off x="10284143" y="5458968"/>
            <a:ext cx="566928" cy="292608"/>
          </a:xfrm>
          <a:prstGeom prst="rect">
            <a:avLst/>
          </a:prstGeom>
          <a:noFill/>
          <a:ln/>
        </p:spPr>
        <p:txBody>
          <a:bodyPr wrap="square" lIns="0" tIns="0" rIns="0" bIns="0" rtlCol="0" anchor="ctr"/>
          <a:lstStyle/>
          <a:p>
            <a:pPr indent="0" marL="0">
              <a:buNone/>
            </a:pPr>
            <a:r>
              <a:rPr lang="en-US" sz="1200" dirty="0">
                <a:solidFill>
                  <a:srgbClr val="1F2124"/>
                </a:solidFill>
                <a:latin typeface="Inter" pitchFamily="34" charset="0"/>
                <a:ea typeface="Inter" pitchFamily="34" charset="-122"/>
                <a:cs typeface="Inter" pitchFamily="34" charset="-120"/>
              </a:rPr>
              <a:t>1.075</a:t>
            </a:r>
            <a:endParaRPr lang="en-US" sz="1200" dirty="0"/>
          </a:p>
        </p:txBody>
      </p:sp>
      <p:sp>
        <p:nvSpPr>
          <p:cNvPr id="64" name="Text 61"/>
          <p:cNvSpPr txBox="1"/>
          <p:nvPr/>
        </p:nvSpPr>
        <p:spPr>
          <a:xfrm>
            <a:off x="7790688" y="5788152"/>
            <a:ext cx="1600200" cy="292608"/>
          </a:xfrm>
          <a:prstGeom prst="rect">
            <a:avLst/>
          </a:prstGeom>
          <a:noFill/>
          <a:ln/>
        </p:spPr>
        <p:txBody>
          <a:bodyPr wrap="square" lIns="0" tIns="0" rIns="0" bIns="0" rtlCol="0" anchor="ctr"/>
          <a:lstStyle/>
          <a:p>
            <a:pPr indent="0" marL="0">
              <a:buNone/>
            </a:pPr>
            <a:r>
              <a:rPr lang="en-US" sz="1200" b="1" dirty="0">
                <a:solidFill>
                  <a:srgbClr val="1F2124"/>
                </a:solidFill>
                <a:latin typeface="Inter" pitchFamily="34" charset="0"/>
                <a:ea typeface="Inter" pitchFamily="34" charset="-122"/>
                <a:cs typeface="Inter" pitchFamily="34" charset="-120"/>
              </a:rPr>
              <a:t>Magnetar</a:t>
            </a:r>
            <a:endParaRPr lang="en-US" sz="1200" dirty="0"/>
          </a:p>
        </p:txBody>
      </p:sp>
      <p:sp>
        <p:nvSpPr>
          <p:cNvPr id="65" name="Shape 62"/>
          <p:cNvSpPr/>
          <p:nvPr/>
        </p:nvSpPr>
        <p:spPr>
          <a:xfrm>
            <a:off x="9418320" y="5852160"/>
            <a:ext cx="810959" cy="164592"/>
          </a:xfrm>
          <a:prstGeom prst="rect">
            <a:avLst/>
          </a:prstGeom>
          <a:solidFill>
            <a:srgbClr val="1F4B3F"/>
          </a:solidFill>
          <a:ln/>
        </p:spPr>
      </p:sp>
      <p:sp>
        <p:nvSpPr>
          <p:cNvPr id="66" name="Text 63"/>
          <p:cNvSpPr txBox="1"/>
          <p:nvPr/>
        </p:nvSpPr>
        <p:spPr>
          <a:xfrm>
            <a:off x="10284143" y="5788152"/>
            <a:ext cx="566928" cy="292608"/>
          </a:xfrm>
          <a:prstGeom prst="rect">
            <a:avLst/>
          </a:prstGeom>
          <a:noFill/>
          <a:ln/>
        </p:spPr>
        <p:txBody>
          <a:bodyPr wrap="square" lIns="0" tIns="0" rIns="0" bIns="0" rtlCol="0" anchor="ctr"/>
          <a:lstStyle/>
          <a:p>
            <a:pPr indent="0" marL="0">
              <a:buNone/>
            </a:pPr>
            <a:r>
              <a:rPr lang="en-US" sz="1200" dirty="0">
                <a:solidFill>
                  <a:srgbClr val="1F2124"/>
                </a:solidFill>
                <a:latin typeface="Inter" pitchFamily="34" charset="0"/>
                <a:ea typeface="Inter" pitchFamily="34" charset="-122"/>
                <a:cs typeface="Inter" pitchFamily="34" charset="-120"/>
              </a:rPr>
              <a:t>1.075</a:t>
            </a:r>
            <a:endParaRPr lang="en-US" sz="1200" dirty="0"/>
          </a:p>
        </p:txBody>
      </p:sp>
      <p:sp>
        <p:nvSpPr>
          <p:cNvPr id="67" name="Text 64"/>
          <p:cNvSpPr txBox="1"/>
          <p:nvPr/>
        </p:nvSpPr>
        <p:spPr>
          <a:xfrm>
            <a:off x="548640" y="6327648"/>
            <a:ext cx="7863840" cy="228600"/>
          </a:xfrm>
          <a:prstGeom prst="rect">
            <a:avLst/>
          </a:prstGeom>
          <a:noFill/>
          <a:ln/>
        </p:spPr>
        <p:txBody>
          <a:bodyPr wrap="square" lIns="0" tIns="0" rIns="0" bIns="0" rtlCol="0" anchor="t"/>
          <a:lstStyle/>
          <a:p>
            <a:pPr indent="0" marL="0">
              <a:buNone/>
            </a:pPr>
            <a:r>
              <a:rPr lang="en-US" sz="900" dirty="0">
                <a:solidFill>
                  <a:srgbClr val="6E7378"/>
                </a:solidFill>
                <a:latin typeface="Inter" pitchFamily="34" charset="0"/>
                <a:ea typeface="Inter" pitchFamily="34" charset="-122"/>
                <a:cs typeface="Inter" pitchFamily="34" charset="-120"/>
              </a:rPr>
              <a:t>Senior secured: deuda senior con garantías sobre las acciones y activos del grupo. € millones salvo indicación.</a:t>
            </a:r>
            <a:endParaRPr lang="en-US" sz="900" dirty="0"/>
          </a:p>
        </p:txBody>
      </p:sp>
      <p:sp>
        <p:nvSpPr>
          <p:cNvPr id="68" name="Text 65"/>
          <p:cNvSpPr txBox="1"/>
          <p:nvPr/>
        </p:nvSpPr>
        <p:spPr>
          <a:xfrm>
            <a:off x="8595360" y="6327648"/>
            <a:ext cx="3044952" cy="228600"/>
          </a:xfrm>
          <a:prstGeom prst="rect">
            <a:avLst/>
          </a:prstGeom>
          <a:noFill/>
          <a:ln/>
        </p:spPr>
        <p:txBody>
          <a:bodyPr wrap="square" lIns="0" tIns="0" rIns="0" bIns="0" rtlCol="0" anchor="t"/>
          <a:lstStyle/>
          <a:p>
            <a:pPr algn="r" indent="0" marL="0">
              <a:buNone/>
            </a:pPr>
            <a:r>
              <a:rPr lang="en-US" sz="900" dirty="0">
                <a:solidFill>
                  <a:srgbClr val="6E7378"/>
                </a:solidFill>
                <a:latin typeface="Inter" pitchFamily="34" charset="0"/>
                <a:ea typeface="Inter" pitchFamily="34" charset="-122"/>
                <a:cs typeface="Inter" pitchFamily="34" charset="-120"/>
              </a:rPr>
              <a:t>Project Galicia  ·  Estrictamente confidencial  ·  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79476"/>
            <a:ext cx="7772400" cy="228600"/>
          </a:xfrm>
          <a:prstGeom prst="rect">
            <a:avLst/>
          </a:prstGeom>
          <a:noFill/>
          <a:ln/>
        </p:spPr>
        <p:txBody>
          <a:bodyPr wrap="square" lIns="0" tIns="0" rIns="0" bIns="0" rtlCol="0" anchor="ctr"/>
          <a:lstStyle/>
          <a:p>
            <a:pPr indent="0" marL="0">
              <a:buNone/>
            </a:pPr>
            <a:r>
              <a:rPr lang="en-US" sz="1100" b="1" spc="200" kern="0" dirty="0">
                <a:solidFill>
                  <a:srgbClr val="1F4B3F"/>
                </a:solidFill>
                <a:latin typeface="Inter" pitchFamily="34" charset="0"/>
                <a:ea typeface="Inter" pitchFamily="34" charset="-122"/>
                <a:cs typeface="Inter" pitchFamily="34" charset="-120"/>
              </a:rPr>
              <a:t>04  FINANCIADORES</a:t>
            </a:r>
            <a:endParaRPr lang="en-US" sz="1100" dirty="0"/>
          </a:p>
        </p:txBody>
      </p:sp>
      <p:pic>
        <p:nvPicPr>
          <p:cNvPr id="3" name="Image 0" descr="/tmp/claude-0/-home-claude/8d7de6a3-f167-5c95-8bc2-67944307bfd8/scratchpad/canva/img/HLP_monograma.png">    </p:cNvPr>
          <p:cNvPicPr>
            <a:picLocks noChangeAspect="1"/>
          </p:cNvPicPr>
          <p:nvPr/>
        </p:nvPicPr>
        <p:blipFill>
          <a:blip r:embed="rId1"/>
          <a:stretch>
            <a:fillRect/>
          </a:stretch>
        </p:blipFill>
        <p:spPr>
          <a:xfrm>
            <a:off x="11130991" y="237744"/>
            <a:ext cx="512064" cy="512064"/>
          </a:xfrm>
          <a:prstGeom prst="rect">
            <a:avLst/>
          </a:prstGeom>
        </p:spPr>
      </p:pic>
      <p:sp>
        <p:nvSpPr>
          <p:cNvPr id="4" name="Text 1"/>
          <p:cNvSpPr txBox="1"/>
          <p:nvPr/>
        </p:nvSpPr>
        <p:spPr>
          <a:xfrm>
            <a:off x="548640" y="786384"/>
            <a:ext cx="11091672" cy="658368"/>
          </a:xfrm>
          <a:prstGeom prst="rect">
            <a:avLst/>
          </a:prstGeom>
          <a:noFill/>
          <a:ln/>
        </p:spPr>
        <p:txBody>
          <a:bodyPr wrap="square" lIns="0" tIns="0" rIns="0" bIns="0" rtlCol="0" anchor="t"/>
          <a:lstStyle/>
          <a:p>
            <a:pPr indent="0" marL="0">
              <a:lnSpc>
                <a:spcPct val="92000"/>
              </a:lnSpc>
              <a:buNone/>
            </a:pPr>
            <a:r>
              <a:rPr lang="en-US" sz="2200" dirty="0">
                <a:solidFill>
                  <a:srgbClr val="1A1D21"/>
                </a:solidFill>
                <a:latin typeface="Lora" pitchFamily="34" charset="0"/>
                <a:ea typeface="Lora" pitchFamily="34" charset="-122"/>
                <a:cs typeface="Lora" pitchFamily="34" charset="-120"/>
              </a:rPr>
              <a:t>Diez co-inversores aportan €54.989m: fondos soberanos y de pensiones que firman cheques que nadie más puede firmar</a:t>
            </a:r>
            <a:endParaRPr lang="en-US" sz="2200" dirty="0"/>
          </a:p>
        </p:txBody>
      </p:sp>
      <p:sp>
        <p:nvSpPr>
          <p:cNvPr id="5" name="Shape 2"/>
          <p:cNvSpPr/>
          <p:nvPr/>
        </p:nvSpPr>
        <p:spPr>
          <a:xfrm>
            <a:off x="548640" y="1572768"/>
            <a:ext cx="73152" cy="274320"/>
          </a:xfrm>
          <a:prstGeom prst="rect">
            <a:avLst/>
          </a:prstGeom>
          <a:solidFill>
            <a:srgbClr val="1A1D21"/>
          </a:solidFill>
          <a:ln/>
        </p:spPr>
      </p:sp>
      <p:sp>
        <p:nvSpPr>
          <p:cNvPr id="6" name="Text 3"/>
          <p:cNvSpPr txBox="1"/>
          <p:nvPr/>
        </p:nvSpPr>
        <p:spPr>
          <a:xfrm>
            <a:off x="731520" y="1572768"/>
            <a:ext cx="2743200" cy="274320"/>
          </a:xfrm>
          <a:prstGeom prst="rect">
            <a:avLst/>
          </a:prstGeom>
          <a:noFill/>
          <a:ln/>
        </p:spPr>
        <p:txBody>
          <a:bodyPr wrap="square" lIns="0" tIns="0" rIns="0" bIns="0" rtlCol="0" anchor="ctr"/>
          <a:lstStyle/>
          <a:p>
            <a:pPr indent="0" marL="0">
              <a:buNone/>
            </a:pPr>
            <a:r>
              <a:rPr lang="en-US" sz="1400" b="1" dirty="0">
                <a:solidFill>
                  <a:srgbClr val="1A1D21"/>
                </a:solidFill>
                <a:latin typeface="Inter" pitchFamily="34" charset="0"/>
                <a:ea typeface="Inter" pitchFamily="34" charset="-122"/>
                <a:cs typeface="Inter" pitchFamily="34" charset="-120"/>
              </a:rPr>
              <a:t>Fondos soberanos</a:t>
            </a:r>
            <a:endParaRPr lang="en-US" sz="1400" dirty="0"/>
          </a:p>
        </p:txBody>
      </p:sp>
      <p:sp>
        <p:nvSpPr>
          <p:cNvPr id="7" name="Text 4"/>
          <p:cNvSpPr txBox="1"/>
          <p:nvPr/>
        </p:nvSpPr>
        <p:spPr>
          <a:xfrm>
            <a:off x="4114800" y="1572768"/>
            <a:ext cx="3291840" cy="274320"/>
          </a:xfrm>
          <a:prstGeom prst="rect">
            <a:avLst/>
          </a:prstGeom>
          <a:noFill/>
          <a:ln/>
        </p:spPr>
        <p:txBody>
          <a:bodyPr wrap="square" lIns="0" tIns="0" rIns="0" bIns="0" rtlCol="0" anchor="ctr"/>
          <a:lstStyle/>
          <a:p>
            <a:pPr algn="r" indent="0" marL="0">
              <a:buNone/>
            </a:pPr>
            <a:r>
              <a:rPr lang="en-US" sz="1200" b="1" dirty="0">
                <a:solidFill>
                  <a:srgbClr val="1A1D21"/>
                </a:solidFill>
                <a:latin typeface="Inter" pitchFamily="34" charset="0"/>
                <a:ea typeface="Inter" pitchFamily="34" charset="-122"/>
                <a:cs typeface="Inter" pitchFamily="34" charset="-120"/>
              </a:rPr>
              <a:t>6 inversores · €39.489m</a:t>
            </a:r>
            <a:endParaRPr lang="en-US" sz="1200" dirty="0"/>
          </a:p>
        </p:txBody>
      </p:sp>
      <p:sp>
        <p:nvSpPr>
          <p:cNvPr id="8" name="Text 5"/>
          <p:cNvSpPr txBox="1"/>
          <p:nvPr/>
        </p:nvSpPr>
        <p:spPr>
          <a:xfrm>
            <a:off x="731520" y="1883664"/>
            <a:ext cx="6675120" cy="411480"/>
          </a:xfrm>
          <a:prstGeom prst="rect">
            <a:avLst/>
          </a:prstGeom>
          <a:noFill/>
          <a:ln/>
        </p:spPr>
        <p:txBody>
          <a:bodyPr wrap="square" lIns="0" tIns="0" rIns="0" bIns="0" rtlCol="0" anchor="t"/>
          <a:lstStyle/>
          <a:p>
            <a:pPr indent="0" marL="0">
              <a:buNone/>
            </a:pPr>
            <a:r>
              <a:rPr lang="en-US" sz="1050" dirty="0">
                <a:solidFill>
                  <a:srgbClr val="6E7378"/>
                </a:solidFill>
                <a:latin typeface="Inter" pitchFamily="34" charset="0"/>
                <a:ea typeface="Inter" pitchFamily="34" charset="-122"/>
                <a:cs typeface="Inter" pitchFamily="34" charset="-120"/>
              </a:rPr>
              <a:t>Invierten las reservas de un Estado con horizonte de décadas; buscan activos de calidad, en euros y con caja estable.</a:t>
            </a:r>
            <a:endParaRPr lang="en-US" sz="1050" dirty="0"/>
          </a:p>
        </p:txBody>
      </p:sp>
      <p:sp>
        <p:nvSpPr>
          <p:cNvPr id="9" name="Text 6"/>
          <p:cNvSpPr txBox="1"/>
          <p:nvPr/>
        </p:nvSpPr>
        <p:spPr>
          <a:xfrm>
            <a:off x="731520" y="2350008"/>
            <a:ext cx="960120" cy="256032"/>
          </a:xfrm>
          <a:prstGeom prst="rect">
            <a:avLst/>
          </a:prstGeom>
          <a:noFill/>
          <a:ln/>
        </p:spPr>
        <p:txBody>
          <a:bodyPr wrap="square" lIns="0" tIns="0" rIns="0" bIns="0" rtlCol="0" anchor="ctr"/>
          <a:lstStyle/>
          <a:p>
            <a:pPr indent="0" marL="0">
              <a:buNone/>
            </a:pPr>
            <a:r>
              <a:rPr lang="en-US" sz="1100" b="1" dirty="0">
                <a:solidFill>
                  <a:srgbClr val="1F2124"/>
                </a:solidFill>
                <a:latin typeface="Inter" pitchFamily="34" charset="0"/>
                <a:ea typeface="Inter" pitchFamily="34" charset="-122"/>
                <a:cs typeface="Inter" pitchFamily="34" charset="-120"/>
              </a:rPr>
              <a:t>GIC</a:t>
            </a:r>
            <a:endParaRPr lang="en-US" sz="1100" dirty="0"/>
          </a:p>
        </p:txBody>
      </p:sp>
      <p:sp>
        <p:nvSpPr>
          <p:cNvPr id="10" name="Text 7"/>
          <p:cNvSpPr txBox="1"/>
          <p:nvPr/>
        </p:nvSpPr>
        <p:spPr>
          <a:xfrm>
            <a:off x="1691640" y="2350008"/>
            <a:ext cx="1371600" cy="256032"/>
          </a:xfrm>
          <a:prstGeom prst="rect">
            <a:avLst/>
          </a:prstGeom>
          <a:noFill/>
          <a:ln/>
        </p:spPr>
        <p:txBody>
          <a:bodyPr wrap="square" lIns="0" tIns="0" rIns="0" bIns="0" rtlCol="0" anchor="ctr"/>
          <a:lstStyle/>
          <a:p>
            <a:pPr indent="0" marL="0">
              <a:buNone/>
            </a:pPr>
            <a:r>
              <a:rPr lang="en-US" sz="1000" dirty="0">
                <a:solidFill>
                  <a:srgbClr val="6E7378"/>
                </a:solidFill>
                <a:latin typeface="Inter" pitchFamily="34" charset="0"/>
                <a:ea typeface="Inter" pitchFamily="34" charset="-122"/>
                <a:cs typeface="Inter" pitchFamily="34" charset="-120"/>
              </a:rPr>
              <a:t>Singapur</a:t>
            </a:r>
            <a:endParaRPr lang="en-US" sz="1000" dirty="0"/>
          </a:p>
        </p:txBody>
      </p:sp>
      <p:sp>
        <p:nvSpPr>
          <p:cNvPr id="11" name="Shape 8"/>
          <p:cNvSpPr/>
          <p:nvPr/>
        </p:nvSpPr>
        <p:spPr>
          <a:xfrm>
            <a:off x="3108960" y="2395728"/>
            <a:ext cx="3566160" cy="164592"/>
          </a:xfrm>
          <a:prstGeom prst="rect">
            <a:avLst/>
          </a:prstGeom>
          <a:solidFill>
            <a:srgbClr val="1A1D21"/>
          </a:solidFill>
          <a:ln/>
        </p:spPr>
      </p:sp>
      <p:sp>
        <p:nvSpPr>
          <p:cNvPr id="12" name="Text 9"/>
          <p:cNvSpPr txBox="1"/>
          <p:nvPr/>
        </p:nvSpPr>
        <p:spPr>
          <a:xfrm>
            <a:off x="6720840" y="2350008"/>
            <a:ext cx="640080" cy="256032"/>
          </a:xfrm>
          <a:prstGeom prst="rect">
            <a:avLst/>
          </a:prstGeom>
          <a:noFill/>
          <a:ln/>
        </p:spPr>
        <p:txBody>
          <a:bodyPr wrap="square" lIns="0" tIns="0" rIns="0" bIns="0" rtlCol="0" anchor="ctr"/>
          <a:lstStyle/>
          <a:p>
            <a:pPr indent="0" marL="0">
              <a:buNone/>
            </a:pPr>
            <a:r>
              <a:rPr lang="en-US" sz="1050" dirty="0">
                <a:solidFill>
                  <a:srgbClr val="1F2124"/>
                </a:solidFill>
                <a:latin typeface="Inter" pitchFamily="34" charset="0"/>
                <a:ea typeface="Inter" pitchFamily="34" charset="-122"/>
                <a:cs typeface="Inter" pitchFamily="34" charset="-120"/>
              </a:rPr>
              <a:t>9.000</a:t>
            </a:r>
            <a:endParaRPr lang="en-US" sz="1050" dirty="0"/>
          </a:p>
        </p:txBody>
      </p:sp>
      <p:sp>
        <p:nvSpPr>
          <p:cNvPr id="13" name="Text 10"/>
          <p:cNvSpPr txBox="1"/>
          <p:nvPr/>
        </p:nvSpPr>
        <p:spPr>
          <a:xfrm>
            <a:off x="731520" y="2624328"/>
            <a:ext cx="960120" cy="256032"/>
          </a:xfrm>
          <a:prstGeom prst="rect">
            <a:avLst/>
          </a:prstGeom>
          <a:noFill/>
          <a:ln/>
        </p:spPr>
        <p:txBody>
          <a:bodyPr wrap="square" lIns="0" tIns="0" rIns="0" bIns="0" rtlCol="0" anchor="ctr"/>
          <a:lstStyle/>
          <a:p>
            <a:pPr indent="0" marL="0">
              <a:buNone/>
            </a:pPr>
            <a:r>
              <a:rPr lang="en-US" sz="1100" b="1" dirty="0">
                <a:solidFill>
                  <a:srgbClr val="1F2124"/>
                </a:solidFill>
                <a:latin typeface="Inter" pitchFamily="34" charset="0"/>
                <a:ea typeface="Inter" pitchFamily="34" charset="-122"/>
                <a:cs typeface="Inter" pitchFamily="34" charset="-120"/>
              </a:rPr>
              <a:t>ADIA</a:t>
            </a:r>
            <a:endParaRPr lang="en-US" sz="1100" dirty="0"/>
          </a:p>
        </p:txBody>
      </p:sp>
      <p:sp>
        <p:nvSpPr>
          <p:cNvPr id="14" name="Text 11"/>
          <p:cNvSpPr txBox="1"/>
          <p:nvPr/>
        </p:nvSpPr>
        <p:spPr>
          <a:xfrm>
            <a:off x="1691640" y="2624328"/>
            <a:ext cx="1371600" cy="256032"/>
          </a:xfrm>
          <a:prstGeom prst="rect">
            <a:avLst/>
          </a:prstGeom>
          <a:noFill/>
          <a:ln/>
        </p:spPr>
        <p:txBody>
          <a:bodyPr wrap="square" lIns="0" tIns="0" rIns="0" bIns="0" rtlCol="0" anchor="ctr"/>
          <a:lstStyle/>
          <a:p>
            <a:pPr indent="0" marL="0">
              <a:buNone/>
            </a:pPr>
            <a:r>
              <a:rPr lang="en-US" sz="1000" dirty="0">
                <a:solidFill>
                  <a:srgbClr val="6E7378"/>
                </a:solidFill>
                <a:latin typeface="Inter" pitchFamily="34" charset="0"/>
                <a:ea typeface="Inter" pitchFamily="34" charset="-122"/>
                <a:cs typeface="Inter" pitchFamily="34" charset="-120"/>
              </a:rPr>
              <a:t>Abu Dabi</a:t>
            </a:r>
            <a:endParaRPr lang="en-US" sz="1000" dirty="0"/>
          </a:p>
        </p:txBody>
      </p:sp>
      <p:sp>
        <p:nvSpPr>
          <p:cNvPr id="15" name="Shape 12"/>
          <p:cNvSpPr/>
          <p:nvPr/>
        </p:nvSpPr>
        <p:spPr>
          <a:xfrm>
            <a:off x="3108960" y="2670048"/>
            <a:ext cx="3566160" cy="164592"/>
          </a:xfrm>
          <a:prstGeom prst="rect">
            <a:avLst/>
          </a:prstGeom>
          <a:solidFill>
            <a:srgbClr val="1A1D21"/>
          </a:solidFill>
          <a:ln/>
        </p:spPr>
      </p:sp>
      <p:sp>
        <p:nvSpPr>
          <p:cNvPr id="16" name="Text 13"/>
          <p:cNvSpPr txBox="1"/>
          <p:nvPr/>
        </p:nvSpPr>
        <p:spPr>
          <a:xfrm>
            <a:off x="6720840" y="2624328"/>
            <a:ext cx="640080" cy="256032"/>
          </a:xfrm>
          <a:prstGeom prst="rect">
            <a:avLst/>
          </a:prstGeom>
          <a:noFill/>
          <a:ln/>
        </p:spPr>
        <p:txBody>
          <a:bodyPr wrap="square" lIns="0" tIns="0" rIns="0" bIns="0" rtlCol="0" anchor="ctr"/>
          <a:lstStyle/>
          <a:p>
            <a:pPr indent="0" marL="0">
              <a:buNone/>
            </a:pPr>
            <a:r>
              <a:rPr lang="en-US" sz="1050" dirty="0">
                <a:solidFill>
                  <a:srgbClr val="1F2124"/>
                </a:solidFill>
                <a:latin typeface="Inter" pitchFamily="34" charset="0"/>
                <a:ea typeface="Inter" pitchFamily="34" charset="-122"/>
                <a:cs typeface="Inter" pitchFamily="34" charset="-120"/>
              </a:rPr>
              <a:t>9.000</a:t>
            </a:r>
            <a:endParaRPr lang="en-US" sz="1050" dirty="0"/>
          </a:p>
        </p:txBody>
      </p:sp>
      <p:sp>
        <p:nvSpPr>
          <p:cNvPr id="17" name="Text 14"/>
          <p:cNvSpPr txBox="1"/>
          <p:nvPr/>
        </p:nvSpPr>
        <p:spPr>
          <a:xfrm>
            <a:off x="731520" y="2898648"/>
            <a:ext cx="960120" cy="256032"/>
          </a:xfrm>
          <a:prstGeom prst="rect">
            <a:avLst/>
          </a:prstGeom>
          <a:noFill/>
          <a:ln/>
        </p:spPr>
        <p:txBody>
          <a:bodyPr wrap="square" lIns="0" tIns="0" rIns="0" bIns="0" rtlCol="0" anchor="ctr"/>
          <a:lstStyle/>
          <a:p>
            <a:pPr indent="0" marL="0">
              <a:buNone/>
            </a:pPr>
            <a:r>
              <a:rPr lang="en-US" sz="1100" b="1" dirty="0">
                <a:solidFill>
                  <a:srgbClr val="1F2124"/>
                </a:solidFill>
                <a:latin typeface="Inter" pitchFamily="34" charset="0"/>
                <a:ea typeface="Inter" pitchFamily="34" charset="-122"/>
                <a:cs typeface="Inter" pitchFamily="34" charset="-120"/>
              </a:rPr>
              <a:t>QIA</a:t>
            </a:r>
            <a:endParaRPr lang="en-US" sz="1100" dirty="0"/>
          </a:p>
        </p:txBody>
      </p:sp>
      <p:sp>
        <p:nvSpPr>
          <p:cNvPr id="18" name="Text 15"/>
          <p:cNvSpPr txBox="1"/>
          <p:nvPr/>
        </p:nvSpPr>
        <p:spPr>
          <a:xfrm>
            <a:off x="1691640" y="2898648"/>
            <a:ext cx="1371600" cy="256032"/>
          </a:xfrm>
          <a:prstGeom prst="rect">
            <a:avLst/>
          </a:prstGeom>
          <a:noFill/>
          <a:ln/>
        </p:spPr>
        <p:txBody>
          <a:bodyPr wrap="square" lIns="0" tIns="0" rIns="0" bIns="0" rtlCol="0" anchor="ctr"/>
          <a:lstStyle/>
          <a:p>
            <a:pPr indent="0" marL="0">
              <a:buNone/>
            </a:pPr>
            <a:r>
              <a:rPr lang="en-US" sz="1000" dirty="0">
                <a:solidFill>
                  <a:srgbClr val="6E7378"/>
                </a:solidFill>
                <a:latin typeface="Inter" pitchFamily="34" charset="0"/>
                <a:ea typeface="Inter" pitchFamily="34" charset="-122"/>
                <a:cs typeface="Inter" pitchFamily="34" charset="-120"/>
              </a:rPr>
              <a:t>Catar</a:t>
            </a:r>
            <a:endParaRPr lang="en-US" sz="1000" dirty="0"/>
          </a:p>
        </p:txBody>
      </p:sp>
      <p:sp>
        <p:nvSpPr>
          <p:cNvPr id="19" name="Shape 16"/>
          <p:cNvSpPr/>
          <p:nvPr/>
        </p:nvSpPr>
        <p:spPr>
          <a:xfrm>
            <a:off x="3108960" y="2944368"/>
            <a:ext cx="2773680" cy="164592"/>
          </a:xfrm>
          <a:prstGeom prst="rect">
            <a:avLst/>
          </a:prstGeom>
          <a:solidFill>
            <a:srgbClr val="1A1D21"/>
          </a:solidFill>
          <a:ln/>
        </p:spPr>
      </p:sp>
      <p:sp>
        <p:nvSpPr>
          <p:cNvPr id="20" name="Text 17"/>
          <p:cNvSpPr txBox="1"/>
          <p:nvPr/>
        </p:nvSpPr>
        <p:spPr>
          <a:xfrm>
            <a:off x="5928360" y="2898648"/>
            <a:ext cx="640080" cy="256032"/>
          </a:xfrm>
          <a:prstGeom prst="rect">
            <a:avLst/>
          </a:prstGeom>
          <a:noFill/>
          <a:ln/>
        </p:spPr>
        <p:txBody>
          <a:bodyPr wrap="square" lIns="0" tIns="0" rIns="0" bIns="0" rtlCol="0" anchor="ctr"/>
          <a:lstStyle/>
          <a:p>
            <a:pPr indent="0" marL="0">
              <a:buNone/>
            </a:pPr>
            <a:r>
              <a:rPr lang="en-US" sz="1050" dirty="0">
                <a:solidFill>
                  <a:srgbClr val="1F2124"/>
                </a:solidFill>
                <a:latin typeface="Inter" pitchFamily="34" charset="0"/>
                <a:ea typeface="Inter" pitchFamily="34" charset="-122"/>
                <a:cs typeface="Inter" pitchFamily="34" charset="-120"/>
              </a:rPr>
              <a:t>7.000</a:t>
            </a:r>
            <a:endParaRPr lang="en-US" sz="1050" dirty="0"/>
          </a:p>
        </p:txBody>
      </p:sp>
      <p:sp>
        <p:nvSpPr>
          <p:cNvPr id="21" name="Text 18"/>
          <p:cNvSpPr txBox="1"/>
          <p:nvPr/>
        </p:nvSpPr>
        <p:spPr>
          <a:xfrm>
            <a:off x="731520" y="3172968"/>
            <a:ext cx="960120" cy="256032"/>
          </a:xfrm>
          <a:prstGeom prst="rect">
            <a:avLst/>
          </a:prstGeom>
          <a:noFill/>
          <a:ln/>
        </p:spPr>
        <p:txBody>
          <a:bodyPr wrap="square" lIns="0" tIns="0" rIns="0" bIns="0" rtlCol="0" anchor="ctr"/>
          <a:lstStyle/>
          <a:p>
            <a:pPr indent="0" marL="0">
              <a:buNone/>
            </a:pPr>
            <a:r>
              <a:rPr lang="en-US" sz="1100" b="1" dirty="0">
                <a:solidFill>
                  <a:srgbClr val="1F2124"/>
                </a:solidFill>
                <a:latin typeface="Inter" pitchFamily="34" charset="0"/>
                <a:ea typeface="Inter" pitchFamily="34" charset="-122"/>
                <a:cs typeface="Inter" pitchFamily="34" charset="-120"/>
              </a:rPr>
              <a:t>PIF</a:t>
            </a:r>
            <a:endParaRPr lang="en-US" sz="1100" dirty="0"/>
          </a:p>
        </p:txBody>
      </p:sp>
      <p:sp>
        <p:nvSpPr>
          <p:cNvPr id="22" name="Text 19"/>
          <p:cNvSpPr txBox="1"/>
          <p:nvPr/>
        </p:nvSpPr>
        <p:spPr>
          <a:xfrm>
            <a:off x="1691640" y="3172968"/>
            <a:ext cx="1371600" cy="256032"/>
          </a:xfrm>
          <a:prstGeom prst="rect">
            <a:avLst/>
          </a:prstGeom>
          <a:noFill/>
          <a:ln/>
        </p:spPr>
        <p:txBody>
          <a:bodyPr wrap="square" lIns="0" tIns="0" rIns="0" bIns="0" rtlCol="0" anchor="ctr"/>
          <a:lstStyle/>
          <a:p>
            <a:pPr indent="0" marL="0">
              <a:buNone/>
            </a:pPr>
            <a:r>
              <a:rPr lang="en-US" sz="1000" dirty="0">
                <a:solidFill>
                  <a:srgbClr val="6E7378"/>
                </a:solidFill>
                <a:latin typeface="Inter" pitchFamily="34" charset="0"/>
                <a:ea typeface="Inter" pitchFamily="34" charset="-122"/>
                <a:cs typeface="Inter" pitchFamily="34" charset="-120"/>
              </a:rPr>
              <a:t>Arabia Saudí</a:t>
            </a:r>
            <a:endParaRPr lang="en-US" sz="1000" dirty="0"/>
          </a:p>
        </p:txBody>
      </p:sp>
      <p:sp>
        <p:nvSpPr>
          <p:cNvPr id="23" name="Shape 20"/>
          <p:cNvSpPr/>
          <p:nvPr/>
        </p:nvSpPr>
        <p:spPr>
          <a:xfrm>
            <a:off x="3108960" y="3218688"/>
            <a:ext cx="2773680" cy="164592"/>
          </a:xfrm>
          <a:prstGeom prst="rect">
            <a:avLst/>
          </a:prstGeom>
          <a:solidFill>
            <a:srgbClr val="1A1D21"/>
          </a:solidFill>
          <a:ln/>
        </p:spPr>
      </p:sp>
      <p:sp>
        <p:nvSpPr>
          <p:cNvPr id="24" name="Text 21"/>
          <p:cNvSpPr txBox="1"/>
          <p:nvPr/>
        </p:nvSpPr>
        <p:spPr>
          <a:xfrm>
            <a:off x="5928360" y="3172968"/>
            <a:ext cx="640080" cy="256032"/>
          </a:xfrm>
          <a:prstGeom prst="rect">
            <a:avLst/>
          </a:prstGeom>
          <a:noFill/>
          <a:ln/>
        </p:spPr>
        <p:txBody>
          <a:bodyPr wrap="square" lIns="0" tIns="0" rIns="0" bIns="0" rtlCol="0" anchor="ctr"/>
          <a:lstStyle/>
          <a:p>
            <a:pPr indent="0" marL="0">
              <a:buNone/>
            </a:pPr>
            <a:r>
              <a:rPr lang="en-US" sz="1050" dirty="0">
                <a:solidFill>
                  <a:srgbClr val="1F2124"/>
                </a:solidFill>
                <a:latin typeface="Inter" pitchFamily="34" charset="0"/>
                <a:ea typeface="Inter" pitchFamily="34" charset="-122"/>
                <a:cs typeface="Inter" pitchFamily="34" charset="-120"/>
              </a:rPr>
              <a:t>7.000</a:t>
            </a:r>
            <a:endParaRPr lang="en-US" sz="1050" dirty="0"/>
          </a:p>
        </p:txBody>
      </p:sp>
      <p:sp>
        <p:nvSpPr>
          <p:cNvPr id="25" name="Text 22"/>
          <p:cNvSpPr txBox="1"/>
          <p:nvPr/>
        </p:nvSpPr>
        <p:spPr>
          <a:xfrm>
            <a:off x="731520" y="3447288"/>
            <a:ext cx="960120" cy="256032"/>
          </a:xfrm>
          <a:prstGeom prst="rect">
            <a:avLst/>
          </a:prstGeom>
          <a:noFill/>
          <a:ln/>
        </p:spPr>
        <p:txBody>
          <a:bodyPr wrap="square" lIns="0" tIns="0" rIns="0" bIns="0" rtlCol="0" anchor="ctr"/>
          <a:lstStyle/>
          <a:p>
            <a:pPr indent="0" marL="0">
              <a:buNone/>
            </a:pPr>
            <a:r>
              <a:rPr lang="en-US" sz="1100" b="1" dirty="0">
                <a:solidFill>
                  <a:srgbClr val="1F2124"/>
                </a:solidFill>
                <a:latin typeface="Inter" pitchFamily="34" charset="0"/>
                <a:ea typeface="Inter" pitchFamily="34" charset="-122"/>
                <a:cs typeface="Inter" pitchFamily="34" charset="-120"/>
              </a:rPr>
              <a:t>Mubadala</a:t>
            </a:r>
            <a:endParaRPr lang="en-US" sz="1100" dirty="0"/>
          </a:p>
        </p:txBody>
      </p:sp>
      <p:sp>
        <p:nvSpPr>
          <p:cNvPr id="26" name="Text 23"/>
          <p:cNvSpPr txBox="1"/>
          <p:nvPr/>
        </p:nvSpPr>
        <p:spPr>
          <a:xfrm>
            <a:off x="1691640" y="3447288"/>
            <a:ext cx="1371600" cy="256032"/>
          </a:xfrm>
          <a:prstGeom prst="rect">
            <a:avLst/>
          </a:prstGeom>
          <a:noFill/>
          <a:ln/>
        </p:spPr>
        <p:txBody>
          <a:bodyPr wrap="square" lIns="0" tIns="0" rIns="0" bIns="0" rtlCol="0" anchor="ctr"/>
          <a:lstStyle/>
          <a:p>
            <a:pPr indent="0" marL="0">
              <a:buNone/>
            </a:pPr>
            <a:r>
              <a:rPr lang="en-US" sz="1000" dirty="0">
                <a:solidFill>
                  <a:srgbClr val="6E7378"/>
                </a:solidFill>
                <a:latin typeface="Inter" pitchFamily="34" charset="0"/>
                <a:ea typeface="Inter" pitchFamily="34" charset="-122"/>
                <a:cs typeface="Inter" pitchFamily="34" charset="-120"/>
              </a:rPr>
              <a:t>Abu Dabi</a:t>
            </a:r>
            <a:endParaRPr lang="en-US" sz="1000" dirty="0"/>
          </a:p>
        </p:txBody>
      </p:sp>
      <p:sp>
        <p:nvSpPr>
          <p:cNvPr id="27" name="Shape 24"/>
          <p:cNvSpPr/>
          <p:nvPr/>
        </p:nvSpPr>
        <p:spPr>
          <a:xfrm>
            <a:off x="3108960" y="3493008"/>
            <a:ext cx="1981200" cy="164592"/>
          </a:xfrm>
          <a:prstGeom prst="rect">
            <a:avLst/>
          </a:prstGeom>
          <a:solidFill>
            <a:srgbClr val="1A1D21"/>
          </a:solidFill>
          <a:ln/>
        </p:spPr>
      </p:sp>
      <p:sp>
        <p:nvSpPr>
          <p:cNvPr id="28" name="Text 25"/>
          <p:cNvSpPr txBox="1"/>
          <p:nvPr/>
        </p:nvSpPr>
        <p:spPr>
          <a:xfrm>
            <a:off x="5135880" y="3447288"/>
            <a:ext cx="640080" cy="256032"/>
          </a:xfrm>
          <a:prstGeom prst="rect">
            <a:avLst/>
          </a:prstGeom>
          <a:noFill/>
          <a:ln/>
        </p:spPr>
        <p:txBody>
          <a:bodyPr wrap="square" lIns="0" tIns="0" rIns="0" bIns="0" rtlCol="0" anchor="ctr"/>
          <a:lstStyle/>
          <a:p>
            <a:pPr indent="0" marL="0">
              <a:buNone/>
            </a:pPr>
            <a:r>
              <a:rPr lang="en-US" sz="1050" dirty="0">
                <a:solidFill>
                  <a:srgbClr val="1F2124"/>
                </a:solidFill>
                <a:latin typeface="Inter" pitchFamily="34" charset="0"/>
                <a:ea typeface="Inter" pitchFamily="34" charset="-122"/>
                <a:cs typeface="Inter" pitchFamily="34" charset="-120"/>
              </a:rPr>
              <a:t>5.000</a:t>
            </a:r>
            <a:endParaRPr lang="en-US" sz="1050" dirty="0"/>
          </a:p>
        </p:txBody>
      </p:sp>
      <p:sp>
        <p:nvSpPr>
          <p:cNvPr id="29" name="Text 26"/>
          <p:cNvSpPr txBox="1"/>
          <p:nvPr/>
        </p:nvSpPr>
        <p:spPr>
          <a:xfrm>
            <a:off x="731520" y="3721608"/>
            <a:ext cx="960120" cy="256032"/>
          </a:xfrm>
          <a:prstGeom prst="rect">
            <a:avLst/>
          </a:prstGeom>
          <a:noFill/>
          <a:ln/>
        </p:spPr>
        <p:txBody>
          <a:bodyPr wrap="square" lIns="0" tIns="0" rIns="0" bIns="0" rtlCol="0" anchor="ctr"/>
          <a:lstStyle/>
          <a:p>
            <a:pPr indent="0" marL="0">
              <a:buNone/>
            </a:pPr>
            <a:r>
              <a:rPr lang="en-US" sz="1100" b="1" dirty="0">
                <a:solidFill>
                  <a:srgbClr val="1F2124"/>
                </a:solidFill>
                <a:latin typeface="Inter" pitchFamily="34" charset="0"/>
                <a:ea typeface="Inter" pitchFamily="34" charset="-122"/>
                <a:cs typeface="Inter" pitchFamily="34" charset="-120"/>
              </a:rPr>
              <a:t>Temasek</a:t>
            </a:r>
            <a:endParaRPr lang="en-US" sz="1100" dirty="0"/>
          </a:p>
        </p:txBody>
      </p:sp>
      <p:sp>
        <p:nvSpPr>
          <p:cNvPr id="30" name="Text 27"/>
          <p:cNvSpPr txBox="1"/>
          <p:nvPr/>
        </p:nvSpPr>
        <p:spPr>
          <a:xfrm>
            <a:off x="1691640" y="3721608"/>
            <a:ext cx="1371600" cy="256032"/>
          </a:xfrm>
          <a:prstGeom prst="rect">
            <a:avLst/>
          </a:prstGeom>
          <a:noFill/>
          <a:ln/>
        </p:spPr>
        <p:txBody>
          <a:bodyPr wrap="square" lIns="0" tIns="0" rIns="0" bIns="0" rtlCol="0" anchor="ctr"/>
          <a:lstStyle/>
          <a:p>
            <a:pPr indent="0" marL="0">
              <a:buNone/>
            </a:pPr>
            <a:r>
              <a:rPr lang="en-US" sz="1000" dirty="0">
                <a:solidFill>
                  <a:srgbClr val="6E7378"/>
                </a:solidFill>
                <a:latin typeface="Inter" pitchFamily="34" charset="0"/>
                <a:ea typeface="Inter" pitchFamily="34" charset="-122"/>
                <a:cs typeface="Inter" pitchFamily="34" charset="-120"/>
              </a:rPr>
              <a:t>Singapur</a:t>
            </a:r>
            <a:endParaRPr lang="en-US" sz="1000" dirty="0"/>
          </a:p>
        </p:txBody>
      </p:sp>
      <p:sp>
        <p:nvSpPr>
          <p:cNvPr id="31" name="Shape 28"/>
          <p:cNvSpPr/>
          <p:nvPr/>
        </p:nvSpPr>
        <p:spPr>
          <a:xfrm>
            <a:off x="3108960" y="3767328"/>
            <a:ext cx="986241" cy="164592"/>
          </a:xfrm>
          <a:prstGeom prst="rect">
            <a:avLst/>
          </a:prstGeom>
          <a:solidFill>
            <a:srgbClr val="1A1D21"/>
          </a:solidFill>
          <a:ln/>
        </p:spPr>
      </p:sp>
      <p:sp>
        <p:nvSpPr>
          <p:cNvPr id="32" name="Text 29"/>
          <p:cNvSpPr txBox="1"/>
          <p:nvPr/>
        </p:nvSpPr>
        <p:spPr>
          <a:xfrm>
            <a:off x="4140921" y="3721608"/>
            <a:ext cx="640080" cy="256032"/>
          </a:xfrm>
          <a:prstGeom prst="rect">
            <a:avLst/>
          </a:prstGeom>
          <a:noFill/>
          <a:ln/>
        </p:spPr>
        <p:txBody>
          <a:bodyPr wrap="square" lIns="0" tIns="0" rIns="0" bIns="0" rtlCol="0" anchor="ctr"/>
          <a:lstStyle/>
          <a:p>
            <a:pPr indent="0" marL="0">
              <a:buNone/>
            </a:pPr>
            <a:r>
              <a:rPr lang="en-US" sz="1050" dirty="0">
                <a:solidFill>
                  <a:srgbClr val="1F2124"/>
                </a:solidFill>
                <a:latin typeface="Inter" pitchFamily="34" charset="0"/>
                <a:ea typeface="Inter" pitchFamily="34" charset="-122"/>
                <a:cs typeface="Inter" pitchFamily="34" charset="-120"/>
              </a:rPr>
              <a:t>2.489</a:t>
            </a:r>
            <a:endParaRPr lang="en-US" sz="1050" dirty="0"/>
          </a:p>
        </p:txBody>
      </p:sp>
      <p:sp>
        <p:nvSpPr>
          <p:cNvPr id="33" name="Shape 30"/>
          <p:cNvSpPr/>
          <p:nvPr/>
        </p:nvSpPr>
        <p:spPr>
          <a:xfrm>
            <a:off x="548640" y="4133088"/>
            <a:ext cx="73152" cy="274320"/>
          </a:xfrm>
          <a:prstGeom prst="rect">
            <a:avLst/>
          </a:prstGeom>
          <a:solidFill>
            <a:srgbClr val="1F4B3F"/>
          </a:solidFill>
          <a:ln/>
        </p:spPr>
      </p:sp>
      <p:sp>
        <p:nvSpPr>
          <p:cNvPr id="34" name="Text 31"/>
          <p:cNvSpPr txBox="1"/>
          <p:nvPr/>
        </p:nvSpPr>
        <p:spPr>
          <a:xfrm>
            <a:off x="731520" y="4133088"/>
            <a:ext cx="2743200" cy="274320"/>
          </a:xfrm>
          <a:prstGeom prst="rect">
            <a:avLst/>
          </a:prstGeom>
          <a:noFill/>
          <a:ln/>
        </p:spPr>
        <p:txBody>
          <a:bodyPr wrap="square" lIns="0" tIns="0" rIns="0" bIns="0" rtlCol="0" anchor="ctr"/>
          <a:lstStyle/>
          <a:p>
            <a:pPr indent="0" marL="0">
              <a:buNone/>
            </a:pPr>
            <a:r>
              <a:rPr lang="en-US" sz="1400" b="1" dirty="0">
                <a:solidFill>
                  <a:srgbClr val="1A1D21"/>
                </a:solidFill>
                <a:latin typeface="Inter" pitchFamily="34" charset="0"/>
                <a:ea typeface="Inter" pitchFamily="34" charset="-122"/>
                <a:cs typeface="Inter" pitchFamily="34" charset="-120"/>
              </a:rPr>
              <a:t>Fondos de pensiones</a:t>
            </a:r>
            <a:endParaRPr lang="en-US" sz="1400" dirty="0"/>
          </a:p>
        </p:txBody>
      </p:sp>
      <p:sp>
        <p:nvSpPr>
          <p:cNvPr id="35" name="Text 32"/>
          <p:cNvSpPr txBox="1"/>
          <p:nvPr/>
        </p:nvSpPr>
        <p:spPr>
          <a:xfrm>
            <a:off x="4114800" y="4133088"/>
            <a:ext cx="3291840" cy="274320"/>
          </a:xfrm>
          <a:prstGeom prst="rect">
            <a:avLst/>
          </a:prstGeom>
          <a:noFill/>
          <a:ln/>
        </p:spPr>
        <p:txBody>
          <a:bodyPr wrap="square" lIns="0" tIns="0" rIns="0" bIns="0" rtlCol="0" anchor="ctr"/>
          <a:lstStyle/>
          <a:p>
            <a:pPr algn="r" indent="0" marL="0">
              <a:buNone/>
            </a:pPr>
            <a:r>
              <a:rPr lang="en-US" sz="1200" b="1" dirty="0">
                <a:solidFill>
                  <a:srgbClr val="1F4B3F"/>
                </a:solidFill>
                <a:latin typeface="Inter" pitchFamily="34" charset="0"/>
                <a:ea typeface="Inter" pitchFamily="34" charset="-122"/>
                <a:cs typeface="Inter" pitchFamily="34" charset="-120"/>
              </a:rPr>
              <a:t>4 inversores · €15.500m</a:t>
            </a:r>
            <a:endParaRPr lang="en-US" sz="1200" dirty="0"/>
          </a:p>
        </p:txBody>
      </p:sp>
      <p:sp>
        <p:nvSpPr>
          <p:cNvPr id="36" name="Text 33"/>
          <p:cNvSpPr txBox="1"/>
          <p:nvPr/>
        </p:nvSpPr>
        <p:spPr>
          <a:xfrm>
            <a:off x="731520" y="4443984"/>
            <a:ext cx="6675120" cy="411480"/>
          </a:xfrm>
          <a:prstGeom prst="rect">
            <a:avLst/>
          </a:prstGeom>
          <a:noFill/>
          <a:ln/>
        </p:spPr>
        <p:txBody>
          <a:bodyPr wrap="square" lIns="0" tIns="0" rIns="0" bIns="0" rtlCol="0" anchor="t"/>
          <a:lstStyle/>
          <a:p>
            <a:pPr indent="0" marL="0">
              <a:buNone/>
            </a:pPr>
            <a:r>
              <a:rPr lang="en-US" sz="1050" dirty="0">
                <a:solidFill>
                  <a:srgbClr val="6E7378"/>
                </a:solidFill>
                <a:latin typeface="Inter" pitchFamily="34" charset="0"/>
                <a:ea typeface="Inter" pitchFamily="34" charset="-122"/>
                <a:cs typeface="Inter" pitchFamily="34" charset="-120"/>
              </a:rPr>
              <a:t>Necesitan rentabilidades reales a largo plazo para pagar pensiones; co-invierten para entrar directamente en activos grandes.</a:t>
            </a:r>
            <a:endParaRPr lang="en-US" sz="1050" dirty="0"/>
          </a:p>
        </p:txBody>
      </p:sp>
      <p:sp>
        <p:nvSpPr>
          <p:cNvPr id="37" name="Text 34"/>
          <p:cNvSpPr txBox="1"/>
          <p:nvPr/>
        </p:nvSpPr>
        <p:spPr>
          <a:xfrm>
            <a:off x="731520" y="4910328"/>
            <a:ext cx="960120" cy="256032"/>
          </a:xfrm>
          <a:prstGeom prst="rect">
            <a:avLst/>
          </a:prstGeom>
          <a:noFill/>
          <a:ln/>
        </p:spPr>
        <p:txBody>
          <a:bodyPr wrap="square" lIns="0" tIns="0" rIns="0" bIns="0" rtlCol="0" anchor="ctr"/>
          <a:lstStyle/>
          <a:p>
            <a:pPr indent="0" marL="0">
              <a:buNone/>
            </a:pPr>
            <a:r>
              <a:rPr lang="en-US" sz="1100" b="1" dirty="0">
                <a:solidFill>
                  <a:srgbClr val="1F2124"/>
                </a:solidFill>
                <a:latin typeface="Inter" pitchFamily="34" charset="0"/>
                <a:ea typeface="Inter" pitchFamily="34" charset="-122"/>
                <a:cs typeface="Inter" pitchFamily="34" charset="-120"/>
              </a:rPr>
              <a:t>CPP</a:t>
            </a:r>
            <a:endParaRPr lang="en-US" sz="1100" dirty="0"/>
          </a:p>
        </p:txBody>
      </p:sp>
      <p:sp>
        <p:nvSpPr>
          <p:cNvPr id="38" name="Text 35"/>
          <p:cNvSpPr txBox="1"/>
          <p:nvPr/>
        </p:nvSpPr>
        <p:spPr>
          <a:xfrm>
            <a:off x="1691640" y="4910328"/>
            <a:ext cx="1371600" cy="256032"/>
          </a:xfrm>
          <a:prstGeom prst="rect">
            <a:avLst/>
          </a:prstGeom>
          <a:noFill/>
          <a:ln/>
        </p:spPr>
        <p:txBody>
          <a:bodyPr wrap="square" lIns="0" tIns="0" rIns="0" bIns="0" rtlCol="0" anchor="ctr"/>
          <a:lstStyle/>
          <a:p>
            <a:pPr indent="0" marL="0">
              <a:buNone/>
            </a:pPr>
            <a:r>
              <a:rPr lang="en-US" sz="1000" dirty="0">
                <a:solidFill>
                  <a:srgbClr val="6E7378"/>
                </a:solidFill>
                <a:latin typeface="Inter" pitchFamily="34" charset="0"/>
                <a:ea typeface="Inter" pitchFamily="34" charset="-122"/>
                <a:cs typeface="Inter" pitchFamily="34" charset="-120"/>
              </a:rPr>
              <a:t>Canadá</a:t>
            </a:r>
            <a:endParaRPr lang="en-US" sz="1000" dirty="0"/>
          </a:p>
        </p:txBody>
      </p:sp>
      <p:sp>
        <p:nvSpPr>
          <p:cNvPr id="39" name="Shape 36"/>
          <p:cNvSpPr/>
          <p:nvPr/>
        </p:nvSpPr>
        <p:spPr>
          <a:xfrm>
            <a:off x="3108960" y="4956048"/>
            <a:ext cx="1981200" cy="164592"/>
          </a:xfrm>
          <a:prstGeom prst="rect">
            <a:avLst/>
          </a:prstGeom>
          <a:solidFill>
            <a:srgbClr val="1F4B3F"/>
          </a:solidFill>
          <a:ln/>
        </p:spPr>
      </p:sp>
      <p:sp>
        <p:nvSpPr>
          <p:cNvPr id="40" name="Text 37"/>
          <p:cNvSpPr txBox="1"/>
          <p:nvPr/>
        </p:nvSpPr>
        <p:spPr>
          <a:xfrm>
            <a:off x="5135880" y="4910328"/>
            <a:ext cx="640080" cy="256032"/>
          </a:xfrm>
          <a:prstGeom prst="rect">
            <a:avLst/>
          </a:prstGeom>
          <a:noFill/>
          <a:ln/>
        </p:spPr>
        <p:txBody>
          <a:bodyPr wrap="square" lIns="0" tIns="0" rIns="0" bIns="0" rtlCol="0" anchor="ctr"/>
          <a:lstStyle/>
          <a:p>
            <a:pPr indent="0" marL="0">
              <a:buNone/>
            </a:pPr>
            <a:r>
              <a:rPr lang="en-US" sz="1050" dirty="0">
                <a:solidFill>
                  <a:srgbClr val="1F2124"/>
                </a:solidFill>
                <a:latin typeface="Inter" pitchFamily="34" charset="0"/>
                <a:ea typeface="Inter" pitchFamily="34" charset="-122"/>
                <a:cs typeface="Inter" pitchFamily="34" charset="-120"/>
              </a:rPr>
              <a:t>5.000</a:t>
            </a:r>
            <a:endParaRPr lang="en-US" sz="1050" dirty="0"/>
          </a:p>
        </p:txBody>
      </p:sp>
      <p:sp>
        <p:nvSpPr>
          <p:cNvPr id="41" name="Text 38"/>
          <p:cNvSpPr txBox="1"/>
          <p:nvPr/>
        </p:nvSpPr>
        <p:spPr>
          <a:xfrm>
            <a:off x="731520" y="5184648"/>
            <a:ext cx="960120" cy="256032"/>
          </a:xfrm>
          <a:prstGeom prst="rect">
            <a:avLst/>
          </a:prstGeom>
          <a:noFill/>
          <a:ln/>
        </p:spPr>
        <p:txBody>
          <a:bodyPr wrap="square" lIns="0" tIns="0" rIns="0" bIns="0" rtlCol="0" anchor="ctr"/>
          <a:lstStyle/>
          <a:p>
            <a:pPr indent="0" marL="0">
              <a:buNone/>
            </a:pPr>
            <a:r>
              <a:rPr lang="en-US" sz="1100" b="1" dirty="0">
                <a:solidFill>
                  <a:srgbClr val="1F2124"/>
                </a:solidFill>
                <a:latin typeface="Inter" pitchFamily="34" charset="0"/>
                <a:ea typeface="Inter" pitchFamily="34" charset="-122"/>
                <a:cs typeface="Inter" pitchFamily="34" charset="-120"/>
              </a:rPr>
              <a:t>CDPQ</a:t>
            </a:r>
            <a:endParaRPr lang="en-US" sz="1100" dirty="0"/>
          </a:p>
        </p:txBody>
      </p:sp>
      <p:sp>
        <p:nvSpPr>
          <p:cNvPr id="42" name="Text 39"/>
          <p:cNvSpPr txBox="1"/>
          <p:nvPr/>
        </p:nvSpPr>
        <p:spPr>
          <a:xfrm>
            <a:off x="1691640" y="5184648"/>
            <a:ext cx="1371600" cy="256032"/>
          </a:xfrm>
          <a:prstGeom prst="rect">
            <a:avLst/>
          </a:prstGeom>
          <a:noFill/>
          <a:ln/>
        </p:spPr>
        <p:txBody>
          <a:bodyPr wrap="square" lIns="0" tIns="0" rIns="0" bIns="0" rtlCol="0" anchor="ctr"/>
          <a:lstStyle/>
          <a:p>
            <a:pPr indent="0" marL="0">
              <a:buNone/>
            </a:pPr>
            <a:r>
              <a:rPr lang="en-US" sz="1000" dirty="0">
                <a:solidFill>
                  <a:srgbClr val="6E7378"/>
                </a:solidFill>
                <a:latin typeface="Inter" pitchFamily="34" charset="0"/>
                <a:ea typeface="Inter" pitchFamily="34" charset="-122"/>
                <a:cs typeface="Inter" pitchFamily="34" charset="-120"/>
              </a:rPr>
              <a:t>Canadá (Quebec)</a:t>
            </a:r>
            <a:endParaRPr lang="en-US" sz="1000" dirty="0"/>
          </a:p>
        </p:txBody>
      </p:sp>
      <p:sp>
        <p:nvSpPr>
          <p:cNvPr id="43" name="Shape 40"/>
          <p:cNvSpPr/>
          <p:nvPr/>
        </p:nvSpPr>
        <p:spPr>
          <a:xfrm>
            <a:off x="3108960" y="5230368"/>
            <a:ext cx="1584960" cy="164592"/>
          </a:xfrm>
          <a:prstGeom prst="rect">
            <a:avLst/>
          </a:prstGeom>
          <a:solidFill>
            <a:srgbClr val="1F4B3F"/>
          </a:solidFill>
          <a:ln/>
        </p:spPr>
      </p:sp>
      <p:sp>
        <p:nvSpPr>
          <p:cNvPr id="44" name="Text 41"/>
          <p:cNvSpPr txBox="1"/>
          <p:nvPr/>
        </p:nvSpPr>
        <p:spPr>
          <a:xfrm>
            <a:off x="4739640" y="5184648"/>
            <a:ext cx="640080" cy="256032"/>
          </a:xfrm>
          <a:prstGeom prst="rect">
            <a:avLst/>
          </a:prstGeom>
          <a:noFill/>
          <a:ln/>
        </p:spPr>
        <p:txBody>
          <a:bodyPr wrap="square" lIns="0" tIns="0" rIns="0" bIns="0" rtlCol="0" anchor="ctr"/>
          <a:lstStyle/>
          <a:p>
            <a:pPr indent="0" marL="0">
              <a:buNone/>
            </a:pPr>
            <a:r>
              <a:rPr lang="en-US" sz="1050" dirty="0">
                <a:solidFill>
                  <a:srgbClr val="1F2124"/>
                </a:solidFill>
                <a:latin typeface="Inter" pitchFamily="34" charset="0"/>
                <a:ea typeface="Inter" pitchFamily="34" charset="-122"/>
                <a:cs typeface="Inter" pitchFamily="34" charset="-120"/>
              </a:rPr>
              <a:t>4.000</a:t>
            </a:r>
            <a:endParaRPr lang="en-US" sz="1050" dirty="0"/>
          </a:p>
        </p:txBody>
      </p:sp>
      <p:sp>
        <p:nvSpPr>
          <p:cNvPr id="45" name="Text 42"/>
          <p:cNvSpPr txBox="1"/>
          <p:nvPr/>
        </p:nvSpPr>
        <p:spPr>
          <a:xfrm>
            <a:off x="731520" y="5458968"/>
            <a:ext cx="960120" cy="256032"/>
          </a:xfrm>
          <a:prstGeom prst="rect">
            <a:avLst/>
          </a:prstGeom>
          <a:noFill/>
          <a:ln/>
        </p:spPr>
        <p:txBody>
          <a:bodyPr wrap="square" lIns="0" tIns="0" rIns="0" bIns="0" rtlCol="0" anchor="ctr"/>
          <a:lstStyle/>
          <a:p>
            <a:pPr indent="0" marL="0">
              <a:buNone/>
            </a:pPr>
            <a:r>
              <a:rPr lang="en-US" sz="1100" b="1" dirty="0">
                <a:solidFill>
                  <a:srgbClr val="1F2124"/>
                </a:solidFill>
                <a:latin typeface="Inter" pitchFamily="34" charset="0"/>
                <a:ea typeface="Inter" pitchFamily="34" charset="-122"/>
                <a:cs typeface="Inter" pitchFamily="34" charset="-120"/>
              </a:rPr>
              <a:t>OTPP</a:t>
            </a:r>
            <a:endParaRPr lang="en-US" sz="1100" dirty="0"/>
          </a:p>
        </p:txBody>
      </p:sp>
      <p:sp>
        <p:nvSpPr>
          <p:cNvPr id="46" name="Text 43"/>
          <p:cNvSpPr txBox="1"/>
          <p:nvPr/>
        </p:nvSpPr>
        <p:spPr>
          <a:xfrm>
            <a:off x="1691640" y="5458968"/>
            <a:ext cx="1371600" cy="256032"/>
          </a:xfrm>
          <a:prstGeom prst="rect">
            <a:avLst/>
          </a:prstGeom>
          <a:noFill/>
          <a:ln/>
        </p:spPr>
        <p:txBody>
          <a:bodyPr wrap="square" lIns="0" tIns="0" rIns="0" bIns="0" rtlCol="0" anchor="ctr"/>
          <a:lstStyle/>
          <a:p>
            <a:pPr indent="0" marL="0">
              <a:buNone/>
            </a:pPr>
            <a:r>
              <a:rPr lang="en-US" sz="1000" dirty="0">
                <a:solidFill>
                  <a:srgbClr val="6E7378"/>
                </a:solidFill>
                <a:latin typeface="Inter" pitchFamily="34" charset="0"/>
                <a:ea typeface="Inter" pitchFamily="34" charset="-122"/>
                <a:cs typeface="Inter" pitchFamily="34" charset="-120"/>
              </a:rPr>
              <a:t>Canadá (Ontario)</a:t>
            </a:r>
            <a:endParaRPr lang="en-US" sz="1000" dirty="0"/>
          </a:p>
        </p:txBody>
      </p:sp>
      <p:sp>
        <p:nvSpPr>
          <p:cNvPr id="47" name="Shape 44"/>
          <p:cNvSpPr/>
          <p:nvPr/>
        </p:nvSpPr>
        <p:spPr>
          <a:xfrm>
            <a:off x="3108960" y="5504688"/>
            <a:ext cx="1584960" cy="164592"/>
          </a:xfrm>
          <a:prstGeom prst="rect">
            <a:avLst/>
          </a:prstGeom>
          <a:solidFill>
            <a:srgbClr val="1F4B3F"/>
          </a:solidFill>
          <a:ln/>
        </p:spPr>
      </p:sp>
      <p:sp>
        <p:nvSpPr>
          <p:cNvPr id="48" name="Text 45"/>
          <p:cNvSpPr txBox="1"/>
          <p:nvPr/>
        </p:nvSpPr>
        <p:spPr>
          <a:xfrm>
            <a:off x="4739640" y="5458968"/>
            <a:ext cx="640080" cy="256032"/>
          </a:xfrm>
          <a:prstGeom prst="rect">
            <a:avLst/>
          </a:prstGeom>
          <a:noFill/>
          <a:ln/>
        </p:spPr>
        <p:txBody>
          <a:bodyPr wrap="square" lIns="0" tIns="0" rIns="0" bIns="0" rtlCol="0" anchor="ctr"/>
          <a:lstStyle/>
          <a:p>
            <a:pPr indent="0" marL="0">
              <a:buNone/>
            </a:pPr>
            <a:r>
              <a:rPr lang="en-US" sz="1050" dirty="0">
                <a:solidFill>
                  <a:srgbClr val="1F2124"/>
                </a:solidFill>
                <a:latin typeface="Inter" pitchFamily="34" charset="0"/>
                <a:ea typeface="Inter" pitchFamily="34" charset="-122"/>
                <a:cs typeface="Inter" pitchFamily="34" charset="-120"/>
              </a:rPr>
              <a:t>4.000</a:t>
            </a:r>
            <a:endParaRPr lang="en-US" sz="1050" dirty="0"/>
          </a:p>
        </p:txBody>
      </p:sp>
      <p:sp>
        <p:nvSpPr>
          <p:cNvPr id="49" name="Text 46"/>
          <p:cNvSpPr txBox="1"/>
          <p:nvPr/>
        </p:nvSpPr>
        <p:spPr>
          <a:xfrm>
            <a:off x="731520" y="5733288"/>
            <a:ext cx="960120" cy="256032"/>
          </a:xfrm>
          <a:prstGeom prst="rect">
            <a:avLst/>
          </a:prstGeom>
          <a:noFill/>
          <a:ln/>
        </p:spPr>
        <p:txBody>
          <a:bodyPr wrap="square" lIns="0" tIns="0" rIns="0" bIns="0" rtlCol="0" anchor="ctr"/>
          <a:lstStyle/>
          <a:p>
            <a:pPr indent="0" marL="0">
              <a:buNone/>
            </a:pPr>
            <a:r>
              <a:rPr lang="en-US" sz="1100" b="1" dirty="0">
                <a:solidFill>
                  <a:srgbClr val="1F2124"/>
                </a:solidFill>
                <a:latin typeface="Inter" pitchFamily="34" charset="0"/>
                <a:ea typeface="Inter" pitchFamily="34" charset="-122"/>
                <a:cs typeface="Inter" pitchFamily="34" charset="-120"/>
              </a:rPr>
              <a:t>APG</a:t>
            </a:r>
            <a:endParaRPr lang="en-US" sz="1100" dirty="0"/>
          </a:p>
        </p:txBody>
      </p:sp>
      <p:sp>
        <p:nvSpPr>
          <p:cNvPr id="50" name="Text 47"/>
          <p:cNvSpPr txBox="1"/>
          <p:nvPr/>
        </p:nvSpPr>
        <p:spPr>
          <a:xfrm>
            <a:off x="1691640" y="5733288"/>
            <a:ext cx="1371600" cy="256032"/>
          </a:xfrm>
          <a:prstGeom prst="rect">
            <a:avLst/>
          </a:prstGeom>
          <a:noFill/>
          <a:ln/>
        </p:spPr>
        <p:txBody>
          <a:bodyPr wrap="square" lIns="0" tIns="0" rIns="0" bIns="0" rtlCol="0" anchor="ctr"/>
          <a:lstStyle/>
          <a:p>
            <a:pPr indent="0" marL="0">
              <a:buNone/>
            </a:pPr>
            <a:r>
              <a:rPr lang="en-US" sz="1000" dirty="0">
                <a:solidFill>
                  <a:srgbClr val="6E7378"/>
                </a:solidFill>
                <a:latin typeface="Inter" pitchFamily="34" charset="0"/>
                <a:ea typeface="Inter" pitchFamily="34" charset="-122"/>
                <a:cs typeface="Inter" pitchFamily="34" charset="-120"/>
              </a:rPr>
              <a:t>Países Bajos</a:t>
            </a:r>
            <a:endParaRPr lang="en-US" sz="1000" dirty="0"/>
          </a:p>
        </p:txBody>
      </p:sp>
      <p:sp>
        <p:nvSpPr>
          <p:cNvPr id="51" name="Shape 48"/>
          <p:cNvSpPr/>
          <p:nvPr/>
        </p:nvSpPr>
        <p:spPr>
          <a:xfrm>
            <a:off x="3108960" y="5779008"/>
            <a:ext cx="990600" cy="164592"/>
          </a:xfrm>
          <a:prstGeom prst="rect">
            <a:avLst/>
          </a:prstGeom>
          <a:solidFill>
            <a:srgbClr val="1F4B3F"/>
          </a:solidFill>
          <a:ln/>
        </p:spPr>
      </p:sp>
      <p:sp>
        <p:nvSpPr>
          <p:cNvPr id="52" name="Text 49"/>
          <p:cNvSpPr txBox="1"/>
          <p:nvPr/>
        </p:nvSpPr>
        <p:spPr>
          <a:xfrm>
            <a:off x="4145280" y="5733288"/>
            <a:ext cx="640080" cy="256032"/>
          </a:xfrm>
          <a:prstGeom prst="rect">
            <a:avLst/>
          </a:prstGeom>
          <a:noFill/>
          <a:ln/>
        </p:spPr>
        <p:txBody>
          <a:bodyPr wrap="square" lIns="0" tIns="0" rIns="0" bIns="0" rtlCol="0" anchor="ctr"/>
          <a:lstStyle/>
          <a:p>
            <a:pPr indent="0" marL="0">
              <a:buNone/>
            </a:pPr>
            <a:r>
              <a:rPr lang="en-US" sz="1050" dirty="0">
                <a:solidFill>
                  <a:srgbClr val="1F2124"/>
                </a:solidFill>
                <a:latin typeface="Inter" pitchFamily="34" charset="0"/>
                <a:ea typeface="Inter" pitchFamily="34" charset="-122"/>
                <a:cs typeface="Inter" pitchFamily="34" charset="-120"/>
              </a:rPr>
              <a:t>2.500</a:t>
            </a:r>
            <a:endParaRPr lang="en-US" sz="1050" dirty="0"/>
          </a:p>
        </p:txBody>
      </p:sp>
      <p:sp>
        <p:nvSpPr>
          <p:cNvPr id="53" name="Shape 50"/>
          <p:cNvSpPr/>
          <p:nvPr/>
        </p:nvSpPr>
        <p:spPr>
          <a:xfrm>
            <a:off x="7772400" y="1572768"/>
            <a:ext cx="3867912" cy="4599432"/>
          </a:xfrm>
          <a:prstGeom prst="rect">
            <a:avLst>
              <a:gd name="adj" fmla="val 1418"/>
            </a:avLst>
          </a:prstGeom>
          <a:solidFill>
            <a:srgbClr val="1A1D21"/>
          </a:solidFill>
          <a:ln/>
        </p:spPr>
      </p:sp>
      <p:sp>
        <p:nvSpPr>
          <p:cNvPr id="54" name="Text 51"/>
          <p:cNvSpPr txBox="1"/>
          <p:nvPr/>
        </p:nvSpPr>
        <p:spPr>
          <a:xfrm>
            <a:off x="7973568" y="1719072"/>
            <a:ext cx="3474720" cy="292608"/>
          </a:xfrm>
          <a:prstGeom prst="rect">
            <a:avLst/>
          </a:prstGeom>
          <a:noFill/>
          <a:ln/>
        </p:spPr>
        <p:txBody>
          <a:bodyPr wrap="square" lIns="0" tIns="0" rIns="0" bIns="0" rtlCol="0" anchor="t"/>
          <a:lstStyle/>
          <a:p>
            <a:pPr indent="0" marL="0">
              <a:buNone/>
            </a:pPr>
            <a:r>
              <a:rPr lang="en-US" sz="1500" b="1" dirty="0">
                <a:solidFill>
                  <a:srgbClr val="A8C9B8"/>
                </a:solidFill>
                <a:latin typeface="Inter" pitchFamily="34" charset="0"/>
                <a:ea typeface="Inter" pitchFamily="34" charset="-122"/>
                <a:cs typeface="Inter" pitchFamily="34" charset="-120"/>
              </a:rPr>
              <a:t>Por qué co-invierten</a:t>
            </a:r>
            <a:endParaRPr lang="en-US" sz="1500" dirty="0"/>
          </a:p>
        </p:txBody>
      </p:sp>
      <p:sp>
        <p:nvSpPr>
          <p:cNvPr id="55" name="Shape 52"/>
          <p:cNvSpPr/>
          <p:nvPr/>
        </p:nvSpPr>
        <p:spPr>
          <a:xfrm>
            <a:off x="7973568" y="2148840"/>
            <a:ext cx="310896" cy="310896"/>
          </a:xfrm>
          <a:prstGeom prst="rect">
            <a:avLst/>
          </a:prstGeom>
          <a:solidFill>
            <a:srgbClr val="1F4B3F"/>
          </a:solidFill>
          <a:ln/>
        </p:spPr>
      </p:sp>
      <p:sp>
        <p:nvSpPr>
          <p:cNvPr id="56" name="Text 53"/>
          <p:cNvSpPr txBox="1"/>
          <p:nvPr/>
        </p:nvSpPr>
        <p:spPr>
          <a:xfrm>
            <a:off x="7973568" y="2157984"/>
            <a:ext cx="310896"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1</a:t>
            </a:r>
            <a:endParaRPr lang="en-US" sz="1200" dirty="0"/>
          </a:p>
        </p:txBody>
      </p:sp>
      <p:sp>
        <p:nvSpPr>
          <p:cNvPr id="57" name="Text 54"/>
          <p:cNvSpPr txBox="1"/>
          <p:nvPr/>
        </p:nvSpPr>
        <p:spPr>
          <a:xfrm>
            <a:off x="8394192" y="2157984"/>
            <a:ext cx="3108960" cy="292608"/>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Junto al fundador</a:t>
            </a:r>
            <a:endParaRPr lang="en-US" sz="1250" dirty="0"/>
          </a:p>
        </p:txBody>
      </p:sp>
      <p:sp>
        <p:nvSpPr>
          <p:cNvPr id="58" name="Text 55"/>
          <p:cNvSpPr txBox="1"/>
          <p:nvPr/>
        </p:nvSpPr>
        <p:spPr>
          <a:xfrm>
            <a:off x="7973568" y="2514600"/>
            <a:ext cx="3520440" cy="594360"/>
          </a:xfrm>
          <a:prstGeom prst="rect">
            <a:avLst/>
          </a:prstGeom>
          <a:noFill/>
          <a:ln/>
        </p:spPr>
        <p:txBody>
          <a:bodyPr wrap="square" lIns="0" tIns="0" rIns="0" bIns="0" rtlCol="0" anchor="t"/>
          <a:lstStyle/>
          <a:p>
            <a:pPr indent="0" marL="0">
              <a:buNone/>
            </a:pPr>
            <a:r>
              <a:rPr lang="en-US" sz="1050" dirty="0">
                <a:solidFill>
                  <a:srgbClr val="D9D9D6"/>
                </a:solidFill>
                <a:latin typeface="Inter" pitchFamily="34" charset="0"/>
                <a:ea typeface="Inter" pitchFamily="34" charset="-122"/>
                <a:cs typeface="Inter" pitchFamily="34" charset="-120"/>
              </a:rPr>
              <a:t>Invierten al lado de Amancio Ortega.</a:t>
            </a:r>
            <a:endParaRPr lang="en-US" sz="1050" dirty="0"/>
          </a:p>
        </p:txBody>
      </p:sp>
      <p:sp>
        <p:nvSpPr>
          <p:cNvPr id="59" name="Shape 56"/>
          <p:cNvSpPr/>
          <p:nvPr/>
        </p:nvSpPr>
        <p:spPr>
          <a:xfrm>
            <a:off x="7973568" y="3172968"/>
            <a:ext cx="310896" cy="310896"/>
          </a:xfrm>
          <a:prstGeom prst="rect">
            <a:avLst/>
          </a:prstGeom>
          <a:solidFill>
            <a:srgbClr val="1F4B3F"/>
          </a:solidFill>
          <a:ln/>
        </p:spPr>
      </p:sp>
      <p:sp>
        <p:nvSpPr>
          <p:cNvPr id="60" name="Text 57"/>
          <p:cNvSpPr txBox="1"/>
          <p:nvPr/>
        </p:nvSpPr>
        <p:spPr>
          <a:xfrm>
            <a:off x="7973568" y="3182112"/>
            <a:ext cx="310896"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2</a:t>
            </a:r>
            <a:endParaRPr lang="en-US" sz="1200" dirty="0"/>
          </a:p>
        </p:txBody>
      </p:sp>
      <p:sp>
        <p:nvSpPr>
          <p:cNvPr id="61" name="Text 58"/>
          <p:cNvSpPr txBox="1"/>
          <p:nvPr/>
        </p:nvSpPr>
        <p:spPr>
          <a:xfrm>
            <a:off x="8394192" y="3182112"/>
            <a:ext cx="3108960" cy="292608"/>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Tamaño del cheque</a:t>
            </a:r>
            <a:endParaRPr lang="en-US" sz="1250" dirty="0"/>
          </a:p>
        </p:txBody>
      </p:sp>
      <p:sp>
        <p:nvSpPr>
          <p:cNvPr id="62" name="Text 59"/>
          <p:cNvSpPr txBox="1"/>
          <p:nvPr/>
        </p:nvSpPr>
        <p:spPr>
          <a:xfrm>
            <a:off x="7973568" y="3538728"/>
            <a:ext cx="3520440" cy="594360"/>
          </a:xfrm>
          <a:prstGeom prst="rect">
            <a:avLst/>
          </a:prstGeom>
          <a:noFill/>
          <a:ln/>
        </p:spPr>
        <p:txBody>
          <a:bodyPr wrap="square" lIns="0" tIns="0" rIns="0" bIns="0" rtlCol="0" anchor="t"/>
          <a:lstStyle/>
          <a:p>
            <a:pPr indent="0" marL="0">
              <a:buNone/>
            </a:pPr>
            <a:r>
              <a:rPr lang="en-US" sz="1050" dirty="0">
                <a:solidFill>
                  <a:srgbClr val="D9D9D6"/>
                </a:solidFill>
                <a:latin typeface="Inter" pitchFamily="34" charset="0"/>
                <a:ea typeface="Inter" pitchFamily="34" charset="-122"/>
                <a:cs typeface="Inter" pitchFamily="34" charset="-120"/>
              </a:rPr>
              <a:t>Tickets de €2.489m a €9.000m: solo ellos pueden firmarlos.</a:t>
            </a:r>
            <a:endParaRPr lang="en-US" sz="1050" dirty="0"/>
          </a:p>
        </p:txBody>
      </p:sp>
      <p:sp>
        <p:nvSpPr>
          <p:cNvPr id="63" name="Shape 60"/>
          <p:cNvSpPr/>
          <p:nvPr/>
        </p:nvSpPr>
        <p:spPr>
          <a:xfrm>
            <a:off x="7973568" y="4197096"/>
            <a:ext cx="310896" cy="310896"/>
          </a:xfrm>
          <a:prstGeom prst="rect">
            <a:avLst/>
          </a:prstGeom>
          <a:solidFill>
            <a:srgbClr val="1F4B3F"/>
          </a:solidFill>
          <a:ln/>
        </p:spPr>
      </p:sp>
      <p:sp>
        <p:nvSpPr>
          <p:cNvPr id="64" name="Text 61"/>
          <p:cNvSpPr txBox="1"/>
          <p:nvPr/>
        </p:nvSpPr>
        <p:spPr>
          <a:xfrm>
            <a:off x="7973568" y="4206240"/>
            <a:ext cx="310896"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3</a:t>
            </a:r>
            <a:endParaRPr lang="en-US" sz="1200" dirty="0"/>
          </a:p>
        </p:txBody>
      </p:sp>
      <p:sp>
        <p:nvSpPr>
          <p:cNvPr id="65" name="Text 62"/>
          <p:cNvSpPr txBox="1"/>
          <p:nvPr/>
        </p:nvSpPr>
        <p:spPr>
          <a:xfrm>
            <a:off x="8394192" y="4206240"/>
            <a:ext cx="3108960" cy="292608"/>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Retorno en euros</a:t>
            </a:r>
            <a:endParaRPr lang="en-US" sz="1250" dirty="0"/>
          </a:p>
        </p:txBody>
      </p:sp>
      <p:sp>
        <p:nvSpPr>
          <p:cNvPr id="66" name="Text 63"/>
          <p:cNvSpPr txBox="1"/>
          <p:nvPr/>
        </p:nvSpPr>
        <p:spPr>
          <a:xfrm>
            <a:off x="7973568" y="4562856"/>
            <a:ext cx="3520440" cy="594360"/>
          </a:xfrm>
          <a:prstGeom prst="rect">
            <a:avLst/>
          </a:prstGeom>
          <a:noFill/>
          <a:ln/>
        </p:spPr>
        <p:txBody>
          <a:bodyPr wrap="square" lIns="0" tIns="0" rIns="0" bIns="0" rtlCol="0" anchor="t"/>
          <a:lstStyle/>
          <a:p>
            <a:pPr indent="0" marL="0">
              <a:buNone/>
            </a:pPr>
            <a:r>
              <a:rPr lang="en-US" sz="1050" dirty="0">
                <a:solidFill>
                  <a:srgbClr val="D9D9D6"/>
                </a:solidFill>
                <a:latin typeface="Inter" pitchFamily="34" charset="0"/>
                <a:ea typeface="Inter" pitchFamily="34" charset="-122"/>
                <a:cs typeface="Inter" pitchFamily="34" charset="-120"/>
              </a:rPr>
              <a:t>9,1% neto (1,84x) en un activo de calidad, por encima del hurdle del 8%.</a:t>
            </a:r>
            <a:endParaRPr lang="en-US" sz="1050" dirty="0"/>
          </a:p>
        </p:txBody>
      </p:sp>
      <p:sp>
        <p:nvSpPr>
          <p:cNvPr id="67" name="Shape 64"/>
          <p:cNvSpPr/>
          <p:nvPr/>
        </p:nvSpPr>
        <p:spPr>
          <a:xfrm>
            <a:off x="7973568" y="5303520"/>
            <a:ext cx="3474720" cy="0"/>
          </a:xfrm>
          <a:prstGeom prst="line">
            <a:avLst/>
          </a:prstGeom>
          <a:noFill/>
          <a:ln w="12700">
            <a:solidFill>
              <a:srgbClr val="4A4F55"/>
            </a:solidFill>
            <a:prstDash val="solid"/>
          </a:ln>
        </p:spPr>
      </p:sp>
      <p:sp>
        <p:nvSpPr>
          <p:cNvPr id="68" name="Text 65"/>
          <p:cNvSpPr txBox="1"/>
          <p:nvPr/>
        </p:nvSpPr>
        <p:spPr>
          <a:xfrm>
            <a:off x="7973568" y="5394960"/>
            <a:ext cx="3520440" cy="640080"/>
          </a:xfrm>
          <a:prstGeom prst="rect">
            <a:avLst/>
          </a:prstGeom>
          <a:noFill/>
          <a:ln/>
        </p:spPr>
        <p:txBody>
          <a:bodyPr wrap="square" lIns="0" tIns="0" rIns="0" bIns="0" rtlCol="0" anchor="t"/>
          <a:lstStyle/>
          <a:p>
            <a:pPr indent="0" marL="0">
              <a:buNone/>
            </a:pPr>
            <a:r>
              <a:rPr lang="en-US" sz="1050" b="1" dirty="0">
                <a:solidFill>
                  <a:srgbClr val="FFFFFF"/>
                </a:solidFill>
                <a:latin typeface="Inter" pitchFamily="34" charset="0"/>
                <a:ea typeface="Inter" pitchFamily="34" charset="-122"/>
                <a:cs typeface="Inter" pitchFamily="34" charset="-120"/>
              </a:rPr>
              <a:t>Qué aceptan: </a:t>
            </a:r>
            <a:pPr indent="0" marL="0">
              <a:buNone/>
            </a:pPr>
            <a:r>
              <a:rPr lang="en-US" sz="1050" dirty="0">
                <a:solidFill>
                  <a:srgbClr val="D9D9D6"/>
                </a:solidFill>
                <a:latin typeface="Inter" pitchFamily="34" charset="0"/>
                <a:ea typeface="Inter" pitchFamily="34" charset="-122"/>
                <a:cs typeface="Inter" pitchFamily="34" charset="-120"/>
              </a:rPr>
              <a:t>el GP gestiona y cobra carry (hurdle 8%, catch-up 100%, 20%).</a:t>
            </a:r>
            <a:endParaRPr lang="en-US" sz="1050" dirty="0"/>
          </a:p>
        </p:txBody>
      </p:sp>
      <p:sp>
        <p:nvSpPr>
          <p:cNvPr id="69" name="Text 66"/>
          <p:cNvSpPr txBox="1"/>
          <p:nvPr/>
        </p:nvSpPr>
        <p:spPr>
          <a:xfrm>
            <a:off x="548640" y="6327648"/>
            <a:ext cx="7863840" cy="228600"/>
          </a:xfrm>
          <a:prstGeom prst="rect">
            <a:avLst/>
          </a:prstGeom>
          <a:noFill/>
          <a:ln/>
        </p:spPr>
        <p:txBody>
          <a:bodyPr wrap="square" lIns="0" tIns="0" rIns="0" bIns="0" rtlCol="0" anchor="t"/>
          <a:lstStyle/>
          <a:p>
            <a:pPr indent="0" marL="0">
              <a:buNone/>
            </a:pPr>
            <a:r>
              <a:rPr lang="en-US" sz="900" dirty="0">
                <a:solidFill>
                  <a:srgbClr val="6E7378"/>
                </a:solidFill>
                <a:latin typeface="Inter" pitchFamily="34" charset="0"/>
                <a:ea typeface="Inter" pitchFamily="34" charset="-122"/>
                <a:cs typeface="Inter" pitchFamily="34" charset="-120"/>
              </a:rPr>
              <a:t>Co-inversores: 85% del cheque del consorcio (€64.693m). Reparto entre inversores: propuesta. € millones salvo indicación.</a:t>
            </a:r>
            <a:endParaRPr lang="en-US" sz="900" dirty="0"/>
          </a:p>
        </p:txBody>
      </p:sp>
      <p:sp>
        <p:nvSpPr>
          <p:cNvPr id="70" name="Text 67"/>
          <p:cNvSpPr txBox="1"/>
          <p:nvPr/>
        </p:nvSpPr>
        <p:spPr>
          <a:xfrm>
            <a:off x="8595360" y="6327648"/>
            <a:ext cx="3044952" cy="228600"/>
          </a:xfrm>
          <a:prstGeom prst="rect">
            <a:avLst/>
          </a:prstGeom>
          <a:noFill/>
          <a:ln/>
        </p:spPr>
        <p:txBody>
          <a:bodyPr wrap="square" lIns="0" tIns="0" rIns="0" bIns="0" rtlCol="0" anchor="t"/>
          <a:lstStyle/>
          <a:p>
            <a:pPr algn="r" indent="0" marL="0">
              <a:buNone/>
            </a:pPr>
            <a:r>
              <a:rPr lang="en-US" sz="900" dirty="0">
                <a:solidFill>
                  <a:srgbClr val="6E7378"/>
                </a:solidFill>
                <a:latin typeface="Inter" pitchFamily="34" charset="0"/>
                <a:ea typeface="Inter" pitchFamily="34" charset="-122"/>
                <a:cs typeface="Inter" pitchFamily="34" charset="-120"/>
              </a:rPr>
              <a:t>Project Galicia  ·  Estrictamente confidencial  ·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79476"/>
            <a:ext cx="7772400" cy="228600"/>
          </a:xfrm>
          <a:prstGeom prst="rect">
            <a:avLst/>
          </a:prstGeom>
          <a:noFill/>
          <a:ln/>
        </p:spPr>
        <p:txBody>
          <a:bodyPr wrap="square" lIns="0" tIns="0" rIns="0" bIns="0" rtlCol="0" anchor="ctr"/>
          <a:lstStyle/>
          <a:p>
            <a:pPr indent="0" marL="0">
              <a:buNone/>
            </a:pPr>
            <a:r>
              <a:rPr lang="en-US" sz="1100" b="1" spc="200" kern="0" dirty="0">
                <a:solidFill>
                  <a:srgbClr val="1F4B3F"/>
                </a:solidFill>
                <a:latin typeface="Inter" pitchFamily="34" charset="0"/>
                <a:ea typeface="Inter" pitchFamily="34" charset="-122"/>
                <a:cs typeface="Inter" pitchFamily="34" charset="-120"/>
              </a:rPr>
              <a:t>04  FINANCIADORES</a:t>
            </a:r>
            <a:endParaRPr lang="en-US" sz="1100" dirty="0"/>
          </a:p>
        </p:txBody>
      </p:sp>
      <p:pic>
        <p:nvPicPr>
          <p:cNvPr id="3" name="Image 0" descr="/tmp/claude-0/-home-claude/8d7de6a3-f167-5c95-8bc2-67944307bfd8/scratchpad/canva/img/HLP_monograma.png">    </p:cNvPr>
          <p:cNvPicPr>
            <a:picLocks noChangeAspect="1"/>
          </p:cNvPicPr>
          <p:nvPr/>
        </p:nvPicPr>
        <p:blipFill>
          <a:blip r:embed="rId1"/>
          <a:stretch>
            <a:fillRect/>
          </a:stretch>
        </p:blipFill>
        <p:spPr>
          <a:xfrm>
            <a:off x="11130991" y="237744"/>
            <a:ext cx="512064" cy="512064"/>
          </a:xfrm>
          <a:prstGeom prst="rect">
            <a:avLst/>
          </a:prstGeom>
        </p:spPr>
      </p:pic>
      <p:sp>
        <p:nvSpPr>
          <p:cNvPr id="4" name="Text 1"/>
          <p:cNvSpPr txBox="1"/>
          <p:nvPr/>
        </p:nvSpPr>
        <p:spPr>
          <a:xfrm>
            <a:off x="548640" y="786384"/>
            <a:ext cx="11091672" cy="658368"/>
          </a:xfrm>
          <a:prstGeom prst="rect">
            <a:avLst/>
          </a:prstGeom>
          <a:noFill/>
          <a:ln/>
        </p:spPr>
        <p:txBody>
          <a:bodyPr wrap="square" lIns="0" tIns="0" rIns="0" bIns="0" rtlCol="0" anchor="t"/>
          <a:lstStyle/>
          <a:p>
            <a:pPr indent="0" marL="0">
              <a:lnSpc>
                <a:spcPct val="92000"/>
              </a:lnSpc>
              <a:buNone/>
            </a:pPr>
            <a:r>
              <a:rPr lang="en-US" sz="2200" dirty="0">
                <a:solidFill>
                  <a:srgbClr val="1A1D21"/>
                </a:solidFill>
                <a:latin typeface="Lora" pitchFamily="34" charset="0"/>
                <a:ea typeface="Lora" pitchFamily="34" charset="-122"/>
                <a:cs typeface="Lora" pitchFamily="34" charset="-120"/>
              </a:rPr>
              <a:t>Hurdle del 8%: el GP solo cobra carry sobre lo que los LPs ganan por encima</a:t>
            </a:r>
            <a:endParaRPr lang="en-US" sz="2200" dirty="0"/>
          </a:p>
        </p:txBody>
      </p:sp>
      <p:sp>
        <p:nvSpPr>
          <p:cNvPr id="5" name="Text 2"/>
          <p:cNvSpPr txBox="1"/>
          <p:nvPr/>
        </p:nvSpPr>
        <p:spPr>
          <a:xfrm>
            <a:off x="548640" y="1572768"/>
            <a:ext cx="6949440" cy="228600"/>
          </a:xfrm>
          <a:prstGeom prst="rect">
            <a:avLst/>
          </a:prstGeom>
          <a:noFill/>
          <a:ln/>
        </p:spPr>
        <p:txBody>
          <a:bodyPr wrap="square" lIns="0" tIns="0" rIns="0" bIns="0" rtlCol="0" anchor="t"/>
          <a:lstStyle/>
          <a:p>
            <a:pPr indent="0" marL="0">
              <a:buNone/>
            </a:pPr>
            <a:r>
              <a:rPr lang="en-US" sz="1050" b="1" spc="150" kern="0" dirty="0">
                <a:solidFill>
                  <a:srgbClr val="1F4B3F"/>
                </a:solidFill>
                <a:latin typeface="Inter" pitchFamily="34" charset="0"/>
                <a:ea typeface="Inter" pitchFamily="34" charset="-122"/>
                <a:cs typeface="Inter" pitchFamily="34" charset="-120"/>
              </a:rPr>
              <a:t>CAPITAL DE LOS LPS FRENTE AL MÍNIMO DEL 8% (€M)</a:t>
            </a:r>
            <a:endParaRPr lang="en-US" sz="1050" dirty="0"/>
          </a:p>
        </p:txBody>
      </p:sp>
      <p:pic>
        <p:nvPicPr>
          <p:cNvPr id="6" name="Image 1" descr="/tmp/claude-0/-home-claude/8d7de6a3-f167-5c95-8bc2-67944307bfd8/scratchpad/canva/img/c14_hurdle.png">    </p:cNvPr>
          <p:cNvPicPr>
            <a:picLocks noChangeAspect="1"/>
          </p:cNvPicPr>
          <p:nvPr/>
        </p:nvPicPr>
        <p:blipFill>
          <a:blip r:embed="rId2"/>
          <a:stretch>
            <a:fillRect/>
          </a:stretch>
        </p:blipFill>
        <p:spPr>
          <a:xfrm>
            <a:off x="548640" y="1828800"/>
            <a:ext cx="6794320" cy="3749040"/>
          </a:xfrm>
          <a:prstGeom prst="rect">
            <a:avLst/>
          </a:prstGeom>
        </p:spPr>
      </p:pic>
      <p:sp>
        <p:nvSpPr>
          <p:cNvPr id="7" name="Shape 3"/>
          <p:cNvSpPr/>
          <p:nvPr/>
        </p:nvSpPr>
        <p:spPr>
          <a:xfrm>
            <a:off x="548640" y="5641848"/>
            <a:ext cx="2194560" cy="530352"/>
          </a:xfrm>
          <a:prstGeom prst="rect">
            <a:avLst>
              <a:gd name="adj" fmla="val 10345"/>
            </a:avLst>
          </a:prstGeom>
          <a:solidFill>
            <a:srgbClr val="F3F3F2"/>
          </a:solidFill>
          <a:ln/>
        </p:spPr>
      </p:sp>
      <p:sp>
        <p:nvSpPr>
          <p:cNvPr id="8" name="Text 4"/>
          <p:cNvSpPr txBox="1"/>
          <p:nvPr/>
        </p:nvSpPr>
        <p:spPr>
          <a:xfrm>
            <a:off x="658368" y="5641848"/>
            <a:ext cx="1005840" cy="530352"/>
          </a:xfrm>
          <a:prstGeom prst="rect">
            <a:avLst/>
          </a:prstGeom>
          <a:noFill/>
          <a:ln/>
        </p:spPr>
        <p:txBody>
          <a:bodyPr wrap="square" lIns="0" tIns="0" rIns="0" bIns="0" rtlCol="0" anchor="ctr"/>
          <a:lstStyle/>
          <a:p>
            <a:pPr indent="0" marL="0">
              <a:buNone/>
            </a:pPr>
            <a:r>
              <a:rPr lang="en-US" sz="1300" b="1" dirty="0">
                <a:solidFill>
                  <a:srgbClr val="1A1D21"/>
                </a:solidFill>
                <a:latin typeface="Inter" pitchFamily="34" charset="0"/>
                <a:ea typeface="Inter" pitchFamily="34" charset="-122"/>
                <a:cs typeface="Inter" pitchFamily="34" charset="-120"/>
              </a:rPr>
              <a:t>€94.242m</a:t>
            </a:r>
            <a:endParaRPr lang="en-US" sz="1300" dirty="0"/>
          </a:p>
        </p:txBody>
      </p:sp>
      <p:sp>
        <p:nvSpPr>
          <p:cNvPr id="9" name="Text 5"/>
          <p:cNvSpPr txBox="1"/>
          <p:nvPr/>
        </p:nvSpPr>
        <p:spPr>
          <a:xfrm>
            <a:off x="1664208" y="5641848"/>
            <a:ext cx="1051560" cy="530352"/>
          </a:xfrm>
          <a:prstGeom prst="rect">
            <a:avLst/>
          </a:prstGeom>
          <a:noFill/>
          <a:ln/>
        </p:spPr>
        <p:txBody>
          <a:bodyPr wrap="square" lIns="0" tIns="0" rIns="0" bIns="0" rtlCol="0" anchor="ctr"/>
          <a:lstStyle/>
          <a:p>
            <a:pPr indent="0" marL="0">
              <a:buNone/>
            </a:pPr>
            <a:r>
              <a:rPr lang="en-US" sz="900" dirty="0">
                <a:solidFill>
                  <a:srgbClr val="1F2124"/>
                </a:solidFill>
                <a:latin typeface="Inter" pitchFamily="34" charset="0"/>
                <a:ea typeface="Inter" pitchFamily="34" charset="-122"/>
                <a:cs typeface="Inter" pitchFamily="34" charset="-120"/>
              </a:rPr>
              <a:t>Mínimo de los LPs en 2032 (8% anual)</a:t>
            </a:r>
            <a:endParaRPr lang="en-US" sz="900" dirty="0"/>
          </a:p>
        </p:txBody>
      </p:sp>
      <p:sp>
        <p:nvSpPr>
          <p:cNvPr id="10" name="Shape 6"/>
          <p:cNvSpPr/>
          <p:nvPr/>
        </p:nvSpPr>
        <p:spPr>
          <a:xfrm>
            <a:off x="2843784" y="5641848"/>
            <a:ext cx="2194560" cy="530352"/>
          </a:xfrm>
          <a:prstGeom prst="rect">
            <a:avLst>
              <a:gd name="adj" fmla="val 10345"/>
            </a:avLst>
          </a:prstGeom>
          <a:solidFill>
            <a:srgbClr val="F3F3F2"/>
          </a:solidFill>
          <a:ln/>
        </p:spPr>
      </p:sp>
      <p:sp>
        <p:nvSpPr>
          <p:cNvPr id="11" name="Text 7"/>
          <p:cNvSpPr txBox="1"/>
          <p:nvPr/>
        </p:nvSpPr>
        <p:spPr>
          <a:xfrm>
            <a:off x="2953512" y="5641848"/>
            <a:ext cx="1005840" cy="530352"/>
          </a:xfrm>
          <a:prstGeom prst="rect">
            <a:avLst/>
          </a:prstGeom>
          <a:noFill/>
          <a:ln/>
        </p:spPr>
        <p:txBody>
          <a:bodyPr wrap="square" lIns="0" tIns="0" rIns="0" bIns="0" rtlCol="0" anchor="ctr"/>
          <a:lstStyle/>
          <a:p>
            <a:pPr indent="0" marL="0">
              <a:buNone/>
            </a:pPr>
            <a:r>
              <a:rPr lang="en-US" sz="1300" b="1" dirty="0">
                <a:solidFill>
                  <a:srgbClr val="1A1D21"/>
                </a:solidFill>
                <a:latin typeface="Inter" pitchFamily="34" charset="0"/>
                <a:ea typeface="Inter" pitchFamily="34" charset="-122"/>
                <a:cs typeface="Inter" pitchFamily="34" charset="-120"/>
              </a:rPr>
              <a:t>€18.274m</a:t>
            </a:r>
            <a:endParaRPr lang="en-US" sz="1300" dirty="0"/>
          </a:p>
        </p:txBody>
      </p:sp>
      <p:sp>
        <p:nvSpPr>
          <p:cNvPr id="12" name="Text 8"/>
          <p:cNvSpPr txBox="1"/>
          <p:nvPr/>
        </p:nvSpPr>
        <p:spPr>
          <a:xfrm>
            <a:off x="3959352" y="5641848"/>
            <a:ext cx="1051560" cy="530352"/>
          </a:xfrm>
          <a:prstGeom prst="rect">
            <a:avLst/>
          </a:prstGeom>
          <a:noFill/>
          <a:ln/>
        </p:spPr>
        <p:txBody>
          <a:bodyPr wrap="square" lIns="0" tIns="0" rIns="0" bIns="0" rtlCol="0" anchor="ctr"/>
          <a:lstStyle/>
          <a:p>
            <a:pPr indent="0" marL="0">
              <a:buNone/>
            </a:pPr>
            <a:r>
              <a:rPr lang="en-US" sz="900" dirty="0">
                <a:solidFill>
                  <a:srgbClr val="1F2124"/>
                </a:solidFill>
                <a:latin typeface="Inter" pitchFamily="34" charset="0"/>
                <a:ea typeface="Inter" pitchFamily="34" charset="-122"/>
                <a:cs typeface="Inter" pitchFamily="34" charset="-120"/>
              </a:rPr>
              <a:t>Exceso sobre el hurdle</a:t>
            </a:r>
            <a:endParaRPr lang="en-US" sz="900" dirty="0"/>
          </a:p>
        </p:txBody>
      </p:sp>
      <p:sp>
        <p:nvSpPr>
          <p:cNvPr id="13" name="Shape 9"/>
          <p:cNvSpPr/>
          <p:nvPr/>
        </p:nvSpPr>
        <p:spPr>
          <a:xfrm>
            <a:off x="5138928" y="5641848"/>
            <a:ext cx="2194560" cy="530352"/>
          </a:xfrm>
          <a:prstGeom prst="rect">
            <a:avLst>
              <a:gd name="adj" fmla="val 10345"/>
            </a:avLst>
          </a:prstGeom>
          <a:solidFill>
            <a:srgbClr val="E7EFEA"/>
          </a:solidFill>
          <a:ln/>
        </p:spPr>
      </p:sp>
      <p:sp>
        <p:nvSpPr>
          <p:cNvPr id="14" name="Text 10"/>
          <p:cNvSpPr txBox="1"/>
          <p:nvPr/>
        </p:nvSpPr>
        <p:spPr>
          <a:xfrm>
            <a:off x="5248656" y="5641848"/>
            <a:ext cx="1005840" cy="530352"/>
          </a:xfrm>
          <a:prstGeom prst="rect">
            <a:avLst/>
          </a:prstGeom>
          <a:noFill/>
          <a:ln/>
        </p:spPr>
        <p:txBody>
          <a:bodyPr wrap="square" lIns="0" tIns="0" rIns="0" bIns="0" rtlCol="0" anchor="ctr"/>
          <a:lstStyle/>
          <a:p>
            <a:pPr indent="0" marL="0">
              <a:buNone/>
            </a:pPr>
            <a:r>
              <a:rPr lang="en-US" sz="1300" b="1" dirty="0">
                <a:solidFill>
                  <a:srgbClr val="1F4B3F"/>
                </a:solidFill>
                <a:latin typeface="Inter" pitchFamily="34" charset="0"/>
                <a:ea typeface="Inter" pitchFamily="34" charset="-122"/>
                <a:cs typeface="Inter" pitchFamily="34" charset="-120"/>
              </a:rPr>
              <a:t>€11.505m</a:t>
            </a:r>
            <a:endParaRPr lang="en-US" sz="1300" dirty="0"/>
          </a:p>
        </p:txBody>
      </p:sp>
      <p:sp>
        <p:nvSpPr>
          <p:cNvPr id="15" name="Text 11"/>
          <p:cNvSpPr txBox="1"/>
          <p:nvPr/>
        </p:nvSpPr>
        <p:spPr>
          <a:xfrm>
            <a:off x="6254496" y="5641848"/>
            <a:ext cx="1051560" cy="530352"/>
          </a:xfrm>
          <a:prstGeom prst="rect">
            <a:avLst/>
          </a:prstGeom>
          <a:noFill/>
          <a:ln/>
        </p:spPr>
        <p:txBody>
          <a:bodyPr wrap="square" lIns="0" tIns="0" rIns="0" bIns="0" rtlCol="0" anchor="ctr"/>
          <a:lstStyle/>
          <a:p>
            <a:pPr indent="0" marL="0">
              <a:buNone/>
            </a:pPr>
            <a:r>
              <a:rPr lang="en-US" sz="900" dirty="0">
                <a:solidFill>
                  <a:srgbClr val="1F2124"/>
                </a:solidFill>
                <a:latin typeface="Inter" pitchFamily="34" charset="0"/>
                <a:ea typeface="Inter" pitchFamily="34" charset="-122"/>
                <a:cs typeface="Inter" pitchFamily="34" charset="-120"/>
              </a:rPr>
              <a:t>Carry del GP: catch-up + 20%</a:t>
            </a:r>
            <a:endParaRPr lang="en-US" sz="900" dirty="0"/>
          </a:p>
        </p:txBody>
      </p:sp>
      <p:sp>
        <p:nvSpPr>
          <p:cNvPr id="16" name="Shape 12"/>
          <p:cNvSpPr/>
          <p:nvPr/>
        </p:nvSpPr>
        <p:spPr>
          <a:xfrm>
            <a:off x="7726680" y="1572768"/>
            <a:ext cx="3913632" cy="1463040"/>
          </a:xfrm>
          <a:prstGeom prst="rect">
            <a:avLst>
              <a:gd name="adj" fmla="val 3750"/>
            </a:avLst>
          </a:prstGeom>
          <a:solidFill>
            <a:srgbClr val="1F4B3F"/>
          </a:solidFill>
          <a:ln/>
        </p:spPr>
      </p:sp>
      <p:sp>
        <p:nvSpPr>
          <p:cNvPr id="17" name="Text 13"/>
          <p:cNvSpPr txBox="1"/>
          <p:nvPr/>
        </p:nvSpPr>
        <p:spPr>
          <a:xfrm>
            <a:off x="7882128" y="1627632"/>
            <a:ext cx="1920240" cy="822960"/>
          </a:xfrm>
          <a:prstGeom prst="rect">
            <a:avLst/>
          </a:prstGeom>
          <a:noFill/>
          <a:ln/>
        </p:spPr>
        <p:txBody>
          <a:bodyPr wrap="square" lIns="0" tIns="0" rIns="0" bIns="0" rtlCol="0" anchor="ctr"/>
          <a:lstStyle/>
          <a:p>
            <a:pPr indent="0" marL="0">
              <a:buNone/>
            </a:pPr>
            <a:r>
              <a:rPr lang="en-US" sz="4400" b="1" dirty="0">
                <a:solidFill>
                  <a:srgbClr val="FFFFFF"/>
                </a:solidFill>
                <a:latin typeface="Lora" pitchFamily="34" charset="0"/>
                <a:ea typeface="Lora" pitchFamily="34" charset="-122"/>
                <a:cs typeface="Lora" pitchFamily="34" charset="-120"/>
              </a:rPr>
              <a:t>18,2%</a:t>
            </a:r>
            <a:endParaRPr lang="en-US" sz="4400" dirty="0"/>
          </a:p>
        </p:txBody>
      </p:sp>
      <p:sp>
        <p:nvSpPr>
          <p:cNvPr id="18" name="Text 14"/>
          <p:cNvSpPr txBox="1"/>
          <p:nvPr/>
        </p:nvSpPr>
        <p:spPr>
          <a:xfrm>
            <a:off x="9738360" y="1755648"/>
            <a:ext cx="1828800" cy="640080"/>
          </a:xfrm>
          <a:prstGeom prst="rect">
            <a:avLst/>
          </a:prstGeom>
          <a:noFill/>
          <a:ln/>
        </p:spPr>
        <p:txBody>
          <a:bodyPr wrap="square" lIns="0" tIns="0" rIns="0" bIns="0" rtlCol="0" anchor="t"/>
          <a:lstStyle/>
          <a:p>
            <a:pPr indent="0" marL="0">
              <a:buNone/>
            </a:pPr>
            <a:r>
              <a:rPr lang="en-US" sz="1100" b="1" dirty="0">
                <a:solidFill>
                  <a:srgbClr val="FFFFFF"/>
                </a:solidFill>
                <a:latin typeface="Inter" pitchFamily="34" charset="0"/>
                <a:ea typeface="Inter" pitchFamily="34" charset="-122"/>
                <a:cs typeface="Inter" pitchFamily="34" charset="-120"/>
              </a:rPr>
              <a:t>TIR del GP con carry</a:t>
            </a:r>
            <a:endParaRPr lang="en-US" sz="1100" dirty="0"/>
          </a:p>
          <a:p>
            <a:pPr indent="0" marL="0">
              <a:buNone/>
            </a:pPr>
            <a:r>
              <a:rPr lang="en-US" sz="1100" dirty="0">
                <a:solidFill>
                  <a:srgbClr val="FFFFFF"/>
                </a:solidFill>
                <a:latin typeface="Inter" pitchFamily="34" charset="0"/>
                <a:ea typeface="Inter" pitchFamily="34" charset="-122"/>
                <a:cs typeface="Inter" pitchFamily="34" charset="-120"/>
              </a:rPr>
              <a:t>3,23x · €9.704m → €31.361m</a:t>
            </a:r>
            <a:endParaRPr lang="en-US" sz="1100" dirty="0"/>
          </a:p>
        </p:txBody>
      </p:sp>
      <p:sp>
        <p:nvSpPr>
          <p:cNvPr id="19" name="Text 15"/>
          <p:cNvSpPr txBox="1"/>
          <p:nvPr/>
        </p:nvSpPr>
        <p:spPr>
          <a:xfrm>
            <a:off x="7882128" y="2560320"/>
            <a:ext cx="3657600" cy="320040"/>
          </a:xfrm>
          <a:prstGeom prst="rect">
            <a:avLst/>
          </a:prstGeom>
          <a:noFill/>
          <a:ln/>
        </p:spPr>
        <p:txBody>
          <a:bodyPr wrap="square" lIns="0" tIns="0" rIns="0" bIns="0" rtlCol="0" anchor="t"/>
          <a:lstStyle/>
          <a:p>
            <a:pPr indent="0" marL="0">
              <a:buNone/>
            </a:pPr>
            <a:r>
              <a:rPr lang="en-US" sz="1100" dirty="0">
                <a:solidFill>
                  <a:srgbClr val="D9E6DF"/>
                </a:solidFill>
                <a:latin typeface="Inter" pitchFamily="34" charset="0"/>
                <a:ea typeface="Inter" pitchFamily="34" charset="-122"/>
                <a:cs typeface="Inter" pitchFamily="34" charset="-120"/>
              </a:rPr>
              <a:t>Carry: €11.505m = catch-up €9.813m + 20% €1.692m</a:t>
            </a:r>
            <a:endParaRPr lang="en-US" sz="1100" dirty="0"/>
          </a:p>
        </p:txBody>
      </p:sp>
      <p:sp>
        <p:nvSpPr>
          <p:cNvPr id="20" name="Text 16"/>
          <p:cNvSpPr txBox="1"/>
          <p:nvPr/>
        </p:nvSpPr>
        <p:spPr>
          <a:xfrm>
            <a:off x="7726680" y="3200400"/>
            <a:ext cx="3931920" cy="228600"/>
          </a:xfrm>
          <a:prstGeom prst="rect">
            <a:avLst/>
          </a:prstGeom>
          <a:noFill/>
          <a:ln/>
        </p:spPr>
        <p:txBody>
          <a:bodyPr wrap="square" lIns="0" tIns="0" rIns="0" bIns="0" rtlCol="0" anchor="t"/>
          <a:lstStyle/>
          <a:p>
            <a:pPr indent="0" marL="0">
              <a:buNone/>
            </a:pPr>
            <a:r>
              <a:rPr lang="en-US" sz="1050" b="1" spc="150" kern="0" dirty="0">
                <a:solidFill>
                  <a:srgbClr val="1F4B3F"/>
                </a:solidFill>
                <a:latin typeface="Inter" pitchFamily="34" charset="0"/>
                <a:ea typeface="Inter" pitchFamily="34" charset="-122"/>
                <a:cs typeface="Inter" pitchFamily="34" charset="-120"/>
              </a:rPr>
              <a:t>TIR DE CADA INVERSOR</a:t>
            </a:r>
            <a:endParaRPr lang="en-US" sz="1050" dirty="0"/>
          </a:p>
        </p:txBody>
      </p:sp>
      <p:sp>
        <p:nvSpPr>
          <p:cNvPr id="21" name="Text 17"/>
          <p:cNvSpPr txBox="1"/>
          <p:nvPr/>
        </p:nvSpPr>
        <p:spPr>
          <a:xfrm>
            <a:off x="7726680" y="3474720"/>
            <a:ext cx="1993392" cy="502920"/>
          </a:xfrm>
          <a:prstGeom prst="rect">
            <a:avLst/>
          </a:prstGeom>
          <a:solidFill>
            <a:srgbClr val="1A1D21"/>
          </a:solidFill>
          <a:ln/>
        </p:spPr>
        <p:txBody>
          <a:bodyPr wrap="square" lIns="0" tIns="88900" rIns="88900" bIns="0" rtlCol="0" anchor="ctr"/>
          <a:lstStyle/>
          <a:p>
            <a:pPr algn="l" indent="0" marL="0">
              <a:buNone/>
            </a:pPr>
            <a:r>
              <a:rPr lang="en-US" sz="1200" b="1" dirty="0">
                <a:solidFill>
                  <a:srgbClr val="FFFFFF"/>
                </a:solidFill>
                <a:latin typeface="Inter" pitchFamily="34" charset="0"/>
                <a:ea typeface="Inter" pitchFamily="34" charset="-122"/>
                <a:cs typeface="Inter" pitchFamily="34" charset="-120"/>
              </a:rPr>
              <a:t>Inversor</a:t>
            </a:r>
            <a:endParaRPr lang="en-US" sz="1200" dirty="0"/>
          </a:p>
        </p:txBody>
      </p:sp>
      <p:sp>
        <p:nvSpPr>
          <p:cNvPr id="22" name="Text 18"/>
          <p:cNvSpPr txBox="1"/>
          <p:nvPr/>
        </p:nvSpPr>
        <p:spPr>
          <a:xfrm>
            <a:off x="9720072" y="3474720"/>
            <a:ext cx="960120" cy="502920"/>
          </a:xfrm>
          <a:prstGeom prst="rect">
            <a:avLst/>
          </a:prstGeom>
          <a:solidFill>
            <a:srgbClr val="1A1D21"/>
          </a:solidFill>
          <a:ln/>
        </p:spPr>
        <p:txBody>
          <a:bodyPr wrap="square" lIns="0" tIns="88900" rIns="88900" bIns="0" rtlCol="0" anchor="ctr"/>
          <a:lstStyle/>
          <a:p>
            <a:pPr algn="r" indent="0" marL="0">
              <a:buNone/>
            </a:pPr>
            <a:r>
              <a:rPr lang="en-US" sz="1200" b="1" dirty="0">
                <a:solidFill>
                  <a:srgbClr val="FFFFFF"/>
                </a:solidFill>
                <a:latin typeface="Inter" pitchFamily="34" charset="0"/>
                <a:ea typeface="Inter" pitchFamily="34" charset="-122"/>
                <a:cs typeface="Inter" pitchFamily="34" charset="-120"/>
              </a:rPr>
              <a:t>TIR</a:t>
            </a:r>
            <a:endParaRPr lang="en-US" sz="1200" dirty="0"/>
          </a:p>
        </p:txBody>
      </p:sp>
      <p:sp>
        <p:nvSpPr>
          <p:cNvPr id="23" name="Text 19"/>
          <p:cNvSpPr txBox="1"/>
          <p:nvPr/>
        </p:nvSpPr>
        <p:spPr>
          <a:xfrm>
            <a:off x="10680192" y="3474720"/>
            <a:ext cx="960120" cy="502920"/>
          </a:xfrm>
          <a:prstGeom prst="rect">
            <a:avLst/>
          </a:prstGeom>
          <a:solidFill>
            <a:srgbClr val="1A1D21"/>
          </a:solidFill>
          <a:ln/>
        </p:spPr>
        <p:txBody>
          <a:bodyPr wrap="square" lIns="0" tIns="88900" rIns="88900" bIns="0" rtlCol="0" anchor="ctr"/>
          <a:lstStyle/>
          <a:p>
            <a:pPr algn="r" indent="0" marL="0">
              <a:buNone/>
            </a:pPr>
            <a:r>
              <a:rPr lang="en-US" sz="1200" b="1" dirty="0">
                <a:solidFill>
                  <a:srgbClr val="FFFFFF"/>
                </a:solidFill>
                <a:latin typeface="Inter" pitchFamily="34" charset="0"/>
                <a:ea typeface="Inter" pitchFamily="34" charset="-122"/>
                <a:cs typeface="Inter" pitchFamily="34" charset="-120"/>
              </a:rPr>
              <a:t>Múltiplo</a:t>
            </a:r>
            <a:endParaRPr lang="en-US" sz="1200" dirty="0"/>
          </a:p>
        </p:txBody>
      </p:sp>
      <p:sp>
        <p:nvSpPr>
          <p:cNvPr id="24" name="Text 20"/>
          <p:cNvSpPr txBox="1"/>
          <p:nvPr/>
        </p:nvSpPr>
        <p:spPr>
          <a:xfrm>
            <a:off x="7726680" y="3977640"/>
            <a:ext cx="1993392" cy="502920"/>
          </a:xfrm>
          <a:prstGeom prst="rect">
            <a:avLst/>
          </a:prstGeom>
          <a:solidFill>
            <a:srgbClr val="FFFFFF"/>
          </a:solidFill>
          <a:ln/>
        </p:spPr>
        <p:txBody>
          <a:bodyPr wrap="square" lIns="0" tIns="88900" rIns="88900" bIns="0" rtlCol="0" anchor="ctr"/>
          <a:lstStyle/>
          <a:p>
            <a:pPr algn="l" indent="0" marL="0">
              <a:buNone/>
            </a:pPr>
            <a:r>
              <a:rPr lang="en-US" sz="1250" b="1" dirty="0">
                <a:solidFill>
                  <a:srgbClr val="1F2124"/>
                </a:solidFill>
                <a:latin typeface="Inter" pitchFamily="34" charset="0"/>
                <a:ea typeface="Inter" pitchFamily="34" charset="-122"/>
                <a:cs typeface="Inter" pitchFamily="34" charset="-120"/>
              </a:rPr>
              <a:t>Amancio Ortega</a:t>
            </a:r>
            <a:endParaRPr lang="en-US" sz="1250" dirty="0"/>
          </a:p>
        </p:txBody>
      </p:sp>
      <p:sp>
        <p:nvSpPr>
          <p:cNvPr id="25" name="Text 21"/>
          <p:cNvSpPr txBox="1"/>
          <p:nvPr/>
        </p:nvSpPr>
        <p:spPr>
          <a:xfrm>
            <a:off x="9720072" y="3977640"/>
            <a:ext cx="960120" cy="502920"/>
          </a:xfrm>
          <a:prstGeom prst="rect">
            <a:avLst/>
          </a:prstGeom>
          <a:solidFill>
            <a:srgbClr val="FFFFFF"/>
          </a:solidFill>
          <a:ln/>
        </p:spPr>
        <p:txBody>
          <a:bodyPr wrap="square" lIns="0" tIns="88900" rIns="88900" bIns="0" rtlCol="0" anchor="ctr"/>
          <a:lstStyle/>
          <a:p>
            <a:pPr algn="r" indent="0" marL="0">
              <a:buNone/>
            </a:pPr>
            <a:r>
              <a:rPr lang="en-US" sz="1250" b="1" dirty="0">
                <a:solidFill>
                  <a:srgbClr val="1F2124"/>
                </a:solidFill>
                <a:latin typeface="Inter" pitchFamily="34" charset="0"/>
                <a:ea typeface="Inter" pitchFamily="34" charset="-122"/>
                <a:cs typeface="Inter" pitchFamily="34" charset="-120"/>
              </a:rPr>
              <a:t>10,8%</a:t>
            </a:r>
            <a:endParaRPr lang="en-US" sz="1250" dirty="0"/>
          </a:p>
        </p:txBody>
      </p:sp>
      <p:sp>
        <p:nvSpPr>
          <p:cNvPr id="26" name="Text 22"/>
          <p:cNvSpPr txBox="1"/>
          <p:nvPr/>
        </p:nvSpPr>
        <p:spPr>
          <a:xfrm>
            <a:off x="10680192" y="3977640"/>
            <a:ext cx="960120" cy="502920"/>
          </a:xfrm>
          <a:prstGeom prst="rect">
            <a:avLst/>
          </a:prstGeom>
          <a:solidFill>
            <a:srgbClr val="FFFFFF"/>
          </a:solidFill>
          <a:ln/>
        </p:spPr>
        <p:txBody>
          <a:bodyPr wrap="square" lIns="0" tIns="88900" rIns="88900" bIns="0" rtlCol="0" anchor="ctr"/>
          <a:lstStyle/>
          <a:p>
            <a:pPr algn="r" indent="0" marL="0">
              <a:buNone/>
            </a:pPr>
            <a:r>
              <a:rPr lang="en-US" sz="1250" dirty="0">
                <a:solidFill>
                  <a:srgbClr val="1F2124"/>
                </a:solidFill>
                <a:latin typeface="Inter" pitchFamily="34" charset="0"/>
                <a:ea typeface="Inter" pitchFamily="34" charset="-122"/>
                <a:cs typeface="Inter" pitchFamily="34" charset="-120"/>
              </a:rPr>
              <a:t>2,05x</a:t>
            </a:r>
            <a:endParaRPr lang="en-US" sz="1250" dirty="0"/>
          </a:p>
        </p:txBody>
      </p:sp>
      <p:sp>
        <p:nvSpPr>
          <p:cNvPr id="27" name="Text 23"/>
          <p:cNvSpPr txBox="1"/>
          <p:nvPr/>
        </p:nvSpPr>
        <p:spPr>
          <a:xfrm>
            <a:off x="7726680" y="4480560"/>
            <a:ext cx="1993392" cy="502920"/>
          </a:xfrm>
          <a:prstGeom prst="rect">
            <a:avLst/>
          </a:prstGeom>
          <a:solidFill>
            <a:srgbClr val="E7EFEA"/>
          </a:solidFill>
          <a:ln/>
        </p:spPr>
        <p:txBody>
          <a:bodyPr wrap="square" lIns="0" tIns="88900" rIns="88900" bIns="0" rtlCol="0" anchor="ctr"/>
          <a:lstStyle/>
          <a:p>
            <a:pPr algn="l" indent="0" marL="0">
              <a:buNone/>
            </a:pPr>
            <a:r>
              <a:rPr lang="en-US" sz="1250" b="1" dirty="0">
                <a:solidFill>
                  <a:srgbClr val="1F2124"/>
                </a:solidFill>
                <a:latin typeface="Inter" pitchFamily="34" charset="0"/>
                <a:ea typeface="Inter" pitchFamily="34" charset="-122"/>
                <a:cs typeface="Inter" pitchFamily="34" charset="-120"/>
              </a:rPr>
              <a:t>GP (nuestro cliente)</a:t>
            </a:r>
            <a:endParaRPr lang="en-US" sz="1250" dirty="0"/>
          </a:p>
        </p:txBody>
      </p:sp>
      <p:sp>
        <p:nvSpPr>
          <p:cNvPr id="28" name="Text 24"/>
          <p:cNvSpPr txBox="1"/>
          <p:nvPr/>
        </p:nvSpPr>
        <p:spPr>
          <a:xfrm>
            <a:off x="9720072" y="4480560"/>
            <a:ext cx="960120" cy="502920"/>
          </a:xfrm>
          <a:prstGeom prst="rect">
            <a:avLst/>
          </a:prstGeom>
          <a:solidFill>
            <a:srgbClr val="E7EFEA"/>
          </a:solidFill>
          <a:ln/>
        </p:spPr>
        <p:txBody>
          <a:bodyPr wrap="square" lIns="0" tIns="88900" rIns="88900" bIns="0" rtlCol="0" anchor="ctr"/>
          <a:lstStyle/>
          <a:p>
            <a:pPr algn="r" indent="0" marL="0">
              <a:buNone/>
            </a:pPr>
            <a:r>
              <a:rPr lang="en-US" sz="1250" b="1" dirty="0">
                <a:solidFill>
                  <a:srgbClr val="1F2124"/>
                </a:solidFill>
                <a:latin typeface="Inter" pitchFamily="34" charset="0"/>
                <a:ea typeface="Inter" pitchFamily="34" charset="-122"/>
                <a:cs typeface="Inter" pitchFamily="34" charset="-120"/>
              </a:rPr>
              <a:t>18,2%</a:t>
            </a:r>
            <a:endParaRPr lang="en-US" sz="1250" dirty="0"/>
          </a:p>
        </p:txBody>
      </p:sp>
      <p:sp>
        <p:nvSpPr>
          <p:cNvPr id="29" name="Text 25"/>
          <p:cNvSpPr txBox="1"/>
          <p:nvPr/>
        </p:nvSpPr>
        <p:spPr>
          <a:xfrm>
            <a:off x="10680192" y="4480560"/>
            <a:ext cx="960120" cy="502920"/>
          </a:xfrm>
          <a:prstGeom prst="rect">
            <a:avLst/>
          </a:prstGeom>
          <a:solidFill>
            <a:srgbClr val="E7EFEA"/>
          </a:solidFill>
          <a:ln/>
        </p:spPr>
        <p:txBody>
          <a:bodyPr wrap="square" lIns="0" tIns="88900" rIns="88900" bIns="0" rtlCol="0" anchor="ctr"/>
          <a:lstStyle/>
          <a:p>
            <a:pPr algn="r" indent="0" marL="0">
              <a:buNone/>
            </a:pPr>
            <a:r>
              <a:rPr lang="en-US" sz="1250" dirty="0">
                <a:solidFill>
                  <a:srgbClr val="1F2124"/>
                </a:solidFill>
                <a:latin typeface="Inter" pitchFamily="34" charset="0"/>
                <a:ea typeface="Inter" pitchFamily="34" charset="-122"/>
                <a:cs typeface="Inter" pitchFamily="34" charset="-120"/>
              </a:rPr>
              <a:t>3,23x</a:t>
            </a:r>
            <a:endParaRPr lang="en-US" sz="1250" dirty="0"/>
          </a:p>
        </p:txBody>
      </p:sp>
      <p:sp>
        <p:nvSpPr>
          <p:cNvPr id="30" name="Text 26"/>
          <p:cNvSpPr txBox="1"/>
          <p:nvPr/>
        </p:nvSpPr>
        <p:spPr>
          <a:xfrm>
            <a:off x="7726680" y="4983480"/>
            <a:ext cx="1993392" cy="502920"/>
          </a:xfrm>
          <a:prstGeom prst="rect">
            <a:avLst/>
          </a:prstGeom>
          <a:solidFill>
            <a:srgbClr val="FFFFFF"/>
          </a:solidFill>
          <a:ln/>
        </p:spPr>
        <p:txBody>
          <a:bodyPr wrap="square" lIns="0" tIns="88900" rIns="88900" bIns="0" rtlCol="0" anchor="ctr"/>
          <a:lstStyle/>
          <a:p>
            <a:pPr algn="l" indent="0" marL="0">
              <a:buNone/>
            </a:pPr>
            <a:r>
              <a:rPr lang="en-US" sz="1250" b="1" dirty="0">
                <a:solidFill>
                  <a:srgbClr val="1F2124"/>
                </a:solidFill>
                <a:latin typeface="Inter" pitchFamily="34" charset="0"/>
                <a:ea typeface="Inter" pitchFamily="34" charset="-122"/>
                <a:cs typeface="Inter" pitchFamily="34" charset="-120"/>
              </a:rPr>
              <a:t>LPs (co-inversores)</a:t>
            </a:r>
            <a:endParaRPr lang="en-US" sz="1250" dirty="0"/>
          </a:p>
        </p:txBody>
      </p:sp>
      <p:sp>
        <p:nvSpPr>
          <p:cNvPr id="31" name="Text 27"/>
          <p:cNvSpPr txBox="1"/>
          <p:nvPr/>
        </p:nvSpPr>
        <p:spPr>
          <a:xfrm>
            <a:off x="9720072" y="4983480"/>
            <a:ext cx="960120" cy="502920"/>
          </a:xfrm>
          <a:prstGeom prst="rect">
            <a:avLst/>
          </a:prstGeom>
          <a:solidFill>
            <a:srgbClr val="FFFFFF"/>
          </a:solidFill>
          <a:ln/>
        </p:spPr>
        <p:txBody>
          <a:bodyPr wrap="square" lIns="0" tIns="88900" rIns="88900" bIns="0" rtlCol="0" anchor="ctr"/>
          <a:lstStyle/>
          <a:p>
            <a:pPr algn="r" indent="0" marL="0">
              <a:buNone/>
            </a:pPr>
            <a:r>
              <a:rPr lang="en-US" sz="1250" b="1" dirty="0">
                <a:solidFill>
                  <a:srgbClr val="1F2124"/>
                </a:solidFill>
                <a:latin typeface="Inter" pitchFamily="34" charset="0"/>
                <a:ea typeface="Inter" pitchFamily="34" charset="-122"/>
                <a:cs typeface="Inter" pitchFamily="34" charset="-120"/>
              </a:rPr>
              <a:t>9,1%</a:t>
            </a:r>
            <a:endParaRPr lang="en-US" sz="1250" dirty="0"/>
          </a:p>
        </p:txBody>
      </p:sp>
      <p:sp>
        <p:nvSpPr>
          <p:cNvPr id="32" name="Text 28"/>
          <p:cNvSpPr txBox="1"/>
          <p:nvPr/>
        </p:nvSpPr>
        <p:spPr>
          <a:xfrm>
            <a:off x="10680192" y="4983480"/>
            <a:ext cx="960120" cy="502920"/>
          </a:xfrm>
          <a:prstGeom prst="rect">
            <a:avLst/>
          </a:prstGeom>
          <a:solidFill>
            <a:srgbClr val="FFFFFF"/>
          </a:solidFill>
          <a:ln/>
        </p:spPr>
        <p:txBody>
          <a:bodyPr wrap="square" lIns="0" tIns="88900" rIns="88900" bIns="0" rtlCol="0" anchor="ctr"/>
          <a:lstStyle/>
          <a:p>
            <a:pPr algn="r" indent="0" marL="0">
              <a:buNone/>
            </a:pPr>
            <a:r>
              <a:rPr lang="en-US" sz="1250" dirty="0">
                <a:solidFill>
                  <a:srgbClr val="1F2124"/>
                </a:solidFill>
                <a:latin typeface="Inter" pitchFamily="34" charset="0"/>
                <a:ea typeface="Inter" pitchFamily="34" charset="-122"/>
                <a:cs typeface="Inter" pitchFamily="34" charset="-120"/>
              </a:rPr>
              <a:t>1,84x</a:t>
            </a:r>
            <a:endParaRPr lang="en-US" sz="1250" dirty="0"/>
          </a:p>
        </p:txBody>
      </p:sp>
      <p:sp>
        <p:nvSpPr>
          <p:cNvPr id="33" name="Shape 29"/>
          <p:cNvSpPr/>
          <p:nvPr/>
        </p:nvSpPr>
        <p:spPr>
          <a:xfrm>
            <a:off x="7726680" y="5641848"/>
            <a:ext cx="3913632" cy="530352"/>
          </a:xfrm>
          <a:prstGeom prst="rect">
            <a:avLst>
              <a:gd name="adj" fmla="val 10345"/>
            </a:avLst>
          </a:prstGeom>
          <a:solidFill>
            <a:srgbClr val="F3F3F2"/>
          </a:solidFill>
          <a:ln/>
        </p:spPr>
      </p:sp>
      <p:sp>
        <p:nvSpPr>
          <p:cNvPr id="34" name="Text 30"/>
          <p:cNvSpPr txBox="1"/>
          <p:nvPr/>
        </p:nvSpPr>
        <p:spPr>
          <a:xfrm>
            <a:off x="7863840" y="5641848"/>
            <a:ext cx="3703320" cy="530352"/>
          </a:xfrm>
          <a:prstGeom prst="rect">
            <a:avLst/>
          </a:prstGeom>
          <a:noFill/>
          <a:ln/>
        </p:spPr>
        <p:txBody>
          <a:bodyPr wrap="square" lIns="0" tIns="0" rIns="0" bIns="0" rtlCol="0" anchor="ctr"/>
          <a:lstStyle/>
          <a:p>
            <a:pPr indent="0" marL="0">
              <a:buNone/>
            </a:pPr>
            <a:r>
              <a:rPr lang="en-US" sz="1000" b="1" dirty="0">
                <a:solidFill>
                  <a:srgbClr val="1A1D21"/>
                </a:solidFill>
                <a:latin typeface="Inter" pitchFamily="34" charset="0"/>
                <a:ea typeface="Inter" pitchFamily="34" charset="-122"/>
                <a:cs typeface="Inter" pitchFamily="34" charset="-120"/>
              </a:rPr>
              <a:t>Por debajo del 8% no hay carry: </a:t>
            </a:r>
            <a:pPr indent="0" marL="0">
              <a:buNone/>
            </a:pPr>
            <a:r>
              <a:rPr lang="en-US" sz="1000" dirty="0">
                <a:solidFill>
                  <a:srgbClr val="1F2124"/>
                </a:solidFill>
                <a:latin typeface="Inter" pitchFamily="34" charset="0"/>
                <a:ea typeface="Inter" pitchFamily="34" charset="-122"/>
                <a:cs typeface="Inter" pitchFamily="34" charset="-120"/>
              </a:rPr>
              <a:t>en el Bear (7,1%) y el Bank case (4,4%) el GP gana lo mismo que todos.</a:t>
            </a:r>
            <a:endParaRPr lang="en-US" sz="1000" dirty="0"/>
          </a:p>
        </p:txBody>
      </p:sp>
      <p:sp>
        <p:nvSpPr>
          <p:cNvPr id="35" name="Text 31"/>
          <p:cNvSpPr txBox="1"/>
          <p:nvPr/>
        </p:nvSpPr>
        <p:spPr>
          <a:xfrm>
            <a:off x="548640" y="6327648"/>
            <a:ext cx="7863840" cy="228600"/>
          </a:xfrm>
          <a:prstGeom prst="rect">
            <a:avLst/>
          </a:prstGeom>
          <a:noFill/>
          <a:ln/>
        </p:spPr>
        <p:txBody>
          <a:bodyPr wrap="square" lIns="0" tIns="0" rIns="0" bIns="0" rtlCol="0" anchor="t"/>
          <a:lstStyle/>
          <a:p>
            <a:pPr indent="0" marL="0">
              <a:buNone/>
            </a:pPr>
            <a:r>
              <a:rPr lang="en-US" sz="900" dirty="0">
                <a:solidFill>
                  <a:srgbClr val="6E7378"/>
                </a:solidFill>
                <a:latin typeface="Inter" pitchFamily="34" charset="0"/>
                <a:ea typeface="Inter" pitchFamily="34" charset="-122"/>
                <a:cs typeface="Inter" pitchFamily="34" charset="-120"/>
              </a:rPr>
              <a:t>Curvas a tasa constante; importes de 2032 del modelo. Hurdle 8% compuesto, catch-up 100%, carry 20%.</a:t>
            </a:r>
            <a:endParaRPr lang="en-US" sz="900" dirty="0"/>
          </a:p>
        </p:txBody>
      </p:sp>
      <p:sp>
        <p:nvSpPr>
          <p:cNvPr id="36" name="Text 32"/>
          <p:cNvSpPr txBox="1"/>
          <p:nvPr/>
        </p:nvSpPr>
        <p:spPr>
          <a:xfrm>
            <a:off x="8595360" y="6327648"/>
            <a:ext cx="3044952" cy="228600"/>
          </a:xfrm>
          <a:prstGeom prst="rect">
            <a:avLst/>
          </a:prstGeom>
          <a:noFill/>
          <a:ln/>
        </p:spPr>
        <p:txBody>
          <a:bodyPr wrap="square" lIns="0" tIns="0" rIns="0" bIns="0" rtlCol="0" anchor="t"/>
          <a:lstStyle/>
          <a:p>
            <a:pPr algn="r" indent="0" marL="0">
              <a:buNone/>
            </a:pPr>
            <a:r>
              <a:rPr lang="en-US" sz="900" dirty="0">
                <a:solidFill>
                  <a:srgbClr val="6E7378"/>
                </a:solidFill>
                <a:latin typeface="Inter" pitchFamily="34" charset="0"/>
                <a:ea typeface="Inter" pitchFamily="34" charset="-122"/>
                <a:cs typeface="Inter" pitchFamily="34" charset="-120"/>
              </a:rPr>
              <a:t>Project Galicia  ·  Estrictamente confidencial  ·  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1D21"/>
        </a:solidFill>
      </p:bgPr>
    </p:bg>
    <p:spTree>
      <p:nvGrpSpPr>
        <p:cNvPr id="1" name=""/>
        <p:cNvGrpSpPr/>
        <p:nvPr/>
      </p:nvGrpSpPr>
      <p:grpSpPr>
        <a:xfrm>
          <a:off x="0" y="0"/>
          <a:ext cx="0" cy="0"/>
          <a:chOff x="0" y="0"/>
          <a:chExt cx="0" cy="0"/>
        </a:xfrm>
      </p:grpSpPr>
      <p:sp>
        <p:nvSpPr>
          <p:cNvPr id="2" name="Text 0"/>
          <p:cNvSpPr txBox="1"/>
          <p:nvPr/>
        </p:nvSpPr>
        <p:spPr>
          <a:xfrm>
            <a:off x="548640" y="379476"/>
            <a:ext cx="7315200" cy="228600"/>
          </a:xfrm>
          <a:prstGeom prst="rect">
            <a:avLst/>
          </a:prstGeom>
          <a:noFill/>
          <a:ln/>
        </p:spPr>
        <p:txBody>
          <a:bodyPr wrap="square" lIns="0" tIns="0" rIns="0" bIns="0" rtlCol="0" anchor="ctr"/>
          <a:lstStyle/>
          <a:p>
            <a:pPr indent="0" marL="0">
              <a:buNone/>
            </a:pPr>
            <a:r>
              <a:rPr lang="en-US" sz="1100" b="1" spc="200" kern="0" dirty="0">
                <a:solidFill>
                  <a:srgbClr val="A8C9B8"/>
                </a:solidFill>
                <a:latin typeface="Inter" pitchFamily="34" charset="0"/>
                <a:ea typeface="Inter" pitchFamily="34" charset="-122"/>
                <a:cs typeface="Inter" pitchFamily="34" charset="-120"/>
              </a:rPr>
              <a:t>CONCLUSIONES</a:t>
            </a:r>
            <a:endParaRPr lang="en-US" sz="1100" dirty="0"/>
          </a:p>
        </p:txBody>
      </p:sp>
      <p:pic>
        <p:nvPicPr>
          <p:cNvPr id="3" name="Image 0" descr="/tmp/claude-0/-home-claude/8d7de6a3-f167-5c95-8bc2-67944307bfd8/scratchpad/canva/img/HLP_monograma.png">    </p:cNvPr>
          <p:cNvPicPr>
            <a:picLocks noChangeAspect="1"/>
          </p:cNvPicPr>
          <p:nvPr/>
        </p:nvPicPr>
        <p:blipFill>
          <a:blip r:embed="rId1"/>
          <a:stretch>
            <a:fillRect/>
          </a:stretch>
        </p:blipFill>
        <p:spPr>
          <a:xfrm>
            <a:off x="11130991" y="237744"/>
            <a:ext cx="512064" cy="512064"/>
          </a:xfrm>
          <a:prstGeom prst="rect">
            <a:avLst/>
          </a:prstGeom>
        </p:spPr>
      </p:pic>
      <p:sp>
        <p:nvSpPr>
          <p:cNvPr id="4" name="Text 1"/>
          <p:cNvSpPr txBox="1"/>
          <p:nvPr/>
        </p:nvSpPr>
        <p:spPr>
          <a:xfrm>
            <a:off x="548640" y="914400"/>
            <a:ext cx="11091672" cy="640080"/>
          </a:xfrm>
          <a:prstGeom prst="rect">
            <a:avLst/>
          </a:prstGeom>
          <a:noFill/>
          <a:ln/>
        </p:spPr>
        <p:txBody>
          <a:bodyPr wrap="square" lIns="0" tIns="0" rIns="0" bIns="0" rtlCol="0" anchor="t"/>
          <a:lstStyle/>
          <a:p>
            <a:pPr indent="0" marL="0">
              <a:buNone/>
            </a:pPr>
            <a:r>
              <a:rPr lang="en-US" sz="2800" dirty="0">
                <a:solidFill>
                  <a:srgbClr val="FFFFFF"/>
                </a:solidFill>
                <a:latin typeface="Lora" pitchFamily="34" charset="0"/>
                <a:ea typeface="Lora" pitchFamily="34" charset="-122"/>
                <a:cs typeface="Lora" pitchFamily="34" charset="-120"/>
              </a:rPr>
              <a:t>Una estructura financiable para una operación sin precedentes</a:t>
            </a:r>
            <a:endParaRPr lang="en-US" sz="2800" dirty="0"/>
          </a:p>
        </p:txBody>
      </p:sp>
      <p:sp>
        <p:nvSpPr>
          <p:cNvPr id="5" name="Shape 2"/>
          <p:cNvSpPr/>
          <p:nvPr/>
        </p:nvSpPr>
        <p:spPr>
          <a:xfrm>
            <a:off x="548640" y="1828800"/>
            <a:ext cx="5454396" cy="1463040"/>
          </a:xfrm>
          <a:prstGeom prst="rect">
            <a:avLst>
              <a:gd name="adj" fmla="val 3750"/>
            </a:avLst>
          </a:prstGeom>
          <a:solidFill>
            <a:srgbClr val="2A2E33"/>
          </a:solidFill>
          <a:ln/>
        </p:spPr>
      </p:sp>
      <p:sp>
        <p:nvSpPr>
          <p:cNvPr id="6" name="Shape 3"/>
          <p:cNvSpPr/>
          <p:nvPr/>
        </p:nvSpPr>
        <p:spPr>
          <a:xfrm>
            <a:off x="777240" y="2075688"/>
            <a:ext cx="384048" cy="384048"/>
          </a:xfrm>
          <a:prstGeom prst="rect">
            <a:avLst/>
          </a:prstGeom>
          <a:solidFill>
            <a:srgbClr val="1F4B3F"/>
          </a:solidFill>
          <a:ln/>
        </p:spPr>
      </p:sp>
      <p:sp>
        <p:nvSpPr>
          <p:cNvPr id="7" name="Text 4"/>
          <p:cNvSpPr txBox="1"/>
          <p:nvPr/>
        </p:nvSpPr>
        <p:spPr>
          <a:xfrm>
            <a:off x="777240" y="2084832"/>
            <a:ext cx="38404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1</a:t>
            </a:r>
            <a:endParaRPr lang="en-US" sz="1400" dirty="0"/>
          </a:p>
        </p:txBody>
      </p:sp>
      <p:sp>
        <p:nvSpPr>
          <p:cNvPr id="8" name="Text 5"/>
          <p:cNvSpPr txBox="1"/>
          <p:nvPr/>
        </p:nvSpPr>
        <p:spPr>
          <a:xfrm>
            <a:off x="1325880" y="2057400"/>
            <a:ext cx="4480560" cy="384048"/>
          </a:xfrm>
          <a:prstGeom prst="rect">
            <a:avLst/>
          </a:prstGeom>
          <a:noFill/>
          <a:ln/>
        </p:spPr>
        <p:txBody>
          <a:bodyPr wrap="square" lIns="0" tIns="0" rIns="0" bIns="0" rtlCol="0" anchor="t"/>
          <a:lstStyle/>
          <a:p>
            <a:pPr indent="0" marL="0">
              <a:buNone/>
            </a:pPr>
            <a:r>
              <a:rPr lang="en-US" sz="1700" b="1" dirty="0">
                <a:solidFill>
                  <a:srgbClr val="FFFFFF"/>
                </a:solidFill>
                <a:latin typeface="Inter" pitchFamily="34" charset="0"/>
                <a:ea typeface="Inter" pitchFamily="34" charset="-122"/>
                <a:cs typeface="Inter" pitchFamily="34" charset="-120"/>
              </a:rPr>
              <a:t>Un activo que genera caja</a:t>
            </a:r>
            <a:endParaRPr lang="en-US" sz="1700" dirty="0"/>
          </a:p>
        </p:txBody>
      </p:sp>
      <p:sp>
        <p:nvSpPr>
          <p:cNvPr id="9" name="Text 6"/>
          <p:cNvSpPr txBox="1"/>
          <p:nvPr/>
        </p:nvSpPr>
        <p:spPr>
          <a:xfrm>
            <a:off x="1325880" y="2487168"/>
            <a:ext cx="4480560" cy="731520"/>
          </a:xfrm>
          <a:prstGeom prst="rect">
            <a:avLst/>
          </a:prstGeom>
          <a:noFill/>
          <a:ln/>
        </p:spPr>
        <p:txBody>
          <a:bodyPr wrap="square" lIns="0" tIns="0" rIns="0" bIns="0" rtlCol="0" anchor="t"/>
          <a:lstStyle/>
          <a:p>
            <a:pPr indent="0" marL="0">
              <a:buNone/>
            </a:pPr>
            <a:r>
              <a:rPr lang="en-US" sz="1300" dirty="0">
                <a:solidFill>
                  <a:srgbClr val="D9D9D6"/>
                </a:solidFill>
                <a:latin typeface="Inter" pitchFamily="34" charset="0"/>
                <a:ea typeface="Inter" pitchFamily="34" charset="-122"/>
                <a:cs typeface="Inter" pitchFamily="34" charset="-120"/>
              </a:rPr>
              <a:t>Margen EBITDA del 23,7% al 25,5%, circulante negativo y €10.958m de caja neta: soporta 8,2x de deuda.</a:t>
            </a:r>
            <a:endParaRPr lang="en-US" sz="1300" dirty="0"/>
          </a:p>
        </p:txBody>
      </p:sp>
      <p:sp>
        <p:nvSpPr>
          <p:cNvPr id="10" name="Shape 7"/>
          <p:cNvSpPr/>
          <p:nvPr/>
        </p:nvSpPr>
        <p:spPr>
          <a:xfrm>
            <a:off x="6185916" y="1828800"/>
            <a:ext cx="5454396" cy="1463040"/>
          </a:xfrm>
          <a:prstGeom prst="rect">
            <a:avLst>
              <a:gd name="adj" fmla="val 3750"/>
            </a:avLst>
          </a:prstGeom>
          <a:solidFill>
            <a:srgbClr val="2A2E33"/>
          </a:solidFill>
          <a:ln/>
        </p:spPr>
      </p:sp>
      <p:sp>
        <p:nvSpPr>
          <p:cNvPr id="11" name="Shape 8"/>
          <p:cNvSpPr/>
          <p:nvPr/>
        </p:nvSpPr>
        <p:spPr>
          <a:xfrm>
            <a:off x="6414516" y="2075688"/>
            <a:ext cx="384048" cy="384048"/>
          </a:xfrm>
          <a:prstGeom prst="rect">
            <a:avLst/>
          </a:prstGeom>
          <a:solidFill>
            <a:srgbClr val="1F4B3F"/>
          </a:solidFill>
          <a:ln/>
        </p:spPr>
      </p:sp>
      <p:sp>
        <p:nvSpPr>
          <p:cNvPr id="12" name="Text 9"/>
          <p:cNvSpPr txBox="1"/>
          <p:nvPr/>
        </p:nvSpPr>
        <p:spPr>
          <a:xfrm>
            <a:off x="6414516" y="2084832"/>
            <a:ext cx="38404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2</a:t>
            </a:r>
            <a:endParaRPr lang="en-US" sz="1400" dirty="0"/>
          </a:p>
        </p:txBody>
      </p:sp>
      <p:sp>
        <p:nvSpPr>
          <p:cNvPr id="13" name="Text 10"/>
          <p:cNvSpPr txBox="1"/>
          <p:nvPr/>
        </p:nvSpPr>
        <p:spPr>
          <a:xfrm>
            <a:off x="6963156" y="2057400"/>
            <a:ext cx="4480560" cy="384048"/>
          </a:xfrm>
          <a:prstGeom prst="rect">
            <a:avLst/>
          </a:prstGeom>
          <a:noFill/>
          <a:ln/>
        </p:spPr>
        <p:txBody>
          <a:bodyPr wrap="square" lIns="0" tIns="0" rIns="0" bIns="0" rtlCol="0" anchor="t"/>
          <a:lstStyle/>
          <a:p>
            <a:pPr indent="0" marL="0">
              <a:buNone/>
            </a:pPr>
            <a:r>
              <a:rPr lang="en-US" sz="1700" b="1" dirty="0">
                <a:solidFill>
                  <a:srgbClr val="FFFFFF"/>
                </a:solidFill>
                <a:latin typeface="Inter" pitchFamily="34" charset="0"/>
                <a:ea typeface="Inter" pitchFamily="34" charset="-122"/>
                <a:cs typeface="Inter" pitchFamily="34" charset="-120"/>
              </a:rPr>
              <a:t>El 100% con Amancio Ortega dentro</a:t>
            </a:r>
            <a:endParaRPr lang="en-US" sz="1700" dirty="0"/>
          </a:p>
        </p:txBody>
      </p:sp>
      <p:sp>
        <p:nvSpPr>
          <p:cNvPr id="14" name="Text 11"/>
          <p:cNvSpPr txBox="1"/>
          <p:nvPr/>
        </p:nvSpPr>
        <p:spPr>
          <a:xfrm>
            <a:off x="6963156" y="2487168"/>
            <a:ext cx="4480560" cy="731520"/>
          </a:xfrm>
          <a:prstGeom prst="rect">
            <a:avLst/>
          </a:prstGeom>
          <a:noFill/>
          <a:ln/>
        </p:spPr>
        <p:txBody>
          <a:bodyPr wrap="square" lIns="0" tIns="0" rIns="0" bIns="0" rtlCol="0" anchor="t"/>
          <a:lstStyle/>
          <a:p>
            <a:pPr indent="0" marL="0">
              <a:buNone/>
            </a:pPr>
            <a:r>
              <a:rPr lang="en-US" sz="1300" dirty="0">
                <a:solidFill>
                  <a:srgbClr val="D9D9D6"/>
                </a:solidFill>
                <a:latin typeface="Inter" pitchFamily="34" charset="0"/>
                <a:ea typeface="Inter" pitchFamily="34" charset="-122"/>
                <a:cs typeface="Inter" pitchFamily="34" charset="-120"/>
              </a:rPr>
              <a:t>OPA a €63,73 (+15%, 19,9x EBITDA); Amancio reinvierte el 25% y mantiene el 43,4% de la TopCo.</a:t>
            </a:r>
            <a:endParaRPr lang="en-US" sz="1300" dirty="0"/>
          </a:p>
        </p:txBody>
      </p:sp>
      <p:sp>
        <p:nvSpPr>
          <p:cNvPr id="15" name="Shape 12"/>
          <p:cNvSpPr/>
          <p:nvPr/>
        </p:nvSpPr>
        <p:spPr>
          <a:xfrm>
            <a:off x="548640" y="3474720"/>
            <a:ext cx="5454396" cy="1463040"/>
          </a:xfrm>
          <a:prstGeom prst="rect">
            <a:avLst>
              <a:gd name="adj" fmla="val 3750"/>
            </a:avLst>
          </a:prstGeom>
          <a:solidFill>
            <a:srgbClr val="2A2E33"/>
          </a:solidFill>
          <a:ln/>
        </p:spPr>
      </p:sp>
      <p:sp>
        <p:nvSpPr>
          <p:cNvPr id="16" name="Shape 13"/>
          <p:cNvSpPr/>
          <p:nvPr/>
        </p:nvSpPr>
        <p:spPr>
          <a:xfrm>
            <a:off x="777240" y="3721608"/>
            <a:ext cx="384048" cy="384048"/>
          </a:xfrm>
          <a:prstGeom prst="rect">
            <a:avLst/>
          </a:prstGeom>
          <a:solidFill>
            <a:srgbClr val="1F4B3F"/>
          </a:solidFill>
          <a:ln/>
        </p:spPr>
      </p:sp>
      <p:sp>
        <p:nvSpPr>
          <p:cNvPr id="17" name="Text 14"/>
          <p:cNvSpPr txBox="1"/>
          <p:nvPr/>
        </p:nvSpPr>
        <p:spPr>
          <a:xfrm>
            <a:off x="777240" y="3730752"/>
            <a:ext cx="38404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3</a:t>
            </a:r>
            <a:endParaRPr lang="en-US" sz="1400" dirty="0"/>
          </a:p>
        </p:txBody>
      </p:sp>
      <p:sp>
        <p:nvSpPr>
          <p:cNvPr id="18" name="Text 15"/>
          <p:cNvSpPr txBox="1"/>
          <p:nvPr/>
        </p:nvSpPr>
        <p:spPr>
          <a:xfrm>
            <a:off x="1325880" y="3703320"/>
            <a:ext cx="4480560" cy="384048"/>
          </a:xfrm>
          <a:prstGeom prst="rect">
            <a:avLst/>
          </a:prstGeom>
          <a:noFill/>
          <a:ln/>
        </p:spPr>
        <p:txBody>
          <a:bodyPr wrap="square" lIns="0" tIns="0" rIns="0" bIns="0" rtlCol="0" anchor="t"/>
          <a:lstStyle/>
          <a:p>
            <a:pPr indent="0" marL="0">
              <a:buNone/>
            </a:pPr>
            <a:r>
              <a:rPr lang="en-US" sz="1700" b="1" dirty="0">
                <a:solidFill>
                  <a:srgbClr val="FFFFFF"/>
                </a:solidFill>
                <a:latin typeface="Inter" pitchFamily="34" charset="0"/>
                <a:ea typeface="Inter" pitchFamily="34" charset="-122"/>
                <a:cs typeface="Inter" pitchFamily="34" charset="-120"/>
              </a:rPr>
              <a:t>Financiación asegurada y sostenible</a:t>
            </a:r>
            <a:endParaRPr lang="en-US" sz="1700" dirty="0"/>
          </a:p>
        </p:txBody>
      </p:sp>
      <p:sp>
        <p:nvSpPr>
          <p:cNvPr id="19" name="Text 16"/>
          <p:cNvSpPr txBox="1"/>
          <p:nvPr/>
        </p:nvSpPr>
        <p:spPr>
          <a:xfrm>
            <a:off x="1325880" y="4133088"/>
            <a:ext cx="4480560" cy="731520"/>
          </a:xfrm>
          <a:prstGeom prst="rect">
            <a:avLst/>
          </a:prstGeom>
          <a:noFill/>
          <a:ln/>
        </p:spPr>
        <p:txBody>
          <a:bodyPr wrap="square" lIns="0" tIns="0" rIns="0" bIns="0" rtlCol="0" anchor="t"/>
          <a:lstStyle/>
          <a:p>
            <a:pPr indent="0" marL="0">
              <a:buNone/>
            </a:pPr>
            <a:r>
              <a:rPr lang="en-US" sz="1300" dirty="0">
                <a:solidFill>
                  <a:srgbClr val="D9D9D6"/>
                </a:solidFill>
                <a:latin typeface="Inter" pitchFamily="34" charset="0"/>
                <a:ea typeface="Inter" pitchFamily="34" charset="-122"/>
                <a:cs typeface="Inter" pitchFamily="34" charset="-120"/>
              </a:rPr>
              <a:t>10 bancos aseguran €62.840m antes de la OPA; la deuda neta baja de 8,1x a 3,6x y el DSCR nunca cae de 1,25x.</a:t>
            </a:r>
            <a:endParaRPr lang="en-US" sz="1300" dirty="0"/>
          </a:p>
        </p:txBody>
      </p:sp>
      <p:sp>
        <p:nvSpPr>
          <p:cNvPr id="20" name="Shape 17"/>
          <p:cNvSpPr/>
          <p:nvPr/>
        </p:nvSpPr>
        <p:spPr>
          <a:xfrm>
            <a:off x="6185916" y="3474720"/>
            <a:ext cx="5454396" cy="1463040"/>
          </a:xfrm>
          <a:prstGeom prst="rect">
            <a:avLst>
              <a:gd name="adj" fmla="val 3750"/>
            </a:avLst>
          </a:prstGeom>
          <a:solidFill>
            <a:srgbClr val="2A2E33"/>
          </a:solidFill>
          <a:ln/>
        </p:spPr>
      </p:sp>
      <p:sp>
        <p:nvSpPr>
          <p:cNvPr id="21" name="Shape 18"/>
          <p:cNvSpPr/>
          <p:nvPr/>
        </p:nvSpPr>
        <p:spPr>
          <a:xfrm>
            <a:off x="6414516" y="3721608"/>
            <a:ext cx="384048" cy="384048"/>
          </a:xfrm>
          <a:prstGeom prst="rect">
            <a:avLst/>
          </a:prstGeom>
          <a:solidFill>
            <a:srgbClr val="1F4B3F"/>
          </a:solidFill>
          <a:ln/>
        </p:spPr>
      </p:sp>
      <p:sp>
        <p:nvSpPr>
          <p:cNvPr id="22" name="Text 19"/>
          <p:cNvSpPr txBox="1"/>
          <p:nvPr/>
        </p:nvSpPr>
        <p:spPr>
          <a:xfrm>
            <a:off x="6414516" y="3730752"/>
            <a:ext cx="38404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4</a:t>
            </a:r>
            <a:endParaRPr lang="en-US" sz="1400" dirty="0"/>
          </a:p>
        </p:txBody>
      </p:sp>
      <p:sp>
        <p:nvSpPr>
          <p:cNvPr id="23" name="Text 20"/>
          <p:cNvSpPr txBox="1"/>
          <p:nvPr/>
        </p:nvSpPr>
        <p:spPr>
          <a:xfrm>
            <a:off x="6963156" y="3703320"/>
            <a:ext cx="4480560" cy="384048"/>
          </a:xfrm>
          <a:prstGeom prst="rect">
            <a:avLst/>
          </a:prstGeom>
          <a:noFill/>
          <a:ln/>
        </p:spPr>
        <p:txBody>
          <a:bodyPr wrap="square" lIns="0" tIns="0" rIns="0" bIns="0" rtlCol="0" anchor="t"/>
          <a:lstStyle/>
          <a:p>
            <a:pPr indent="0" marL="0">
              <a:buNone/>
            </a:pPr>
            <a:r>
              <a:rPr lang="en-US" sz="1700" b="1" dirty="0">
                <a:solidFill>
                  <a:srgbClr val="FFFFFF"/>
                </a:solidFill>
                <a:latin typeface="Inter" pitchFamily="34" charset="0"/>
                <a:ea typeface="Inter" pitchFamily="34" charset="-122"/>
                <a:cs typeface="Inter" pitchFamily="34" charset="-120"/>
              </a:rPr>
              <a:t>Retorno para nuestro cliente</a:t>
            </a:r>
            <a:endParaRPr lang="en-US" sz="1700" dirty="0"/>
          </a:p>
        </p:txBody>
      </p:sp>
      <p:sp>
        <p:nvSpPr>
          <p:cNvPr id="24" name="Text 21"/>
          <p:cNvSpPr txBox="1"/>
          <p:nvPr/>
        </p:nvSpPr>
        <p:spPr>
          <a:xfrm>
            <a:off x="6963156" y="4133088"/>
            <a:ext cx="4480560" cy="731520"/>
          </a:xfrm>
          <a:prstGeom prst="rect">
            <a:avLst/>
          </a:prstGeom>
          <a:noFill/>
          <a:ln/>
        </p:spPr>
        <p:txBody>
          <a:bodyPr wrap="square" lIns="0" tIns="0" rIns="0" bIns="0" rtlCol="0" anchor="t"/>
          <a:lstStyle/>
          <a:p>
            <a:pPr indent="0" marL="0">
              <a:buNone/>
            </a:pPr>
            <a:r>
              <a:rPr lang="en-US" sz="1300" dirty="0">
                <a:solidFill>
                  <a:srgbClr val="D9D9D6"/>
                </a:solidFill>
                <a:latin typeface="Inter" pitchFamily="34" charset="0"/>
                <a:ea typeface="Inter" pitchFamily="34" charset="-122"/>
                <a:cs typeface="Inter" pitchFamily="34" charset="-120"/>
              </a:rPr>
              <a:t>El equity rinde un 10,8% (2,05x) y el GP un 18,2% (3,23x) gracias a €11.505m de carry.</a:t>
            </a:r>
            <a:endParaRPr lang="en-US" sz="1300" dirty="0"/>
          </a:p>
        </p:txBody>
      </p:sp>
      <p:sp>
        <p:nvSpPr>
          <p:cNvPr id="25" name="Shape 22"/>
          <p:cNvSpPr/>
          <p:nvPr/>
        </p:nvSpPr>
        <p:spPr>
          <a:xfrm>
            <a:off x="548640" y="5257800"/>
            <a:ext cx="11091672" cy="868680"/>
          </a:xfrm>
          <a:prstGeom prst="rect">
            <a:avLst>
              <a:gd name="adj" fmla="val 6316"/>
            </a:avLst>
          </a:prstGeom>
          <a:solidFill>
            <a:srgbClr val="1F4B3F"/>
          </a:solidFill>
          <a:ln/>
        </p:spPr>
      </p:sp>
      <p:sp>
        <p:nvSpPr>
          <p:cNvPr id="26" name="Text 23"/>
          <p:cNvSpPr txBox="1"/>
          <p:nvPr/>
        </p:nvSpPr>
        <p:spPr>
          <a:xfrm>
            <a:off x="777240" y="5321808"/>
            <a:ext cx="10652760" cy="731520"/>
          </a:xfrm>
          <a:prstGeom prst="rect">
            <a:avLst/>
          </a:prstGeom>
          <a:noFill/>
          <a:ln/>
        </p:spPr>
        <p:txBody>
          <a:bodyPr wrap="square" lIns="0" tIns="0" rIns="0" bIns="0" rtlCol="0" anchor="ctr"/>
          <a:lstStyle/>
          <a:p>
            <a:pPr indent="0" marL="0">
              <a:buNone/>
            </a:pPr>
            <a:r>
              <a:rPr lang="en-US" sz="1300" b="1" dirty="0">
                <a:solidFill>
                  <a:srgbClr val="FFFFFF"/>
                </a:solidFill>
                <a:latin typeface="Inter" pitchFamily="34" charset="0"/>
                <a:ea typeface="Inter" pitchFamily="34" charset="-122"/>
                <a:cs typeface="Inter" pitchFamily="34" charset="-120"/>
              </a:rPr>
              <a:t>Riesgo principal: el precio de entrada (19,9x). La rentabilidad depende de cumplir el crecimiento; en el Bank case el DSCR toca el covenant de 1,25x, sin holgura.</a:t>
            </a:r>
            <a:endParaRPr lang="en-US" sz="1300" dirty="0"/>
          </a:p>
        </p:txBody>
      </p:sp>
      <p:sp>
        <p:nvSpPr>
          <p:cNvPr id="27" name="Text 24"/>
          <p:cNvSpPr txBox="1"/>
          <p:nvPr/>
        </p:nvSpPr>
        <p:spPr>
          <a:xfrm>
            <a:off x="8595360" y="6327648"/>
            <a:ext cx="3044952" cy="228600"/>
          </a:xfrm>
          <a:prstGeom prst="rect">
            <a:avLst/>
          </a:prstGeom>
          <a:noFill/>
          <a:ln/>
        </p:spPr>
        <p:txBody>
          <a:bodyPr wrap="square" lIns="0" tIns="0" rIns="0" bIns="0" rtlCol="0" anchor="t"/>
          <a:lstStyle/>
          <a:p>
            <a:pPr algn="r" indent="0" marL="0">
              <a:buNone/>
            </a:pPr>
            <a:r>
              <a:rPr lang="en-US" sz="900" dirty="0">
                <a:solidFill>
                  <a:srgbClr val="A8ACB1"/>
                </a:solidFill>
                <a:latin typeface="Inter" pitchFamily="34" charset="0"/>
                <a:ea typeface="Inter" pitchFamily="34" charset="-122"/>
                <a:cs typeface="Inter" pitchFamily="34" charset="-120"/>
              </a:rPr>
              <a:t>Project Galicia  ·  Estrictamente confidencial  ·  19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Galicia - LBO de Inditex</dc:title>
  <dc:subject>PptxGenJS Presentation</dc:subject>
  <dc:creator>Herrera Lázaro Pérez Partners</dc:creator>
  <cp:lastModifiedBy>Herrera Lázaro Pérez Partners</cp:lastModifiedBy>
  <cp:revision>1</cp:revision>
  <dcterms:created xsi:type="dcterms:W3CDTF">2026-10-29T18:13:05Z</dcterms:created>
  <dcterms:modified xsi:type="dcterms:W3CDTF">2026-10-29T18:13:05Z</dcterms:modified>
</cp:coreProperties>
</file>